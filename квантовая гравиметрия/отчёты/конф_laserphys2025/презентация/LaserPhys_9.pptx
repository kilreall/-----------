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6"/>
  </p:notesMasterIdLst>
  <p:handoutMasterIdLst>
    <p:handoutMasterId r:id="rId37"/>
  </p:handoutMasterIdLst>
  <p:sldIdLst>
    <p:sldId id="305" r:id="rId2"/>
    <p:sldId id="306" r:id="rId3"/>
    <p:sldId id="307" r:id="rId4"/>
    <p:sldId id="319" r:id="rId5"/>
    <p:sldId id="258" r:id="rId6"/>
    <p:sldId id="320" r:id="rId7"/>
    <p:sldId id="308" r:id="rId8"/>
    <p:sldId id="321" r:id="rId9"/>
    <p:sldId id="312" r:id="rId10"/>
    <p:sldId id="322" r:id="rId11"/>
    <p:sldId id="261" r:id="rId12"/>
    <p:sldId id="323" r:id="rId13"/>
    <p:sldId id="318" r:id="rId14"/>
    <p:sldId id="324" r:id="rId15"/>
    <p:sldId id="297" r:id="rId16"/>
    <p:sldId id="325" r:id="rId17"/>
    <p:sldId id="268" r:id="rId18"/>
    <p:sldId id="326" r:id="rId19"/>
    <p:sldId id="298" r:id="rId20"/>
    <p:sldId id="327" r:id="rId21"/>
    <p:sldId id="303" r:id="rId22"/>
    <p:sldId id="328" r:id="rId23"/>
    <p:sldId id="313" r:id="rId24"/>
    <p:sldId id="329" r:id="rId25"/>
    <p:sldId id="314" r:id="rId26"/>
    <p:sldId id="330" r:id="rId27"/>
    <p:sldId id="316" r:id="rId28"/>
    <p:sldId id="332" r:id="rId29"/>
    <p:sldId id="317" r:id="rId30"/>
    <p:sldId id="333" r:id="rId31"/>
    <p:sldId id="334" r:id="rId32"/>
    <p:sldId id="296" r:id="rId33"/>
    <p:sldId id="266" r:id="rId34"/>
    <p:sldId id="30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55" autoAdjust="0"/>
    <p:restoredTop sz="94131" autoAdjust="0"/>
  </p:normalViewPr>
  <p:slideViewPr>
    <p:cSldViewPr snapToGrid="0">
      <p:cViewPr varScale="1">
        <p:scale>
          <a:sx n="66" d="100"/>
          <a:sy n="66" d="100"/>
        </p:scale>
        <p:origin x="704" y="52"/>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12.11.2025</a:t>
            </a:fld>
            <a:endParaRPr lang="ru-RU"/>
          </a:p>
        </p:txBody>
      </p:sp>
      <p:sp>
        <p:nvSpPr>
          <p:cNvPr id="4" name="Нижний колонтитул 3">
            <a:extLst>
              <a:ext uri="{FF2B5EF4-FFF2-40B4-BE49-F238E27FC236}">
                <a16:creationId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015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757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123882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612388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a:extLst>
            <a:ext uri="{FF2B5EF4-FFF2-40B4-BE49-F238E27FC236}">
              <a16:creationId xmlns:a16="http://schemas.microsoft.com/office/drawing/2014/main" id="{9E080679-B901-3206-F122-6DCA7B65A275}"/>
            </a:ext>
          </a:extLst>
        </p:cNvPr>
        <p:cNvGrpSpPr/>
        <p:nvPr/>
      </p:nvGrpSpPr>
      <p:grpSpPr>
        <a:xfrm>
          <a:off x="0" y="0"/>
          <a:ext cx="0" cy="0"/>
          <a:chOff x="0" y="0"/>
          <a:chExt cx="0" cy="0"/>
        </a:xfrm>
      </p:grpSpPr>
      <p:sp>
        <p:nvSpPr>
          <p:cNvPr id="453" name="Google Shape;453;p43:notes">
            <a:extLst>
              <a:ext uri="{FF2B5EF4-FFF2-40B4-BE49-F238E27FC236}">
                <a16:creationId xmlns:a16="http://schemas.microsoft.com/office/drawing/2014/main" id="{4F66D097-9293-AE91-865E-9D10F58235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a:extLst>
              <a:ext uri="{FF2B5EF4-FFF2-40B4-BE49-F238E27FC236}">
                <a16:creationId xmlns:a16="http://schemas.microsoft.com/office/drawing/2014/main" id="{A8AA3B59-9A9D-62AD-DBA4-729F5ACF96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8703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86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19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3.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6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880131" y="3185368"/>
            <a:ext cx="1036206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2400" b="0" i="0" u="sng" strike="noStrike" cap="none">
                <a:solidFill>
                  <a:schemeClr val="dk1"/>
                </a:solidFill>
                <a:latin typeface="Times New Roman"/>
                <a:ea typeface="Times New Roman"/>
                <a:cs typeface="Times New Roman"/>
                <a:sym typeface="Times New Roman"/>
              </a:rPr>
              <a:t>К.Н. Адамов</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Д.Н. Капуста</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А.Э.Бонерт</a:t>
            </a:r>
            <a:r>
              <a:rPr lang="ru-RU" sz="2400" b="0" i="0" u="none" strike="noStrike" cap="none" baseline="30000">
                <a:solidFill>
                  <a:schemeClr val="dk1"/>
                </a:solidFill>
                <a:latin typeface="Times New Roman"/>
                <a:ea typeface="Times New Roman"/>
                <a:cs typeface="Times New Roman"/>
                <a:sym typeface="Times New Roman"/>
              </a:rPr>
              <a:t>1</a:t>
            </a:r>
            <a:r>
              <a:rPr lang="ru-RU" sz="2400" b="0" i="0" u="none" strike="noStrike" cap="none">
                <a:solidFill>
                  <a:schemeClr val="dk1"/>
                </a:solidFill>
                <a:latin typeface="Times New Roman"/>
                <a:ea typeface="Times New Roman"/>
                <a:cs typeface="Times New Roman"/>
                <a:sym typeface="Times New Roman"/>
              </a:rPr>
              <a:t>, А.Н. Гончаров</a:t>
            </a:r>
            <a:r>
              <a:rPr lang="ru-RU" sz="2400" b="0" i="0" u="none" strike="noStrike" cap="none" baseline="30000">
                <a:solidFill>
                  <a:schemeClr val="dk1"/>
                </a:solidFill>
                <a:latin typeface="Times New Roman"/>
                <a:ea typeface="Times New Roman"/>
                <a:cs typeface="Times New Roman"/>
                <a:sym typeface="Times New Roman"/>
              </a:rPr>
              <a:t>1,2,3</a:t>
            </a:r>
            <a:endParaRPr sz="2400" b="0" i="0" u="sng" strike="noStrike" cap="none" baseline="30000">
              <a:solidFill>
                <a:srgbClr val="000000"/>
              </a:solidFill>
              <a:latin typeface="Arial"/>
              <a:ea typeface="Arial"/>
              <a:cs typeface="Arial"/>
              <a:sym typeface="Arial"/>
            </a:endParaRPr>
          </a:p>
        </p:txBody>
      </p:sp>
      <p:sp>
        <p:nvSpPr>
          <p:cNvPr id="84" name="Google Shape;84;p1"/>
          <p:cNvSpPr txBox="1"/>
          <p:nvPr/>
        </p:nvSpPr>
        <p:spPr>
          <a:xfrm>
            <a:off x="-55685" y="1042072"/>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3200" b="1" i="0" u="none" strike="noStrike" cap="none" dirty="0">
                <a:solidFill>
                  <a:schemeClr val="dk1"/>
                </a:solidFill>
                <a:latin typeface="Times New Roman"/>
                <a:ea typeface="Times New Roman"/>
                <a:cs typeface="Times New Roman"/>
                <a:sym typeface="Times New Roman"/>
              </a:rPr>
              <a:t>Подготовка начального волнового пакета для квантового интерферометра-гравиметра</a:t>
            </a:r>
            <a:endParaRPr sz="3200" b="1" i="0" u="none" strike="noStrike" cap="none" dirty="0">
              <a:solidFill>
                <a:schemeClr val="dk1"/>
              </a:solidFill>
              <a:latin typeface="Times New Roman"/>
              <a:ea typeface="Times New Roman"/>
              <a:cs typeface="Times New Roman"/>
              <a:sym typeface="Times New Roman"/>
            </a:endParaRPr>
          </a:p>
        </p:txBody>
      </p:sp>
      <p:sp>
        <p:nvSpPr>
          <p:cNvPr id="85" name="Google Shape;85;p1"/>
          <p:cNvSpPr txBox="1"/>
          <p:nvPr/>
        </p:nvSpPr>
        <p:spPr>
          <a:xfrm>
            <a:off x="4156140" y="80866"/>
            <a:ext cx="4149011"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Институт лазерной физики СО РАН</a:t>
            </a:r>
            <a:endParaRPr sz="16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Новосибирск, Россия</a:t>
            </a:r>
            <a:endParaRPr/>
          </a:p>
        </p:txBody>
      </p:sp>
      <p:sp>
        <p:nvSpPr>
          <p:cNvPr id="86" name="Google Shape;86;p1"/>
          <p:cNvSpPr txBox="1"/>
          <p:nvPr/>
        </p:nvSpPr>
        <p:spPr>
          <a:xfrm>
            <a:off x="2720805" y="3737956"/>
            <a:ext cx="785015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1</a:t>
            </a:r>
            <a:r>
              <a:rPr lang="ru-RU" sz="1600" b="0" i="1" u="none" strike="noStrike" cap="none" dirty="0">
                <a:solidFill>
                  <a:srgbClr val="000000"/>
                </a:solidFill>
                <a:latin typeface="Times New Roman"/>
                <a:ea typeface="Times New Roman"/>
                <a:cs typeface="Times New Roman"/>
                <a:sym typeface="Times New Roman"/>
              </a:rPr>
              <a:t>Институт лазерной физики СО РАН,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2</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университет,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3</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технический университет, Новосибирск, Россия</a:t>
            </a:r>
            <a:endParaRPr sz="1600" b="0" i="1" u="none" strike="noStrike" cap="none" dirty="0">
              <a:solidFill>
                <a:srgbClr val="000000"/>
              </a:solidFill>
              <a:latin typeface="Times New Roman"/>
              <a:ea typeface="Times New Roman"/>
              <a:cs typeface="Times New Roman"/>
              <a:sym typeface="Times New Roman"/>
            </a:endParaRPr>
          </a:p>
        </p:txBody>
      </p:sp>
      <p:sp>
        <p:nvSpPr>
          <p:cNvPr id="87" name="Google Shape;87;p1"/>
          <p:cNvSpPr txBox="1"/>
          <p:nvPr/>
        </p:nvSpPr>
        <p:spPr>
          <a:xfrm>
            <a:off x="261256" y="5984033"/>
            <a:ext cx="309776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email: ofadamovkirill@gmail.com</a:t>
            </a: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89225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549" y="104154"/>
            <a:ext cx="7889965" cy="3724096"/>
          </a:xfrm>
          <a:prstGeom prst="rect">
            <a:avLst/>
          </a:prstGeom>
          <a:noFill/>
        </p:spPr>
        <p:txBody>
          <a:bodyPr wrap="square" rtlCol="0">
            <a:spAutoFit/>
          </a:bodyPr>
          <a:lstStyle/>
          <a:p>
            <a:r>
              <a:rPr lang="ru-RU" sz="3600" dirty="0">
                <a:latin typeface="Times New Roman" panose="02020603050405020304" pitchFamily="18" charset="0"/>
                <a:cs typeface="Times New Roman" panose="02020603050405020304" pitchFamily="18" charset="0"/>
              </a:rPr>
              <a:t>Содержание</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Введение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Общие принципы работы квантового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Оптическая схема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Экспериментальная установка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оптической накачки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по компенсации вибрационных шумов</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Заключение</a:t>
            </a:r>
          </a:p>
        </p:txBody>
      </p:sp>
    </p:spTree>
    <p:extLst>
      <p:ext uri="{BB962C8B-B14F-4D97-AF65-F5344CB8AC3E}">
        <p14:creationId xmlns:p14="http://schemas.microsoft.com/office/powerpoint/2010/main" val="13339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a16="http://schemas.microsoft.com/office/drawing/2014/main" id="{C5767328-1785-46B5-813F-A312F3382CC4}"/>
              </a:ext>
            </a:extLst>
          </p:cNvPr>
          <p:cNvSpPr/>
          <p:nvPr/>
        </p:nvSpPr>
        <p:spPr>
          <a:xfrm>
            <a:off x="2495423" y="44900"/>
            <a:ext cx="6910755" cy="3541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Введение</a:t>
            </a:r>
            <a:endParaRPr sz="14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76958720"/>
              </p:ext>
            </p:extLst>
          </p:nvPr>
        </p:nvGraphicFramePr>
        <p:xfrm>
          <a:off x="309068" y="2663855"/>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a16="http://schemas.microsoft.com/office/drawing/2014/main" val="20000"/>
                    </a:ext>
                  </a:extLst>
                </a:gridCol>
                <a:gridCol w="3007360">
                  <a:extLst>
                    <a:ext uri="{9D8B030D-6E8A-4147-A177-3AD203B41FA5}">
                      <a16:colId xmlns:a16="http://schemas.microsoft.com/office/drawing/2014/main" val="20001"/>
                    </a:ext>
                  </a:extLst>
                </a:gridCol>
                <a:gridCol w="2221805">
                  <a:extLst>
                    <a:ext uri="{9D8B030D-6E8A-4147-A177-3AD203B41FA5}">
                      <a16:colId xmlns:a16="http://schemas.microsoft.com/office/drawing/2014/main" val="20002"/>
                    </a:ext>
                  </a:extLst>
                </a:gridCol>
                <a:gridCol w="3264567">
                  <a:extLst>
                    <a:ext uri="{9D8B030D-6E8A-4147-A177-3AD203B41FA5}">
                      <a16:colId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a:t>
                      </a:r>
                      <a:r>
                        <a:rPr lang="en-US" b="0" dirty="0">
                          <a:solidFill>
                            <a:schemeClr val="tx1"/>
                          </a:solidFill>
                          <a:latin typeface="Times New Roman" panose="02020603050405020304" pitchFamily="18" charset="0"/>
                          <a:cs typeface="Times New Roman" panose="02020603050405020304" pitchFamily="18" charset="0"/>
                        </a:rPr>
                        <a:t>1</a:t>
                      </a:r>
                      <a:r>
                        <a:rPr lang="ru-RU" b="0" dirty="0">
                          <a:solidFill>
                            <a:schemeClr val="tx1"/>
                          </a:solidFill>
                          <a:latin typeface="Times New Roman" panose="02020603050405020304" pitchFamily="18" charset="0"/>
                          <a:cs typeface="Times New Roman" panose="02020603050405020304" pitchFamily="18" charset="0"/>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Times New Roman" panose="02020603050405020304" pitchFamily="18" charset="0"/>
                          <a:ea typeface="Times New Roman"/>
                          <a:cs typeface="Times New Roman" panose="02020603050405020304" pitchFamily="18" charset="0"/>
                          <a:sym typeface="Times New Roman"/>
                        </a:rPr>
                        <a:t>2</a:t>
                      </a:r>
                      <a:r>
                        <a:rPr lang="ru-RU" sz="1400" dirty="0">
                          <a:latin typeface="Times New Roman" panose="02020603050405020304" pitchFamily="18" charset="0"/>
                          <a:ea typeface="Times New Roman"/>
                          <a:cs typeface="Times New Roman" panose="02020603050405020304" pitchFamily="18" charset="0"/>
                          <a:sym typeface="Times New Roman"/>
                        </a:rPr>
                        <a:t>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3725695167"/>
              </p:ext>
            </p:extLst>
          </p:nvPr>
        </p:nvGraphicFramePr>
        <p:xfrm>
          <a:off x="771063" y="535053"/>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a16="http://schemas.microsoft.com/office/drawing/2014/main" val="20000"/>
                    </a:ext>
                  </a:extLst>
                </a:gridCol>
                <a:gridCol w="1774979">
                  <a:extLst>
                    <a:ext uri="{9D8B030D-6E8A-4147-A177-3AD203B41FA5}">
                      <a16:colId xmlns:a16="http://schemas.microsoft.com/office/drawing/2014/main" val="20001"/>
                    </a:ext>
                  </a:extLst>
                </a:gridCol>
                <a:gridCol w="1774979">
                  <a:extLst>
                    <a:ext uri="{9D8B030D-6E8A-4147-A177-3AD203B41FA5}">
                      <a16:colId xmlns:a16="http://schemas.microsoft.com/office/drawing/2014/main" val="20002"/>
                    </a:ext>
                  </a:extLst>
                </a:gridCol>
                <a:gridCol w="1774979">
                  <a:extLst>
                    <a:ext uri="{9D8B030D-6E8A-4147-A177-3AD203B41FA5}">
                      <a16:colId xmlns:a16="http://schemas.microsoft.com/office/drawing/2014/main" val="20003"/>
                    </a:ext>
                  </a:extLst>
                </a:gridCol>
                <a:gridCol w="1774979">
                  <a:extLst>
                    <a:ext uri="{9D8B030D-6E8A-4147-A177-3AD203B41FA5}">
                      <a16:colId xmlns:a16="http://schemas.microsoft.com/office/drawing/2014/main" val="20004"/>
                    </a:ext>
                  </a:extLst>
                </a:gridCol>
                <a:gridCol w="1774979">
                  <a:extLst>
                    <a:ext uri="{9D8B030D-6E8A-4147-A177-3AD203B41FA5}">
                      <a16:colId xmlns:a16="http://schemas.microsoft.com/office/drawing/2014/main" val="20005"/>
                    </a:ext>
                  </a:extLst>
                </a:gridCol>
              </a:tblGrid>
              <a:tr h="565703">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торр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5" name="Google Shape;96;p16">
            <a:extLst>
              <a:ext uri="{FF2B5EF4-FFF2-40B4-BE49-F238E27FC236}">
                <a16:creationId xmlns:a16="http://schemas.microsoft.com/office/drawing/2014/main" id="{423EA0ED-41B0-045E-C05E-55922F62F740}"/>
              </a:ext>
            </a:extLst>
          </p:cNvPr>
          <p:cNvSpPr txBox="1"/>
          <p:nvPr/>
        </p:nvSpPr>
        <p:spPr>
          <a:xfrm>
            <a:off x="2042617" y="1898138"/>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a16="http://schemas.microsoft.com/office/drawing/2014/main" id="{E4243556-E438-CFBC-29D6-4D8BF0F905CD}"/>
              </a:ext>
            </a:extLst>
          </p:cNvPr>
          <p:cNvSpPr txBox="1"/>
          <p:nvPr/>
        </p:nvSpPr>
        <p:spPr>
          <a:xfrm>
            <a:off x="2292713" y="1559624"/>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a16="http://schemas.microsoft.com/office/drawing/2014/main" id="{D4F37B3D-67F2-43BC-66AA-BE525757435E}"/>
              </a:ext>
            </a:extLst>
          </p:cNvPr>
          <p:cNvSpPr txBox="1"/>
          <p:nvPr/>
        </p:nvSpPr>
        <p:spPr>
          <a:xfrm>
            <a:off x="6674510" y="1898138"/>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гравитационное ускорение влияют различные факторы, среди них …., они могут приводить к изменению </a:t>
            </a:r>
            <a:r>
              <a:rPr lang="en-US" dirty="0"/>
              <a:t>g </a:t>
            </a:r>
            <a:r>
              <a:rPr lang="ru-RU" dirty="0"/>
              <a:t>от десятых </a:t>
            </a:r>
            <a:r>
              <a:rPr lang="ru-RU" dirty="0" err="1"/>
              <a:t>мкГал</a:t>
            </a:r>
            <a:r>
              <a:rPr lang="ru-RU" dirty="0"/>
              <a:t> до сотен </a:t>
            </a:r>
            <a:r>
              <a:rPr lang="ru-RU" dirty="0" err="1"/>
              <a:t>мГал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Для измерения </a:t>
            </a:r>
            <a:r>
              <a:rPr lang="en-US" dirty="0"/>
              <a:t>g </a:t>
            </a:r>
            <a:r>
              <a:rPr lang="ru-RU" dirty="0"/>
              <a:t>используются гравиметры, которые подразделяются на абсолютные, измеряющие гравитационное ускорение напрямую, и относительные, измеряющие изменение гравитационного поля, и поэтому требуют калибровки по абсолютным, а также относительные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коммерческие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Данная работа направлена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504131" y="94718"/>
            <a:ext cx="6910755" cy="47118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квантового гравиметра</a:t>
            </a:r>
            <a:endParaRPr sz="14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481868" cy="338554"/>
          </a:xfrm>
          <a:prstGeom prst="rect">
            <a:avLst/>
          </a:prstGeom>
          <a:noFill/>
        </p:spPr>
        <p:txBody>
          <a:bodyPr wrap="square" rtlCol="0">
            <a:spAutoFit/>
          </a:bodyPr>
          <a:lstStyle/>
          <a:p>
            <a:r>
              <a:rPr lang="en-US" sz="1600" dirty="0" err="1">
                <a:latin typeface="Times New Roman" panose="02020603050405020304" pitchFamily="18" charset="0"/>
                <a:cs typeface="Times New Roman" panose="02020603050405020304" pitchFamily="18" charset="0"/>
              </a:rPr>
              <a:t>k</a:t>
            </a:r>
            <a:r>
              <a:rPr lang="en-US" sz="1600"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a:t>
            </a:r>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5F76187-A348-4512-AFBD-6EA014B794F8}"/>
                  </a:ext>
                </a:extLst>
              </p:cNvPr>
              <p:cNvSpPr txBox="1"/>
              <p:nvPr/>
            </p:nvSpPr>
            <p:spPr>
              <a:xfrm>
                <a:off x="723472" y="4162817"/>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23472" y="4162817"/>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0D59FF-3EFC-AE6F-C462-671EC06C19B7}"/>
                  </a:ext>
                </a:extLst>
              </p:cNvPr>
              <p:cNvSpPr txBox="1"/>
              <p:nvPr/>
            </p:nvSpPr>
            <p:spPr>
              <a:xfrm>
                <a:off x="5198036" y="5243717"/>
                <a:ext cx="1044004" cy="549381"/>
              </a:xfrm>
              <a:prstGeom prst="rect">
                <a:avLst/>
              </a:prstGeom>
              <a:noFill/>
              <a:ln w="28575">
                <a:solidFill>
                  <a:srgbClr val="FF0000"/>
                </a:solidFill>
              </a:ln>
            </p:spPr>
            <p:txBody>
              <a:bodyPr wrap="none" rtlCol="0">
                <a:spAutoFit/>
              </a:bodyPr>
              <a:lstStyle/>
              <a:p>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m:t>
                        </m:r>
                        <m:sSub>
                          <m:sSubPr>
                            <m:ctrlPr>
                              <a:rPr lang="en-US" sz="1800" i="1" dirty="0" smtClean="0">
                                <a:latin typeface="Cambria Math" panose="02040503050406030204" pitchFamily="18" charset="0"/>
                              </a:rPr>
                            </m:ctrlPr>
                          </m:sSubPr>
                          <m:e>
                            <m:r>
                              <a:rPr lang="en-US" sz="1800" i="1" dirty="0">
                                <a:latin typeface="Cambria Math" panose="02040503050406030204" pitchFamily="18" charset="0"/>
                              </a:rPr>
                              <m:t>𝛼</m:t>
                            </m:r>
                          </m:e>
                          <m:sub>
                            <m:r>
                              <a:rPr lang="ru-RU" sz="1800" b="0" i="1" dirty="0" smtClean="0">
                                <a:latin typeface="Cambria Math" panose="02040503050406030204" pitchFamily="18" charset="0"/>
                              </a:rPr>
                              <m:t>0</m:t>
                            </m:r>
                          </m:sub>
                        </m:sSub>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xmlns="">
          <p:sp>
            <p:nvSpPr>
              <p:cNvPr id="3" name="TextBox 2">
                <a:extLst>
                  <a:ext uri="{FF2B5EF4-FFF2-40B4-BE49-F238E27FC236}">
                    <a16:creationId xmlns:a16="http://schemas.microsoft.com/office/drawing/2014/main" id="{970D59FF-3EFC-AE6F-C462-671EC06C19B7}"/>
                  </a:ext>
                </a:extLst>
              </p:cNvPr>
              <p:cNvSpPr txBox="1">
                <a:spLocks noRot="1" noChangeAspect="1" noMove="1" noResize="1" noEditPoints="1" noAdjustHandles="1" noChangeArrowheads="1" noChangeShapeType="1" noTextEdit="1"/>
              </p:cNvSpPr>
              <p:nvPr/>
            </p:nvSpPr>
            <p:spPr>
              <a:xfrm>
                <a:off x="5198036" y="5243717"/>
                <a:ext cx="1044004" cy="549381"/>
              </a:xfrm>
              <a:prstGeom prst="rect">
                <a:avLst/>
              </a:prstGeom>
              <a:blipFill>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D42D4-EA53-4BF0-8F05-F9A6E85BE531}"/>
              </a:ext>
            </a:extLst>
          </p:cNvPr>
          <p:cNvSpPr txBox="1"/>
          <p:nvPr/>
        </p:nvSpPr>
        <p:spPr>
          <a:xfrm>
            <a:off x="479018" y="219156"/>
            <a:ext cx="11712982" cy="5693866"/>
          </a:xfrm>
          <a:prstGeom prst="rect">
            <a:avLst/>
          </a:prstGeom>
          <a:noFill/>
        </p:spPr>
        <p:txBody>
          <a:bodyPr wrap="square" rtlCol="0">
            <a:spAutoFit/>
          </a:bodyPr>
          <a:lstStyle/>
          <a:p>
            <a:r>
              <a:rPr lang="ru-RU" dirty="0"/>
              <a:t>На данном слайде описана атомная интерференция.</a:t>
            </a:r>
          </a:p>
          <a:p>
            <a:endParaRPr lang="ru-RU" dirty="0"/>
          </a:p>
          <a:p>
            <a:r>
              <a:rPr lang="ru-RU" dirty="0"/>
              <a:t>Для атомной интерференции используются </a:t>
            </a:r>
            <a:r>
              <a:rPr lang="en-US" dirty="0"/>
              <a:t>F = 1 F = 2 </a:t>
            </a:r>
            <a:r>
              <a:rPr lang="ru-RU" dirty="0"/>
              <a:t>компоненты основного состояния 87</a:t>
            </a:r>
            <a:r>
              <a:rPr lang="en-US" dirty="0"/>
              <a:t>Rb</a:t>
            </a:r>
            <a:r>
              <a:rPr lang="ru-RU" dirty="0"/>
              <a:t> (а). Переходы между данными состояниями осуществляются с помощью</a:t>
            </a:r>
            <a:r>
              <a:rPr lang="en-US" dirty="0"/>
              <a:t> </a:t>
            </a:r>
            <a:r>
              <a:rPr lang="ru-RU" dirty="0"/>
              <a:t>встречных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На рис(б) показана схема атомной интерференции, Пусть изначально атомы находятся в состоянии </a:t>
            </a:r>
            <a:r>
              <a:rPr lang="en-US" dirty="0"/>
              <a:t>F =</a:t>
            </a:r>
            <a:r>
              <a:rPr lang="ru-RU" dirty="0"/>
              <a:t> </a:t>
            </a:r>
            <a:r>
              <a:rPr lang="en-US" dirty="0"/>
              <a:t>1:</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отличный импульс, и поэтому получившиеся волновые пакеты эволюционируют по различным пространственно- временным траекториям</a:t>
            </a:r>
            <a:r>
              <a:rPr lang="en-US" dirty="0"/>
              <a:t> </a:t>
            </a:r>
            <a:r>
              <a:rPr lang="ru-RU" dirty="0"/>
              <a:t>в поле </a:t>
            </a:r>
            <a:r>
              <a:rPr lang="en-US" dirty="0"/>
              <a:t>g</a:t>
            </a:r>
            <a:r>
              <a:rPr lang="ru-RU" dirty="0"/>
              <a:t>.</a:t>
            </a:r>
            <a:r>
              <a:rPr lang="en-US" dirty="0"/>
              <a:t> </a:t>
            </a:r>
            <a:endParaRPr lang="ru-RU" dirty="0"/>
          </a:p>
          <a:p>
            <a:pPr marL="342900" indent="-342900">
              <a:buAutoNum type="arabicPeriod"/>
            </a:pPr>
            <a:r>
              <a:rPr lang="ru-RU" dirty="0"/>
              <a:t>В состоянии </a:t>
            </a:r>
            <a:r>
              <a:rPr lang="ru-RU" dirty="0" err="1"/>
              <a:t>свобдного</a:t>
            </a:r>
            <a:r>
              <a:rPr lang="ru-RU" dirty="0"/>
              <a:t> падения атомы находятся время </a:t>
            </a:r>
            <a:r>
              <a:rPr lang="en-US" dirty="0"/>
              <a:t>T, </a:t>
            </a:r>
            <a:r>
              <a:rPr lang="ru-RU" dirty="0"/>
              <a:t>после чего подаётся второй пи импульс, меняющий состояние 1 на 2, а 2 на 1.</a:t>
            </a:r>
          </a:p>
          <a:p>
            <a:pPr marL="342900" indent="-342900">
              <a:buAutoNum type="arabicPeriod"/>
            </a:pPr>
            <a:r>
              <a:rPr lang="ru-RU" dirty="0"/>
              <a:t>И далее 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чирпирования</a:t>
            </a:r>
            <a:r>
              <a:rPr lang="ru-RU" dirty="0"/>
              <a:t> –</a:t>
            </a:r>
            <a:r>
              <a:rPr lang="en-US" dirty="0"/>
              <a:t> </a:t>
            </a:r>
            <a:r>
              <a:rPr lang="ru-RU" dirty="0"/>
              <a:t>альфа. </a:t>
            </a:r>
          </a:p>
          <a:p>
            <a:r>
              <a:rPr lang="ru-RU" dirty="0"/>
              <a:t>Населённость состояний на выходе атомного интерферометра зависит от разности фаз между двумя имеющимися пространственно-временными траекториями – плечами интерферометра. Данная разность фаз определяется следующим выражением</a:t>
            </a:r>
            <a:r>
              <a:rPr lang="en-US" dirty="0"/>
              <a:t>: </a:t>
            </a:r>
            <a:r>
              <a:rPr lang="ru-RU" dirty="0"/>
              <a:t>она зависит от скорости </a:t>
            </a:r>
            <a:r>
              <a:rPr lang="ru-RU" dirty="0" err="1"/>
              <a:t>чирпирования</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a:t>
            </a:r>
          </a:p>
          <a:p>
            <a:endParaRPr lang="en-US" dirty="0"/>
          </a:p>
          <a:p>
            <a:r>
              <a:rPr lang="ru-RU" dirty="0"/>
              <a:t>Для того, чтобы определить </a:t>
            </a:r>
            <a:r>
              <a:rPr lang="en-US" dirty="0"/>
              <a:t>g</a:t>
            </a:r>
            <a:r>
              <a:rPr lang="ru-RU" dirty="0"/>
              <a:t>,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a:t>
            </a:r>
            <a:r>
              <a:rPr lang="ru-RU" dirty="0"/>
              <a:t> времён между импульсами (в), получатся синусоиды. В точке с нулевой разностью фаз </a:t>
            </a:r>
            <a:r>
              <a:rPr lang="ru-RU" dirty="0" err="1"/>
              <a:t>чирпирование</a:t>
            </a:r>
            <a:r>
              <a:rPr lang="ru-RU" dirty="0"/>
              <a:t> полностью скомпенсирует доплеровский сдвиг, это точка экстремума для всех </a:t>
            </a:r>
            <a:r>
              <a:rPr lang="en-US" dirty="0"/>
              <a:t>T </a:t>
            </a:r>
            <a:r>
              <a:rPr lang="ru-RU" dirty="0"/>
              <a:t>будет одинакова.  По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14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3.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DA365-E3B3-01BE-C12D-5555B4A36A5D}"/>
              </a:ext>
            </a:extLst>
          </p:cNvPr>
          <p:cNvSpPr txBox="1"/>
          <p:nvPr/>
        </p:nvSpPr>
        <p:spPr>
          <a:xfrm>
            <a:off x="2937933" y="516467"/>
            <a:ext cx="6316133" cy="4401205"/>
          </a:xfrm>
          <a:prstGeom prst="rect">
            <a:avLst/>
          </a:prstGeom>
          <a:noFill/>
        </p:spPr>
        <p:txBody>
          <a:bodyPr wrap="square" rtlCol="0">
            <a:spAutoFit/>
          </a:bodyPr>
          <a:lstStyle/>
          <a:p>
            <a:r>
              <a:rPr lang="ru-RU" dirty="0"/>
              <a:t>Теперь что касается самой экспериментальной установки гравиметра.</a:t>
            </a:r>
          </a:p>
          <a:p>
            <a:endParaRPr lang="ru-RU" dirty="0"/>
          </a:p>
          <a:p>
            <a:r>
              <a:rPr lang="ru-RU" dirty="0"/>
              <a:t>На 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охлаждающее – синие, и перекачивающее - голубое</a:t>
            </a:r>
            <a:r>
              <a:rPr lang="en-US" dirty="0"/>
              <a:t>, </a:t>
            </a:r>
            <a:r>
              <a:rPr lang="ru-RU" dirty="0"/>
              <a:t>излучение оптической накачки - зелёные</a:t>
            </a:r>
            <a:r>
              <a:rPr lang="en-US" dirty="0"/>
              <a:t>, </a:t>
            </a:r>
            <a:r>
              <a:rPr lang="ru-RU" dirty="0"/>
              <a:t>для подсветки Резонансное излучения – оранжевое, и для атомной интерференции </a:t>
            </a:r>
            <a:r>
              <a:rPr lang="ru-RU" dirty="0" err="1"/>
              <a:t>рамановские</a:t>
            </a:r>
            <a:r>
              <a:rPr lang="ru-RU" dirty="0"/>
              <a:t> пучки - красные.</a:t>
            </a:r>
          </a:p>
          <a:p>
            <a:endParaRPr lang="ru-RU" dirty="0"/>
          </a:p>
          <a:p>
            <a:r>
              <a:rPr lang="ru-RU" dirty="0"/>
              <a:t>А справа показана оптическая схема </a:t>
            </a:r>
            <a:r>
              <a:rPr lang="ru-RU" dirty="0" err="1"/>
              <a:t>гравимерта</a:t>
            </a:r>
            <a:r>
              <a:rPr lang="ru-RU" dirty="0"/>
              <a:t>. Излучение лазерной волоконной системой </a:t>
            </a:r>
            <a:r>
              <a:rPr lang="en-US" dirty="0"/>
              <a:t>EYLSA </a:t>
            </a:r>
            <a:r>
              <a:rPr lang="ru-RU" dirty="0"/>
              <a:t>используется формирование охлаждающего излучения, </a:t>
            </a:r>
            <a:r>
              <a:rPr lang="ru-RU" dirty="0" err="1"/>
              <a:t>рамановских</a:t>
            </a:r>
            <a:r>
              <a:rPr lang="ru-RU" dirty="0"/>
              <a:t> пучков и части излучения оптической накачки.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789922" y="5162073"/>
            <a:ext cx="819227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dirty="0">
                <a:solidFill>
                  <a:srgbClr val="000000"/>
                </a:solidFill>
                <a:latin typeface="Times New Roman"/>
                <a:ea typeface="Times New Roman"/>
                <a:cs typeface="Times New Roman"/>
                <a:sym typeface="Times New Roman"/>
              </a:rPr>
              <a:t>Рис. 4.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18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Экспериментальная установка</a:t>
            </a: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5.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3">
            <a:extLst>
              <a:ext uri="{FF2B5EF4-FFF2-40B4-BE49-F238E27FC236}">
                <a16:creationId xmlns:a16="http://schemas.microsoft.com/office/drawing/2014/main" id="{54FCBDA4-5566-47DB-88F3-11F7896C9614}"/>
              </a:ext>
            </a:extLst>
          </p:cNvPr>
          <p:cNvGraphicFramePr>
            <a:graphicFrameLocks noGrp="1"/>
          </p:cNvGraphicFramePr>
          <p:nvPr>
            <p:extLst>
              <p:ext uri="{D42A27DB-BD31-4B8C-83A1-F6EECF244321}">
                <p14:modId xmlns:p14="http://schemas.microsoft.com/office/powerpoint/2010/main" val="2633225694"/>
              </p:ext>
            </p:extLst>
          </p:nvPr>
        </p:nvGraphicFramePr>
        <p:xfrm>
          <a:off x="1790170" y="596900"/>
          <a:ext cx="8611660" cy="6044387"/>
        </p:xfrm>
        <a:graphic>
          <a:graphicData uri="http://schemas.openxmlformats.org/drawingml/2006/table">
            <a:tbl>
              <a:tblPr firstRow="1" bandRow="1">
                <a:tableStyleId>{5C22544A-7EE6-4342-B048-85BDC9FD1C3A}</a:tableStyleId>
              </a:tblPr>
              <a:tblGrid>
                <a:gridCol w="4305830">
                  <a:extLst>
                    <a:ext uri="{9D8B030D-6E8A-4147-A177-3AD203B41FA5}">
                      <a16:colId xmlns:a16="http://schemas.microsoft.com/office/drawing/2014/main" val="3217741643"/>
                    </a:ext>
                  </a:extLst>
                </a:gridCol>
                <a:gridCol w="4305830">
                  <a:extLst>
                    <a:ext uri="{9D8B030D-6E8A-4147-A177-3AD203B41FA5}">
                      <a16:colId xmlns:a16="http://schemas.microsoft.com/office/drawing/2014/main" val="3049118654"/>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из состояния ∣F = 2⟩ в состояние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в состояние ∣F = 1, m = 0⟩ из состояния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7233675"/>
                  </a:ext>
                </a:extLst>
              </a:tr>
              <a:tr h="2301240">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75067"/>
                  </a:ext>
                </a:extLst>
              </a:tr>
              <a:tr h="423952">
                <a:tc gridSpan="2">
                  <a:txBody>
                    <a:bodyPr/>
                    <a:lstStyle/>
                    <a:p>
                      <a:pPr algn="ctr"/>
                      <a:r>
                        <a:rPr lang="ru-RU" b="1" dirty="0">
                          <a:solidFill>
                            <a:schemeClr val="tx1"/>
                          </a:solidFill>
                          <a:latin typeface="Times New Roman" panose="02020603050405020304" pitchFamily="18" charset="0"/>
                          <a:cs typeface="Times New Roman" panose="02020603050405020304" pitchFamily="18" charset="0"/>
                        </a:rPr>
                        <a:t>Результаты моделирования оптической накачки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0096364"/>
                  </a:ext>
                </a:extLst>
              </a:tr>
              <a:tr h="2801035">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2659424"/>
                  </a:ext>
                </a:extLst>
              </a:tr>
            </a:tbl>
          </a:graphicData>
        </a:graphic>
      </p:graphicFrame>
      <p:pic>
        <p:nvPicPr>
          <p:cNvPr id="66" name="Рисунок 65">
            <a:extLst>
              <a:ext uri="{FF2B5EF4-FFF2-40B4-BE49-F238E27FC236}">
                <a16:creationId xmlns:a16="http://schemas.microsoft.com/office/drawing/2014/main" id="{E8E229DC-645D-4BF2-B2AD-A21DBE638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085" y="4031656"/>
            <a:ext cx="3344244" cy="2363523"/>
          </a:xfrm>
          <a:prstGeom prst="rect">
            <a:avLst/>
          </a:prstGeom>
        </p:spPr>
      </p:pic>
      <p:pic>
        <p:nvPicPr>
          <p:cNvPr id="65" name="Рисунок 64">
            <a:extLst>
              <a:ext uri="{FF2B5EF4-FFF2-40B4-BE49-F238E27FC236}">
                <a16:creationId xmlns:a16="http://schemas.microsoft.com/office/drawing/2014/main" id="{E92481A7-F519-4885-95E9-8AF365188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185" y="3957146"/>
            <a:ext cx="3449671" cy="2438033"/>
          </a:xfrm>
          <a:prstGeom prst="rect">
            <a:avLst/>
          </a:prstGeom>
        </p:spPr>
      </p:pic>
      <p:sp>
        <p:nvSpPr>
          <p:cNvPr id="2" name="Google Shape;246;p7">
            <a:extLst>
              <a:ext uri="{FF2B5EF4-FFF2-40B4-BE49-F238E27FC236}">
                <a16:creationId xmlns:a16="http://schemas.microsoft.com/office/drawing/2014/main" id="{ADBA48A0-643A-42AD-B040-E7A9A3323698}"/>
              </a:ext>
            </a:extLst>
          </p:cNvPr>
          <p:cNvSpPr/>
          <p:nvPr/>
        </p:nvSpPr>
        <p:spPr>
          <a:xfrm>
            <a:off x="2085240" y="83130"/>
            <a:ext cx="8611659" cy="41358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dirty="0">
                <a:solidFill>
                  <a:schemeClr val="lt1"/>
                </a:solidFill>
                <a:latin typeface="Times New Roman"/>
                <a:ea typeface="Times New Roman"/>
                <a:cs typeface="Times New Roman"/>
                <a:sym typeface="Times New Roman"/>
              </a:rPr>
              <a:t>Результаты моделирования оптической накачки</a:t>
            </a:r>
            <a:endParaRPr sz="1400" b="0" i="0" u="none" strike="noStrike" cap="none" dirty="0">
              <a:solidFill>
                <a:srgbClr val="000000"/>
              </a:solidFill>
              <a:latin typeface="Arial"/>
              <a:ea typeface="Arial"/>
              <a:cs typeface="Arial"/>
              <a:sym typeface="Arial"/>
            </a:endParaRPr>
          </a:p>
        </p:txBody>
      </p:sp>
      <p:cxnSp>
        <p:nvCxnSpPr>
          <p:cNvPr id="103" name="Google Shape;299;p7">
            <a:extLst>
              <a:ext uri="{FF2B5EF4-FFF2-40B4-BE49-F238E27FC236}">
                <a16:creationId xmlns:a16="http://schemas.microsoft.com/office/drawing/2014/main" id="{2E5A9624-18A1-400B-AF2C-0F07EC11EAFB}"/>
              </a:ext>
            </a:extLst>
          </p:cNvPr>
          <p:cNvCxnSpPr/>
          <p:nvPr/>
        </p:nvCxnSpPr>
        <p:spPr>
          <a:xfrm>
            <a:off x="3484945" y="1289692"/>
            <a:ext cx="180937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04" name="Google Shape;300;p7">
            <a:extLst>
              <a:ext uri="{FF2B5EF4-FFF2-40B4-BE49-F238E27FC236}">
                <a16:creationId xmlns:a16="http://schemas.microsoft.com/office/drawing/2014/main" id="{A5811CD6-B7D7-4A6E-97A8-B2E5FF831621}"/>
              </a:ext>
            </a:extLst>
          </p:cNvPr>
          <p:cNvSpPr txBox="1"/>
          <p:nvPr/>
        </p:nvSpPr>
        <p:spPr>
          <a:xfrm>
            <a:off x="2497990" y="1135803"/>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cxnSp>
        <p:nvCxnSpPr>
          <p:cNvPr id="105" name="Google Shape;302;p7">
            <a:extLst>
              <a:ext uri="{FF2B5EF4-FFF2-40B4-BE49-F238E27FC236}">
                <a16:creationId xmlns:a16="http://schemas.microsoft.com/office/drawing/2014/main" id="{9B2782CE-7759-4404-BDA1-E97051A2F3AA}"/>
              </a:ext>
            </a:extLst>
          </p:cNvPr>
          <p:cNvCxnSpPr>
            <a:cxnSpLocks/>
          </p:cNvCxnSpPr>
          <p:nvPr/>
        </p:nvCxnSpPr>
        <p:spPr>
          <a:xfrm flipH="1" flipV="1">
            <a:off x="4436901" y="1388163"/>
            <a:ext cx="1" cy="547550"/>
          </a:xfrm>
          <a:prstGeom prst="straightConnector1">
            <a:avLst/>
          </a:prstGeom>
          <a:noFill/>
          <a:ln w="19050" cap="flat" cmpd="sng">
            <a:solidFill>
              <a:schemeClr val="dk1"/>
            </a:solidFill>
            <a:prstDash val="solid"/>
            <a:round/>
            <a:headEnd type="none" w="sm" len="sm"/>
            <a:tailEnd type="triangle" w="med" len="med"/>
          </a:ln>
        </p:spPr>
      </p:cxnSp>
      <p:cxnSp>
        <p:nvCxnSpPr>
          <p:cNvPr id="106" name="Google Shape;303;p7">
            <a:extLst>
              <a:ext uri="{FF2B5EF4-FFF2-40B4-BE49-F238E27FC236}">
                <a16:creationId xmlns:a16="http://schemas.microsoft.com/office/drawing/2014/main" id="{46DA7C1D-A09F-40A2-B438-F879F9AEF3BF}"/>
              </a:ext>
            </a:extLst>
          </p:cNvPr>
          <p:cNvCxnSpPr>
            <a:cxnSpLocks/>
          </p:cNvCxnSpPr>
          <p:nvPr/>
        </p:nvCxnSpPr>
        <p:spPr>
          <a:xfrm>
            <a:off x="4705721" y="1388163"/>
            <a:ext cx="0" cy="1218048"/>
          </a:xfrm>
          <a:prstGeom prst="straightConnector1">
            <a:avLst/>
          </a:prstGeom>
          <a:noFill/>
          <a:ln w="19050" cap="flat" cmpd="sng">
            <a:solidFill>
              <a:schemeClr val="dk1"/>
            </a:solidFill>
            <a:prstDash val="dash"/>
            <a:round/>
            <a:headEnd type="none" w="sm" len="sm"/>
            <a:tailEnd type="triangle" w="med" len="med"/>
          </a:ln>
        </p:spPr>
      </p:cxnSp>
      <p:cxnSp>
        <p:nvCxnSpPr>
          <p:cNvPr id="107" name="Google Shape;305;p7">
            <a:extLst>
              <a:ext uri="{FF2B5EF4-FFF2-40B4-BE49-F238E27FC236}">
                <a16:creationId xmlns:a16="http://schemas.microsoft.com/office/drawing/2014/main" id="{78281A48-1C8E-4756-8AD5-13BE4DCF54D1}"/>
              </a:ext>
            </a:extLst>
          </p:cNvPr>
          <p:cNvCxnSpPr/>
          <p:nvPr/>
        </p:nvCxnSpPr>
        <p:spPr>
          <a:xfrm>
            <a:off x="3213242"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8" name="Google Shape;306;p7">
            <a:extLst>
              <a:ext uri="{FF2B5EF4-FFF2-40B4-BE49-F238E27FC236}">
                <a16:creationId xmlns:a16="http://schemas.microsoft.com/office/drawing/2014/main" id="{86C83C26-B327-4DAA-9909-D7AFD6E8B2FC}"/>
              </a:ext>
            </a:extLst>
          </p:cNvPr>
          <p:cNvCxnSpPr/>
          <p:nvPr/>
        </p:nvCxnSpPr>
        <p:spPr>
          <a:xfrm>
            <a:off x="3722693"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9" name="Google Shape;307;p7">
            <a:extLst>
              <a:ext uri="{FF2B5EF4-FFF2-40B4-BE49-F238E27FC236}">
                <a16:creationId xmlns:a16="http://schemas.microsoft.com/office/drawing/2014/main" id="{F0AF9A47-8BB9-429D-8469-BB18AF98FBCB}"/>
              </a:ext>
            </a:extLst>
          </p:cNvPr>
          <p:cNvCxnSpPr/>
          <p:nvPr/>
        </p:nvCxnSpPr>
        <p:spPr>
          <a:xfrm>
            <a:off x="425495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0" name="Google Shape;308;p7">
            <a:extLst>
              <a:ext uri="{FF2B5EF4-FFF2-40B4-BE49-F238E27FC236}">
                <a16:creationId xmlns:a16="http://schemas.microsoft.com/office/drawing/2014/main" id="{E375B3E5-5994-4344-9A91-0ED396A99478}"/>
              </a:ext>
            </a:extLst>
          </p:cNvPr>
          <p:cNvCxnSpPr/>
          <p:nvPr/>
        </p:nvCxnSpPr>
        <p:spPr>
          <a:xfrm>
            <a:off x="4776431"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1" name="Google Shape;309;p7">
            <a:extLst>
              <a:ext uri="{FF2B5EF4-FFF2-40B4-BE49-F238E27FC236}">
                <a16:creationId xmlns:a16="http://schemas.microsoft.com/office/drawing/2014/main" id="{50D2C602-EE44-4C8A-BF36-161ABD8AFC21}"/>
              </a:ext>
            </a:extLst>
          </p:cNvPr>
          <p:cNvCxnSpPr/>
          <p:nvPr/>
        </p:nvCxnSpPr>
        <p:spPr>
          <a:xfrm>
            <a:off x="529023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2" name="Google Shape;310;p7">
            <a:extLst>
              <a:ext uri="{FF2B5EF4-FFF2-40B4-BE49-F238E27FC236}">
                <a16:creationId xmlns:a16="http://schemas.microsoft.com/office/drawing/2014/main" id="{FCDCCEAE-71B2-4116-BEE3-F401B9723EC2}"/>
              </a:ext>
            </a:extLst>
          </p:cNvPr>
          <p:cNvCxnSpPr/>
          <p:nvPr/>
        </p:nvCxnSpPr>
        <p:spPr>
          <a:xfrm>
            <a:off x="3722693"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3" name="Google Shape;311;p7">
            <a:extLst>
              <a:ext uri="{FF2B5EF4-FFF2-40B4-BE49-F238E27FC236}">
                <a16:creationId xmlns:a16="http://schemas.microsoft.com/office/drawing/2014/main" id="{B993C26E-959A-4C2D-92AF-F9C0AAAB6D91}"/>
              </a:ext>
            </a:extLst>
          </p:cNvPr>
          <p:cNvCxnSpPr/>
          <p:nvPr/>
        </p:nvCxnSpPr>
        <p:spPr>
          <a:xfrm>
            <a:off x="4254956"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4" name="Google Shape;312;p7">
            <a:extLst>
              <a:ext uri="{FF2B5EF4-FFF2-40B4-BE49-F238E27FC236}">
                <a16:creationId xmlns:a16="http://schemas.microsoft.com/office/drawing/2014/main" id="{C2EF69D7-75C1-4C20-B345-8C9821CDDB97}"/>
              </a:ext>
            </a:extLst>
          </p:cNvPr>
          <p:cNvCxnSpPr/>
          <p:nvPr/>
        </p:nvCxnSpPr>
        <p:spPr>
          <a:xfrm>
            <a:off x="4772077"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15" name="Google Shape;313;p7">
            <a:extLst>
              <a:ext uri="{FF2B5EF4-FFF2-40B4-BE49-F238E27FC236}">
                <a16:creationId xmlns:a16="http://schemas.microsoft.com/office/drawing/2014/main" id="{89C8025C-74C2-46A1-B2BF-9DFCF11A979D}"/>
              </a:ext>
            </a:extLst>
          </p:cNvPr>
          <p:cNvSpPr txBox="1"/>
          <p:nvPr/>
        </p:nvSpPr>
        <p:spPr>
          <a:xfrm>
            <a:off x="2503493" y="1943033"/>
            <a:ext cx="1384663" cy="306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sp>
        <p:nvSpPr>
          <p:cNvPr id="116" name="Google Shape;314;p7">
            <a:extLst>
              <a:ext uri="{FF2B5EF4-FFF2-40B4-BE49-F238E27FC236}">
                <a16:creationId xmlns:a16="http://schemas.microsoft.com/office/drawing/2014/main" id="{9492B3EB-7F3F-4A24-AF62-549E44472DFD}"/>
              </a:ext>
            </a:extLst>
          </p:cNvPr>
          <p:cNvSpPr txBox="1"/>
          <p:nvPr/>
        </p:nvSpPr>
        <p:spPr>
          <a:xfrm>
            <a:off x="2503493" y="2556588"/>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F = 1</a:t>
            </a:r>
            <a:endParaRPr sz="1400" b="0" i="0" u="none" strike="noStrike" cap="none">
              <a:solidFill>
                <a:srgbClr val="000000"/>
              </a:solidFill>
              <a:latin typeface="Times New Roman"/>
              <a:ea typeface="Times New Roman"/>
              <a:cs typeface="Times New Roman"/>
              <a:sym typeface="Times New Roman"/>
            </a:endParaRPr>
          </a:p>
        </p:txBody>
      </p:sp>
      <p:sp>
        <p:nvSpPr>
          <p:cNvPr id="117" name="Google Shape;315;p7">
            <a:extLst>
              <a:ext uri="{FF2B5EF4-FFF2-40B4-BE49-F238E27FC236}">
                <a16:creationId xmlns:a16="http://schemas.microsoft.com/office/drawing/2014/main" id="{28F9B385-9F4C-4F9B-BD30-7EB8D06697DF}"/>
              </a:ext>
            </a:extLst>
          </p:cNvPr>
          <p:cNvSpPr txBox="1"/>
          <p:nvPr/>
        </p:nvSpPr>
        <p:spPr>
          <a:xfrm>
            <a:off x="4164556"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8" name="Google Shape;316;p7">
            <a:extLst>
              <a:ext uri="{FF2B5EF4-FFF2-40B4-BE49-F238E27FC236}">
                <a16:creationId xmlns:a16="http://schemas.microsoft.com/office/drawing/2014/main" id="{F072E1E4-3562-4629-8097-9D0781860DED}"/>
              </a:ext>
            </a:extLst>
          </p:cNvPr>
          <p:cNvSpPr txBox="1"/>
          <p:nvPr/>
        </p:nvSpPr>
        <p:spPr>
          <a:xfrm>
            <a:off x="3581082" y="2777279"/>
            <a:ext cx="5980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9" name="Google Shape;317;p7">
            <a:extLst>
              <a:ext uri="{FF2B5EF4-FFF2-40B4-BE49-F238E27FC236}">
                <a16:creationId xmlns:a16="http://schemas.microsoft.com/office/drawing/2014/main" id="{3DD80756-09C9-4FCF-BB5F-F96A644B54F8}"/>
              </a:ext>
            </a:extLst>
          </p:cNvPr>
          <p:cNvSpPr txBox="1"/>
          <p:nvPr/>
        </p:nvSpPr>
        <p:spPr>
          <a:xfrm>
            <a:off x="4705722"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0" name="Google Shape;318;p7">
            <a:extLst>
              <a:ext uri="{FF2B5EF4-FFF2-40B4-BE49-F238E27FC236}">
                <a16:creationId xmlns:a16="http://schemas.microsoft.com/office/drawing/2014/main" id="{AE4AE603-6403-46A0-A55A-B2F23A170FC7}"/>
              </a:ext>
            </a:extLst>
          </p:cNvPr>
          <p:cNvSpPr txBox="1"/>
          <p:nvPr/>
        </p:nvSpPr>
        <p:spPr>
          <a:xfrm>
            <a:off x="4146898" y="2095977"/>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Arial"/>
                <a:ea typeface="Arial"/>
                <a:cs typeface="Arial"/>
                <a:sym typeface="Arial"/>
              </a:rPr>
              <a:t>m=0</a:t>
            </a:r>
            <a:endParaRPr sz="1400" b="0" i="0" u="none" strike="noStrike" cap="none">
              <a:solidFill>
                <a:srgbClr val="000000"/>
              </a:solidFill>
              <a:latin typeface="Arial"/>
              <a:ea typeface="Arial"/>
              <a:cs typeface="Arial"/>
              <a:sym typeface="Arial"/>
            </a:endParaRPr>
          </a:p>
        </p:txBody>
      </p:sp>
      <p:sp>
        <p:nvSpPr>
          <p:cNvPr id="121" name="Google Shape;319;p7">
            <a:extLst>
              <a:ext uri="{FF2B5EF4-FFF2-40B4-BE49-F238E27FC236}">
                <a16:creationId xmlns:a16="http://schemas.microsoft.com/office/drawing/2014/main" id="{3177D817-74B7-4764-9B36-8C7999C346B7}"/>
              </a:ext>
            </a:extLst>
          </p:cNvPr>
          <p:cNvSpPr txBox="1"/>
          <p:nvPr/>
        </p:nvSpPr>
        <p:spPr>
          <a:xfrm>
            <a:off x="4705721" y="16793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2" name="Google Shape;320;p7">
            <a:extLst>
              <a:ext uri="{FF2B5EF4-FFF2-40B4-BE49-F238E27FC236}">
                <a16:creationId xmlns:a16="http://schemas.microsoft.com/office/drawing/2014/main" id="{BBD09642-BA00-455B-A6C5-43B1C80FEB03}"/>
              </a:ext>
            </a:extLst>
          </p:cNvPr>
          <p:cNvSpPr txBox="1"/>
          <p:nvPr/>
        </p:nvSpPr>
        <p:spPr>
          <a:xfrm>
            <a:off x="3623391" y="1678800"/>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3" name="Google Shape;321;p7">
            <a:extLst>
              <a:ext uri="{FF2B5EF4-FFF2-40B4-BE49-F238E27FC236}">
                <a16:creationId xmlns:a16="http://schemas.microsoft.com/office/drawing/2014/main" id="{72930C02-8558-435C-B73F-668AC9196C5C}"/>
              </a:ext>
            </a:extLst>
          </p:cNvPr>
          <p:cNvSpPr txBox="1"/>
          <p:nvPr/>
        </p:nvSpPr>
        <p:spPr>
          <a:xfrm>
            <a:off x="5246886" y="1678799"/>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4" name="Google Shape;322;p7">
            <a:extLst>
              <a:ext uri="{FF2B5EF4-FFF2-40B4-BE49-F238E27FC236}">
                <a16:creationId xmlns:a16="http://schemas.microsoft.com/office/drawing/2014/main" id="{A856AB1E-7EAA-4252-9F9E-2D17D90A05C9}"/>
              </a:ext>
            </a:extLst>
          </p:cNvPr>
          <p:cNvSpPr txBox="1"/>
          <p:nvPr/>
        </p:nvSpPr>
        <p:spPr>
          <a:xfrm>
            <a:off x="3091937" y="1678798"/>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5" name="Google Shape;324;p7">
            <a:extLst>
              <a:ext uri="{FF2B5EF4-FFF2-40B4-BE49-F238E27FC236}">
                <a16:creationId xmlns:a16="http://schemas.microsoft.com/office/drawing/2014/main" id="{C7E2C7D4-6EB7-4199-AF71-1F752404AD37}"/>
              </a:ext>
            </a:extLst>
          </p:cNvPr>
          <p:cNvSpPr/>
          <p:nvPr/>
        </p:nvSpPr>
        <p:spPr>
          <a:xfrm>
            <a:off x="3801591"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6" name="Google Shape;325;p7">
            <a:extLst>
              <a:ext uri="{FF2B5EF4-FFF2-40B4-BE49-F238E27FC236}">
                <a16:creationId xmlns:a16="http://schemas.microsoft.com/office/drawing/2014/main" id="{7EF5AC33-F806-45AD-9355-C0C56E36D8E0}"/>
              </a:ext>
            </a:extLst>
          </p:cNvPr>
          <p:cNvSpPr/>
          <p:nvPr/>
        </p:nvSpPr>
        <p:spPr>
          <a:xfrm>
            <a:off x="4341421" y="2636739"/>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7" name="Google Shape;326;p7">
            <a:extLst>
              <a:ext uri="{FF2B5EF4-FFF2-40B4-BE49-F238E27FC236}">
                <a16:creationId xmlns:a16="http://schemas.microsoft.com/office/drawing/2014/main" id="{D487D161-CE2D-4505-B512-9F7EE8F4AF98}"/>
              </a:ext>
            </a:extLst>
          </p:cNvPr>
          <p:cNvSpPr/>
          <p:nvPr/>
        </p:nvSpPr>
        <p:spPr>
          <a:xfrm>
            <a:off x="4850076" y="2629294"/>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28" name="Google Shape;327;p7">
            <a:extLst>
              <a:ext uri="{FF2B5EF4-FFF2-40B4-BE49-F238E27FC236}">
                <a16:creationId xmlns:a16="http://schemas.microsoft.com/office/drawing/2014/main" id="{B2AE25D9-ABE4-4DA0-8BC1-2769C7E58598}"/>
              </a:ext>
            </a:extLst>
          </p:cNvPr>
          <p:cNvCxnSpPr/>
          <p:nvPr/>
        </p:nvCxnSpPr>
        <p:spPr>
          <a:xfrm>
            <a:off x="8117130" y="1344070"/>
            <a:ext cx="358998" cy="11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29" name="Google Shape;328;p7">
            <a:extLst>
              <a:ext uri="{FF2B5EF4-FFF2-40B4-BE49-F238E27FC236}">
                <a16:creationId xmlns:a16="http://schemas.microsoft.com/office/drawing/2014/main" id="{759DCDE9-0FE5-47F3-A4B3-F7579EB31A17}"/>
              </a:ext>
            </a:extLst>
          </p:cNvPr>
          <p:cNvSpPr txBox="1"/>
          <p:nvPr/>
        </p:nvSpPr>
        <p:spPr>
          <a:xfrm>
            <a:off x="7426972" y="1182868"/>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0</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0" name="Google Shape;329;p7">
            <a:extLst>
              <a:ext uri="{FF2B5EF4-FFF2-40B4-BE49-F238E27FC236}">
                <a16:creationId xmlns:a16="http://schemas.microsoft.com/office/drawing/2014/main" id="{7FB0B97D-86CE-4837-A249-CF2BB06DC8BC}"/>
              </a:ext>
            </a:extLst>
          </p:cNvPr>
          <p:cNvCxnSpPr/>
          <p:nvPr/>
        </p:nvCxnSpPr>
        <p:spPr>
          <a:xfrm>
            <a:off x="7594786" y="2639398"/>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1" name="Google Shape;330;p7">
            <a:extLst>
              <a:ext uri="{FF2B5EF4-FFF2-40B4-BE49-F238E27FC236}">
                <a16:creationId xmlns:a16="http://schemas.microsoft.com/office/drawing/2014/main" id="{17F9E9EB-B791-478A-8720-BEF74803123B}"/>
              </a:ext>
            </a:extLst>
          </p:cNvPr>
          <p:cNvCxnSpPr/>
          <p:nvPr/>
        </p:nvCxnSpPr>
        <p:spPr>
          <a:xfrm>
            <a:off x="8120734" y="270927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2" name="Google Shape;331;p7">
            <a:extLst>
              <a:ext uri="{FF2B5EF4-FFF2-40B4-BE49-F238E27FC236}">
                <a16:creationId xmlns:a16="http://schemas.microsoft.com/office/drawing/2014/main" id="{DA5E6E9C-B693-4905-AF03-2DADF2992FAC}"/>
              </a:ext>
            </a:extLst>
          </p:cNvPr>
          <p:cNvCxnSpPr/>
          <p:nvPr/>
        </p:nvCxnSpPr>
        <p:spPr>
          <a:xfrm>
            <a:off x="8642747" y="279517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33" name="Google Shape;332;p7">
            <a:extLst>
              <a:ext uri="{FF2B5EF4-FFF2-40B4-BE49-F238E27FC236}">
                <a16:creationId xmlns:a16="http://schemas.microsoft.com/office/drawing/2014/main" id="{C881895D-327E-4DA1-B6B5-EDF9B15CF510}"/>
              </a:ext>
            </a:extLst>
          </p:cNvPr>
          <p:cNvSpPr txBox="1"/>
          <p:nvPr/>
        </p:nvSpPr>
        <p:spPr>
          <a:xfrm>
            <a:off x="6614068" y="2564022"/>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1</a:t>
            </a:r>
            <a:endParaRPr sz="1400" b="0" i="0" u="none" strike="noStrike" cap="none" dirty="0">
              <a:solidFill>
                <a:srgbClr val="000000"/>
              </a:solidFill>
              <a:latin typeface="Times New Roman"/>
              <a:ea typeface="Times New Roman"/>
              <a:cs typeface="Times New Roman"/>
              <a:sym typeface="Times New Roman"/>
            </a:endParaRPr>
          </a:p>
        </p:txBody>
      </p:sp>
      <p:sp>
        <p:nvSpPr>
          <p:cNvPr id="134" name="Google Shape;333;p7">
            <a:extLst>
              <a:ext uri="{FF2B5EF4-FFF2-40B4-BE49-F238E27FC236}">
                <a16:creationId xmlns:a16="http://schemas.microsoft.com/office/drawing/2014/main" id="{ECD6A746-0D5B-4E93-8BA9-B883FF63CFBE}"/>
              </a:ext>
            </a:extLst>
          </p:cNvPr>
          <p:cNvSpPr txBox="1"/>
          <p:nvPr/>
        </p:nvSpPr>
        <p:spPr>
          <a:xfrm>
            <a:off x="8030334" y="2776074"/>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5" name="Google Shape;334;p7">
            <a:extLst>
              <a:ext uri="{FF2B5EF4-FFF2-40B4-BE49-F238E27FC236}">
                <a16:creationId xmlns:a16="http://schemas.microsoft.com/office/drawing/2014/main" id="{B58DD3D3-AA6B-4314-BF84-2078711C8530}"/>
              </a:ext>
            </a:extLst>
          </p:cNvPr>
          <p:cNvSpPr txBox="1"/>
          <p:nvPr/>
        </p:nvSpPr>
        <p:spPr>
          <a:xfrm>
            <a:off x="7453174" y="2706200"/>
            <a:ext cx="6124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6" name="Google Shape;335;p7">
            <a:extLst>
              <a:ext uri="{FF2B5EF4-FFF2-40B4-BE49-F238E27FC236}">
                <a16:creationId xmlns:a16="http://schemas.microsoft.com/office/drawing/2014/main" id="{1083B4B1-55E8-4208-95C6-60AE75E49B8B}"/>
              </a:ext>
            </a:extLst>
          </p:cNvPr>
          <p:cNvSpPr txBox="1"/>
          <p:nvPr/>
        </p:nvSpPr>
        <p:spPr>
          <a:xfrm>
            <a:off x="8576393" y="2861972"/>
            <a:ext cx="54009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7" name="Google Shape;336;p7">
            <a:extLst>
              <a:ext uri="{FF2B5EF4-FFF2-40B4-BE49-F238E27FC236}">
                <a16:creationId xmlns:a16="http://schemas.microsoft.com/office/drawing/2014/main" id="{59868BE4-E23F-4B46-AC6B-6FB8F481ACE2}"/>
              </a:ext>
            </a:extLst>
          </p:cNvPr>
          <p:cNvSpPr/>
          <p:nvPr/>
        </p:nvSpPr>
        <p:spPr>
          <a:xfrm>
            <a:off x="8208032"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38" name="Google Shape;337;p7">
            <a:extLst>
              <a:ext uri="{FF2B5EF4-FFF2-40B4-BE49-F238E27FC236}">
                <a16:creationId xmlns:a16="http://schemas.microsoft.com/office/drawing/2014/main" id="{116226FF-8C6F-479C-8EA1-9576E5EC9DDA}"/>
              </a:ext>
            </a:extLst>
          </p:cNvPr>
          <p:cNvCxnSpPr/>
          <p:nvPr/>
        </p:nvCxnSpPr>
        <p:spPr>
          <a:xfrm rot="10800000" flipH="1">
            <a:off x="7782842" y="1485448"/>
            <a:ext cx="391188" cy="1077250"/>
          </a:xfrm>
          <a:prstGeom prst="straightConnector1">
            <a:avLst/>
          </a:prstGeom>
          <a:noFill/>
          <a:ln w="19050" cap="flat" cmpd="sng">
            <a:solidFill>
              <a:schemeClr val="tx1"/>
            </a:solidFill>
            <a:prstDash val="solid"/>
            <a:round/>
            <a:headEnd type="none" w="sm" len="sm"/>
            <a:tailEnd type="triangle" w="med" len="med"/>
          </a:ln>
        </p:spPr>
      </p:cxnSp>
      <p:cxnSp>
        <p:nvCxnSpPr>
          <p:cNvPr id="139" name="Google Shape;338;p7">
            <a:extLst>
              <a:ext uri="{FF2B5EF4-FFF2-40B4-BE49-F238E27FC236}">
                <a16:creationId xmlns:a16="http://schemas.microsoft.com/office/drawing/2014/main" id="{06F1CA81-846C-43DA-863B-EABCF861BD6A}"/>
              </a:ext>
            </a:extLst>
          </p:cNvPr>
          <p:cNvCxnSpPr>
            <a:cxnSpLocks/>
          </p:cNvCxnSpPr>
          <p:nvPr/>
        </p:nvCxnSpPr>
        <p:spPr>
          <a:xfrm flipH="1" flipV="1">
            <a:off x="8436177" y="1485448"/>
            <a:ext cx="358310" cy="1230099"/>
          </a:xfrm>
          <a:prstGeom prst="straightConnector1">
            <a:avLst/>
          </a:prstGeom>
          <a:noFill/>
          <a:ln w="19050" cap="flat" cmpd="sng">
            <a:solidFill>
              <a:schemeClr val="tx1"/>
            </a:solidFill>
            <a:prstDash val="solid"/>
            <a:round/>
            <a:headEnd type="none" w="sm" len="sm"/>
            <a:tailEnd type="triangle" w="med" len="med"/>
          </a:ln>
        </p:spPr>
      </p:cxnSp>
      <p:cxnSp>
        <p:nvCxnSpPr>
          <p:cNvPr id="140" name="Google Shape;339;p7">
            <a:extLst>
              <a:ext uri="{FF2B5EF4-FFF2-40B4-BE49-F238E27FC236}">
                <a16:creationId xmlns:a16="http://schemas.microsoft.com/office/drawing/2014/main" id="{9A162B01-25C6-41BB-92A1-4360229920F2}"/>
              </a:ext>
            </a:extLst>
          </p:cNvPr>
          <p:cNvCxnSpPr/>
          <p:nvPr/>
        </p:nvCxnSpPr>
        <p:spPr>
          <a:xfrm>
            <a:off x="8295101" y="1485447"/>
            <a:ext cx="20004" cy="1077249"/>
          </a:xfrm>
          <a:prstGeom prst="straightConnector1">
            <a:avLst/>
          </a:prstGeom>
          <a:noFill/>
          <a:ln w="19050" cap="flat" cmpd="sng">
            <a:solidFill>
              <a:schemeClr val="tx1"/>
            </a:solidFill>
            <a:prstDash val="dash"/>
            <a:round/>
            <a:headEnd type="none" w="sm" len="sm"/>
            <a:tailEnd type="triangle" w="med" len="med"/>
          </a:ln>
        </p:spPr>
      </p:cxnSp>
      <p:sp>
        <p:nvSpPr>
          <p:cNvPr id="141" name="Google Shape;340;p7">
            <a:extLst>
              <a:ext uri="{FF2B5EF4-FFF2-40B4-BE49-F238E27FC236}">
                <a16:creationId xmlns:a16="http://schemas.microsoft.com/office/drawing/2014/main" id="{1699AABE-ACD0-4B3A-8A06-D24C5EB4EB20}"/>
              </a:ext>
            </a:extLst>
          </p:cNvPr>
          <p:cNvSpPr txBox="1"/>
          <p:nvPr/>
        </p:nvSpPr>
        <p:spPr>
          <a:xfrm>
            <a:off x="8523458" y="11596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42" name="Google Shape;373;p7">
            <a:extLst>
              <a:ext uri="{FF2B5EF4-FFF2-40B4-BE49-F238E27FC236}">
                <a16:creationId xmlns:a16="http://schemas.microsoft.com/office/drawing/2014/main" id="{EB38CCD1-B7F0-44DE-9AA5-6FD12D922F1A}"/>
              </a:ext>
            </a:extLst>
          </p:cNvPr>
          <p:cNvCxnSpPr/>
          <p:nvPr/>
        </p:nvCxnSpPr>
        <p:spPr>
          <a:xfrm>
            <a:off x="7083536" y="228868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3" name="Google Shape;374;p7">
            <a:extLst>
              <a:ext uri="{FF2B5EF4-FFF2-40B4-BE49-F238E27FC236}">
                <a16:creationId xmlns:a16="http://schemas.microsoft.com/office/drawing/2014/main" id="{25AA9A3C-5B8B-4227-B9AC-7E86AED6BD6A}"/>
              </a:ext>
            </a:extLst>
          </p:cNvPr>
          <p:cNvCxnSpPr/>
          <p:nvPr/>
        </p:nvCxnSpPr>
        <p:spPr>
          <a:xfrm>
            <a:off x="7581410" y="220056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4" name="Google Shape;375;p7">
            <a:extLst>
              <a:ext uri="{FF2B5EF4-FFF2-40B4-BE49-F238E27FC236}">
                <a16:creationId xmlns:a16="http://schemas.microsoft.com/office/drawing/2014/main" id="{E83ADE1F-B8D9-48B4-A5AD-AFCDD8B239CA}"/>
              </a:ext>
            </a:extLst>
          </p:cNvPr>
          <p:cNvCxnSpPr/>
          <p:nvPr/>
        </p:nvCxnSpPr>
        <p:spPr>
          <a:xfrm>
            <a:off x="8132014" y="211464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5" name="Google Shape;376;p7">
            <a:extLst>
              <a:ext uri="{FF2B5EF4-FFF2-40B4-BE49-F238E27FC236}">
                <a16:creationId xmlns:a16="http://schemas.microsoft.com/office/drawing/2014/main" id="{AFAE1C24-C6A6-4383-90A6-5A50058053F3}"/>
              </a:ext>
            </a:extLst>
          </p:cNvPr>
          <p:cNvCxnSpPr/>
          <p:nvPr/>
        </p:nvCxnSpPr>
        <p:spPr>
          <a:xfrm>
            <a:off x="8646652" y="204268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6" name="Google Shape;377;p7">
            <a:extLst>
              <a:ext uri="{FF2B5EF4-FFF2-40B4-BE49-F238E27FC236}">
                <a16:creationId xmlns:a16="http://schemas.microsoft.com/office/drawing/2014/main" id="{05D09583-3DCF-44D9-87CC-905A4A89AA37}"/>
              </a:ext>
            </a:extLst>
          </p:cNvPr>
          <p:cNvCxnSpPr/>
          <p:nvPr/>
        </p:nvCxnSpPr>
        <p:spPr>
          <a:xfrm>
            <a:off x="9170461" y="1933335"/>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47" name="Google Shape;378;p7">
            <a:extLst>
              <a:ext uri="{FF2B5EF4-FFF2-40B4-BE49-F238E27FC236}">
                <a16:creationId xmlns:a16="http://schemas.microsoft.com/office/drawing/2014/main" id="{BAEDA4E0-587A-4267-89FE-4FC711B0E1F7}"/>
              </a:ext>
            </a:extLst>
          </p:cNvPr>
          <p:cNvSpPr txBox="1"/>
          <p:nvPr/>
        </p:nvSpPr>
        <p:spPr>
          <a:xfrm>
            <a:off x="8059272" y="1696916"/>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8" name="Google Shape;379;p7">
            <a:extLst>
              <a:ext uri="{FF2B5EF4-FFF2-40B4-BE49-F238E27FC236}">
                <a16:creationId xmlns:a16="http://schemas.microsoft.com/office/drawing/2014/main" id="{8A94FCC0-D12B-4EB7-A1C3-A147A92512EB}"/>
              </a:ext>
            </a:extLst>
          </p:cNvPr>
          <p:cNvSpPr txBox="1"/>
          <p:nvPr/>
        </p:nvSpPr>
        <p:spPr>
          <a:xfrm>
            <a:off x="8575942" y="1625558"/>
            <a:ext cx="5845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9" name="Google Shape;380;p7">
            <a:extLst>
              <a:ext uri="{FF2B5EF4-FFF2-40B4-BE49-F238E27FC236}">
                <a16:creationId xmlns:a16="http://schemas.microsoft.com/office/drawing/2014/main" id="{462E83DB-0967-4C6C-91F2-42BD7ACB7BFB}"/>
              </a:ext>
            </a:extLst>
          </p:cNvPr>
          <p:cNvSpPr txBox="1"/>
          <p:nvPr/>
        </p:nvSpPr>
        <p:spPr>
          <a:xfrm>
            <a:off x="7482109" y="1782838"/>
            <a:ext cx="6934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381;p7">
            <a:extLst>
              <a:ext uri="{FF2B5EF4-FFF2-40B4-BE49-F238E27FC236}">
                <a16:creationId xmlns:a16="http://schemas.microsoft.com/office/drawing/2014/main" id="{B6BBE47B-96BD-46BD-8A90-B48B304BA76D}"/>
              </a:ext>
            </a:extLst>
          </p:cNvPr>
          <p:cNvSpPr txBox="1"/>
          <p:nvPr/>
        </p:nvSpPr>
        <p:spPr>
          <a:xfrm>
            <a:off x="9127111" y="1515612"/>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1" name="Google Shape;382;p7">
            <a:extLst>
              <a:ext uri="{FF2B5EF4-FFF2-40B4-BE49-F238E27FC236}">
                <a16:creationId xmlns:a16="http://schemas.microsoft.com/office/drawing/2014/main" id="{9EE52862-1DA1-4CD5-A4E4-497D8182FDC8}"/>
              </a:ext>
            </a:extLst>
          </p:cNvPr>
          <p:cNvSpPr txBox="1"/>
          <p:nvPr/>
        </p:nvSpPr>
        <p:spPr>
          <a:xfrm>
            <a:off x="6962232" y="1870963"/>
            <a:ext cx="6124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2" name="TextBox 151">
            <a:extLst>
              <a:ext uri="{FF2B5EF4-FFF2-40B4-BE49-F238E27FC236}">
                <a16:creationId xmlns:a16="http://schemas.microsoft.com/office/drawing/2014/main" id="{4690278A-6D62-485B-8146-211394838776}"/>
              </a:ext>
            </a:extLst>
          </p:cNvPr>
          <p:cNvSpPr txBox="1"/>
          <p:nvPr/>
        </p:nvSpPr>
        <p:spPr>
          <a:xfrm>
            <a:off x="6123869" y="3099931"/>
            <a:ext cx="14468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
            </a:r>
            <a:r>
              <a:rPr lang="en-US" baseline="-25000" dirty="0">
                <a:latin typeface="Times New Roman" panose="02020603050405020304" pitchFamily="18" charset="0"/>
                <a:cs typeface="Times New Roman" panose="02020603050405020304" pitchFamily="18" charset="0"/>
              </a:rPr>
              <a:t>0ffset</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mG</a:t>
            </a:r>
            <a:endParaRPr lang="ru-RU" dirty="0">
              <a:latin typeface="Times New Roman" panose="02020603050405020304" pitchFamily="18" charset="0"/>
              <a:cs typeface="Times New Roman" panose="02020603050405020304" pitchFamily="18" charset="0"/>
            </a:endParaRPr>
          </a:p>
        </p:txBody>
      </p:sp>
      <p:sp>
        <p:nvSpPr>
          <p:cNvPr id="162" name="TextBox 161">
            <a:extLst>
              <a:ext uri="{FF2B5EF4-FFF2-40B4-BE49-F238E27FC236}">
                <a16:creationId xmlns:a16="http://schemas.microsoft.com/office/drawing/2014/main" id="{A2139D55-AFC1-4115-B3BE-5F5EE8D9B4B1}"/>
              </a:ext>
            </a:extLst>
          </p:cNvPr>
          <p:cNvSpPr txBox="1"/>
          <p:nvPr/>
        </p:nvSpPr>
        <p:spPr>
          <a:xfrm>
            <a:off x="8431469" y="4454479"/>
            <a:ext cx="1281346"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163" name="TextBox 162">
            <a:extLst>
              <a:ext uri="{FF2B5EF4-FFF2-40B4-BE49-F238E27FC236}">
                <a16:creationId xmlns:a16="http://schemas.microsoft.com/office/drawing/2014/main" id="{A3553470-9FC6-45ED-AFC0-2FB15617DAFE}"/>
              </a:ext>
            </a:extLst>
          </p:cNvPr>
          <p:cNvSpPr txBox="1"/>
          <p:nvPr/>
        </p:nvSpPr>
        <p:spPr>
          <a:xfrm>
            <a:off x="8552207" y="5288531"/>
            <a:ext cx="1604809"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1/3</a:t>
            </a:r>
            <a:endParaRPr lang="ru-RU"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69BAC13F-972B-4520-8F42-178EA2560BFB}"/>
              </a:ext>
            </a:extLst>
          </p:cNvPr>
          <p:cNvSpPr txBox="1"/>
          <p:nvPr/>
        </p:nvSpPr>
        <p:spPr>
          <a:xfrm>
            <a:off x="11681926" y="6408575"/>
            <a:ext cx="510074" cy="307777"/>
          </a:xfrm>
          <a:prstGeom prst="rect">
            <a:avLst/>
          </a:prstGeom>
          <a:noFill/>
        </p:spPr>
        <p:txBody>
          <a:bodyPr wrap="square" rtlCol="0">
            <a:spAutoFit/>
          </a:bodyPr>
          <a:lstStyle/>
          <a:p>
            <a:r>
              <a:rPr lang="ru-RU" dirty="0"/>
              <a:t>7</a:t>
            </a:r>
          </a:p>
        </p:txBody>
      </p:sp>
      <p:sp>
        <p:nvSpPr>
          <p:cNvPr id="62" name="TextBox 61">
            <a:extLst>
              <a:ext uri="{FF2B5EF4-FFF2-40B4-BE49-F238E27FC236}">
                <a16:creationId xmlns:a16="http://schemas.microsoft.com/office/drawing/2014/main" id="{11A813CB-9917-465E-A632-9D569239EDC9}"/>
              </a:ext>
            </a:extLst>
          </p:cNvPr>
          <p:cNvSpPr txBox="1"/>
          <p:nvPr/>
        </p:nvSpPr>
        <p:spPr>
          <a:xfrm>
            <a:off x="4145750" y="4206975"/>
            <a:ext cx="1523917"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91C9B38F-757E-4A17-96B5-0217DB266AA6}"/>
              </a:ext>
            </a:extLst>
          </p:cNvPr>
          <p:cNvSpPr txBox="1"/>
          <p:nvPr/>
        </p:nvSpPr>
        <p:spPr>
          <a:xfrm>
            <a:off x="4145750" y="5194585"/>
            <a:ext cx="1381406"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97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DA7276-A2D5-0EF0-04AD-EF2A74C7C749}"/>
              </a:ext>
            </a:extLst>
          </p:cNvPr>
          <p:cNvSpPr txBox="1"/>
          <p:nvPr/>
        </p:nvSpPr>
        <p:spPr>
          <a:xfrm>
            <a:off x="2878667" y="922866"/>
            <a:ext cx="5892800" cy="2893100"/>
          </a:xfrm>
          <a:prstGeom prst="rect">
            <a:avLst/>
          </a:prstGeom>
          <a:noFill/>
        </p:spPr>
        <p:txBody>
          <a:bodyPr wrap="square" rtlCol="0">
            <a:spAutoFit/>
          </a:bodyPr>
          <a:lstStyle/>
          <a:p>
            <a:r>
              <a:rPr lang="ru-RU" dirty="0"/>
              <a:t>Было выполнено исследование оптической накачки в немагнитное состояние. Изначально было проведено моделирование выбранной схемы, что вы можете видеть на данном слайде. </a:t>
            </a:r>
          </a:p>
          <a:p>
            <a:r>
              <a:rPr lang="ru-RU" dirty="0"/>
              <a:t>Для исследование была выбранная следующая схема</a:t>
            </a:r>
            <a:r>
              <a:rPr lang="en-US" dirty="0"/>
              <a:t>: </a:t>
            </a:r>
            <a:r>
              <a:rPr lang="ru-RU" dirty="0"/>
              <a:t>изначально после лазерного охлаждения и пленения атомы находятся в состояния </a:t>
            </a:r>
            <a:r>
              <a:rPr lang="en-US" dirty="0"/>
              <a:t>F=2, </a:t>
            </a:r>
            <a:r>
              <a:rPr lang="ru-RU" dirty="0"/>
              <a:t>на первом этапе оптической накачки атомы перекачиваются в состояние </a:t>
            </a:r>
            <a:r>
              <a:rPr lang="en-US" dirty="0"/>
              <a:t>F = 1 </a:t>
            </a:r>
            <a:r>
              <a:rPr lang="ru-RU" dirty="0"/>
              <a:t>резонансным излучением 2-2</a:t>
            </a:r>
            <a:r>
              <a:rPr lang="en-US" dirty="0"/>
              <a:t>’</a:t>
            </a:r>
            <a:r>
              <a:rPr lang="ru-RU" dirty="0"/>
              <a:t>. На данном этапе моделирование демонстрирует нагрев около 0.7 </a:t>
            </a:r>
            <a:r>
              <a:rPr lang="ru-RU" dirty="0" err="1"/>
              <a:t>мкК</a:t>
            </a:r>
            <a:r>
              <a:rPr lang="ru-RU" dirty="0"/>
              <a:t>. На следующем этапе включается небольшое магнитное поле для задания оси квантования и с помощью излучения с круговой поляризацией атомы из магнитных состояний перекачиваются в немагнитное. На данном этапе нагрев атомного облака показанный моделированием составил также около 0.7 </a:t>
            </a:r>
            <a:r>
              <a:rPr lang="ru-RU" dirty="0" err="1"/>
              <a:t>мкК</a:t>
            </a:r>
            <a:endParaRPr lang="ru-RU" dirty="0"/>
          </a:p>
        </p:txBody>
      </p:sp>
    </p:spTree>
    <p:extLst>
      <p:ext uri="{BB962C8B-B14F-4D97-AF65-F5344CB8AC3E}">
        <p14:creationId xmlns:p14="http://schemas.microsoft.com/office/powerpoint/2010/main" val="1776479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41"/>
          <p:cNvSpPr/>
          <p:nvPr/>
        </p:nvSpPr>
        <p:spPr>
          <a:xfrm>
            <a:off x="3258776" y="136525"/>
            <a:ext cx="5855293" cy="76501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Экспериментальные результаты</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440" name="Google Shape;440;p41"/>
          <p:cNvSpPr txBox="1"/>
          <p:nvPr/>
        </p:nvSpPr>
        <p:spPr>
          <a:xfrm>
            <a:off x="1574196" y="5246411"/>
            <a:ext cx="9596724" cy="523180"/>
          </a:xfrm>
          <a:prstGeom prst="rect">
            <a:avLst/>
          </a:prstGeom>
          <a:noFill/>
          <a:ln>
            <a:noFill/>
          </a:ln>
        </p:spPr>
        <p:txBody>
          <a:bodyPr spcFirstLastPara="1" wrap="square" lIns="91425" tIns="45700" rIns="91425" bIns="45700" anchor="t" anchorCtr="0">
            <a:spAutoFit/>
          </a:bodyPr>
          <a:lstStyle/>
          <a:p>
            <a:pPr lvl="0" algn="ctr"/>
            <a:r>
              <a:rPr lang="ru-RU" sz="1400" b="0" i="0" u="none" strike="noStrike" cap="none" dirty="0">
                <a:solidFill>
                  <a:srgbClr val="000000"/>
                </a:solidFill>
                <a:latin typeface="Times New Roman"/>
                <a:ea typeface="Times New Roman"/>
                <a:cs typeface="Times New Roman"/>
                <a:sym typeface="Times New Roman"/>
              </a:rPr>
              <a:t>Рис. 6 </a:t>
            </a:r>
            <a:r>
              <a:rPr lang="ru-RU" dirty="0">
                <a:latin typeface="Times New Roman" panose="02020603050405020304" pitchFamily="18" charset="0"/>
                <a:cs typeface="Times New Roman" panose="02020603050405020304" pitchFamily="18" charset="0"/>
              </a:rPr>
              <a:t>Временная последовательность оптической накачки (а) , и </a:t>
            </a:r>
            <a:r>
              <a:rPr lang="ru-RU" dirty="0">
                <a:latin typeface="Times New Roman"/>
                <a:cs typeface="Times New Roman"/>
                <a:sym typeface="Times New Roman"/>
              </a:rPr>
              <a:t>э</a:t>
            </a:r>
            <a:r>
              <a:rPr lang="ru-RU" dirty="0">
                <a:latin typeface="Times New Roman"/>
                <a:ea typeface="Times New Roman"/>
                <a:cs typeface="Times New Roman"/>
                <a:sym typeface="Times New Roman"/>
              </a:rPr>
              <a:t>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ависимость населенности атомов до и после оптической накачки от отстройки рамановского излучения относительно часового перехода.</a:t>
            </a:r>
            <a:endParaRPr sz="1400" b="0" i="0" u="none" strike="noStrike" cap="none" dirty="0">
              <a:solidFill>
                <a:srgbClr val="000000"/>
              </a:solidFill>
              <a:latin typeface="Times New Roman"/>
              <a:ea typeface="Times New Roman"/>
              <a:cs typeface="Times New Roman"/>
              <a:sym typeface="Times New Roman"/>
            </a:endParaRPr>
          </a:p>
        </p:txBody>
      </p:sp>
      <p:pic>
        <p:nvPicPr>
          <p:cNvPr id="13" name="Рисунок 12">
            <a:extLst>
              <a:ext uri="{FF2B5EF4-FFF2-40B4-BE49-F238E27FC236}">
                <a16:creationId xmlns:a16="http://schemas.microsoft.com/office/drawing/2014/main" id="{E5FBF466-A86A-4FC6-9496-0D1B6DBCC09E}"/>
              </a:ext>
            </a:extLst>
          </p:cNvPr>
          <p:cNvPicPr>
            <a:picLocks noChangeAspect="1"/>
          </p:cNvPicPr>
          <p:nvPr/>
        </p:nvPicPr>
        <p:blipFill rotWithShape="1">
          <a:blip r:embed="rId3"/>
          <a:srcRect b="7198"/>
          <a:stretch/>
        </p:blipFill>
        <p:spPr>
          <a:xfrm>
            <a:off x="7160309" y="1148376"/>
            <a:ext cx="3945690" cy="3203965"/>
          </a:xfrm>
          <a:prstGeom prst="rect">
            <a:avLst/>
          </a:prstGeom>
        </p:spPr>
      </p:pic>
      <p:sp>
        <p:nvSpPr>
          <p:cNvPr id="14" name="Прямоугольник 13"/>
          <p:cNvSpPr/>
          <p:nvPr/>
        </p:nvSpPr>
        <p:spPr>
          <a:xfrm>
            <a:off x="4803766" y="3972182"/>
            <a:ext cx="430759" cy="13079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4426824" y="3598494"/>
            <a:ext cx="1246987" cy="17034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2464630" y="3249171"/>
            <a:ext cx="551888" cy="17380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121765" y="3169036"/>
            <a:ext cx="1325350"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18" name="Прямая соединительная линия 17"/>
          <p:cNvCxnSpPr>
            <a:cxnSpLocks/>
          </p:cNvCxnSpPr>
          <p:nvPr/>
        </p:nvCxnSpPr>
        <p:spPr>
          <a:xfrm>
            <a:off x="1454056" y="3341653"/>
            <a:ext cx="4918502" cy="82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261640" y="3480527"/>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20" name="Прямая соединительная линия 19"/>
          <p:cNvCxnSpPr>
            <a:cxnSpLocks/>
          </p:cNvCxnSpPr>
          <p:nvPr/>
        </p:nvCxnSpPr>
        <p:spPr>
          <a:xfrm flipV="1">
            <a:off x="1454056" y="3676251"/>
            <a:ext cx="4918502" cy="1218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21765" y="3870161"/>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cxnSp>
        <p:nvCxnSpPr>
          <p:cNvPr id="22" name="Прямая соединительная линия 21"/>
          <p:cNvCxnSpPr>
            <a:cxnSpLocks/>
          </p:cNvCxnSpPr>
          <p:nvPr/>
        </p:nvCxnSpPr>
        <p:spPr>
          <a:xfrm>
            <a:off x="1454056" y="4038549"/>
            <a:ext cx="4918502"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2446666" y="2995692"/>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70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4" name="TextBox 23"/>
          <p:cNvSpPr txBox="1"/>
          <p:nvPr/>
        </p:nvSpPr>
        <p:spPr>
          <a:xfrm>
            <a:off x="4688529" y="3724991"/>
            <a:ext cx="807720" cy="276999"/>
          </a:xfrm>
          <a:prstGeom prst="rect">
            <a:avLst/>
          </a:prstGeom>
          <a:noFill/>
        </p:spPr>
        <p:txBody>
          <a:bodyPr wrap="square" rtlCol="0">
            <a:spAutoFit/>
          </a:bodyPr>
          <a:lstStyle/>
          <a:p>
            <a:r>
              <a:rPr lang="en-US" sz="1200" dirty="0">
                <a:latin typeface="Times New Roman" panose="02020603050405020304" pitchFamily="18" charset="0"/>
                <a:ea typeface="Tahoma" panose="020B0604030504040204" pitchFamily="34" charset="0"/>
                <a:cs typeface="Times New Roman" panose="02020603050405020304" pitchFamily="18" charset="0"/>
              </a:rPr>
              <a:t>25</a:t>
            </a:r>
            <a:r>
              <a:rPr lang="ru-RU" sz="1200" dirty="0">
                <a:latin typeface="Times New Roman" panose="02020603050405020304" pitchFamily="18" charset="0"/>
                <a:ea typeface="Tahoma" panose="020B0604030504040204" pitchFamily="34" charset="0"/>
                <a:cs typeface="Times New Roman" panose="02020603050405020304" pitchFamily="18" charset="0"/>
              </a:rPr>
              <a:t>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25" name="Прямая соединительная линия 24"/>
          <p:cNvCxnSpPr/>
          <p:nvPr/>
        </p:nvCxnSpPr>
        <p:spPr>
          <a:xfrm flipH="1">
            <a:off x="3954356"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6022276" y="3068455"/>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1522547"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D479D87-544A-4FA4-BA06-D7B01FAB3C76}"/>
              </a:ext>
            </a:extLst>
          </p:cNvPr>
          <p:cNvSpPr txBox="1"/>
          <p:nvPr/>
        </p:nvSpPr>
        <p:spPr>
          <a:xfrm>
            <a:off x="1034178" y="1046632"/>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4651251" y="3356914"/>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0.5 </a:t>
            </a:r>
            <a:r>
              <a:rPr lang="ru-RU" sz="1200" dirty="0" err="1">
                <a:latin typeface="Times New Roman" panose="02020603050405020304" pitchFamily="18" charset="0"/>
                <a:ea typeface="Tahoma" panose="020B0604030504040204" pitchFamily="34" charset="0"/>
                <a:cs typeface="Times New Roman" panose="02020603050405020304" pitchFamily="18" charset="0"/>
              </a:rPr>
              <a:t>Гс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7D479D87-544A-4FA4-BA06-D7B01FAB3C76}"/>
              </a:ext>
            </a:extLst>
          </p:cNvPr>
          <p:cNvSpPr txBox="1"/>
          <p:nvPr/>
        </p:nvSpPr>
        <p:spPr>
          <a:xfrm>
            <a:off x="6794727" y="1084738"/>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E2B4286C-1033-4ED6-8922-95C7C36C5C82}"/>
              </a:ext>
            </a:extLst>
          </p:cNvPr>
          <p:cNvPicPr>
            <a:picLocks noChangeAspect="1"/>
          </p:cNvPicPr>
          <p:nvPr/>
        </p:nvPicPr>
        <p:blipFill>
          <a:blip r:embed="rId4"/>
          <a:stretch>
            <a:fillRect/>
          </a:stretch>
        </p:blipFill>
        <p:spPr>
          <a:xfrm>
            <a:off x="1574196" y="1431361"/>
            <a:ext cx="2212161" cy="1287988"/>
          </a:xfrm>
          <a:prstGeom prst="rect">
            <a:avLst/>
          </a:prstGeom>
        </p:spPr>
      </p:pic>
      <p:pic>
        <p:nvPicPr>
          <p:cNvPr id="11" name="Рисунок 10">
            <a:extLst>
              <a:ext uri="{FF2B5EF4-FFF2-40B4-BE49-F238E27FC236}">
                <a16:creationId xmlns:a16="http://schemas.microsoft.com/office/drawing/2014/main" id="{65C9107F-86E2-4F78-B853-DF8620913330}"/>
              </a:ext>
            </a:extLst>
          </p:cNvPr>
          <p:cNvPicPr>
            <a:picLocks noChangeAspect="1"/>
          </p:cNvPicPr>
          <p:nvPr/>
        </p:nvPicPr>
        <p:blipFill>
          <a:blip r:embed="rId5"/>
          <a:stretch>
            <a:fillRect/>
          </a:stretch>
        </p:blipFill>
        <p:spPr>
          <a:xfrm>
            <a:off x="4063132" y="1424455"/>
            <a:ext cx="2163487" cy="1347746"/>
          </a:xfrm>
          <a:prstGeom prst="rect">
            <a:avLst/>
          </a:prstGeom>
        </p:spPr>
      </p:pic>
      <p:sp>
        <p:nvSpPr>
          <p:cNvPr id="37" name="TextBox 36">
            <a:extLst>
              <a:ext uri="{FF2B5EF4-FFF2-40B4-BE49-F238E27FC236}">
                <a16:creationId xmlns:a16="http://schemas.microsoft.com/office/drawing/2014/main" id="{ACDD460A-11BF-4D35-82B4-53CC6CCB63DD}"/>
              </a:ext>
            </a:extLst>
          </p:cNvPr>
          <p:cNvSpPr txBox="1"/>
          <p:nvPr/>
        </p:nvSpPr>
        <p:spPr>
          <a:xfrm>
            <a:off x="11681926" y="6391158"/>
            <a:ext cx="510074" cy="307777"/>
          </a:xfrm>
          <a:prstGeom prst="rect">
            <a:avLst/>
          </a:prstGeom>
          <a:noFill/>
        </p:spPr>
        <p:txBody>
          <a:bodyPr wrap="square" rtlCol="0">
            <a:spAutoFit/>
          </a:bodyPr>
          <a:lstStyle/>
          <a:p>
            <a:r>
              <a:rPr lang="ru-RU" dirty="0"/>
              <a:t>8</a:t>
            </a:r>
          </a:p>
        </p:txBody>
      </p:sp>
      <p:sp>
        <p:nvSpPr>
          <p:cNvPr id="38" name="TextBox 37">
            <a:extLst>
              <a:ext uri="{FF2B5EF4-FFF2-40B4-BE49-F238E27FC236}">
                <a16:creationId xmlns:a16="http://schemas.microsoft.com/office/drawing/2014/main" id="{EC5D26EC-C1DB-444B-8ECC-DCAEF9CF4396}"/>
              </a:ext>
            </a:extLst>
          </p:cNvPr>
          <p:cNvSpPr txBox="1"/>
          <p:nvPr/>
        </p:nvSpPr>
        <p:spPr>
          <a:xfrm>
            <a:off x="7511091" y="4336498"/>
            <a:ext cx="5144071" cy="246221"/>
          </a:xfrm>
          <a:prstGeom prst="rect">
            <a:avLst/>
          </a:prstGeom>
          <a:noFill/>
        </p:spPr>
        <p:txBody>
          <a:bodyPr wrap="square" rtlCol="0">
            <a:spAutoFit/>
          </a:bodyPr>
          <a:lstStyle/>
          <a:p>
            <a:r>
              <a:rPr lang="ru-RU" sz="1000" dirty="0">
                <a:latin typeface="Century Gothic" panose="020B0502020202020204" pitchFamily="34" charset="0"/>
              </a:rPr>
              <a:t>Отстройка частоты рамановского излучения, </a:t>
            </a:r>
            <a:r>
              <a:rPr lang="en-US" sz="1000" dirty="0">
                <a:latin typeface="Century Gothic" panose="020B0502020202020204" pitchFamily="34" charset="0"/>
              </a:rPr>
              <a:t>[</a:t>
            </a:r>
            <a:r>
              <a:rPr lang="ru-RU" sz="1000" dirty="0">
                <a:latin typeface="Century Gothic" panose="020B0502020202020204" pitchFamily="34" charset="0"/>
              </a:rPr>
              <a:t>МГц</a:t>
            </a:r>
            <a:r>
              <a:rPr lang="en-US" sz="1000" dirty="0">
                <a:latin typeface="Century Gothic" panose="020B0502020202020204" pitchFamily="34" charset="0"/>
              </a:rPr>
              <a:t>]</a:t>
            </a:r>
            <a:r>
              <a:rPr lang="ru-RU" sz="1000" dirty="0">
                <a:latin typeface="Century Gothic" panose="020B0502020202020204" pitchFamily="34" charset="0"/>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5EA3E-F613-FF7C-94F7-910FE459E0E9}"/>
              </a:ext>
            </a:extLst>
          </p:cNvPr>
          <p:cNvSpPr txBox="1"/>
          <p:nvPr/>
        </p:nvSpPr>
        <p:spPr>
          <a:xfrm>
            <a:off x="2895600" y="863600"/>
            <a:ext cx="5376333" cy="2031325"/>
          </a:xfrm>
          <a:prstGeom prst="rect">
            <a:avLst/>
          </a:prstGeom>
          <a:noFill/>
        </p:spPr>
        <p:txBody>
          <a:bodyPr wrap="square" rtlCol="0">
            <a:spAutoFit/>
          </a:bodyPr>
          <a:lstStyle/>
          <a:p>
            <a:r>
              <a:rPr lang="ru-RU" dirty="0"/>
              <a:t>Также была выполнена экспериментальная реализация данное схемы накачки. Экспериментальная последовательность оптической накачки показана на слайде слева. Справа же показан результат измерения населённостей (пики) магнитных подуровней до (красная кривая) и после (</a:t>
            </a:r>
            <a:r>
              <a:rPr lang="ru-RU" dirty="0" err="1"/>
              <a:t>синия</a:t>
            </a:r>
            <a:r>
              <a:rPr lang="ru-RU" dirty="0"/>
              <a:t> кривая) оптической накачки. После оптической накачки населённость немагнитного состояния выросла с 0.3 до более чем 0.95, а населённость магнитных состояний упала практически до 0.</a:t>
            </a:r>
          </a:p>
        </p:txBody>
      </p:sp>
    </p:spTree>
    <p:extLst>
      <p:ext uri="{BB962C8B-B14F-4D97-AF65-F5344CB8AC3E}">
        <p14:creationId xmlns:p14="http://schemas.microsoft.com/office/powerpoint/2010/main" val="3248171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441;p41">
            <a:extLst>
              <a:ext uri="{FF2B5EF4-FFF2-40B4-BE49-F238E27FC236}">
                <a16:creationId xmlns:a16="http://schemas.microsoft.com/office/drawing/2014/main" id="{EBD5BC16-2C05-4F48-9860-17E97A3AC0B9}"/>
              </a:ext>
            </a:extLst>
          </p:cNvPr>
          <p:cNvPicPr preferRelativeResize="0"/>
          <p:nvPr/>
        </p:nvPicPr>
        <p:blipFill rotWithShape="1">
          <a:blip r:embed="rId2">
            <a:alphaModFix/>
          </a:blip>
          <a:srcRect t="7649"/>
          <a:stretch/>
        </p:blipFill>
        <p:spPr>
          <a:xfrm>
            <a:off x="6524767" y="1765465"/>
            <a:ext cx="3832083" cy="3008340"/>
          </a:xfrm>
          <a:prstGeom prst="rect">
            <a:avLst/>
          </a:prstGeom>
          <a:noFill/>
          <a:ln>
            <a:noFill/>
          </a:ln>
        </p:spPr>
      </p:pic>
      <p:sp>
        <p:nvSpPr>
          <p:cNvPr id="4" name="Google Shape;442;p41">
            <a:extLst>
              <a:ext uri="{FF2B5EF4-FFF2-40B4-BE49-F238E27FC236}">
                <a16:creationId xmlns:a16="http://schemas.microsoft.com/office/drawing/2014/main" id="{F153B16B-206B-47E6-91BB-9ABCF38CB307}"/>
              </a:ext>
            </a:extLst>
          </p:cNvPr>
          <p:cNvSpPr txBox="1"/>
          <p:nvPr/>
        </p:nvSpPr>
        <p:spPr>
          <a:xfrm>
            <a:off x="2304966" y="4870390"/>
            <a:ext cx="6793216"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Рис. 7. </a:t>
            </a:r>
            <a:r>
              <a:rPr lang="ru-RU" dirty="0">
                <a:latin typeface="Times New Roman"/>
                <a:ea typeface="Times New Roman"/>
                <a:cs typeface="Times New Roman"/>
                <a:sym typeface="Times New Roman"/>
              </a:rPr>
              <a:t>Изображение временной эволюции облака атомов  (а), и экспериментальная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ависимости квадрата размера облака холодных атомов (1/e) от квадрата времени свободного падения до и после оптической накачки в магнито-нечувствительное состояние (б).</a:t>
            </a:r>
            <a:endParaRPr dirty="0"/>
          </a:p>
        </p:txBody>
      </p:sp>
      <p:pic>
        <p:nvPicPr>
          <p:cNvPr id="5" name="Google Shape;127;p1" descr="https://lh7-rt.googleusercontent.com/slidesz/AGV_vUfQFYLtY2FjTQr7IFHzlkKBCHeyujkayVscmvM_ZtWrphAdXKCaLY60ZbpfLZg12jZAsRqQl4iqGW0lWkIEBozY5KtHbVxjFwlR49-6HQN-dGVIqjq8HAfU-aO2zNamebJymnukrX72YDnhLmvRxTU=s2048?key=P4lD9V1SCTzNB_8IaOOg0ZNi">
            <a:extLst>
              <a:ext uri="{FF2B5EF4-FFF2-40B4-BE49-F238E27FC236}">
                <a16:creationId xmlns:a16="http://schemas.microsoft.com/office/drawing/2014/main" id="{BC71BF39-5AEA-4F19-9B32-F7B8C639F700}"/>
              </a:ext>
            </a:extLst>
          </p:cNvPr>
          <p:cNvPicPr preferRelativeResize="0"/>
          <p:nvPr/>
        </p:nvPicPr>
        <p:blipFill rotWithShape="1">
          <a:blip r:embed="rId3">
            <a:alphaModFix/>
          </a:blip>
          <a:srcRect r="21099" b="5356"/>
          <a:stretch/>
        </p:blipFill>
        <p:spPr>
          <a:xfrm>
            <a:off x="1220392" y="1765465"/>
            <a:ext cx="4673599" cy="2166841"/>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1711A6-1744-407B-8346-FEF2A684FBF3}"/>
                  </a:ext>
                </a:extLst>
              </p:cNvPr>
              <p:cNvSpPr txBox="1"/>
              <p:nvPr/>
            </p:nvSpPr>
            <p:spPr>
              <a:xfrm>
                <a:off x="8284545" y="3733800"/>
                <a:ext cx="2185237" cy="310278"/>
              </a:xfrm>
              <a:prstGeom prst="rect">
                <a:avLst/>
              </a:prstGeom>
              <a:noFill/>
            </p:spPr>
            <p:txBody>
              <a:bodyPr wrap="square" lIns="0" tIns="0" rIns="0" bIns="0" rtlCol="0">
                <a:spAutoFit/>
              </a:bodyPr>
              <a:lstStyle/>
              <a:p>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𝜎</m:t>
                        </m:r>
                      </m:e>
                      <m:sup>
                        <m:r>
                          <a:rPr lang="ru-RU" b="0" i="1" smtClean="0">
                            <a:latin typeface="Cambria Math" panose="02040503050406030204" pitchFamily="18" charset="0"/>
                          </a:rPr>
                          <m:t>2</m:t>
                        </m:r>
                      </m:sup>
                    </m:sSup>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ea typeface="Cambria Math" panose="02040503050406030204" pitchFamily="18" charset="0"/>
                          </a:rPr>
                          <m:t>𝜎</m:t>
                        </m:r>
                      </m:e>
                      <m:sup>
                        <m:r>
                          <a:rPr lang="ru-RU" i="1">
                            <a:latin typeface="Cambria Math" panose="02040503050406030204" pitchFamily="18" charset="0"/>
                          </a:rPr>
                          <m:t>2</m:t>
                        </m:r>
                      </m:sup>
                    </m:sSup>
                    <m:d>
                      <m:dPr>
                        <m:ctrlPr>
                          <a:rPr lang="ru-RU" b="0" i="1" smtClean="0">
                            <a:latin typeface="Cambria Math" panose="02040503050406030204" pitchFamily="18" charset="0"/>
                          </a:rPr>
                        </m:ctrlPr>
                      </m:dPr>
                      <m:e>
                        <m:r>
                          <a:rPr lang="ru-RU" b="0" i="1" smtClean="0">
                            <a:latin typeface="Cambria Math" panose="02040503050406030204" pitchFamily="18" charset="0"/>
                          </a:rPr>
                          <m:t>0</m:t>
                        </m:r>
                      </m:e>
                    </m:d>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𝑏</m:t>
                            </m:r>
                          </m:sub>
                        </m:sSub>
                        <m:r>
                          <a:rPr lang="en-US" i="1">
                            <a:latin typeface="Cambria Math" panose="02040503050406030204" pitchFamily="18" charset="0"/>
                          </a:rPr>
                          <m:t>𝑇</m:t>
                        </m:r>
                      </m:num>
                      <m:den>
                        <m:r>
                          <a:rPr lang="en-US" b="0" i="1" smtClean="0">
                            <a:latin typeface="Cambria Math" panose="02040503050406030204" pitchFamily="18" charset="0"/>
                          </a:rPr>
                          <m:t>𝑚</m:t>
                        </m:r>
                      </m:den>
                    </m:f>
                  </m:oMath>
                </a14:m>
                <a:r>
                  <a:rPr lang="ru-RU" dirty="0"/>
                  <a:t>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ru-RU" dirty="0"/>
              </a:p>
            </p:txBody>
          </p:sp>
        </mc:Choice>
        <mc:Fallback xmlns="">
          <p:sp>
            <p:nvSpPr>
              <p:cNvPr id="6" name="TextBox 5">
                <a:extLst>
                  <a:ext uri="{FF2B5EF4-FFF2-40B4-BE49-F238E27FC236}">
                    <a16:creationId xmlns:a16="http://schemas.microsoft.com/office/drawing/2014/main" id="{971711A6-1744-407B-8346-FEF2A684FBF3}"/>
                  </a:ext>
                </a:extLst>
              </p:cNvPr>
              <p:cNvSpPr txBox="1">
                <a:spLocks noRot="1" noChangeAspect="1" noMove="1" noResize="1" noEditPoints="1" noAdjustHandles="1" noChangeArrowheads="1" noChangeShapeType="1" noTextEdit="1"/>
              </p:cNvSpPr>
              <p:nvPr/>
            </p:nvSpPr>
            <p:spPr>
              <a:xfrm>
                <a:off x="8284545" y="3733800"/>
                <a:ext cx="2185237" cy="310278"/>
              </a:xfrm>
              <a:prstGeom prst="rect">
                <a:avLst/>
              </a:prstGeom>
              <a:blipFill>
                <a:blip r:embed="rId4"/>
                <a:stretch>
                  <a:fillRect l="-1955" b="-12000"/>
                </a:stretch>
              </a:blipFill>
            </p:spPr>
            <p:txBody>
              <a:bodyPr/>
              <a:lstStyle/>
              <a:p>
                <a:r>
                  <a:rPr lang="ru-RU">
                    <a:noFill/>
                  </a:rPr>
                  <a:t> </a:t>
                </a:r>
              </a:p>
            </p:txBody>
          </p:sp>
        </mc:Fallback>
      </mc:AlternateContent>
      <p:sp>
        <p:nvSpPr>
          <p:cNvPr id="7" name="Google Shape;233;p24">
            <a:extLst>
              <a:ext uri="{FF2B5EF4-FFF2-40B4-BE49-F238E27FC236}">
                <a16:creationId xmlns:a16="http://schemas.microsoft.com/office/drawing/2014/main" id="{8E6AD891-851D-4A07-A31D-5F7A366E551C}"/>
              </a:ext>
            </a:extLst>
          </p:cNvPr>
          <p:cNvSpPr txBox="1"/>
          <p:nvPr/>
        </p:nvSpPr>
        <p:spPr>
          <a:xfrm>
            <a:off x="4933354" y="802731"/>
            <a:ext cx="242689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2400" b="1" i="0" u="none" strike="noStrike" cap="none" dirty="0">
                <a:solidFill>
                  <a:srgbClr val="000000"/>
                </a:solidFill>
                <a:latin typeface="Times New Roman"/>
                <a:ea typeface="Times New Roman"/>
                <a:cs typeface="Times New Roman"/>
                <a:sym typeface="Times New Roman"/>
              </a:rPr>
              <a:t>Time-</a:t>
            </a:r>
            <a:r>
              <a:rPr lang="ru-RU" sz="2400" b="1" i="0" u="none" strike="noStrike" cap="none" dirty="0" err="1">
                <a:solidFill>
                  <a:srgbClr val="000000"/>
                </a:solidFill>
                <a:latin typeface="Times New Roman"/>
                <a:ea typeface="Times New Roman"/>
                <a:cs typeface="Times New Roman"/>
                <a:sym typeface="Times New Roman"/>
              </a:rPr>
              <a:t>of</a:t>
            </a:r>
            <a:r>
              <a:rPr lang="ru-RU" sz="2400" b="1" i="0" u="none" strike="noStrike" cap="none" dirty="0">
                <a:solidFill>
                  <a:srgbClr val="000000"/>
                </a:solidFill>
                <a:latin typeface="Times New Roman"/>
                <a:ea typeface="Times New Roman"/>
                <a:cs typeface="Times New Roman"/>
                <a:sym typeface="Times New Roman"/>
              </a:rPr>
              <a:t>-</a:t>
            </a:r>
            <a:r>
              <a:rPr lang="ru-RU" sz="2400" b="1" i="0" u="none" strike="noStrike" cap="none" dirty="0" err="1">
                <a:solidFill>
                  <a:srgbClr val="000000"/>
                </a:solidFill>
                <a:latin typeface="Times New Roman"/>
                <a:ea typeface="Times New Roman"/>
                <a:cs typeface="Times New Roman"/>
                <a:sym typeface="Times New Roman"/>
              </a:rPr>
              <a:t>flight</a:t>
            </a:r>
            <a:r>
              <a:rPr lang="ru-RU" sz="2400" b="1" i="0" u="none" strike="noStrike" cap="none" dirty="0">
                <a:solidFill>
                  <a:srgbClr val="000000"/>
                </a:solidFill>
                <a:latin typeface="Times New Roman"/>
                <a:ea typeface="Times New Roman"/>
                <a:cs typeface="Times New Roman"/>
                <a:sym typeface="Times New Roman"/>
              </a:rPr>
              <a:t>:</a:t>
            </a:r>
            <a:endParaRPr sz="2400" b="1" i="0" u="none" strike="noStrike" cap="none" dirty="0">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7D479D87-544A-4FA4-BA06-D7B01FAB3C76}"/>
              </a:ext>
            </a:extLst>
          </p:cNvPr>
          <p:cNvSpPr txBox="1"/>
          <p:nvPr/>
        </p:nvSpPr>
        <p:spPr>
          <a:xfrm>
            <a:off x="1063699"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75955D3-509D-4D02-B799-756F1560F9D5}"/>
              </a:ext>
            </a:extLst>
          </p:cNvPr>
          <p:cNvSpPr txBox="1"/>
          <p:nvPr/>
        </p:nvSpPr>
        <p:spPr>
          <a:xfrm>
            <a:off x="6354685"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0" name="Google Shape;438;p41">
            <a:extLst>
              <a:ext uri="{FF2B5EF4-FFF2-40B4-BE49-F238E27FC236}">
                <a16:creationId xmlns:a16="http://schemas.microsoft.com/office/drawing/2014/main" id="{9F6DF20E-0EBF-46A5-BE99-0FBFFA90B945}"/>
              </a:ext>
            </a:extLst>
          </p:cNvPr>
          <p:cNvSpPr/>
          <p:nvPr/>
        </p:nvSpPr>
        <p:spPr>
          <a:xfrm>
            <a:off x="1903454" y="122102"/>
            <a:ext cx="7585131" cy="39511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Нагрев вследствие</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D3CF238-36AA-4DCF-8C45-8041EC38BEF3}"/>
              </a:ext>
            </a:extLst>
          </p:cNvPr>
          <p:cNvSpPr txBox="1"/>
          <p:nvPr/>
        </p:nvSpPr>
        <p:spPr>
          <a:xfrm>
            <a:off x="11681926" y="6408575"/>
            <a:ext cx="510074" cy="307777"/>
          </a:xfrm>
          <a:prstGeom prst="rect">
            <a:avLst/>
          </a:prstGeom>
          <a:noFill/>
        </p:spPr>
        <p:txBody>
          <a:bodyPr wrap="square" rtlCol="0">
            <a:spAutoFit/>
          </a:bodyPr>
          <a:lstStyle/>
          <a:p>
            <a:r>
              <a:rPr lang="ru-RU" dirty="0"/>
              <a:t>9</a:t>
            </a:r>
            <a:endParaRPr lang="en-US" dirty="0"/>
          </a:p>
        </p:txBody>
      </p:sp>
    </p:spTree>
    <p:extLst>
      <p:ext uri="{BB962C8B-B14F-4D97-AF65-F5344CB8AC3E}">
        <p14:creationId xmlns:p14="http://schemas.microsoft.com/office/powerpoint/2010/main" val="3960691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2D304F-8DDB-E611-688F-42B739FA1EC1}"/>
              </a:ext>
            </a:extLst>
          </p:cNvPr>
          <p:cNvSpPr txBox="1"/>
          <p:nvPr/>
        </p:nvSpPr>
        <p:spPr>
          <a:xfrm>
            <a:off x="2980267" y="948267"/>
            <a:ext cx="5283200" cy="1169551"/>
          </a:xfrm>
          <a:prstGeom prst="rect">
            <a:avLst/>
          </a:prstGeom>
          <a:noFill/>
        </p:spPr>
        <p:txBody>
          <a:bodyPr wrap="square" rtlCol="0">
            <a:spAutoFit/>
          </a:bodyPr>
          <a:lstStyle/>
          <a:p>
            <a:r>
              <a:rPr lang="ru-RU" dirty="0"/>
              <a:t>С помощью </a:t>
            </a:r>
            <a:r>
              <a:rPr lang="en-US" dirty="0"/>
              <a:t>time-of-flight </a:t>
            </a:r>
            <a:r>
              <a:rPr lang="ru-RU" dirty="0"/>
              <a:t>методики была измерения температура облака атомов до и после оптической накачки. Температура из-за оптической накачка выросла на 1 </a:t>
            </a:r>
            <a:r>
              <a:rPr lang="ru-RU" dirty="0" err="1"/>
              <a:t>мкК</a:t>
            </a:r>
            <a:r>
              <a:rPr lang="ru-RU" dirty="0"/>
              <a:t>, как показано на рисунке справа, что согласуется с результатами моделирования.</a:t>
            </a:r>
          </a:p>
        </p:txBody>
      </p:sp>
    </p:spTree>
    <p:extLst>
      <p:ext uri="{BB962C8B-B14F-4D97-AF65-F5344CB8AC3E}">
        <p14:creationId xmlns:p14="http://schemas.microsoft.com/office/powerpoint/2010/main" val="3642175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Рисунок 42">
            <a:extLst>
              <a:ext uri="{FF2B5EF4-FFF2-40B4-BE49-F238E27FC236}">
                <a16:creationId xmlns:a16="http://schemas.microsoft.com/office/drawing/2014/main" id="{669106B0-9619-2660-610E-CC37F6EF9735}"/>
              </a:ext>
            </a:extLst>
          </p:cNvPr>
          <p:cNvPicPr>
            <a:picLocks noChangeAspect="1"/>
          </p:cNvPicPr>
          <p:nvPr/>
        </p:nvPicPr>
        <p:blipFill>
          <a:blip r:embed="rId2"/>
          <a:stretch>
            <a:fillRect/>
          </a:stretch>
        </p:blipFill>
        <p:spPr>
          <a:xfrm>
            <a:off x="85805" y="1258091"/>
            <a:ext cx="5633530" cy="4229563"/>
          </a:xfrm>
          <a:prstGeom prst="rect">
            <a:avLst/>
          </a:prstGeom>
        </p:spPr>
      </p:pic>
      <p:sp>
        <p:nvSpPr>
          <p:cNvPr id="2" name="Google Shape;438;p41">
            <a:extLst>
              <a:ext uri="{FF2B5EF4-FFF2-40B4-BE49-F238E27FC236}">
                <a16:creationId xmlns:a16="http://schemas.microsoft.com/office/drawing/2014/main" id="{52BC617F-5E2D-4580-9506-94A652B0244A}"/>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9" name="Прямоугольник 48"/>
          <p:cNvSpPr/>
          <p:nvPr/>
        </p:nvSpPr>
        <p:spPr>
          <a:xfrm>
            <a:off x="3048000" y="5972475"/>
            <a:ext cx="6096000" cy="738664"/>
          </a:xfrm>
          <a:prstGeom prst="rect">
            <a:avLst/>
          </a:prstGeom>
        </p:spPr>
        <p:txBody>
          <a:bodyPr>
            <a:spAutoFit/>
          </a:bodyPr>
          <a:lstStyle/>
          <a:p>
            <a:pPr algn="ctr"/>
            <a:r>
              <a:rPr lang="ru-RU" dirty="0">
                <a:latin typeface="Times New Roman" panose="02020603050405020304" pitchFamily="18" charset="0"/>
                <a:cs typeface="Times New Roman" panose="02020603050405020304" pitchFamily="18" charset="0"/>
              </a:rPr>
              <a:t>Рис. 8. Экспериментальная последовательность рамановских импульсов и схема чирпирования частоты рамановского излучения (а), схема детектирования атомов (б).</a:t>
            </a:r>
          </a:p>
        </p:txBody>
      </p:sp>
      <p:sp>
        <p:nvSpPr>
          <p:cNvPr id="51" name="TextBox 50">
            <a:extLst>
              <a:ext uri="{FF2B5EF4-FFF2-40B4-BE49-F238E27FC236}">
                <a16:creationId xmlns:a16="http://schemas.microsoft.com/office/drawing/2014/main" id="{7D479D87-544A-4FA4-BA06-D7B01FAB3C76}"/>
              </a:ext>
            </a:extLst>
          </p:cNvPr>
          <p:cNvSpPr txBox="1"/>
          <p:nvPr/>
        </p:nvSpPr>
        <p:spPr>
          <a:xfrm>
            <a:off x="673366"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4AF22725-24E1-4D71-A1C2-667222AA1559}"/>
              </a:ext>
            </a:extLst>
          </p:cNvPr>
          <p:cNvSpPr txBox="1"/>
          <p:nvPr/>
        </p:nvSpPr>
        <p:spPr>
          <a:xfrm>
            <a:off x="11681926" y="6408575"/>
            <a:ext cx="510074" cy="307777"/>
          </a:xfrm>
          <a:prstGeom prst="rect">
            <a:avLst/>
          </a:prstGeom>
          <a:noFill/>
        </p:spPr>
        <p:txBody>
          <a:bodyPr wrap="square" rtlCol="0">
            <a:spAutoFit/>
          </a:bodyPr>
          <a:lstStyle/>
          <a:p>
            <a:r>
              <a:rPr lang="ru-RU" dirty="0"/>
              <a:t>10</a:t>
            </a:r>
            <a:endParaRPr lang="en-US" dirty="0"/>
          </a:p>
        </p:txBody>
      </p:sp>
      <p:sp>
        <p:nvSpPr>
          <p:cNvPr id="14" name="TextBox 13">
            <a:extLst>
              <a:ext uri="{FF2B5EF4-FFF2-40B4-BE49-F238E27FC236}">
                <a16:creationId xmlns:a16="http://schemas.microsoft.com/office/drawing/2014/main" id="{F621DB70-2DE0-B84B-4885-33F99F2FE7AC}"/>
              </a:ext>
            </a:extLst>
          </p:cNvPr>
          <p:cNvSpPr txBox="1"/>
          <p:nvPr/>
        </p:nvSpPr>
        <p:spPr>
          <a:xfrm>
            <a:off x="6483633"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12E02A25-AA81-88E4-C2B7-CC7FD0F3B2F4}"/>
              </a:ext>
            </a:extLst>
          </p:cNvPr>
          <p:cNvPicPr>
            <a:picLocks noChangeAspect="1"/>
          </p:cNvPicPr>
          <p:nvPr/>
        </p:nvPicPr>
        <p:blipFill>
          <a:blip r:embed="rId3"/>
          <a:stretch>
            <a:fillRect/>
          </a:stretch>
        </p:blipFill>
        <p:spPr>
          <a:xfrm>
            <a:off x="7215851" y="738466"/>
            <a:ext cx="3856298" cy="4816942"/>
          </a:xfrm>
          <a:prstGeom prst="rect">
            <a:avLst/>
          </a:prstGeom>
        </p:spPr>
      </p:pic>
    </p:spTree>
    <p:extLst>
      <p:ext uri="{BB962C8B-B14F-4D97-AF65-F5344CB8AC3E}">
        <p14:creationId xmlns:p14="http://schemas.microsoft.com/office/powerpoint/2010/main" val="3957117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C3C23-5484-E6C2-C496-D1AEE14CC72F}"/>
              </a:ext>
            </a:extLst>
          </p:cNvPr>
          <p:cNvSpPr txBox="1"/>
          <p:nvPr/>
        </p:nvSpPr>
        <p:spPr>
          <a:xfrm>
            <a:off x="2607733" y="863600"/>
            <a:ext cx="5808134" cy="2893100"/>
          </a:xfrm>
          <a:prstGeom prst="rect">
            <a:avLst/>
          </a:prstGeom>
          <a:noFill/>
        </p:spPr>
        <p:txBody>
          <a:bodyPr wrap="square" rtlCol="0">
            <a:spAutoFit/>
          </a:bodyPr>
          <a:lstStyle/>
          <a:p>
            <a:r>
              <a:rPr lang="ru-RU" dirty="0"/>
              <a:t>Также в работе была выполнено регистрация сигнала атомного интерферометра по приведённой на данной слайде схеме. Слева показана временная экспериментальная последовательность регистрация, а справа схема детектирования атомов.</a:t>
            </a:r>
          </a:p>
          <a:p>
            <a:endParaRPr lang="ru-RU" dirty="0"/>
          </a:p>
          <a:p>
            <a:r>
              <a:rPr lang="ru-RU" dirty="0"/>
              <a:t>После атомной интерференции атомы в светлом состоянии </a:t>
            </a:r>
            <a:r>
              <a:rPr lang="en-US" dirty="0"/>
              <a:t>F = 2</a:t>
            </a:r>
            <a:r>
              <a:rPr lang="ru-RU" dirty="0"/>
              <a:t> подсвечиваются и регистрируется их сигнал с помощью первой камеры, после этого все атомы оказываются в тёмном состоянии </a:t>
            </a:r>
            <a:r>
              <a:rPr lang="en-US" dirty="0"/>
              <a:t>F = 1, </a:t>
            </a:r>
            <a:r>
              <a:rPr lang="ru-RU" dirty="0"/>
              <a:t>далее из этого тёмного состояния атомы перекачиваются в светлое с помощью перекачивающего излучения, и после чего вновь подсвечиваются резонансным излучением 2-3</a:t>
            </a:r>
            <a:r>
              <a:rPr lang="en-US" dirty="0"/>
              <a:t>’, </a:t>
            </a:r>
            <a:r>
              <a:rPr lang="ru-RU" dirty="0"/>
              <a:t>что позволяет получить полное количество атомов и произвести нормировку сигнала.</a:t>
            </a:r>
          </a:p>
        </p:txBody>
      </p:sp>
    </p:spTree>
    <p:extLst>
      <p:ext uri="{BB962C8B-B14F-4D97-AF65-F5344CB8AC3E}">
        <p14:creationId xmlns:p14="http://schemas.microsoft.com/office/powerpoint/2010/main" val="1629323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C0795E4E-07A3-0C68-A2F4-A4D330BBC3DD}"/>
              </a:ext>
            </a:extLst>
          </p:cNvPr>
          <p:cNvPicPr>
            <a:picLocks noChangeAspect="1"/>
          </p:cNvPicPr>
          <p:nvPr/>
        </p:nvPicPr>
        <p:blipFill>
          <a:blip r:embed="rId2"/>
          <a:srcRect l="6602" t="9063" r="5275" b="3240"/>
          <a:stretch/>
        </p:blipFill>
        <p:spPr>
          <a:xfrm>
            <a:off x="3742267" y="1326378"/>
            <a:ext cx="3562871" cy="3262555"/>
          </a:xfrm>
          <a:prstGeom prst="rect">
            <a:avLst/>
          </a:prstGeom>
        </p:spPr>
      </p:pic>
      <p:pic>
        <p:nvPicPr>
          <p:cNvPr id="5" name="Рисунок 4">
            <a:extLst>
              <a:ext uri="{FF2B5EF4-FFF2-40B4-BE49-F238E27FC236}">
                <a16:creationId xmlns:a16="http://schemas.microsoft.com/office/drawing/2014/main" id="{DE49EA7A-594C-4C5E-A996-39C565AC1A5B}"/>
              </a:ext>
            </a:extLst>
          </p:cNvPr>
          <p:cNvPicPr>
            <a:picLocks noChangeAspect="1"/>
          </p:cNvPicPr>
          <p:nvPr/>
        </p:nvPicPr>
        <p:blipFill>
          <a:blip r:embed="rId3"/>
          <a:srcRect l="6783" t="7199" r="3691" b="4753"/>
          <a:stretch/>
        </p:blipFill>
        <p:spPr>
          <a:xfrm>
            <a:off x="7305139" y="1176867"/>
            <a:ext cx="3286662" cy="3327400"/>
          </a:xfrm>
          <a:prstGeom prst="rect">
            <a:avLst/>
          </a:prstGeom>
        </p:spPr>
      </p:pic>
      <p:sp>
        <p:nvSpPr>
          <p:cNvPr id="2" name="Google Shape;438;p41">
            <a:extLst>
              <a:ext uri="{FF2B5EF4-FFF2-40B4-BE49-F238E27FC236}">
                <a16:creationId xmlns:a16="http://schemas.microsoft.com/office/drawing/2014/main" id="{3000FCD4-85EE-457A-83FB-C6C8399B520D}"/>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345B9989-4C10-432B-8594-3E58550995F7}"/>
              </a:ext>
            </a:extLst>
          </p:cNvPr>
          <p:cNvSpPr txBox="1"/>
          <p:nvPr/>
        </p:nvSpPr>
        <p:spPr>
          <a:xfrm>
            <a:off x="11681926" y="6408575"/>
            <a:ext cx="510074" cy="307777"/>
          </a:xfrm>
          <a:prstGeom prst="rect">
            <a:avLst/>
          </a:prstGeom>
          <a:noFill/>
        </p:spPr>
        <p:txBody>
          <a:bodyPr wrap="square" rtlCol="0">
            <a:spAutoFit/>
          </a:bodyPr>
          <a:lstStyle/>
          <a:p>
            <a:r>
              <a:rPr lang="ru-RU" dirty="0"/>
              <a:t>11</a:t>
            </a:r>
            <a:endParaRPr lang="en-US" dirty="0"/>
          </a:p>
        </p:txBody>
      </p:sp>
      <p:sp>
        <p:nvSpPr>
          <p:cNvPr id="19" name="TextBox 18">
            <a:extLst>
              <a:ext uri="{FF2B5EF4-FFF2-40B4-BE49-F238E27FC236}">
                <a16:creationId xmlns:a16="http://schemas.microsoft.com/office/drawing/2014/main" id="{E9968B14-1908-46A4-93D4-2D88AF236BC1}"/>
              </a:ext>
            </a:extLst>
          </p:cNvPr>
          <p:cNvSpPr txBox="1"/>
          <p:nvPr/>
        </p:nvSpPr>
        <p:spPr>
          <a:xfrm>
            <a:off x="2679108" y="4738444"/>
            <a:ext cx="8486149" cy="738664"/>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9</a:t>
            </a:r>
            <a:r>
              <a:rPr lang="ru-RU" sz="1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Сигнал атомной интерференции, полученный при сканировании скорости чирпирования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слева</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зависимость стандартного отклонения </a:t>
            </a:r>
            <a:r>
              <a:rPr lang="ru-RU" dirty="0" err="1">
                <a:latin typeface="Times New Roman" panose="02020603050405020304" pitchFamily="18" charset="0"/>
                <a:cs typeface="Times New Roman" panose="02020603050405020304" pitchFamily="18" charset="0"/>
              </a:rPr>
              <a:t>σ</a:t>
            </a:r>
            <a:r>
              <a:rPr lang="ru-RU" baseline="-25000" dirty="0" err="1">
                <a:latin typeface="Times New Roman" panose="02020603050405020304" pitchFamily="18" charset="0"/>
                <a:cs typeface="Times New Roman" panose="02020603050405020304" pitchFamily="18" charset="0"/>
              </a:rPr>
              <a:t>g</a:t>
            </a:r>
            <a:r>
              <a:rPr lang="ru-RU" dirty="0">
                <a:latin typeface="Times New Roman" panose="02020603050405020304" pitchFamily="18" charset="0"/>
                <a:cs typeface="Times New Roman" panose="02020603050405020304" pitchFamily="18" charset="0"/>
              </a:rPr>
              <a:t> измерений</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гравитационного ускорения от времени усреднения (справа).</a:t>
            </a:r>
            <a:endParaRPr 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842DF5-87AF-4AFA-A45C-0EC2908FA86D}"/>
                  </a:ext>
                </a:extLst>
              </p:cNvPr>
              <p:cNvSpPr txBox="1"/>
              <p:nvPr/>
            </p:nvSpPr>
            <p:spPr>
              <a:xfrm>
                <a:off x="1132724" y="2969700"/>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0" name="TextBox 19">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1132724" y="2969700"/>
                <a:ext cx="2050754" cy="626325"/>
              </a:xfrm>
              <a:prstGeom prst="rect">
                <a:avLst/>
              </a:prstGeom>
              <a:blipFill>
                <a:blip r:embed="rId4"/>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E1332E-B1D6-4008-82C1-20AC426FB8D6}"/>
                  </a:ext>
                </a:extLst>
              </p:cNvPr>
              <p:cNvSpPr txBox="1"/>
              <p:nvPr/>
            </p:nvSpPr>
            <p:spPr>
              <a:xfrm>
                <a:off x="784513" y="2094241"/>
                <a:ext cx="2647969" cy="397096"/>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21" name="TextBox 20">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784513" y="2094241"/>
                <a:ext cx="2647969" cy="397096"/>
              </a:xfrm>
              <a:prstGeom prst="rect">
                <a:avLst/>
              </a:prstGeom>
              <a:blipFill>
                <a:blip r:embed="rId5"/>
                <a:stretch>
                  <a:fillRect b="-4286"/>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341804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B5F04-FCBC-5209-434E-27F2C7DED54B}"/>
              </a:ext>
            </a:extLst>
          </p:cNvPr>
          <p:cNvSpPr txBox="1"/>
          <p:nvPr/>
        </p:nvSpPr>
        <p:spPr>
          <a:xfrm>
            <a:off x="3564467" y="1193800"/>
            <a:ext cx="5808133" cy="1169551"/>
          </a:xfrm>
          <a:prstGeom prst="rect">
            <a:avLst/>
          </a:prstGeom>
          <a:noFill/>
        </p:spPr>
        <p:txBody>
          <a:bodyPr wrap="square" rtlCol="0">
            <a:spAutoFit/>
          </a:bodyPr>
          <a:lstStyle/>
          <a:p>
            <a:r>
              <a:rPr lang="ru-RU" dirty="0"/>
              <a:t>На данном же слайде представлены результате регистрации сигнала атомного интерферометра. Ранее чувствительность гравиметра составляла 38.5 </a:t>
            </a:r>
            <a:r>
              <a:rPr lang="ru-RU" dirty="0" err="1"/>
              <a:t>мГал</a:t>
            </a:r>
            <a:r>
              <a:rPr lang="en-US" dirty="0"/>
              <a:t>/</a:t>
            </a:r>
            <a:r>
              <a:rPr lang="ru-RU" dirty="0"/>
              <a:t>Гц</a:t>
            </a:r>
            <a:r>
              <a:rPr lang="en-US" dirty="0"/>
              <a:t>^1/2, </a:t>
            </a:r>
            <a:r>
              <a:rPr lang="ru-RU" dirty="0"/>
              <a:t>сейчас же, после внедрения в цикл оптической накачки чувствительность повысилась до 5.2 </a:t>
            </a:r>
            <a:r>
              <a:rPr lang="ru-RU" dirty="0" err="1"/>
              <a:t>мГал</a:t>
            </a:r>
            <a:r>
              <a:rPr lang="en-US" dirty="0"/>
              <a:t>/</a:t>
            </a:r>
            <a:r>
              <a:rPr lang="ru-RU" dirty="0"/>
              <a:t>Гц</a:t>
            </a:r>
            <a:r>
              <a:rPr lang="en-US" dirty="0"/>
              <a:t>^1/2</a:t>
            </a:r>
            <a:r>
              <a:rPr lang="ru-RU" dirty="0"/>
              <a:t> (правый рисунок).</a:t>
            </a:r>
          </a:p>
        </p:txBody>
      </p:sp>
    </p:spTree>
    <p:extLst>
      <p:ext uri="{BB962C8B-B14F-4D97-AF65-F5344CB8AC3E}">
        <p14:creationId xmlns:p14="http://schemas.microsoft.com/office/powerpoint/2010/main" val="1512807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3"/>
          <a:srcRect t="4191"/>
          <a:stretch/>
        </p:blipFill>
        <p:spPr>
          <a:xfrm>
            <a:off x="2313708" y="915605"/>
            <a:ext cx="911540" cy="2203764"/>
          </a:xfrm>
          <a:prstGeom prst="rect">
            <a:avLst/>
          </a:prstGeom>
        </p:spPr>
      </p:pic>
      <p:pic>
        <p:nvPicPr>
          <p:cNvPr id="58" name="Рисунок 57">
            <a:extLst>
              <a:ext uri="{FF2B5EF4-FFF2-40B4-BE49-F238E27FC236}">
                <a16:creationId xmlns:a16="http://schemas.microsoft.com/office/drawing/2014/main" id="{D6D133B6-FCC8-4C58-A203-3759379D37EE}"/>
              </a:ext>
            </a:extLst>
          </p:cNvPr>
          <p:cNvPicPr>
            <a:picLocks noChangeAspect="1"/>
          </p:cNvPicPr>
          <p:nvPr/>
        </p:nvPicPr>
        <p:blipFill rotWithShape="1">
          <a:blip r:embed="rId4"/>
          <a:srcRect l="9363" t="10044" r="6469" b="9599"/>
          <a:stretch/>
        </p:blipFill>
        <p:spPr>
          <a:xfrm>
            <a:off x="8345660" y="1143528"/>
            <a:ext cx="3263240" cy="2355310"/>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Влияние вибрационных возмущений</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1633025" y="4793634"/>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2361163" y="5213896"/>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2361163" y="5213896"/>
                <a:ext cx="3198953" cy="363241"/>
              </a:xfrm>
              <a:prstGeom prst="rect">
                <a:avLst/>
              </a:prstGeom>
              <a:blipFill rotWithShape="0">
                <a:blip r:embed="rId5"/>
                <a:stretch>
                  <a:fillRect b="-5000"/>
                </a:stretch>
              </a:blipFill>
              <a:ln w="28575">
                <a:noFill/>
              </a:ln>
            </p:spPr>
            <p:txBody>
              <a:bodyPr/>
              <a:lstStyle/>
              <a:p>
                <a:r>
                  <a:rPr lang="ru-RU">
                    <a:noFill/>
                  </a:rPr>
                  <a:t> </a:t>
                </a:r>
              </a:p>
            </p:txBody>
          </p:sp>
        </mc:Fallback>
      </mc:AlternateContent>
      <p:sp>
        <p:nvSpPr>
          <p:cNvPr id="16" name="TextBox 15"/>
          <p:cNvSpPr txBox="1"/>
          <p:nvPr/>
        </p:nvSpPr>
        <p:spPr>
          <a:xfrm>
            <a:off x="2232454" y="5630107"/>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эффективное волновое число,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20" name="Google Shape;139;p21">
            <a:extLst>
              <a:ext uri="{FF2B5EF4-FFF2-40B4-BE49-F238E27FC236}">
                <a16:creationId xmlns:a16="http://schemas.microsoft.com/office/drawing/2014/main" id="{B7A8C424-1497-4145-B7C5-C8EA445193E9}"/>
              </a:ext>
            </a:extLst>
          </p:cNvPr>
          <p:cNvSpPr txBox="1"/>
          <p:nvPr/>
        </p:nvSpPr>
        <p:spPr>
          <a:xfrm>
            <a:off x="901476" y="4182229"/>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10.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12</a:t>
            </a:r>
          </a:p>
        </p:txBody>
      </p:sp>
      <p:pic>
        <p:nvPicPr>
          <p:cNvPr id="6" name="Рисунок 5">
            <a:extLst>
              <a:ext uri="{FF2B5EF4-FFF2-40B4-BE49-F238E27FC236}">
                <a16:creationId xmlns:a16="http://schemas.microsoft.com/office/drawing/2014/main" id="{A6D079D9-E0B6-4B34-9A4C-E1FEA0DE6010}"/>
              </a:ext>
            </a:extLst>
          </p:cNvPr>
          <p:cNvPicPr>
            <a:picLocks noChangeAspect="1"/>
          </p:cNvPicPr>
          <p:nvPr/>
        </p:nvPicPr>
        <p:blipFill rotWithShape="1">
          <a:blip r:embed="rId6"/>
          <a:srcRect l="5614" t="4947" r="2762" b="4591"/>
          <a:stretch/>
        </p:blipFill>
        <p:spPr>
          <a:xfrm>
            <a:off x="4180898" y="1022063"/>
            <a:ext cx="3602192" cy="2503445"/>
          </a:xfrm>
          <a:prstGeom prst="rect">
            <a:avLst/>
          </a:prstGeom>
        </p:spPr>
      </p:pic>
      <p:sp>
        <p:nvSpPr>
          <p:cNvPr id="13" name="TextBox 12">
            <a:extLst>
              <a:ext uri="{FF2B5EF4-FFF2-40B4-BE49-F238E27FC236}">
                <a16:creationId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1842DF5-87AF-4AFA-A45C-0EC2908FA86D}"/>
                  </a:ext>
                </a:extLst>
              </p:cNvPr>
              <p:cNvSpPr txBox="1"/>
              <p:nvPr/>
            </p:nvSpPr>
            <p:spPr>
              <a:xfrm>
                <a:off x="9024213" y="3532336"/>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2" name="TextBox 21">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9024213" y="3532336"/>
                <a:ext cx="2050754" cy="626325"/>
              </a:xfrm>
              <a:prstGeom prst="rect">
                <a:avLst/>
              </a:prstGeom>
              <a:blipFill rotWithShape="0">
                <a:blip r:embed="rId9"/>
                <a:stretch>
                  <a:fillRect/>
                </a:stretch>
              </a:blipFill>
              <a:ln w="28575">
                <a:solidFill>
                  <a:srgbClr val="FF0000"/>
                </a:solidFill>
              </a:ln>
            </p:spPr>
            <p:txBody>
              <a:bodyPr/>
              <a:lstStyle/>
              <a:p>
                <a:r>
                  <a:rPr lang="ru-RU">
                    <a:noFill/>
                  </a:rPr>
                  <a:t> </a:t>
                </a:r>
              </a:p>
            </p:txBody>
          </p:sp>
        </mc:Fallback>
      </mc:AlternateContent>
      <p:sp>
        <p:nvSpPr>
          <p:cNvPr id="18" name="TextBox 17">
            <a:extLst>
              <a:ext uri="{FF2B5EF4-FFF2-40B4-BE49-F238E27FC236}">
                <a16:creationId xmlns:a16="http://schemas.microsoft.com/office/drawing/2014/main" id="{53A8042C-E52E-4288-B49A-5DABBD83A1A0}"/>
              </a:ext>
            </a:extLst>
          </p:cNvPr>
          <p:cNvSpPr txBox="1"/>
          <p:nvPr/>
        </p:nvSpPr>
        <p:spPr>
          <a:xfrm>
            <a:off x="8198288" y="4793634"/>
            <a:ext cx="270417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56B4533-F1DA-4E4E-8C53-BCC6CEFB8E14}"/>
                  </a:ext>
                </a:extLst>
              </p:cNvPr>
              <p:cNvSpPr txBox="1"/>
              <p:nvPr/>
            </p:nvSpPr>
            <p:spPr>
              <a:xfrm>
                <a:off x="8090657" y="5158858"/>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19" name="TextBox 18">
                <a:extLst>
                  <a:ext uri="{FF2B5EF4-FFF2-40B4-BE49-F238E27FC236}">
                    <a16:creationId xmlns="" xmlns:a16="http://schemas.microsoft.com/office/drawing/2014/main" xmlns:a14="http://schemas.microsoft.com/office/drawing/2010/main" id="{656B4533-F1DA-4E4E-8C53-BCC6CEFB8E14}"/>
                  </a:ext>
                </a:extLst>
              </p:cNvPr>
              <p:cNvSpPr txBox="1">
                <a:spLocks noRot="1" noChangeAspect="1" noMove="1" noResize="1" noEditPoints="1" noAdjustHandles="1" noChangeArrowheads="1" noChangeShapeType="1" noTextEdit="1"/>
              </p:cNvSpPr>
              <p:nvPr/>
            </p:nvSpPr>
            <p:spPr>
              <a:xfrm>
                <a:off x="8090657" y="5158858"/>
                <a:ext cx="3269005" cy="334515"/>
              </a:xfrm>
              <a:prstGeom prst="rect">
                <a:avLst/>
              </a:prstGeom>
              <a:blipFill rotWithShape="0">
                <a:blip r:embed="rId10"/>
                <a:stretch>
                  <a:fillRect l="-2239" t="-140000" b="-220000"/>
                </a:stretch>
              </a:blipFill>
              <a:ln w="19050">
                <a:noFill/>
              </a:ln>
            </p:spPr>
            <p:txBody>
              <a:bodyPr/>
              <a:lstStyle/>
              <a:p>
                <a:r>
                  <a:rPr lang="ru-RU">
                    <a:noFill/>
                  </a:rPr>
                  <a:t> </a:t>
                </a:r>
              </a:p>
            </p:txBody>
          </p:sp>
        </mc:Fallback>
      </mc:AlternateContent>
      <p:sp>
        <p:nvSpPr>
          <p:cNvPr id="21" name="TextBox 20">
            <a:extLst>
              <a:ext uri="{FF2B5EF4-FFF2-40B4-BE49-F238E27FC236}">
                <a16:creationId xmlns:a16="http://schemas.microsoft.com/office/drawing/2014/main" id="{E0F4C38C-6509-4CBE-B2EB-9C3DBDE6CBCF}"/>
              </a:ext>
            </a:extLst>
          </p:cNvPr>
          <p:cNvSpPr txBox="1"/>
          <p:nvPr/>
        </p:nvSpPr>
        <p:spPr>
          <a:xfrm>
            <a:off x="7375737" y="5630107"/>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3660272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7AD4A-9428-117F-629B-822110272D8B}"/>
              </a:ext>
            </a:extLst>
          </p:cNvPr>
          <p:cNvSpPr txBox="1"/>
          <p:nvPr/>
        </p:nvSpPr>
        <p:spPr>
          <a:xfrm>
            <a:off x="2540000" y="677333"/>
            <a:ext cx="6409267" cy="3539430"/>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a:t>
            </a:r>
          </a:p>
          <a:p>
            <a:endParaRPr lang="ru-RU" dirty="0"/>
          </a:p>
          <a:p>
            <a:r>
              <a:rPr lang="ru-RU" dirty="0"/>
              <a:t>Во время атомной интерференции вибрации зеркала приводят к набегу фазы рамановского излучения. Это в свою очередь приводит к паразитному фазовому сдвигу в интерференционной картине </a:t>
            </a:r>
            <a:r>
              <a:rPr lang="ru-RU" dirty="0" err="1"/>
              <a:t>Фвиб</a:t>
            </a:r>
            <a:r>
              <a:rPr lang="ru-RU" dirty="0"/>
              <a:t>. </a:t>
            </a:r>
          </a:p>
          <a:p>
            <a:endParaRPr lang="ru-RU" dirty="0"/>
          </a:p>
          <a:p>
            <a:r>
              <a:rPr lang="ru-RU" dirty="0"/>
              <a:t>Данный сдвиг может быть скорректирован исходя из следующего выражения, для вычисление которого необходимо знать ускорение зеркала на протяжении всего процесса атомной интерференции.</a:t>
            </a:r>
          </a:p>
          <a:p>
            <a:endParaRPr lang="ru-RU" dirty="0"/>
          </a:p>
          <a:p>
            <a:endParaRPr lang="ru-RU" dirty="0"/>
          </a:p>
          <a:p>
            <a:endParaRPr lang="ru-RU" dirty="0"/>
          </a:p>
          <a:p>
            <a:endParaRPr lang="ru-RU" dirty="0"/>
          </a:p>
          <a:p>
            <a:endParaRPr lang="ru-RU" dirty="0"/>
          </a:p>
          <a:p>
            <a:endParaRPr lang="ru-RU" dirty="0"/>
          </a:p>
        </p:txBody>
      </p:sp>
    </p:spTree>
    <p:extLst>
      <p:ext uri="{BB962C8B-B14F-4D97-AF65-F5344CB8AC3E}">
        <p14:creationId xmlns:p14="http://schemas.microsoft.com/office/powerpoint/2010/main" val="3662371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3"/>
          <a:stretch>
            <a:fillRect/>
          </a:stretch>
        </p:blipFill>
        <p:spPr>
          <a:xfrm>
            <a:off x="82020" y="841777"/>
            <a:ext cx="3106388" cy="2634532"/>
          </a:xfrm>
          <a:prstGeom prst="rect">
            <a:avLst/>
          </a:prstGeom>
        </p:spPr>
      </p:pic>
      <p:sp>
        <p:nvSpPr>
          <p:cNvPr id="2" name="Google Shape;136;p21">
            <a:extLst>
              <a:ext uri="{FF2B5EF4-FFF2-40B4-BE49-F238E27FC236}">
                <a16:creationId xmlns:a16="http://schemas.microsoft.com/office/drawing/2014/main" id="{535A5357-A41F-4385-8B97-66DA938677B8}"/>
              </a:ext>
            </a:extLst>
          </p:cNvPr>
          <p:cNvSpPr/>
          <p:nvPr/>
        </p:nvSpPr>
        <p:spPr>
          <a:xfrm>
            <a:off x="729552" y="100772"/>
            <a:ext cx="10324114"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Экспериментальная схема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9932C695-49B8-4572-9706-EB584FF3B2F0}"/>
              </a:ext>
            </a:extLst>
          </p:cNvPr>
          <p:cNvSpPr txBox="1"/>
          <p:nvPr/>
        </p:nvSpPr>
        <p:spPr>
          <a:xfrm>
            <a:off x="11591156" y="6446706"/>
            <a:ext cx="510074" cy="307777"/>
          </a:xfrm>
          <a:prstGeom prst="rect">
            <a:avLst/>
          </a:prstGeom>
          <a:noFill/>
        </p:spPr>
        <p:txBody>
          <a:bodyPr wrap="square" rtlCol="0">
            <a:spAutoFit/>
          </a:bodyPr>
          <a:lstStyle/>
          <a:p>
            <a:r>
              <a:rPr lang="ru-RU" dirty="0"/>
              <a:t>14</a:t>
            </a:r>
          </a:p>
        </p:txBody>
      </p:sp>
      <p:pic>
        <p:nvPicPr>
          <p:cNvPr id="50" name="Рисунок 49">
            <a:extLst>
              <a:ext uri="{FF2B5EF4-FFF2-40B4-BE49-F238E27FC236}">
                <a16:creationId xmlns:a16="http://schemas.microsoft.com/office/drawing/2014/main" id="{1B86CB88-0BFE-4864-B2EE-834FABF0D643}"/>
              </a:ext>
            </a:extLst>
          </p:cNvPr>
          <p:cNvPicPr>
            <a:picLocks noChangeAspect="1"/>
          </p:cNvPicPr>
          <p:nvPr/>
        </p:nvPicPr>
        <p:blipFill rotWithShape="1">
          <a:blip r:embed="rId4"/>
          <a:srcRect l="1367" t="2852" r="3812" b="3862"/>
          <a:stretch/>
        </p:blipFill>
        <p:spPr>
          <a:xfrm>
            <a:off x="3301392" y="841777"/>
            <a:ext cx="4076117" cy="2870818"/>
          </a:xfrm>
          <a:prstGeom prst="rect">
            <a:avLst/>
          </a:prstGeom>
        </p:spPr>
      </p:pic>
      <p:sp>
        <p:nvSpPr>
          <p:cNvPr id="51" name="Google Shape;139;p21">
            <a:extLst>
              <a:ext uri="{FF2B5EF4-FFF2-40B4-BE49-F238E27FC236}">
                <a16:creationId xmlns:a16="http://schemas.microsoft.com/office/drawing/2014/main" id="{DB31045B-64E8-4C95-921F-4E6125B3101B}"/>
              </a:ext>
            </a:extLst>
          </p:cNvPr>
          <p:cNvSpPr txBox="1"/>
          <p:nvPr/>
        </p:nvSpPr>
        <p:spPr>
          <a:xfrm>
            <a:off x="569997" y="3969653"/>
            <a:ext cx="11137700"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11.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Демонстрация подбора коэффициентов передаточной функции и демонстрация пост-коррекции интерференционного сигнала (в).</a:t>
            </a:r>
            <a:r>
              <a:rPr lang="en-US" sz="1600" dirty="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52" name="TextBox 51">
            <a:extLst>
              <a:ext uri="{FF2B5EF4-FFF2-40B4-BE49-F238E27FC236}">
                <a16:creationId xmlns:a16="http://schemas.microsoft.com/office/drawing/2014/main" id="{C123148B-D47B-4EE9-816D-57391A88CB09}"/>
              </a:ext>
            </a:extLst>
          </p:cNvPr>
          <p:cNvSpPr txBox="1"/>
          <p:nvPr/>
        </p:nvSpPr>
        <p:spPr>
          <a:xfrm>
            <a:off x="2598548" y="4824882"/>
            <a:ext cx="2468235"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Передаточная функция</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4F217A7-8A53-4051-B61A-46EE6B6E7593}"/>
                  </a:ext>
                </a:extLst>
              </p:cNvPr>
              <p:cNvSpPr txBox="1"/>
              <p:nvPr/>
            </p:nvSpPr>
            <p:spPr>
              <a:xfrm>
                <a:off x="2949363" y="5252788"/>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xmlns="">
          <p:sp>
            <p:nvSpPr>
              <p:cNvPr id="53" name="TextBox 52">
                <a:extLst>
                  <a:ext uri="{FF2B5EF4-FFF2-40B4-BE49-F238E27FC236}">
                    <a16:creationId xmlns:a16="http://schemas.microsoft.com/office/drawing/2014/main" id="{54F217A7-8A53-4051-B61A-46EE6B6E7593}"/>
                  </a:ext>
                </a:extLst>
              </p:cNvPr>
              <p:cNvSpPr txBox="1">
                <a:spLocks noRot="1" noChangeAspect="1" noMove="1" noResize="1" noEditPoints="1" noAdjustHandles="1" noChangeArrowheads="1" noChangeShapeType="1" noTextEdit="1"/>
              </p:cNvSpPr>
              <p:nvPr/>
            </p:nvSpPr>
            <p:spPr>
              <a:xfrm>
                <a:off x="2949363" y="5252788"/>
                <a:ext cx="1925142" cy="246221"/>
              </a:xfrm>
              <a:prstGeom prst="rect">
                <a:avLst/>
              </a:prstGeom>
              <a:blipFill>
                <a:blip r:embed="rId5"/>
                <a:stretch>
                  <a:fillRect l="-949" b="-7500"/>
                </a:stretch>
              </a:blipFill>
            </p:spPr>
            <p:txBody>
              <a:bodyPr/>
              <a:lstStyle/>
              <a:p>
                <a:r>
                  <a:rPr lang="ru-RU">
                    <a:noFill/>
                  </a:rPr>
                  <a:t> </a:t>
                </a:r>
              </a:p>
            </p:txBody>
          </p:sp>
        </mc:Fallback>
      </mc:AlternateContent>
      <p:sp>
        <p:nvSpPr>
          <p:cNvPr id="54" name="TextBox 53">
            <a:extLst>
              <a:ext uri="{FF2B5EF4-FFF2-40B4-BE49-F238E27FC236}">
                <a16:creationId xmlns:a16="http://schemas.microsoft.com/office/drawing/2014/main" id="{74EEC305-5116-49C6-A223-32088B9EBA3B}"/>
              </a:ext>
            </a:extLst>
          </p:cNvPr>
          <p:cNvSpPr txBox="1"/>
          <p:nvPr/>
        </p:nvSpPr>
        <p:spPr>
          <a:xfrm>
            <a:off x="1962054" y="5591435"/>
            <a:ext cx="4551914"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зеркала,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акселерометра,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r>
              <a:rPr lang="en-US" sz="1600" dirty="0">
                <a:latin typeface="Times New Roman" panose="02020603050405020304" pitchFamily="18" charset="0"/>
                <a:cs typeface="Times New Roman" panose="02020603050405020304" pitchFamily="18" charset="0"/>
              </a:rPr>
              <a:t>K –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p:pic>
        <p:nvPicPr>
          <p:cNvPr id="65" name="Рисунок 64">
            <a:extLst>
              <a:ext uri="{FF2B5EF4-FFF2-40B4-BE49-F238E27FC236}">
                <a16:creationId xmlns:a16="http://schemas.microsoft.com/office/drawing/2014/main" id="{03EAB47F-A127-4F36-9FC1-BDC6A329A7DF}"/>
              </a:ext>
            </a:extLst>
          </p:cNvPr>
          <p:cNvPicPr>
            <a:picLocks noChangeAspect="1"/>
          </p:cNvPicPr>
          <p:nvPr/>
        </p:nvPicPr>
        <p:blipFill rotWithShape="1">
          <a:blip r:embed="rId6"/>
          <a:srcRect l="1167" t="5015" r="1585" b="4990"/>
          <a:stretch/>
        </p:blipFill>
        <p:spPr>
          <a:xfrm>
            <a:off x="7402858" y="1389413"/>
            <a:ext cx="4788569" cy="1439260"/>
          </a:xfrm>
          <a:prstGeom prst="rect">
            <a:avLst/>
          </a:prstGeom>
        </p:spPr>
      </p:pic>
      <p:cxnSp>
        <p:nvCxnSpPr>
          <p:cNvPr id="67" name="Прямая со стрелкой 66">
            <a:extLst>
              <a:ext uri="{FF2B5EF4-FFF2-40B4-BE49-F238E27FC236}">
                <a16:creationId xmlns:a16="http://schemas.microsoft.com/office/drawing/2014/main" id="{95661207-FD7C-4B8C-81F6-BA9919077A58}"/>
              </a:ext>
            </a:extLst>
          </p:cNvPr>
          <p:cNvCxnSpPr>
            <a:cxnSpLocks/>
          </p:cNvCxnSpPr>
          <p:nvPr/>
        </p:nvCxnSpPr>
        <p:spPr>
          <a:xfrm>
            <a:off x="8540620" y="1376142"/>
            <a:ext cx="251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9144724-DE99-40F5-98CF-EB3900FD24E4}"/>
              </a:ext>
            </a:extLst>
          </p:cNvPr>
          <p:cNvSpPr txBox="1"/>
          <p:nvPr/>
        </p:nvSpPr>
        <p:spPr>
          <a:xfrm>
            <a:off x="7490493" y="997996"/>
            <a:ext cx="6574971"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Демонстрация подбора (</a:t>
            </a:r>
            <a:r>
              <a:rPr lang="en-US" sz="1600" b="1" dirty="0">
                <a:latin typeface="Times New Roman" panose="02020603050405020304" pitchFamily="18" charset="0"/>
                <a:cs typeface="Times New Roman" panose="02020603050405020304" pitchFamily="18" charset="0"/>
              </a:rPr>
              <a:t>K, </a:t>
            </a:r>
            <a:r>
              <a:rPr lang="el-GR" sz="1600" b="1" dirty="0">
                <a:latin typeface="Times New Roman" panose="02020603050405020304" pitchFamily="18" charset="0"/>
                <a:cs typeface="Times New Roman" panose="02020603050405020304" pitchFamily="18" charset="0"/>
              </a:rPr>
              <a:t>Δ</a:t>
            </a:r>
            <a:r>
              <a:rPr lang="en-US" sz="1600" b="1" dirty="0">
                <a:latin typeface="Times New Roman" panose="02020603050405020304" pitchFamily="18" charset="0"/>
                <a:cs typeface="Times New Roman" panose="02020603050405020304" pitchFamily="18" charset="0"/>
              </a:rPr>
              <a:t>t</a:t>
            </a:r>
            <a:r>
              <a:rPr lang="ru-RU" sz="1600" b="1" dirty="0">
                <a:latin typeface="Times New Roman" panose="02020603050405020304" pitchFamily="18" charset="0"/>
                <a:cs typeface="Times New Roman" panose="02020603050405020304" pitchFamily="18" charset="0"/>
              </a:rPr>
              <a:t>) и пост-коррекции</a:t>
            </a:r>
            <a:endParaRPr lang="en-US" sz="1600"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C7485A22-BF4D-48AC-895F-DF74FD27014A}"/>
              </a:ext>
            </a:extLst>
          </p:cNvPr>
          <p:cNvSpPr txBox="1"/>
          <p:nvPr/>
        </p:nvSpPr>
        <p:spPr>
          <a:xfrm>
            <a:off x="2873322" y="544419"/>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3ADBD3C2-D191-4F54-98DB-3146E94F5266}"/>
              </a:ext>
            </a:extLst>
          </p:cNvPr>
          <p:cNvSpPr txBox="1"/>
          <p:nvPr/>
        </p:nvSpPr>
        <p:spPr>
          <a:xfrm>
            <a:off x="52086" y="54075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D4BEB926-DBF2-4E58-9E83-99A4A921468F}"/>
              </a:ext>
            </a:extLst>
          </p:cNvPr>
          <p:cNvSpPr txBox="1"/>
          <p:nvPr/>
        </p:nvSpPr>
        <p:spPr>
          <a:xfrm>
            <a:off x="7377509" y="53800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C747BF1-D877-C44D-1A3D-9144D24233F7}"/>
              </a:ext>
            </a:extLst>
          </p:cNvPr>
          <p:cNvSpPr txBox="1"/>
          <p:nvPr/>
        </p:nvSpPr>
        <p:spPr>
          <a:xfrm>
            <a:off x="8066581" y="4910149"/>
            <a:ext cx="270417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Нахождение </a:t>
            </a:r>
            <a:r>
              <a:rPr lang="ru-RU" sz="1600" b="1" dirty="0" err="1">
                <a:latin typeface="Times New Roman" panose="02020603050405020304" pitchFamily="18" charset="0"/>
                <a:cs typeface="Times New Roman" panose="02020603050405020304" pitchFamily="18" charset="0"/>
              </a:rPr>
              <a:t>Ф</a:t>
            </a:r>
            <a:r>
              <a:rPr lang="ru-RU" sz="1600" b="1" baseline="-25000" dirty="0" err="1">
                <a:latin typeface="Times New Roman" panose="02020603050405020304" pitchFamily="18" charset="0"/>
                <a:cs typeface="Times New Roman" panose="02020603050405020304" pitchFamily="18" charset="0"/>
              </a:rPr>
              <a:t>виб</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47BEAB4-D999-D846-EE9C-F090FA6F536A}"/>
                  </a:ext>
                </a:extLst>
              </p:cNvPr>
              <p:cNvSpPr txBox="1"/>
              <p:nvPr/>
            </p:nvSpPr>
            <p:spPr>
              <a:xfrm>
                <a:off x="7958950" y="5275373"/>
                <a:ext cx="3269005"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𝑇</m:t>
                            </m:r>
                          </m:e>
                          <m:sub>
                            <m:r>
                              <a:rPr lang="ru-RU" sz="1600" b="0" i="1" smtClean="0">
                                <a:latin typeface="Cambria Math" panose="02040503050406030204" pitchFamily="18" charset="0"/>
                                <a:ea typeface="Cambria Math" panose="02040503050406030204" pitchFamily="18" charset="0"/>
                              </a:rPr>
                              <m:t>инт</m:t>
                            </m:r>
                          </m:sub>
                        </m:sSub>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5" name="TextBox 4">
                <a:extLst>
                  <a:ext uri="{FF2B5EF4-FFF2-40B4-BE49-F238E27FC236}">
                    <a16:creationId xmlns:a16="http://schemas.microsoft.com/office/drawing/2014/main" id="{B47BEAB4-D999-D846-EE9C-F090FA6F536A}"/>
                  </a:ext>
                </a:extLst>
              </p:cNvPr>
              <p:cNvSpPr txBox="1">
                <a:spLocks noRot="1" noChangeAspect="1" noMove="1" noResize="1" noEditPoints="1" noAdjustHandles="1" noChangeArrowheads="1" noChangeShapeType="1" noTextEdit="1"/>
              </p:cNvSpPr>
              <p:nvPr/>
            </p:nvSpPr>
            <p:spPr>
              <a:xfrm>
                <a:off x="7958950" y="5275373"/>
                <a:ext cx="3269005" cy="334515"/>
              </a:xfrm>
              <a:prstGeom prst="rect">
                <a:avLst/>
              </a:prstGeom>
              <a:blipFill>
                <a:blip r:embed="rId7"/>
                <a:stretch>
                  <a:fillRect l="-2239" t="-140000" b="-220000"/>
                </a:stretch>
              </a:blipFill>
              <a:ln w="19050">
                <a:noFill/>
              </a:ln>
            </p:spPr>
            <p:txBody>
              <a:bodyPr/>
              <a:lstStyle/>
              <a:p>
                <a:r>
                  <a:rPr lang="ru-RU">
                    <a:noFill/>
                  </a:rPr>
                  <a:t> </a:t>
                </a:r>
              </a:p>
            </p:txBody>
          </p:sp>
        </mc:Fallback>
      </mc:AlternateContent>
      <p:sp>
        <p:nvSpPr>
          <p:cNvPr id="6" name="TextBox 5">
            <a:extLst>
              <a:ext uri="{FF2B5EF4-FFF2-40B4-BE49-F238E27FC236}">
                <a16:creationId xmlns:a16="http://schemas.microsoft.com/office/drawing/2014/main" id="{8EDDC6D4-77F4-B572-AD4A-BE90EC1E8615}"/>
              </a:ext>
            </a:extLst>
          </p:cNvPr>
          <p:cNvSpPr txBox="1"/>
          <p:nvPr/>
        </p:nvSpPr>
        <p:spPr>
          <a:xfrm>
            <a:off x="7244030" y="5746622"/>
            <a:ext cx="4698843"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a:t>
            </a:r>
            <a:r>
              <a:rPr lang="ru-RU" sz="1600" baseline="-25000" dirty="0" err="1">
                <a:latin typeface="Times New Roman" panose="02020603050405020304" pitchFamily="18" charset="0"/>
                <a:cs typeface="Times New Roman" panose="02020603050405020304" pitchFamily="18" charset="0"/>
              </a:rPr>
              <a:t>инт</a:t>
            </a:r>
            <a:r>
              <a:rPr lang="ru-RU" sz="1600" dirty="0">
                <a:latin typeface="Times New Roman" panose="02020603050405020304" pitchFamily="18" charset="0"/>
                <a:cs typeface="Times New Roman" panose="02020603050405020304" pitchFamily="18" charset="0"/>
              </a:rPr>
              <a:t> – время атомной интерференции,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Tree>
    <p:extLst>
      <p:ext uri="{BB962C8B-B14F-4D97-AF65-F5344CB8AC3E}">
        <p14:creationId xmlns:p14="http://schemas.microsoft.com/office/powerpoint/2010/main" val="1983370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89BD2-E7D3-251F-A842-50EA3344BB1D}"/>
              </a:ext>
            </a:extLst>
          </p:cNvPr>
          <p:cNvSpPr txBox="1"/>
          <p:nvPr/>
        </p:nvSpPr>
        <p:spPr>
          <a:xfrm>
            <a:off x="2840566" y="203200"/>
            <a:ext cx="6510867" cy="5693866"/>
          </a:xfrm>
          <a:prstGeom prst="rect">
            <a:avLst/>
          </a:prstGeom>
          <a:noFill/>
        </p:spPr>
        <p:txBody>
          <a:bodyPr wrap="square" rtlCol="0">
            <a:spAutoFit/>
          </a:bodyPr>
          <a:lstStyle/>
          <a:p>
            <a:r>
              <a:rPr lang="ru-RU" dirty="0"/>
              <a:t>На данном слайде изображена схема компенсации вибраций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Сигнал с акселерометра начинает записываться в момент прихода триггерного сигнала</a:t>
            </a:r>
            <a:r>
              <a:rPr lang="en-US" dirty="0"/>
              <a:t> (</a:t>
            </a:r>
            <a:r>
              <a:rPr lang="ru-RU" dirty="0"/>
              <a:t>первый красный пик</a:t>
            </a:r>
            <a:r>
              <a:rPr lang="en-US" dirty="0"/>
              <a:t>)</a:t>
            </a:r>
            <a:r>
              <a:rPr lang="ru-RU" dirty="0"/>
              <a:t>, который также является триггером запуска атомной интерференции. Акселерометр заканчивает запись чуть позже после завершения атомной интерференции.</a:t>
            </a:r>
          </a:p>
          <a:p>
            <a:endParaRPr lang="ru-RU" dirty="0"/>
          </a:p>
          <a:p>
            <a:r>
              <a:rPr lang="ru-RU" dirty="0"/>
              <a:t>Зеркало и акселерометр стоят на одной платформе, 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пост-коррекции сигнала атомной интерференции.</a:t>
            </a:r>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Рисунок 20">
            <a:extLst>
              <a:ext uri="{FF2B5EF4-FFF2-40B4-BE49-F238E27FC236}">
                <a16:creationId xmlns:a16="http://schemas.microsoft.com/office/drawing/2014/main" id="{BD9BAB60-4C9B-A162-3711-B2619D94C0E7}"/>
              </a:ext>
            </a:extLst>
          </p:cNvPr>
          <p:cNvPicPr>
            <a:picLocks noChangeAspect="1"/>
          </p:cNvPicPr>
          <p:nvPr/>
        </p:nvPicPr>
        <p:blipFill>
          <a:blip r:embed="rId2"/>
          <a:srcRect l="1361" t="2378" r="1029" b="1819"/>
          <a:stretch/>
        </p:blipFill>
        <p:spPr>
          <a:xfrm>
            <a:off x="957739" y="504140"/>
            <a:ext cx="10276522" cy="4092350"/>
          </a:xfrm>
          <a:prstGeom prst="rect">
            <a:avLst/>
          </a:prstGeom>
        </p:spPr>
      </p:pic>
      <p:sp>
        <p:nvSpPr>
          <p:cNvPr id="2" name="Google Shape;438;p41">
            <a:extLst>
              <a:ext uri="{FF2B5EF4-FFF2-40B4-BE49-F238E27FC236}">
                <a16:creationId xmlns:a16="http://schemas.microsoft.com/office/drawing/2014/main" id="{FD46C5F4-A971-4CA4-8EA1-62B295AC1E02}"/>
              </a:ext>
            </a:extLst>
          </p:cNvPr>
          <p:cNvSpPr/>
          <p:nvPr/>
        </p:nvSpPr>
        <p:spPr>
          <a:xfrm>
            <a:off x="1742753" y="74058"/>
            <a:ext cx="9169087"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Результаты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7CFBBB85-1DFE-4038-BF35-8451EAA57176}"/>
              </a:ext>
            </a:extLst>
          </p:cNvPr>
          <p:cNvSpPr txBox="1"/>
          <p:nvPr/>
        </p:nvSpPr>
        <p:spPr>
          <a:xfrm>
            <a:off x="394898" y="4553232"/>
            <a:ext cx="11370995" cy="338554"/>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12. Интерференционная картина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15</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F9714C1-0278-418E-9C5E-8C01C702F211}"/>
                  </a:ext>
                </a:extLst>
              </p:cNvPr>
              <p:cNvSpPr txBox="1"/>
              <p:nvPr/>
            </p:nvSpPr>
            <p:spPr>
              <a:xfrm>
                <a:off x="7994239" y="5336377"/>
                <a:ext cx="1832425"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𝑔𝑒</m:t>
                          </m:r>
                        </m:sub>
                      </m:sSub>
                      <m:r>
                        <a:rPr lang="en-US" sz="1600" b="0" i="1" smtClean="0">
                          <a:latin typeface="Cambria Math" panose="02040503050406030204" pitchFamily="18" charset="0"/>
                        </a:rPr>
                        <m:t>=21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7" name="TextBox 6">
                <a:extLst>
                  <a:ext uri="{FF2B5EF4-FFF2-40B4-BE49-F238E27FC236}">
                    <a16:creationId xmlns:a16="http://schemas.microsoft.com/office/drawing/2014/main" xmlns:a14="http://schemas.microsoft.com/office/drawing/2010/main" xmlns="" id="{7F9714C1-0278-418E-9C5E-8C01C702F211}"/>
                  </a:ext>
                </a:extLst>
              </p:cNvPr>
              <p:cNvSpPr txBox="1">
                <a:spLocks noRot="1" noChangeAspect="1" noMove="1" noResize="1" noEditPoints="1" noAdjustHandles="1" noChangeArrowheads="1" noChangeShapeType="1" noTextEdit="1"/>
              </p:cNvSpPr>
              <p:nvPr/>
            </p:nvSpPr>
            <p:spPr>
              <a:xfrm>
                <a:off x="7994239" y="5336377"/>
                <a:ext cx="1832425" cy="307585"/>
              </a:xfrm>
              <a:prstGeom prst="rect">
                <a:avLst/>
              </a:prstGeom>
              <a:blipFill rotWithShape="0">
                <a:blip r:embed="rId3"/>
                <a:stretch>
                  <a:fillRect l="-332" r="-299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F027379-30AF-49FA-9C6A-2DC113651CF2}"/>
                  </a:ext>
                </a:extLst>
              </p:cNvPr>
              <p:cNvSpPr txBox="1"/>
              <p:nvPr/>
            </p:nvSpPr>
            <p:spPr>
              <a:xfrm>
                <a:off x="7994238" y="5707035"/>
                <a:ext cx="1842492"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𝑔𝑝</m:t>
                          </m:r>
                        </m:sub>
                      </m:sSub>
                      <m:r>
                        <a:rPr lang="en-US" sz="1600" b="0" i="1" smtClean="0">
                          <a:latin typeface="Cambria Math" panose="02040503050406030204" pitchFamily="18" charset="0"/>
                        </a:rPr>
                        <m:t>=10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xmlns="">
          <p:sp>
            <p:nvSpPr>
              <p:cNvPr id="8" name="TextBox 7">
                <a:extLst>
                  <a:ext uri="{FF2B5EF4-FFF2-40B4-BE49-F238E27FC236}">
                    <a16:creationId xmlns:a16="http://schemas.microsoft.com/office/drawing/2014/main" xmlns:a14="http://schemas.microsoft.com/office/drawing/2010/main" xmlns="" id="{AF027379-30AF-49FA-9C6A-2DC113651CF2}"/>
                  </a:ext>
                </a:extLst>
              </p:cNvPr>
              <p:cNvSpPr txBox="1">
                <a:spLocks noRot="1" noChangeAspect="1" noMove="1" noResize="1" noEditPoints="1" noAdjustHandles="1" noChangeArrowheads="1" noChangeShapeType="1" noTextEdit="1"/>
              </p:cNvSpPr>
              <p:nvPr/>
            </p:nvSpPr>
            <p:spPr>
              <a:xfrm>
                <a:off x="7994238" y="5707035"/>
                <a:ext cx="1842492" cy="307585"/>
              </a:xfrm>
              <a:prstGeom prst="rect">
                <a:avLst/>
              </a:prstGeom>
              <a:blipFill rotWithShape="0">
                <a:blip r:embed="rId4"/>
                <a:stretch>
                  <a:fillRect l="-330" r="-2640" b="-19608"/>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067F7B2-4F17-4FA1-9BF5-0D4932780402}"/>
                  </a:ext>
                </a:extLst>
              </p:cNvPr>
              <p:cNvSpPr txBox="1"/>
              <p:nvPr/>
            </p:nvSpPr>
            <p:spPr>
              <a:xfrm>
                <a:off x="8541504" y="6087857"/>
                <a:ext cx="737894" cy="496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𝑔𝑒</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m:t>
                              </m:r>
                              <m:r>
                                <a:rPr lang="en-US" sz="1600" b="0" i="1" smtClean="0">
                                  <a:latin typeface="Cambria Math" panose="02040503050406030204" pitchFamily="18" charset="0"/>
                                </a:rPr>
                                <m:t>𝑝</m:t>
                              </m:r>
                            </m:sub>
                          </m:sSub>
                        </m:den>
                      </m:f>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2</m:t>
                      </m:r>
                    </m:oMath>
                  </m:oMathPara>
                </a14:m>
                <a:endParaRPr lang="ru-RU" sz="1600" dirty="0"/>
              </a:p>
            </p:txBody>
          </p:sp>
        </mc:Choice>
        <mc:Fallback xmlns="">
          <p:sp>
            <p:nvSpPr>
              <p:cNvPr id="9" name="TextBox 8">
                <a:extLst>
                  <a:ext uri="{FF2B5EF4-FFF2-40B4-BE49-F238E27FC236}">
                    <a16:creationId xmlns:a16="http://schemas.microsoft.com/office/drawing/2014/main" xmlns:a14="http://schemas.microsoft.com/office/drawing/2010/main" xmlns="" id="{2067F7B2-4F17-4FA1-9BF5-0D4932780402}"/>
                  </a:ext>
                </a:extLst>
              </p:cNvPr>
              <p:cNvSpPr txBox="1">
                <a:spLocks noRot="1" noChangeAspect="1" noMove="1" noResize="1" noEditPoints="1" noAdjustHandles="1" noChangeArrowheads="1" noChangeShapeType="1" noTextEdit="1"/>
              </p:cNvSpPr>
              <p:nvPr/>
            </p:nvSpPr>
            <p:spPr>
              <a:xfrm>
                <a:off x="8541504" y="6087857"/>
                <a:ext cx="737894" cy="496931"/>
              </a:xfrm>
              <a:prstGeom prst="rect">
                <a:avLst/>
              </a:prstGeom>
              <a:blipFill rotWithShape="0">
                <a:blip r:embed="rId5"/>
                <a:stretch>
                  <a:fillRect l="-2479" r="-4959" b="-11111"/>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2137EB49-2938-48C8-976D-CD72A01DB3CB}"/>
              </a:ext>
            </a:extLst>
          </p:cNvPr>
          <p:cNvSpPr txBox="1"/>
          <p:nvPr/>
        </p:nvSpPr>
        <p:spPr>
          <a:xfrm>
            <a:off x="6327296" y="4965023"/>
            <a:ext cx="6392187"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Чувствительность гравиметра до и после пост-коррекции</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842DF5-87AF-4AFA-A45C-0EC2908FA86D}"/>
                  </a:ext>
                </a:extLst>
              </p:cNvPr>
              <p:cNvSpPr txBox="1"/>
              <p:nvPr/>
            </p:nvSpPr>
            <p:spPr>
              <a:xfrm>
                <a:off x="2547231" y="5643962"/>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11" name="TextBox 10">
                <a:extLst>
                  <a:ext uri="{FF2B5EF4-FFF2-40B4-BE49-F238E27FC236}">
                    <a16:creationId xmlns:a16="http://schemas.microsoft.com/office/drawing/2014/main" xmlns:a14="http://schemas.microsoft.com/office/drawing/2010/main" xmlns="" id="{21842DF5-87AF-4AFA-A45C-0EC2908FA86D}"/>
                  </a:ext>
                </a:extLst>
              </p:cNvPr>
              <p:cNvSpPr txBox="1">
                <a:spLocks noRot="1" noChangeAspect="1" noMove="1" noResize="1" noEditPoints="1" noAdjustHandles="1" noChangeArrowheads="1" noChangeShapeType="1" noTextEdit="1"/>
              </p:cNvSpPr>
              <p:nvPr/>
            </p:nvSpPr>
            <p:spPr>
              <a:xfrm>
                <a:off x="2547231" y="5643962"/>
                <a:ext cx="2050754" cy="626325"/>
              </a:xfrm>
              <a:prstGeom prst="rect">
                <a:avLst/>
              </a:prstGeom>
              <a:blipFill rotWithShape="0">
                <a:blip r:embed="rId6"/>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5E1332E-B1D6-4008-82C1-20AC426FB8D6}"/>
                  </a:ext>
                </a:extLst>
              </p:cNvPr>
              <p:cNvSpPr txBox="1"/>
              <p:nvPr/>
            </p:nvSpPr>
            <p:spPr>
              <a:xfrm>
                <a:off x="1742753" y="5069326"/>
                <a:ext cx="3779419"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en-US" sz="1800" dirty="0"/>
                  <a:t> </a:t>
                </a:r>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en-US" sz="1800" b="0" i="1" dirty="0" smtClean="0">
                            <a:solidFill>
                              <a:schemeClr val="tx1"/>
                            </a:solidFill>
                            <a:latin typeface="Cambria Math" panose="02040503050406030204" pitchFamily="18" charset="0"/>
                          </a:rPr>
                          <m:t> </m:t>
                        </m:r>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xmlns="">
          <p:sp>
            <p:nvSpPr>
              <p:cNvPr id="12" name="TextBox 11">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1742753" y="5069326"/>
                <a:ext cx="3779419" cy="397096"/>
              </a:xfrm>
              <a:prstGeom prst="rect">
                <a:avLst/>
              </a:prstGeom>
              <a:blipFill>
                <a:blip r:embed="rId7"/>
                <a:stretch>
                  <a:fillRect t="-4286" b="-12857"/>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2620872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B82D0-5C6A-372B-D636-A5E7643A4EDC}"/>
              </a:ext>
            </a:extLst>
          </p:cNvPr>
          <p:cNvSpPr txBox="1"/>
          <p:nvPr/>
        </p:nvSpPr>
        <p:spPr>
          <a:xfrm>
            <a:off x="2878667" y="1209244"/>
            <a:ext cx="5723466" cy="1815882"/>
          </a:xfrm>
          <a:prstGeom prst="rect">
            <a:avLst/>
          </a:prstGeom>
          <a:noFill/>
        </p:spPr>
        <p:txBody>
          <a:bodyPr wrap="square" rtlCol="0">
            <a:spAutoFit/>
          </a:bodyPr>
          <a:lstStyle/>
          <a:p>
            <a:r>
              <a:rPr lang="ru-RU" dirty="0"/>
              <a:t>Для проверка системы пост-коррекции мы создавал дополнительное механическое возмущение значительно сильнее обычного возмущения. Сигнал до пост-коррекции – зелёный, 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приблизительно в 2 раза.</a:t>
            </a:r>
          </a:p>
        </p:txBody>
      </p:sp>
    </p:spTree>
    <p:extLst>
      <p:ext uri="{BB962C8B-B14F-4D97-AF65-F5344CB8AC3E}">
        <p14:creationId xmlns:p14="http://schemas.microsoft.com/office/powerpoint/2010/main" val="3070771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5">
          <a:extLst>
            <a:ext uri="{FF2B5EF4-FFF2-40B4-BE49-F238E27FC236}">
              <a16:creationId xmlns:a16="http://schemas.microsoft.com/office/drawing/2014/main" id="{2A8D5B80-DE45-CA24-8AEC-F7F4E8ABF326}"/>
            </a:ext>
          </a:extLst>
        </p:cNvPr>
        <p:cNvGrpSpPr/>
        <p:nvPr/>
      </p:nvGrpSpPr>
      <p:grpSpPr>
        <a:xfrm>
          <a:off x="0" y="0"/>
          <a:ext cx="0" cy="0"/>
          <a:chOff x="0" y="0"/>
          <a:chExt cx="0" cy="0"/>
        </a:xfrm>
      </p:grpSpPr>
      <p:sp>
        <p:nvSpPr>
          <p:cNvPr id="456" name="Google Shape;456;p43">
            <a:extLst>
              <a:ext uri="{FF2B5EF4-FFF2-40B4-BE49-F238E27FC236}">
                <a16:creationId xmlns:a16="http://schemas.microsoft.com/office/drawing/2014/main" id="{B766B388-3BEE-43F4-D3FB-320633F3096C}"/>
              </a:ext>
            </a:extLst>
          </p:cNvPr>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a:extLst>
              <a:ext uri="{FF2B5EF4-FFF2-40B4-BE49-F238E27FC236}">
                <a16:creationId xmlns:a16="http://schemas.microsoft.com/office/drawing/2014/main" id="{137E8DA9-8746-00A9-621F-685812E3E204}"/>
              </a:ext>
            </a:extLst>
          </p:cNvPr>
          <p:cNvSpPr txBox="1"/>
          <p:nvPr/>
        </p:nvSpPr>
        <p:spPr>
          <a:xfrm>
            <a:off x="1276347" y="887878"/>
            <a:ext cx="9239321" cy="430883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just" rtl="0">
              <a:lnSpc>
                <a:spcPct val="100000"/>
              </a:lnSpc>
              <a:spcBef>
                <a:spcPts val="0"/>
              </a:spcBef>
              <a:spcAft>
                <a:spcPts val="1200"/>
              </a:spcAft>
              <a:buClr>
                <a:schemeClr val="dk1"/>
              </a:buClr>
              <a:buSzPts val="2400"/>
            </a:pP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 не оказывающий заметного паразитного влияния на </a:t>
            </a:r>
            <a:r>
              <a:rPr lang="ru-RU" sz="1800">
                <a:solidFill>
                  <a:schemeClr val="dk1"/>
                </a:solidFill>
                <a:latin typeface="Times New Roman" panose="02020603050405020304" pitchFamily="18" charset="0"/>
                <a:ea typeface="Times New Roman"/>
                <a:cs typeface="Times New Roman" panose="02020603050405020304" pitchFamily="18" charset="0"/>
                <a:sym typeface="Times New Roman"/>
              </a:rPr>
              <a:t>сигнал атомного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гравиметра</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Проведено экспериментальное исследование по подготовке атомов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87Rb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в магнито-нечувствительное состояние. Достигнутая эффективность оптической накачки составила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а нагрев всего лишь 1 мкК, что близко к результатам численного моделирования. Благодаря применению данного способа подготовки атомов в квантовом гравиметре продемонстрирована </a:t>
            </a:r>
            <a:r>
              <a:rPr lang="ru-RU" sz="1800" dirty="0">
                <a:solidFill>
                  <a:schemeClr val="dk1"/>
                </a:solidFill>
                <a:latin typeface="Times New Roman" panose="02020603050405020304" pitchFamily="18" charset="0"/>
                <a:cs typeface="Times New Roman" panose="02020603050405020304" pitchFamily="18" charset="0"/>
                <a:sym typeface="Times New Roman"/>
              </a:rPr>
              <a:t>чувствительность около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endPar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вибрационного шума для сигнала атомного интерферометра. Экспериментальная проверка данной системы привела к увеличению чувствительности гравиметра в два раза в условиях повышенных вибрационных возмущений.</a:t>
            </a:r>
          </a:p>
        </p:txBody>
      </p:sp>
      <p:sp>
        <p:nvSpPr>
          <p:cNvPr id="6" name="TextBox 5">
            <a:extLst>
              <a:ext uri="{FF2B5EF4-FFF2-40B4-BE49-F238E27FC236}">
                <a16:creationId xmlns:a16="http://schemas.microsoft.com/office/drawing/2014/main" id="{A6574AE1-2241-61BD-B020-065272383BFF}"/>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2564780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a16="http://schemas.microsoft.com/office/drawing/2014/main" id="{29231A27-E450-41D8-A924-F74AF49F383D}"/>
              </a:ext>
            </a:extLst>
          </p:cNvPr>
          <p:cNvSpPr txBox="1"/>
          <p:nvPr/>
        </p:nvSpPr>
        <p:spPr>
          <a:xfrm>
            <a:off x="2108129" y="1982450"/>
            <a:ext cx="8410322" cy="29238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p:txBody>
      </p:sp>
      <p:sp>
        <p:nvSpPr>
          <p:cNvPr id="6" name="TextBox 5">
            <a:extLst>
              <a:ext uri="{FF2B5EF4-FFF2-40B4-BE49-F238E27FC236}">
                <a16:creationId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p39"/>
          <p:cNvSpPr/>
          <p:nvPr/>
        </p:nvSpPr>
        <p:spPr>
          <a:xfrm>
            <a:off x="2640622" y="83724"/>
            <a:ext cx="6910755" cy="5393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Моделирование оптической накачки</a:t>
            </a:r>
            <a:endParaRPr sz="1400" b="0" i="0" u="none" strike="noStrike" cap="none" dirty="0">
              <a:solidFill>
                <a:srgbClr val="000000"/>
              </a:solidFill>
              <a:latin typeface="Arial"/>
              <a:ea typeface="Arial"/>
              <a:cs typeface="Arial"/>
              <a:sym typeface="Arial"/>
            </a:endParaRPr>
          </a:p>
        </p:txBody>
      </p:sp>
      <p:sp>
        <p:nvSpPr>
          <p:cNvPr id="390" name="Google Shape;390;p39"/>
          <p:cNvSpPr txBox="1"/>
          <p:nvPr/>
        </p:nvSpPr>
        <p:spPr>
          <a:xfrm>
            <a:off x="5847081" y="817199"/>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(1)</a:t>
            </a:r>
            <a:endParaRPr dirty="0"/>
          </a:p>
        </p:txBody>
      </p:sp>
      <p:sp>
        <p:nvSpPr>
          <p:cNvPr id="391" name="Google Shape;391;p39"/>
          <p:cNvSpPr txBox="1"/>
          <p:nvPr/>
        </p:nvSpPr>
        <p:spPr>
          <a:xfrm>
            <a:off x="5855796" y="1528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(2)</a:t>
            </a:r>
            <a:endParaRPr dirty="0"/>
          </a:p>
        </p:txBody>
      </p:sp>
      <p:sp>
        <p:nvSpPr>
          <p:cNvPr id="392" name="Google Shape;392;p39"/>
          <p:cNvSpPr txBox="1"/>
          <p:nvPr/>
        </p:nvSpPr>
        <p:spPr>
          <a:xfrm>
            <a:off x="5821509" y="2133478"/>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(3)</a:t>
            </a:r>
            <a:endParaRPr dirty="0"/>
          </a:p>
        </p:txBody>
      </p:sp>
      <p:sp>
        <p:nvSpPr>
          <p:cNvPr id="394" name="Google Shape;394;p39"/>
          <p:cNvSpPr txBox="1"/>
          <p:nvPr/>
        </p:nvSpPr>
        <p:spPr>
          <a:xfrm>
            <a:off x="4204746" y="6517813"/>
            <a:ext cx="63416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a:t>
            </a:r>
            <a:r>
              <a:rPr lang="ru-RU" sz="1400" b="0" i="0" u="none" strike="noStrike" cap="none" dirty="0" err="1">
                <a:solidFill>
                  <a:srgbClr val="000000"/>
                </a:solidFill>
                <a:latin typeface="Times New Roman"/>
                <a:ea typeface="Times New Roman"/>
                <a:cs typeface="Times New Roman"/>
                <a:sym typeface="Times New Roman"/>
              </a:rPr>
              <a:t>Atoneche</a:t>
            </a:r>
            <a:r>
              <a:rPr lang="ru-RU" sz="1400" b="0" i="0" u="none" strike="noStrike" cap="none" dirty="0">
                <a:solidFill>
                  <a:srgbClr val="000000"/>
                </a:solidFill>
                <a:latin typeface="Times New Roman"/>
                <a:ea typeface="Times New Roman"/>
                <a:cs typeface="Times New Roman"/>
                <a:sym typeface="Times New Roman"/>
              </a:rPr>
              <a:t>, A. </a:t>
            </a:r>
            <a:r>
              <a:rPr lang="ru-RU" sz="1400" b="0" i="0" u="none" strike="noStrike" cap="none" dirty="0" err="1">
                <a:solidFill>
                  <a:srgbClr val="000000"/>
                </a:solidFill>
                <a:latin typeface="Times New Roman"/>
                <a:ea typeface="Times New Roman"/>
                <a:cs typeface="Times New Roman"/>
                <a:sym typeface="Times New Roman"/>
              </a:rPr>
              <a:t>Kastberg</a:t>
            </a:r>
            <a:r>
              <a:rPr lang="ru-RU" sz="1400" b="0" i="0" u="none" strike="noStrike" cap="none" dirty="0">
                <a:solidFill>
                  <a:srgbClr val="000000"/>
                </a:solidFill>
                <a:latin typeface="Times New Roman"/>
                <a:ea typeface="Times New Roman"/>
                <a:cs typeface="Times New Roman"/>
                <a:sym typeface="Times New Roman"/>
              </a:rPr>
              <a:t>, European Journal </a:t>
            </a:r>
            <a:r>
              <a:rPr lang="ru-RU" sz="1400" b="0" i="0" u="none" strike="noStrike" cap="none" dirty="0" err="1">
                <a:solidFill>
                  <a:srgbClr val="000000"/>
                </a:solidFill>
                <a:latin typeface="Times New Roman"/>
                <a:ea typeface="Times New Roman"/>
                <a:cs typeface="Times New Roman"/>
                <a:sym typeface="Times New Roman"/>
              </a:rPr>
              <a:t>of</a:t>
            </a:r>
            <a:r>
              <a:rPr lang="ru-RU" sz="1400" b="0" i="0" u="none" strike="noStrike" cap="none" dirty="0">
                <a:solidFill>
                  <a:srgbClr val="000000"/>
                </a:solidFill>
                <a:latin typeface="Times New Roman"/>
                <a:ea typeface="Times New Roman"/>
                <a:cs typeface="Times New Roman"/>
                <a:sym typeface="Times New Roman"/>
              </a:rPr>
              <a:t> </a:t>
            </a:r>
            <a:r>
              <a:rPr lang="ru-RU" sz="1400" b="0" i="0" u="none" strike="noStrike" cap="none" dirty="0" err="1">
                <a:solidFill>
                  <a:srgbClr val="000000"/>
                </a:solidFill>
                <a:latin typeface="Times New Roman"/>
                <a:ea typeface="Times New Roman"/>
                <a:cs typeface="Times New Roman"/>
                <a:sym typeface="Times New Roman"/>
              </a:rPr>
              <a:t>Physics</a:t>
            </a:r>
            <a:r>
              <a:rPr lang="ru-RU" sz="1400" b="0" i="0" u="none" strike="noStrike" cap="none" dirty="0">
                <a:solidFill>
                  <a:srgbClr val="000000"/>
                </a:solidFill>
                <a:latin typeface="Times New Roman"/>
                <a:ea typeface="Times New Roman"/>
                <a:cs typeface="Times New Roman"/>
                <a:sym typeface="Times New Roman"/>
              </a:rPr>
              <a:t> 38.4, 045703 (2017).</a:t>
            </a:r>
            <a:endParaRPr sz="1400" b="0" i="0" u="none" strike="noStrike" cap="none" dirty="0">
              <a:solidFill>
                <a:srgbClr val="000000"/>
              </a:solidFill>
              <a:latin typeface="Times New Roman"/>
              <a:ea typeface="Times New Roman"/>
              <a:cs typeface="Times New Roman"/>
              <a:sym typeface="Times New Roman"/>
            </a:endParaRPr>
          </a:p>
        </p:txBody>
      </p:sp>
      <p:grpSp>
        <p:nvGrpSpPr>
          <p:cNvPr id="398" name="Google Shape;398;p39"/>
          <p:cNvGrpSpPr/>
          <p:nvPr/>
        </p:nvGrpSpPr>
        <p:grpSpPr>
          <a:xfrm>
            <a:off x="8257414" y="1369553"/>
            <a:ext cx="2288943" cy="2386967"/>
            <a:chOff x="7675472" y="1286220"/>
            <a:chExt cx="2288943" cy="2386967"/>
          </a:xfrm>
        </p:grpSpPr>
        <p:cxnSp>
          <p:nvCxnSpPr>
            <p:cNvPr id="399" name="Google Shape;399;p39"/>
            <p:cNvCxnSpPr/>
            <p:nvPr/>
          </p:nvCxnSpPr>
          <p:spPr>
            <a:xfrm>
              <a:off x="7675472" y="3309245"/>
              <a:ext cx="927946" cy="1349"/>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0" name="Google Shape;400;p39"/>
            <p:cNvSpPr txBox="1"/>
            <p:nvPr/>
          </p:nvSpPr>
          <p:spPr>
            <a:xfrm>
              <a:off x="7973080" y="3365410"/>
              <a:ext cx="5418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cxnSp>
          <p:nvCxnSpPr>
            <p:cNvPr id="401" name="Google Shape;401;p39"/>
            <p:cNvCxnSpPr/>
            <p:nvPr/>
          </p:nvCxnSpPr>
          <p:spPr>
            <a:xfrm>
              <a:off x="9243498" y="2821794"/>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9"/>
            <p:cNvSpPr txBox="1"/>
            <p:nvPr/>
          </p:nvSpPr>
          <p:spPr>
            <a:xfrm>
              <a:off x="9342103" y="2845792"/>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2</a:t>
              </a:r>
              <a:endParaRPr sz="1400" b="0" i="0" u="none" strike="noStrike" cap="none" baseline="-25000" dirty="0">
                <a:solidFill>
                  <a:srgbClr val="000000"/>
                </a:solidFill>
                <a:latin typeface="Arial"/>
                <a:ea typeface="Arial"/>
                <a:cs typeface="Arial"/>
                <a:sym typeface="Arial"/>
              </a:endParaRPr>
            </a:p>
          </p:txBody>
        </p:sp>
        <p:cxnSp>
          <p:nvCxnSpPr>
            <p:cNvPr id="403" name="Google Shape;403;p39"/>
            <p:cNvCxnSpPr/>
            <p:nvPr/>
          </p:nvCxnSpPr>
          <p:spPr>
            <a:xfrm>
              <a:off x="8447631" y="1620378"/>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4" name="Google Shape;404;p39"/>
            <p:cNvSpPr txBox="1"/>
            <p:nvPr/>
          </p:nvSpPr>
          <p:spPr>
            <a:xfrm>
              <a:off x="8560576" y="1286220"/>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e</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grpSp>
          <p:nvGrpSpPr>
            <p:cNvPr id="405" name="Google Shape;405;p39"/>
            <p:cNvGrpSpPr/>
            <p:nvPr/>
          </p:nvGrpSpPr>
          <p:grpSpPr>
            <a:xfrm rot="1429140">
              <a:off x="8146741" y="1652422"/>
              <a:ext cx="0" cy="1623907"/>
              <a:chOff x="10160000" y="3429000"/>
              <a:chExt cx="0" cy="1623907"/>
            </a:xfrm>
          </p:grpSpPr>
          <p:cxnSp>
            <p:nvCxnSpPr>
              <p:cNvPr id="406" name="Google Shape;406;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08" name="Google Shape;408;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09" name="Google Shape;409;p39"/>
            <p:cNvGrpSpPr/>
            <p:nvPr/>
          </p:nvGrpSpPr>
          <p:grpSpPr>
            <a:xfrm rot="-1879641">
              <a:off x="9249827" y="1651472"/>
              <a:ext cx="0" cy="1192945"/>
              <a:chOff x="10160000" y="3429000"/>
              <a:chExt cx="0" cy="1623907"/>
            </a:xfrm>
          </p:grpSpPr>
          <p:cxnSp>
            <p:nvCxnSpPr>
              <p:cNvPr id="410" name="Google Shape;410;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12" name="Google Shape;412;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13" name="Google Shape;413;p39"/>
            <p:cNvGrpSpPr/>
            <p:nvPr/>
          </p:nvGrpSpPr>
          <p:grpSpPr>
            <a:xfrm rot="-10320581">
              <a:off x="8599830" y="1691863"/>
              <a:ext cx="0" cy="1529262"/>
              <a:chOff x="10160000" y="3429000"/>
              <a:chExt cx="0" cy="1623907"/>
            </a:xfrm>
          </p:grpSpPr>
          <p:cxnSp>
            <p:nvCxnSpPr>
              <p:cNvPr id="414" name="Google Shape;414;p39"/>
              <p:cNvCxnSpPr/>
              <p:nvPr/>
            </p:nvCxnSpPr>
            <p:spPr>
              <a:xfrm>
                <a:off x="10160000" y="4416213"/>
                <a:ext cx="0" cy="636694"/>
              </a:xfrm>
              <a:prstGeom prst="straightConnector1">
                <a:avLst/>
              </a:prstGeom>
              <a:noFill/>
              <a:ln w="28575" cap="flat" cmpd="sng">
                <a:solidFill>
                  <a:srgbClr val="FF0000"/>
                </a:solidFill>
                <a:prstDash val="solid"/>
                <a:round/>
                <a:headEnd type="none" w="sm" len="sm"/>
                <a:tailEnd type="triangle" w="med" len="med"/>
              </a:ln>
            </p:spPr>
          </p:cxnSp>
          <p:cxnSp>
            <p:nvCxnSpPr>
              <p:cNvPr id="416" name="Google Shape;416;p39"/>
              <p:cNvCxnSpPr/>
              <p:nvPr/>
            </p:nvCxnSpPr>
            <p:spPr>
              <a:xfrm>
                <a:off x="10160000" y="3429000"/>
                <a:ext cx="0" cy="636694"/>
              </a:xfrm>
              <a:prstGeom prst="straightConnector1">
                <a:avLst/>
              </a:prstGeom>
              <a:noFill/>
              <a:ln w="28575" cap="flat" cmpd="sng">
                <a:solidFill>
                  <a:srgbClr val="FF0000"/>
                </a:solidFill>
                <a:prstDash val="solid"/>
                <a:round/>
                <a:headEnd type="stealth" w="med" len="med"/>
                <a:tailEnd type="none" w="sm" len="sm"/>
              </a:ln>
            </p:spPr>
          </p:cxnSp>
        </p:grpSp>
      </p:grpSp>
      <p:sp>
        <p:nvSpPr>
          <p:cNvPr id="417" name="Google Shape;417;p39"/>
          <p:cNvSpPr txBox="1"/>
          <p:nvPr/>
        </p:nvSpPr>
        <p:spPr>
          <a:xfrm>
            <a:off x="7000673" y="3741252"/>
            <a:ext cx="483831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b="0" i="0" u="none" strike="noStrike" cap="none" dirty="0">
                <a:solidFill>
                  <a:srgbClr val="000000"/>
                </a:solidFill>
                <a:latin typeface="Times New Roman"/>
                <a:ea typeface="Times New Roman"/>
                <a:cs typeface="Times New Roman"/>
                <a:sym typeface="Times New Roman"/>
              </a:rPr>
              <a:t>Рис. 7. Принципиальная схема оптической накачки в магнито-нечувствительное состояние.</a:t>
            </a:r>
            <a:endParaRPr b="0" i="0" u="none" strike="noStrike" cap="none" dirty="0">
              <a:solidFill>
                <a:srgbClr val="000000"/>
              </a:solidFill>
              <a:latin typeface="Arial"/>
              <a:ea typeface="Arial"/>
              <a:cs typeface="Arial"/>
              <a:sym typeface="Arial"/>
            </a:endParaRPr>
          </a:p>
        </p:txBody>
      </p:sp>
      <p:sp>
        <p:nvSpPr>
          <p:cNvPr id="418" name="Google Shape;418;p39"/>
          <p:cNvSpPr txBox="1"/>
          <p:nvPr/>
        </p:nvSpPr>
        <p:spPr>
          <a:xfrm>
            <a:off x="5807514" y="2815847"/>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(4)</a:t>
            </a:r>
            <a:endParaRPr sz="14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4F5967E-D4F9-4842-B0EB-39DB23D352F1}"/>
              </a:ext>
            </a:extLst>
          </p:cNvPr>
          <p:cNvSpPr txBox="1"/>
          <p:nvPr/>
        </p:nvSpPr>
        <p:spPr>
          <a:xfrm>
            <a:off x="8975152" y="2366927"/>
            <a:ext cx="1107233" cy="307777"/>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R</a:t>
            </a:r>
            <a:r>
              <a:rPr lang="en-US" baseline="-25000" dirty="0">
                <a:solidFill>
                  <a:srgbClr val="FF0000"/>
                </a:solidFill>
                <a:latin typeface="Times New Roman" panose="02020603050405020304" pitchFamily="18" charset="0"/>
                <a:cs typeface="Times New Roman" panose="02020603050405020304" pitchFamily="18" charset="0"/>
              </a:rPr>
              <a:t>11</a:t>
            </a:r>
            <a:endParaRPr lang="ru-RU" baseline="-25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C2B33-9DCB-4AFD-A255-467C2A05B4AF}"/>
              </a:ext>
            </a:extLst>
          </p:cNvPr>
          <p:cNvSpPr txBox="1"/>
          <p:nvPr/>
        </p:nvSpPr>
        <p:spPr>
          <a:xfrm>
            <a:off x="8491886" y="2396931"/>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ru-RU" baseline="-25000" dirty="0">
                <a:solidFill>
                  <a:srgbClr val="00B050"/>
                </a:solidFill>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a16="http://schemas.microsoft.com/office/drawing/2014/main" id="{4531E132-C4B3-421F-ADA7-7C75D186F689}"/>
              </a:ext>
            </a:extLst>
          </p:cNvPr>
          <p:cNvSpPr txBox="1"/>
          <p:nvPr/>
        </p:nvSpPr>
        <p:spPr>
          <a:xfrm>
            <a:off x="9618412" y="2166485"/>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en-US" baseline="-25000" dirty="0">
                <a:solidFill>
                  <a:srgbClr val="00B050"/>
                </a:solidFill>
                <a:latin typeface="Times New Roman" panose="02020603050405020304" pitchFamily="18" charset="0"/>
                <a:cs typeface="Times New Roman" panose="02020603050405020304" pitchFamily="18" charset="0"/>
              </a:rPr>
              <a:t>2</a:t>
            </a:r>
            <a:r>
              <a:rPr lang="ru-RU" baseline="-25000" dirty="0">
                <a:solidFill>
                  <a:srgbClr val="00B050"/>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9BE1B8A-953A-40F9-8B17-DD9A0A91F65D}"/>
                  </a:ext>
                </a:extLst>
              </p:cNvPr>
              <p:cNvSpPr txBox="1"/>
              <p:nvPr/>
            </p:nvSpPr>
            <p:spPr>
              <a:xfrm>
                <a:off x="867197" y="631446"/>
                <a:ext cx="1683184"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a:latin typeface="Cambria Math" panose="02040503050406030204" pitchFamily="18" charset="0"/>
                            </a:rPr>
                            <m:t>Г</m:t>
                          </m:r>
                        </m:e>
                        <m:sub>
                          <m:r>
                            <a:rPr lang="ru-RU" i="1">
                              <a:latin typeface="Cambria Math" panose="02040503050406030204" pitchFamily="18" charset="0"/>
                            </a:rPr>
                            <m:t>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=1</m:t>
                          </m:r>
                        </m:sub>
                        <m:sup>
                          <m:r>
                            <a:rPr lang="ru-RU" i="1">
                              <a:latin typeface="Cambria Math" panose="02040503050406030204" pitchFamily="18" charset="0"/>
                            </a:rPr>
                            <m:t>𝑁</m:t>
                          </m:r>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e>
                      </m:nary>
                      <m:r>
                        <a:rPr lang="ru-RU" b="0" i="1" smtClean="0">
                          <a:latin typeface="Cambria Math" panose="02040503050406030204" pitchFamily="18" charset="0"/>
                        </a:rPr>
                        <m:t>,</m:t>
                      </m:r>
                    </m:oMath>
                  </m:oMathPara>
                </a14:m>
                <a:endParaRPr lang="ru-RU" dirty="0"/>
              </a:p>
            </p:txBody>
          </p:sp>
        </mc:Choice>
        <mc:Fallback xmlns="">
          <p:sp>
            <p:nvSpPr>
              <p:cNvPr id="35" name="TextBox 34">
                <a:extLst>
                  <a:ext uri="{FF2B5EF4-FFF2-40B4-BE49-F238E27FC236}">
                    <a16:creationId xmlns:a16="http://schemas.microsoft.com/office/drawing/2014/main" id="{29BE1B8A-953A-40F9-8B17-DD9A0A91F65D}"/>
                  </a:ext>
                </a:extLst>
              </p:cNvPr>
              <p:cNvSpPr txBox="1">
                <a:spLocks noRot="1" noChangeAspect="1" noMove="1" noResize="1" noEditPoints="1" noAdjustHandles="1" noChangeArrowheads="1" noChangeShapeType="1" noTextEdit="1"/>
              </p:cNvSpPr>
              <p:nvPr/>
            </p:nvSpPr>
            <p:spPr>
              <a:xfrm>
                <a:off x="867197" y="631446"/>
                <a:ext cx="1683184" cy="722505"/>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9B134FA-BCAE-424B-8058-92E1B494C264}"/>
                  </a:ext>
                </a:extLst>
              </p:cNvPr>
              <p:cNvSpPr txBox="1"/>
              <p:nvPr/>
            </p:nvSpPr>
            <p:spPr>
              <a:xfrm>
                <a:off x="913918" y="2624514"/>
                <a:ext cx="4613300" cy="690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i="1">
                              <a:latin typeface="Cambria Math" panose="02040503050406030204" pitchFamily="18" charset="0"/>
                            </a:rPr>
                            <m:t>𝑑</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r>
                            <a:rPr lang="ru-RU" i="1">
                              <a:latin typeface="Cambria Math" panose="02040503050406030204" pitchFamily="18" charset="0"/>
                            </a:rPr>
                            <m:t>𝑑𝑡</m:t>
                          </m:r>
                        </m:den>
                      </m:f>
                      <m:r>
                        <a:rPr lang="ru-RU" i="0">
                          <a:latin typeface="Cambria Math" panose="02040503050406030204" pitchFamily="18" charset="0"/>
                        </a:rPr>
                        <m:t>=</m:t>
                      </m:r>
                      <m:nary>
                        <m:naryPr>
                          <m:chr m:val="∑"/>
                          <m:limLoc m:val="undOvr"/>
                          <m:supHide m:val="on"/>
                          <m:ctrlPr>
                            <a:rPr lang="ru-RU" i="1" smtClean="0">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m:t>
                          </m:r>
                          <m:r>
                            <a:rPr lang="ru-RU" i="1">
                              <a:latin typeface="Cambria Math" panose="02040503050406030204" pitchFamily="18" charset="0"/>
                            </a:rPr>
                            <m:t>𝑛</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𝑗</m:t>
                              </m:r>
                            </m:sub>
                          </m:sSub>
                          <m:d>
                            <m:dPr>
                              <m:ctrlPr>
                                <a:rPr lang="ru-RU" i="1">
                                  <a:solidFill>
                                    <a:srgbClr val="836967"/>
                                  </a:solidFill>
                                  <a:latin typeface="Cambria Math" panose="02040503050406030204" pitchFamily="18" charset="0"/>
                                </a:rPr>
                              </m:ctrlPr>
                            </m:dPr>
                            <m:e>
                              <m:r>
                                <a:rPr lang="ru-RU" i="1">
                                  <a:latin typeface="Cambria Math" panose="02040503050406030204" pitchFamily="18" charset="0"/>
                                </a:rPr>
                                <m:t>𝑡</m:t>
                              </m:r>
                            </m:e>
                          </m:d>
                          <m:d>
                            <m:dPr>
                              <m:begChr m:val="["/>
                              <m:endChr m:val="]"/>
                              <m:ctrlPr>
                                <a:rPr lang="ru-RU" i="1">
                                  <a:solidFill>
                                    <a:srgbClr val="836967"/>
                                  </a:solidFill>
                                  <a:latin typeface="Cambria Math" panose="02040503050406030204" pitchFamily="18" charset="0"/>
                                </a:rPr>
                              </m:ctrlPr>
                            </m:dPr>
                            <m:e>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nary>
                            </m:e>
                          </m:d>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d>
                                <m:dPr>
                                  <m:ctrlPr>
                                    <a:rPr lang="ru-RU" i="1">
                                      <a:solidFill>
                                        <a:srgbClr val="836967"/>
                                      </a:solidFill>
                                      <a:latin typeface="Cambria Math" panose="02040503050406030204" pitchFamily="18" charset="0"/>
                                    </a:rPr>
                                  </m:ctrlPr>
                                </m:dPr>
                                <m:e>
                                  <m:r>
                                    <a:rPr lang="ru-RU" i="0">
                                      <a:latin typeface="Cambria Math" panose="02040503050406030204" pitchFamily="18" charset="0"/>
                                    </a:rPr>
                                    <m:t>1−</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d>
                            </m:e>
                          </m:nary>
                          <m:r>
                            <a:rPr lang="ru-RU" b="0" i="1" smtClean="0">
                              <a:latin typeface="Cambria Math" panose="02040503050406030204" pitchFamily="18" charset="0"/>
                            </a:rPr>
                            <m:t>,</m:t>
                          </m:r>
                        </m:e>
                      </m:nary>
                    </m:oMath>
                  </m:oMathPara>
                </a14:m>
                <a:endParaRPr lang="ru-RU" dirty="0"/>
              </a:p>
            </p:txBody>
          </p:sp>
        </mc:Choice>
        <mc:Fallback xmlns="">
          <p:sp>
            <p:nvSpPr>
              <p:cNvPr id="37" name="TextBox 36">
                <a:extLst>
                  <a:ext uri="{FF2B5EF4-FFF2-40B4-BE49-F238E27FC236}">
                    <a16:creationId xmlns:a16="http://schemas.microsoft.com/office/drawing/2014/main" id="{A9B134FA-BCAE-424B-8058-92E1B494C264}"/>
                  </a:ext>
                </a:extLst>
              </p:cNvPr>
              <p:cNvSpPr txBox="1">
                <a:spLocks noRot="1" noChangeAspect="1" noMove="1" noResize="1" noEditPoints="1" noAdjustHandles="1" noChangeArrowheads="1" noChangeShapeType="1" noTextEdit="1"/>
              </p:cNvSpPr>
              <p:nvPr/>
            </p:nvSpPr>
            <p:spPr>
              <a:xfrm>
                <a:off x="913918" y="2624514"/>
                <a:ext cx="4613300" cy="69044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B3F2F19-6460-4369-BABA-AA6847BB5756}"/>
                  </a:ext>
                </a:extLst>
              </p:cNvPr>
              <p:cNvSpPr txBox="1"/>
              <p:nvPr/>
            </p:nvSpPr>
            <p:spPr>
              <a:xfrm>
                <a:off x="1021326" y="1391137"/>
                <a:ext cx="2450786" cy="774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num>
                        <m:den>
                          <m:r>
                            <a:rPr lang="ru-RU" i="0">
                              <a:latin typeface="Cambria Math" panose="02040503050406030204" pitchFamily="18" charset="0"/>
                            </a:rPr>
                            <m:t>2</m:t>
                          </m:r>
                        </m:den>
                      </m:f>
                      <m:f>
                        <m:fPr>
                          <m:ctrlPr>
                            <a:rPr lang="ru-RU" i="1">
                              <a:solidFill>
                                <a:srgbClr val="836967"/>
                              </a:solidFill>
                              <a:latin typeface="Cambria Math" panose="02040503050406030204" pitchFamily="18" charset="0"/>
                            </a:rPr>
                          </m:ctrlPr>
                        </m:fPr>
                        <m:num>
                          <m:r>
                            <a:rPr lang="ru-RU" i="1">
                              <a:latin typeface="Cambria Math" panose="02040503050406030204" pitchFamily="18" charset="0"/>
                            </a:rPr>
                            <m:t>𝑆</m:t>
                          </m:r>
                        </m:num>
                        <m:den>
                          <m:r>
                            <a:rPr lang="ru-RU" i="0">
                              <a:latin typeface="Cambria Math" panose="02040503050406030204" pitchFamily="18" charset="0"/>
                            </a:rPr>
                            <m:t>1+</m:t>
                          </m:r>
                          <m:r>
                            <a:rPr lang="ru-RU" i="1">
                              <a:latin typeface="Cambria Math" panose="02040503050406030204" pitchFamily="18" charset="0"/>
                            </a:rPr>
                            <m:t>𝑆</m:t>
                          </m:r>
                          <m:r>
                            <a:rPr lang="ru-RU" i="0">
                              <a:latin typeface="Cambria Math" panose="02040503050406030204" pitchFamily="18" charset="0"/>
                            </a:rPr>
                            <m:t>+</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2∆</m:t>
                                          </m:r>
                                        </m:e>
                                        <m:sub>
                                          <m:r>
                                            <a:rPr lang="ru-RU" i="1">
                                              <a:latin typeface="Cambria Math" panose="02040503050406030204" pitchFamily="18" charset="0"/>
                                            </a:rPr>
                                            <m:t>𝑗𝑘</m:t>
                                          </m:r>
                                        </m:sub>
                                      </m:sSub>
                                    </m:num>
                                    <m:den>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den>
                                  </m:f>
                                </m:e>
                              </m:d>
                            </m:e>
                            <m:sup>
                              <m:r>
                                <a:rPr lang="ru-RU" i="0">
                                  <a:latin typeface="Cambria Math" panose="02040503050406030204" pitchFamily="18" charset="0"/>
                                </a:rPr>
                                <m:t>2</m:t>
                              </m:r>
                            </m:sup>
                          </m:sSup>
                        </m:den>
                      </m:f>
                      <m:r>
                        <a:rPr lang="ru-RU" b="0" i="1" smtClean="0">
                          <a:latin typeface="Cambria Math" panose="02040503050406030204" pitchFamily="18" charset="0"/>
                        </a:rPr>
                        <m:t>,</m:t>
                      </m:r>
                    </m:oMath>
                  </m:oMathPara>
                </a14:m>
                <a:endParaRPr lang="ru-RU" dirty="0"/>
              </a:p>
            </p:txBody>
          </p:sp>
        </mc:Choice>
        <mc:Fallback xmlns="">
          <p:sp>
            <p:nvSpPr>
              <p:cNvPr id="39" name="TextBox 38">
                <a:extLst>
                  <a:ext uri="{FF2B5EF4-FFF2-40B4-BE49-F238E27FC236}">
                    <a16:creationId xmlns:a16="http://schemas.microsoft.com/office/drawing/2014/main" id="{9B3F2F19-6460-4369-BABA-AA6847BB5756}"/>
                  </a:ext>
                </a:extLst>
              </p:cNvPr>
              <p:cNvSpPr txBox="1">
                <a:spLocks noRot="1" noChangeAspect="1" noMove="1" noResize="1" noEditPoints="1" noAdjustHandles="1" noChangeArrowheads="1" noChangeShapeType="1" noTextEdit="1"/>
              </p:cNvSpPr>
              <p:nvPr/>
            </p:nvSpPr>
            <p:spPr>
              <a:xfrm>
                <a:off x="1021326" y="1391137"/>
                <a:ext cx="2450786" cy="77425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2CB737A-7F63-452A-A4F0-ADB5F62E6118}"/>
                  </a:ext>
                </a:extLst>
              </p:cNvPr>
              <p:cNvSpPr txBox="1"/>
              <p:nvPr/>
            </p:nvSpPr>
            <p:spPr>
              <a:xfrm>
                <a:off x="689387" y="2135321"/>
                <a:ext cx="1557332"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r>
                        <a:rPr lang="ru-RU" b="0" i="1" smtClean="0">
                          <a:latin typeface="Cambria Math" panose="02040503050406030204" pitchFamily="18" charset="0"/>
                        </a:rPr>
                        <m:t>.</m:t>
                      </m:r>
                    </m:oMath>
                  </m:oMathPara>
                </a14:m>
                <a:endParaRPr lang="ru-RU" dirty="0"/>
              </a:p>
            </p:txBody>
          </p:sp>
        </mc:Choice>
        <mc:Fallback xmlns="">
          <p:sp>
            <p:nvSpPr>
              <p:cNvPr id="41" name="TextBox 40">
                <a:extLst>
                  <a:ext uri="{FF2B5EF4-FFF2-40B4-BE49-F238E27FC236}">
                    <a16:creationId xmlns:a16="http://schemas.microsoft.com/office/drawing/2014/main" id="{02CB737A-7F63-452A-A4F0-ADB5F62E6118}"/>
                  </a:ext>
                </a:extLst>
              </p:cNvPr>
              <p:cNvSpPr txBox="1">
                <a:spLocks noRot="1" noChangeAspect="1" noMove="1" noResize="1" noEditPoints="1" noAdjustHandles="1" noChangeArrowheads="1" noChangeShapeType="1" noTextEdit="1"/>
              </p:cNvSpPr>
              <p:nvPr/>
            </p:nvSpPr>
            <p:spPr>
              <a:xfrm>
                <a:off x="689387" y="2135321"/>
                <a:ext cx="1557332" cy="325089"/>
              </a:xfrm>
              <a:prstGeom prst="rect">
                <a:avLst/>
              </a:prstGeom>
              <a:blipFill>
                <a:blip r:embed="rId6"/>
                <a:stretch>
                  <a:fillRect b="-1852"/>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CC1FFB71-6BBE-4169-8FB5-1E179654E9EC}"/>
              </a:ext>
            </a:extLst>
          </p:cNvPr>
          <p:cNvSpPr txBox="1"/>
          <p:nvPr/>
        </p:nvSpPr>
        <p:spPr>
          <a:xfrm>
            <a:off x="837021" y="4629134"/>
            <a:ext cx="4767094" cy="181588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где </a:t>
            </a:r>
            <a:r>
              <a:rPr lang="en-US" dirty="0" err="1">
                <a:latin typeface="Times New Roman" panose="02020603050405020304" pitchFamily="18" charset="0"/>
                <a:cs typeface="Times New Roman" panose="02020603050405020304" pitchFamily="18" charset="0"/>
              </a:rPr>
              <a:t>G</a:t>
            </a:r>
            <a:r>
              <a:rPr lang="en-US" baseline="-25000"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населённость нижнего </a:t>
            </a:r>
            <a:r>
              <a:rPr lang="en-US" dirty="0">
                <a:latin typeface="Times New Roman" panose="02020603050405020304" pitchFamily="18" charset="0"/>
                <a:cs typeface="Times New Roman" panose="02020603050405020304" pitchFamily="18" charset="0"/>
              </a:rPr>
              <a:t>n-</a:t>
            </a:r>
            <a:r>
              <a:rPr lang="ru-RU" dirty="0">
                <a:latin typeface="Times New Roman" panose="02020603050405020304" pitchFamily="18" charset="0"/>
                <a:cs typeface="Times New Roman" panose="02020603050405020304" pitchFamily="18" charset="0"/>
              </a:rPr>
              <a:t>го уровня,</a:t>
            </a:r>
          </a:p>
          <a:p>
            <a:r>
              <a:rPr lang="en-US"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скорость поглощения для</a:t>
            </a:r>
            <a:r>
              <a:rPr lang="en-US" dirty="0">
                <a:latin typeface="Times New Roman" panose="02020603050405020304" pitchFamily="18" charset="0"/>
                <a:cs typeface="Times New Roman" panose="02020603050405020304" pitchFamily="18" charset="0"/>
              </a:rPr>
              <a:t> jk-</a:t>
            </a:r>
            <a:r>
              <a:rPr lang="ru-RU" dirty="0">
                <a:latin typeface="Times New Roman" panose="02020603050405020304" pitchFamily="18" charset="0"/>
                <a:cs typeface="Times New Roman" panose="02020603050405020304" pitchFamily="18" charset="0"/>
              </a:rPr>
              <a:t>перехода,</a:t>
            </a:r>
          </a:p>
          <a:p>
            <a:r>
              <a:rPr lang="el-GR" dirty="0">
                <a:latin typeface="Times New Roman" panose="02020603050405020304" pitchFamily="18" charset="0"/>
                <a:cs typeface="Times New Roman" panose="02020603050405020304" pitchFamily="18" charset="0"/>
              </a:rPr>
              <a:t>β</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относительная скорость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ru-RU" dirty="0">
                <a:latin typeface="Times New Roman" panose="02020603050405020304" pitchFamily="18" charset="0"/>
                <a:cs typeface="Times New Roman" panose="02020603050405020304" pitchFamily="18" charset="0"/>
              </a:rPr>
              <a:t>Г</a:t>
            </a:r>
            <a:r>
              <a:rPr lang="en-US" baseline="-25000"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естественная ширина линии,</a:t>
            </a:r>
          </a:p>
          <a:p>
            <a:r>
              <a:rPr lang="en-US" dirty="0">
                <a:latin typeface="Times New Roman" panose="02020603050405020304" pitchFamily="18" charset="0"/>
                <a:cs typeface="Times New Roman" panose="02020603050405020304" pitchFamily="18" charset="0"/>
              </a:rPr>
              <a:t>S – </a:t>
            </a:r>
            <a:r>
              <a:rPr lang="ru-RU" dirty="0">
                <a:latin typeface="Times New Roman" panose="02020603050405020304" pitchFamily="18" charset="0"/>
                <a:cs typeface="Times New Roman" panose="02020603050405020304" pitchFamily="18" charset="0"/>
              </a:rPr>
              <a:t>показатель насыщения,</a:t>
            </a:r>
          </a:p>
          <a:p>
            <a:r>
              <a:rPr lang="ru-RU" dirty="0">
                <a:latin typeface="Times New Roman" panose="02020603050405020304" pitchFamily="18" charset="0"/>
                <a:cs typeface="Times New Roman" panose="02020603050405020304" pitchFamily="18" charset="0"/>
              </a:rPr>
              <a:t>Δ</a:t>
            </a:r>
            <a:r>
              <a:rPr lang="en-US" baseline="-25000"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 – отстройка частоты излучения от частоты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en-US" dirty="0">
                <a:latin typeface="Times New Roman" panose="02020603050405020304" pitchFamily="18" charset="0"/>
                <a:cs typeface="Times New Roman" panose="02020603050405020304" pitchFamily="18" charset="0"/>
              </a:rPr>
              <a:t>N – </a:t>
            </a:r>
            <a:r>
              <a:rPr lang="ru-RU" dirty="0">
                <a:latin typeface="Times New Roman" panose="02020603050405020304" pitchFamily="18" charset="0"/>
                <a:cs typeface="Times New Roman" panose="02020603050405020304" pitchFamily="18" charset="0"/>
              </a:rPr>
              <a:t>количество </a:t>
            </a:r>
            <a:r>
              <a:rPr lang="ru-RU" dirty="0" err="1">
                <a:latin typeface="Times New Roman" panose="02020603050405020304" pitchFamily="18" charset="0"/>
                <a:cs typeface="Times New Roman" panose="02020603050405020304" pitchFamily="18" charset="0"/>
              </a:rPr>
              <a:t>рассеяных</a:t>
            </a:r>
            <a:r>
              <a:rPr lang="ru-RU" dirty="0">
                <a:latin typeface="Times New Roman" panose="02020603050405020304" pitchFamily="18" charset="0"/>
                <a:cs typeface="Times New Roman" panose="02020603050405020304" pitchFamily="18" charset="0"/>
              </a:rPr>
              <a:t> атомом фотонов,</a:t>
            </a:r>
          </a:p>
          <a:p>
            <a:r>
              <a:rPr lang="en-US" dirty="0">
                <a:latin typeface="Times New Roman" panose="02020603050405020304" pitchFamily="18" charset="0"/>
                <a:cs typeface="Times New Roman" panose="02020603050405020304" pitchFamily="18" charset="0"/>
              </a:rPr>
              <a:t>ΔT – </a:t>
            </a:r>
            <a:r>
              <a:rPr lang="ru-RU" dirty="0">
                <a:latin typeface="Times New Roman" panose="02020603050405020304" pitchFamily="18" charset="0"/>
                <a:cs typeface="Times New Roman" panose="02020603050405020304" pitchFamily="18" charset="0"/>
              </a:rPr>
              <a:t>нагрев атома.</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AE0082C-540F-46FC-9C43-AFAC0234EA26}"/>
                  </a:ext>
                </a:extLst>
              </p:cNvPr>
              <p:cNvSpPr txBox="1"/>
              <p:nvPr/>
            </p:nvSpPr>
            <p:spPr>
              <a:xfrm>
                <a:off x="514935" y="3342816"/>
                <a:ext cx="3131740" cy="740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rPr>
                        <m:t>𝑁</m:t>
                      </m:r>
                      <m:r>
                        <a:rPr lang="ru-RU" i="0">
                          <a:latin typeface="Cambria Math" panose="02040503050406030204" pitchFamily="18" charset="0"/>
                        </a:rPr>
                        <m:t>= </m:t>
                      </m:r>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𝑛</m:t>
                          </m:r>
                        </m:sub>
                        <m:sup/>
                        <m:e>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𝑘</m:t>
                              </m:r>
                            </m:sub>
                            <m:sup/>
                            <m:e>
                              <m:nary>
                                <m:naryPr>
                                  <m:limLoc m:val="subSup"/>
                                  <m:ctrlPr>
                                    <a:rPr lang="ru-RU" i="1">
                                      <a:latin typeface="Cambria Math" panose="02040503050406030204" pitchFamily="18" charset="0"/>
                                    </a:rPr>
                                  </m:ctrlPr>
                                </m:naryP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r>
                                    <a:rPr lang="ru-RU" i="1">
                                      <a:latin typeface="Cambria Math" panose="02040503050406030204" pitchFamily="18" charset="0"/>
                                    </a:rPr>
                                    <m:t>𝑑𝑡</m:t>
                                  </m:r>
                                </m:e>
                              </m:nary>
                            </m:e>
                          </m:nary>
                          <m:r>
                            <a:rPr lang="ru-RU" b="0" i="0" smtClean="0">
                              <a:latin typeface="Cambria Math" panose="02040503050406030204" pitchFamily="18" charset="0"/>
                            </a:rPr>
                            <m:t>,</m:t>
                          </m:r>
                        </m:e>
                      </m:nary>
                    </m:oMath>
                  </m:oMathPara>
                </a14:m>
                <a:endParaRPr lang="ru-RU" dirty="0"/>
              </a:p>
            </p:txBody>
          </p:sp>
        </mc:Choice>
        <mc:Fallback xmlns="">
          <p:sp>
            <p:nvSpPr>
              <p:cNvPr id="36" name="TextBox 35">
                <a:extLst>
                  <a:ext uri="{FF2B5EF4-FFF2-40B4-BE49-F238E27FC236}">
                    <a16:creationId xmlns:a16="http://schemas.microsoft.com/office/drawing/2014/main" id="{DAE0082C-540F-46FC-9C43-AFAC0234EA26}"/>
                  </a:ext>
                </a:extLst>
              </p:cNvPr>
              <p:cNvSpPr txBox="1">
                <a:spLocks noRot="1" noChangeAspect="1" noMove="1" noResize="1" noEditPoints="1" noAdjustHandles="1" noChangeArrowheads="1" noChangeShapeType="1" noTextEdit="1"/>
              </p:cNvSpPr>
              <p:nvPr/>
            </p:nvSpPr>
            <p:spPr>
              <a:xfrm>
                <a:off x="514935" y="3342816"/>
                <a:ext cx="3131740" cy="740331"/>
              </a:xfrm>
              <a:prstGeom prst="rect">
                <a:avLst/>
              </a:prstGeom>
              <a:blipFill>
                <a:blip r:embed="rId7"/>
                <a:stretch>
                  <a:fillRect/>
                </a:stretch>
              </a:blipFill>
            </p:spPr>
            <p:txBody>
              <a:bodyPr/>
              <a:lstStyle/>
              <a:p>
                <a:r>
                  <a:rPr lang="ru-RU">
                    <a:noFill/>
                  </a:rPr>
                  <a:t> </a:t>
                </a:r>
              </a:p>
            </p:txBody>
          </p:sp>
        </mc:Fallback>
      </mc:AlternateContent>
      <p:sp>
        <p:nvSpPr>
          <p:cNvPr id="40" name="Google Shape;418;p39">
            <a:extLst>
              <a:ext uri="{FF2B5EF4-FFF2-40B4-BE49-F238E27FC236}">
                <a16:creationId xmlns:a16="http://schemas.microsoft.com/office/drawing/2014/main" id="{D2A9A03C-6C0A-4874-A8D5-6C3DFEA81824}"/>
              </a:ext>
            </a:extLst>
          </p:cNvPr>
          <p:cNvSpPr txBox="1"/>
          <p:nvPr/>
        </p:nvSpPr>
        <p:spPr>
          <a:xfrm>
            <a:off x="5821509" y="3559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(5)</a:t>
            </a:r>
            <a:endParaRPr sz="1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56F8552-3D85-40B7-B09A-9E64C1933AB2}"/>
                  </a:ext>
                </a:extLst>
              </p:cNvPr>
              <p:cNvSpPr txBox="1"/>
              <p:nvPr/>
            </p:nvSpPr>
            <p:spPr>
              <a:xfrm>
                <a:off x="541902" y="4093857"/>
                <a:ext cx="2333774"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a:latin typeface="Cambria Math" panose="02040503050406030204" pitchFamily="18" charset="0"/>
                            </a:rPr>
                            <m:t>3</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𝑏</m:t>
                              </m:r>
                            </m:sub>
                          </m:sSub>
                          <m:r>
                            <a:rPr lang="ru-RU" i="0">
                              <a:latin typeface="Cambria Math" panose="02040503050406030204" pitchFamily="18" charset="0"/>
                            </a:rPr>
                            <m:t>∆</m:t>
                          </m:r>
                          <m:r>
                            <a:rPr lang="ru-RU" i="1">
                              <a:latin typeface="Cambria Math" panose="02040503050406030204" pitchFamily="18" charset="0"/>
                            </a:rPr>
                            <m:t>𝑇</m:t>
                          </m:r>
                        </m:num>
                        <m:den>
                          <m:r>
                            <a:rPr lang="ru-RU" i="1">
                              <a:latin typeface="Cambria Math" panose="02040503050406030204" pitchFamily="18" charset="0"/>
                            </a:rPr>
                            <m:t>𝑚</m:t>
                          </m:r>
                        </m:den>
                      </m:f>
                      <m:r>
                        <a:rPr lang="ru-RU" i="0">
                          <a:latin typeface="Cambria Math" panose="02040503050406030204" pitchFamily="18" charset="0"/>
                        </a:rPr>
                        <m:t>=</m:t>
                      </m:r>
                      <m:f>
                        <m:fPr>
                          <m:ctrlPr>
                            <a:rPr lang="ru-RU" i="1">
                              <a:solidFill>
                                <a:srgbClr val="836967"/>
                              </a:solidFill>
                              <a:latin typeface="Cambria Math" panose="02040503050406030204" pitchFamily="18" charset="0"/>
                            </a:rPr>
                          </m:ctrlPr>
                        </m:fPr>
                        <m:num>
                          <m:r>
                            <a:rPr lang="ru-RU" i="0">
                              <a:latin typeface="Cambria Math" panose="02040503050406030204" pitchFamily="18" charset="0"/>
                            </a:rPr>
                            <m:t>2</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r>
                                    <m:rPr>
                                      <m:sty m:val="p"/>
                                    </m:rPr>
                                    <a:rPr lang="ru-RU" i="0">
                                      <a:latin typeface="Cambria Math" panose="02040503050406030204" pitchFamily="18" charset="0"/>
                                    </a:rPr>
                                    <m:t>hk</m:t>
                                  </m:r>
                                </m:e>
                              </m:d>
                            </m:e>
                            <m:sup>
                              <m:r>
                                <a:rPr lang="ru-RU" i="0">
                                  <a:latin typeface="Cambria Math" panose="02040503050406030204" pitchFamily="18" charset="0"/>
                                </a:rPr>
                                <m:t>2</m:t>
                              </m:r>
                            </m:sup>
                          </m:sSup>
                        </m:num>
                        <m:den>
                          <m:r>
                            <a:rPr lang="ru-RU" i="0">
                              <a:latin typeface="Cambria Math" panose="02040503050406030204" pitchFamily="18" charset="0"/>
                            </a:rPr>
                            <m:t>2</m:t>
                          </m:r>
                          <m:r>
                            <m:rPr>
                              <m:sty m:val="p"/>
                            </m:rPr>
                            <a:rPr lang="ru-RU" i="0">
                              <a:latin typeface="Cambria Math" panose="02040503050406030204" pitchFamily="18" charset="0"/>
                            </a:rPr>
                            <m:t>m</m:t>
                          </m:r>
                        </m:den>
                      </m:f>
                      <m:r>
                        <m:rPr>
                          <m:sty m:val="p"/>
                        </m:rPr>
                        <a:rPr lang="ru-RU" i="0">
                          <a:latin typeface="Cambria Math" panose="02040503050406030204" pitchFamily="18" charset="0"/>
                        </a:rPr>
                        <m:t>N</m:t>
                      </m:r>
                      <m:r>
                        <a:rPr lang="ru-RU" b="0" i="0" smtClean="0">
                          <a:latin typeface="Cambria Math" panose="02040503050406030204" pitchFamily="18" charset="0"/>
                        </a:rPr>
                        <m:t>,</m:t>
                      </m:r>
                    </m:oMath>
                  </m:oMathPara>
                </a14:m>
                <a:endParaRPr lang="ru-RU" dirty="0"/>
              </a:p>
            </p:txBody>
          </p:sp>
        </mc:Choice>
        <mc:Fallback xmlns="">
          <p:sp>
            <p:nvSpPr>
              <p:cNvPr id="42" name="TextBox 41">
                <a:extLst>
                  <a:ext uri="{FF2B5EF4-FFF2-40B4-BE49-F238E27FC236}">
                    <a16:creationId xmlns:a16="http://schemas.microsoft.com/office/drawing/2014/main" id="{056F8552-3D85-40B7-B09A-9E64C1933AB2}"/>
                  </a:ext>
                </a:extLst>
              </p:cNvPr>
              <p:cNvSpPr txBox="1">
                <a:spLocks noRot="1" noChangeAspect="1" noMove="1" noResize="1" noEditPoints="1" noAdjustHandles="1" noChangeArrowheads="1" noChangeShapeType="1" noTextEdit="1"/>
              </p:cNvSpPr>
              <p:nvPr/>
            </p:nvSpPr>
            <p:spPr>
              <a:xfrm>
                <a:off x="541902" y="4093857"/>
                <a:ext cx="2333774" cy="524567"/>
              </a:xfrm>
              <a:prstGeom prst="rect">
                <a:avLst/>
              </a:prstGeom>
              <a:blipFill>
                <a:blip r:embed="rId8"/>
                <a:stretch>
                  <a:fillRect/>
                </a:stretch>
              </a:blipFill>
            </p:spPr>
            <p:txBody>
              <a:bodyPr/>
              <a:lstStyle/>
              <a:p>
                <a:r>
                  <a:rPr lang="ru-RU">
                    <a:noFill/>
                  </a:rPr>
                  <a:t> </a:t>
                </a:r>
              </a:p>
            </p:txBody>
          </p:sp>
        </mc:Fallback>
      </mc:AlternateContent>
      <p:sp>
        <p:nvSpPr>
          <p:cNvPr id="43" name="Google Shape;418;p39">
            <a:extLst>
              <a:ext uri="{FF2B5EF4-FFF2-40B4-BE49-F238E27FC236}">
                <a16:creationId xmlns:a16="http://schemas.microsoft.com/office/drawing/2014/main" id="{D9E07F0D-D8D6-4961-B75B-70C78DAB38E6}"/>
              </a:ext>
            </a:extLst>
          </p:cNvPr>
          <p:cNvSpPr txBox="1"/>
          <p:nvPr/>
        </p:nvSpPr>
        <p:spPr>
          <a:xfrm>
            <a:off x="5810691" y="4202251"/>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(6)</a:t>
            </a:r>
            <a:endParaRPr sz="1400" b="0" i="0" u="none" strike="noStrike" cap="none" dirty="0">
              <a:solidFill>
                <a:srgbClr val="000000"/>
              </a:solidFill>
              <a:latin typeface="Times New Roman"/>
              <a:ea typeface="Times New Roman"/>
              <a:cs typeface="Times New Roman"/>
              <a:sym typeface="Times New Roman"/>
            </a:endParaRPr>
          </a:p>
        </p:txBody>
      </p:sp>
      <p:sp>
        <p:nvSpPr>
          <p:cNvPr id="44" name="TextBox 43">
            <a:extLst>
              <a:ext uri="{FF2B5EF4-FFF2-40B4-BE49-F238E27FC236}">
                <a16:creationId xmlns:a16="http://schemas.microsoft.com/office/drawing/2014/main" id="{D1D74A28-7D6C-4CFE-ADD8-63365A444680}"/>
              </a:ext>
            </a:extLst>
          </p:cNvPr>
          <p:cNvSpPr txBox="1"/>
          <p:nvPr/>
        </p:nvSpPr>
        <p:spPr>
          <a:xfrm>
            <a:off x="11681926" y="6408575"/>
            <a:ext cx="360784" cy="312570"/>
          </a:xfrm>
          <a:prstGeom prst="rect">
            <a:avLst/>
          </a:prstGeom>
          <a:noFill/>
        </p:spPr>
        <p:txBody>
          <a:bodyPr wrap="square" rtlCol="0">
            <a:spAutoFit/>
          </a:bodyPr>
          <a:lstStyle/>
          <a:p>
            <a:r>
              <a:rPr lang="en-US" dirty="0"/>
              <a:t>8</a:t>
            </a:r>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4" name="TextBox 3"/>
              <p:cNvSpPr txBox="1"/>
              <p:nvPr/>
            </p:nvSpPr>
            <p:spPr>
              <a:xfrm>
                <a:off x="4245930" y="928144"/>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xmlns="">
          <p:sp>
            <p:nvSpPr>
              <p:cNvPr id="4" name="TextBox 3"/>
              <p:cNvSpPr txBox="1">
                <a:spLocks noRot="1" noChangeAspect="1" noMove="1" noResize="1" noEditPoints="1" noAdjustHandles="1" noChangeArrowheads="1" noChangeShapeType="1" noTextEdit="1"/>
              </p:cNvSpPr>
              <p:nvPr/>
            </p:nvSpPr>
            <p:spPr>
              <a:xfrm>
                <a:off x="4245930" y="928144"/>
                <a:ext cx="3087897" cy="376321"/>
              </a:xfrm>
              <a:prstGeom prst="rect">
                <a:avLst/>
              </a:prstGeom>
              <a:blipFill>
                <a:blip r:embed="rId2"/>
                <a:stretch>
                  <a:fillRect l="-2767" t="-141935" b="-222581"/>
                </a:stretch>
              </a:blipFill>
            </p:spPr>
            <p:txBody>
              <a:bodyPr/>
              <a:lstStyle/>
              <a:p>
                <a:r>
                  <a:rPr lang="ru-RU">
                    <a:noFill/>
                  </a:rPr>
                  <a:t> </a:t>
                </a:r>
              </a:p>
            </p:txBody>
          </p:sp>
        </mc:Fallback>
      </mc:AlternateContent>
      <p:sp>
        <p:nvSpPr>
          <p:cNvPr id="10" name="TextBox 9"/>
          <p:cNvSpPr txBox="1"/>
          <p:nvPr/>
        </p:nvSpPr>
        <p:spPr>
          <a:xfrm>
            <a:off x="3815591" y="1279536"/>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2820395" y="2664744"/>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2820395" y="2664744"/>
                <a:ext cx="6055889" cy="2943498"/>
              </a:xfrm>
              <a:prstGeom prst="rect">
                <a:avLst/>
              </a:prstGeom>
              <a:blipFill>
                <a:blip r:embed="rId3"/>
                <a:stretch>
                  <a:fillRect/>
                </a:stretch>
              </a:blipFill>
            </p:spPr>
            <p:txBody>
              <a:bodyPr/>
              <a:lstStyle/>
              <a:p>
                <a:r>
                  <a:rPr lang="ru-RU">
                    <a:noFill/>
                  </a:rPr>
                  <a:t> </a:t>
                </a:r>
              </a:p>
            </p:txBody>
          </p:sp>
        </mc:Fallback>
      </mc:AlternateContent>
      <p:sp>
        <p:nvSpPr>
          <p:cNvPr id="14" name="TextBox 13"/>
          <p:cNvSpPr txBox="1"/>
          <p:nvPr/>
        </p:nvSpPr>
        <p:spPr>
          <a:xfrm>
            <a:off x="3912398" y="5725619"/>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3022621"/>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6136</TotalTime>
  <Words>3280</Words>
  <Application>Microsoft Office PowerPoint</Application>
  <PresentationFormat>Широкоэкранный</PresentationFormat>
  <Paragraphs>340</Paragraphs>
  <Slides>34</Slides>
  <Notes>9</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34</vt:i4>
      </vt:variant>
    </vt:vector>
  </HeadingPairs>
  <TitlesOfParts>
    <vt:vector size="40" baseType="lpstr">
      <vt:lpstr>Arial</vt:lpstr>
      <vt:lpstr>Calibri</vt:lpstr>
      <vt:lpstr>Cambria Math</vt:lpstr>
      <vt:lpstr>Century Gothic</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Дмитрий Капуста</cp:lastModifiedBy>
  <cp:revision>311</cp:revision>
  <dcterms:created xsi:type="dcterms:W3CDTF">2023-12-21T05:49:20Z</dcterms:created>
  <dcterms:modified xsi:type="dcterms:W3CDTF">2025-11-12T07:07:43Z</dcterms:modified>
</cp:coreProperties>
</file>