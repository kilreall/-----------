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05" r:id="rId2"/>
    <p:sldId id="306" r:id="rId3"/>
    <p:sldId id="307" r:id="rId4"/>
    <p:sldId id="258" r:id="rId5"/>
    <p:sldId id="308" r:id="rId6"/>
    <p:sldId id="312" r:id="rId7"/>
    <p:sldId id="261" r:id="rId8"/>
    <p:sldId id="318" r:id="rId9"/>
    <p:sldId id="297" r:id="rId10"/>
    <p:sldId id="268" r:id="rId11"/>
    <p:sldId id="298" r:id="rId12"/>
    <p:sldId id="303" r:id="rId13"/>
    <p:sldId id="313" r:id="rId14"/>
    <p:sldId id="314" r:id="rId15"/>
    <p:sldId id="316" r:id="rId16"/>
    <p:sldId id="317" r:id="rId17"/>
    <p:sldId id="334" r:id="rId18"/>
    <p:sldId id="296" r:id="rId19"/>
    <p:sldId id="266" r:id="rId20"/>
    <p:sldId id="30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hBqtUg9D33KGP93h8hXToFf3vrq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realladam@gmail.com" initials="k" lastIdx="1" clrIdx="0">
    <p:extLst>
      <p:ext uri="{19B8F6BF-5375-455C-9EA6-DF929625EA0E}">
        <p15:presenceInfo xmlns:p15="http://schemas.microsoft.com/office/powerpoint/2012/main" userId="06abd9abe9dc439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F9F"/>
    <a:srgbClr val="FF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5" autoAdjust="0"/>
    <p:restoredTop sz="94131" autoAdjust="0"/>
  </p:normalViewPr>
  <p:slideViewPr>
    <p:cSldViewPr snapToGrid="0">
      <p:cViewPr varScale="1">
        <p:scale>
          <a:sx n="109" d="100"/>
          <a:sy n="109" d="100"/>
        </p:scale>
        <p:origin x="828" y="11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4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53C5C78D-3493-4AB6-B6C4-71977B81EE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3349AD0A-FD81-4209-B751-6B835D3BD5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7F42C-05F7-408C-B103-96C0C10292EF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C77F5D0C-A26F-41B4-A78D-D513AA88C0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77CC604D-54B8-4AC3-A942-D3AE589051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1B033-AC90-43D5-B19D-E9E156403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4020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8492247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0156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691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0632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Корректировки:</a:t>
            </a:r>
            <a:br>
              <a:rPr lang="ru-RU"/>
            </a:br>
            <a:r>
              <a:rPr lang="ru-RU"/>
              <a:t>1. Много текста</a:t>
            </a:r>
            <a:endParaRPr/>
          </a:p>
        </p:txBody>
      </p:sp>
      <p:sp>
        <p:nvSpPr>
          <p:cNvPr id="184" name="Google Shape;1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7583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1757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8829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2388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xmlns="" id="{9E080679-B901-3206-F122-6DCA7B65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3:notes">
            <a:extLst>
              <a:ext uri="{FF2B5EF4-FFF2-40B4-BE49-F238E27FC236}">
                <a16:creationId xmlns:a16="http://schemas.microsoft.com/office/drawing/2014/main" xmlns="" id="{4F66D097-9293-AE91-865E-9D10F58235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43:notes">
            <a:extLst>
              <a:ext uri="{FF2B5EF4-FFF2-40B4-BE49-F238E27FC236}">
                <a16:creationId xmlns:a16="http://schemas.microsoft.com/office/drawing/2014/main" xmlns="" id="{A8AA3B59-9A9D-62AD-DBA4-729F5ACF96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68703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5868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Титульный слайд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7987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/>
        </p:nvSpPr>
        <p:spPr>
          <a:xfrm>
            <a:off x="880131" y="3185368"/>
            <a:ext cx="1036206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К.Н. Адамов</a:t>
            </a:r>
            <a:r>
              <a:rPr lang="ru-RU" sz="24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Д.Н. Капуста</a:t>
            </a:r>
            <a:r>
              <a:rPr lang="ru-RU" sz="24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А.Э.Бонерт</a:t>
            </a:r>
            <a:r>
              <a:rPr lang="ru-RU" sz="24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А.Н. Гончаров</a:t>
            </a:r>
            <a:r>
              <a:rPr lang="ru-RU" sz="24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1,2,3</a:t>
            </a:r>
            <a:endParaRPr sz="2400" b="0" i="0" u="sng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-55685" y="1042072"/>
            <a:ext cx="123033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ru-RU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начального волнового пакета для квантового интерферометра-гравиметра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156140" y="80866"/>
            <a:ext cx="41490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Институт лазерной физики СО РАН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Новосибирск, Россия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720805" y="3737956"/>
            <a:ext cx="785015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Институт лазерной физики СО РАН, Новосибирск, Россия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Новосибирский государственный университет, Новосибирск, Россия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Новосибирский государственный технический университет, Новосибирск, Россия</a:t>
            </a:r>
            <a:endParaRPr sz="1600" b="0" i="1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61256" y="5984033"/>
            <a:ext cx="30977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email: ofadamovkirill@gmail.com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25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2549" y="104154"/>
            <a:ext cx="788996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Общие принципы работы квантового гравиметра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схема гравиметра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Экспериментальная установка гравиметра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оптической накачки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по компенсации вибрационных шумов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133397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4;p16">
            <a:extLst>
              <a:ext uri="{FF2B5EF4-FFF2-40B4-BE49-F238E27FC236}">
                <a16:creationId xmlns:a16="http://schemas.microsoft.com/office/drawing/2014/main" xmlns="" id="{C5767328-1785-46B5-813F-A312F3382CC4}"/>
              </a:ext>
            </a:extLst>
          </p:cNvPr>
          <p:cNvSpPr/>
          <p:nvPr/>
        </p:nvSpPr>
        <p:spPr>
          <a:xfrm>
            <a:off x="2495423" y="44900"/>
            <a:ext cx="6910755" cy="354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93EC11A-A157-487D-ADF7-8A978D0305FA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0262367" y="44900"/>
            <a:ext cx="1619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ru-RU" sz="18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Гал</a:t>
            </a:r>
            <a:r>
              <a:rPr lang="ru-RU" sz="1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 см</a:t>
            </a:r>
            <a:r>
              <a:rPr lang="en-US" sz="1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/c</a:t>
            </a:r>
            <a:r>
              <a:rPr lang="en-US" sz="1800" baseline="30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lang="ru-RU" sz="1800" baseline="30000" dirty="0">
              <a:solidFill>
                <a:srgbClr val="FF0000"/>
              </a:solidFill>
            </a:endParaRP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xmlns="" id="{7088C13C-1B02-440F-93B7-1757D6862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58720"/>
              </p:ext>
            </p:extLst>
          </p:nvPr>
        </p:nvGraphicFramePr>
        <p:xfrm>
          <a:off x="309068" y="2663855"/>
          <a:ext cx="11263144" cy="3790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4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073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218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2645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12593">
                <a:tc>
                  <a:txBody>
                    <a:bodyPr/>
                    <a:lstStyle/>
                    <a:p>
                      <a:pPr algn="ctr"/>
                      <a:r>
                        <a:rPr lang="ru-RU" sz="1800" b="1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Типы гравиметров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Относительные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Абсолютные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2609"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Виды гравиметров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Сверхпроводниковые</a:t>
                      </a: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(GWR)</a:t>
                      </a:r>
                      <a:endParaRPr lang="ru-RU" sz="16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Баллистические</a:t>
                      </a: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(FG5)</a:t>
                      </a:r>
                      <a:endParaRPr lang="ru-RU" sz="16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Квантовые(</a:t>
                      </a: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Tao Zhang, Wuhan</a:t>
                      </a:r>
                      <a:r>
                        <a:rPr lang="ru-RU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0178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Чувствительность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нГал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√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Гц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мкГал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√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Гц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мкГал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√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Гц</a:t>
                      </a:r>
                      <a:r>
                        <a:rPr lang="ru-RU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0178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Стабильность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мкГал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мкГал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0599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Точность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мкГал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0096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Дрейф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805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Необходимость калибровки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471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Частота опроса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 Гц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Гц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 Гц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471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Подвижные элементы в конструкции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Присутствуют, не являются проблемой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Присутствуют, ограничивают частоту опроса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Отсутствуют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42304434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695167"/>
              </p:ext>
            </p:extLst>
          </p:nvPr>
        </p:nvGraphicFramePr>
        <p:xfrm>
          <a:off x="771063" y="535053"/>
          <a:ext cx="10649874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9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749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749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7497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749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7749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56570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Факторы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Локальные</a:t>
                      </a:r>
                      <a:r>
                        <a:rPr lang="ru-RU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аномалии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Давление</a:t>
                      </a:r>
                      <a:r>
                        <a:rPr lang="ru-RU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воздуха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Приливы</a:t>
                      </a:r>
                      <a:r>
                        <a:rPr lang="ru-RU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отливы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Сезонные</a:t>
                      </a:r>
                      <a:r>
                        <a:rPr lang="ru-RU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изменения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Дрейф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Влияние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мГал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мкГал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торр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250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 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мкГал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мкГал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5" name="Google Shape;96;p16">
            <a:extLst>
              <a:ext uri="{FF2B5EF4-FFF2-40B4-BE49-F238E27FC236}">
                <a16:creationId xmlns:a16="http://schemas.microsoft.com/office/drawing/2014/main" xmlns="" id="{423EA0ED-41B0-045E-C05E-55922F62F740}"/>
              </a:ext>
            </a:extLst>
          </p:cNvPr>
          <p:cNvSpPr txBox="1"/>
          <p:nvPr/>
        </p:nvSpPr>
        <p:spPr>
          <a:xfrm>
            <a:off x="2042617" y="1898138"/>
            <a:ext cx="4530904" cy="66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Фундаментальные физические исследования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Геофизика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98;p16">
            <a:extLst>
              <a:ext uri="{FF2B5EF4-FFF2-40B4-BE49-F238E27FC236}">
                <a16:creationId xmlns:a16="http://schemas.microsoft.com/office/drawing/2014/main" xmlns="" id="{E4243556-E438-CFBC-29D6-4D8BF0F905CD}"/>
              </a:ext>
            </a:extLst>
          </p:cNvPr>
          <p:cNvSpPr txBox="1"/>
          <p:nvPr/>
        </p:nvSpPr>
        <p:spPr>
          <a:xfrm>
            <a:off x="2292713" y="1559624"/>
            <a:ext cx="78883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Сферы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деятельности, требующие прецизионных измерений гравитации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4F37B3D-67F2-43BC-66AA-BE525757435E}"/>
              </a:ext>
            </a:extLst>
          </p:cNvPr>
          <p:cNvSpPr txBox="1"/>
          <p:nvPr/>
        </p:nvSpPr>
        <p:spPr>
          <a:xfrm>
            <a:off x="6674510" y="1898138"/>
            <a:ext cx="370901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Навигация</a:t>
            </a:r>
            <a:endParaRPr lang="ru-RU"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подземной инфраструктуры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2610177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/>
        </p:nvSpPr>
        <p:spPr>
          <a:xfrm>
            <a:off x="1187629" y="5980125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1. Принципиальная схема работы абсолютного атомного гравиметра.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2504131" y="94718"/>
            <a:ext cx="6910755" cy="47118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квантового гравиметра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096000" y="1658031"/>
            <a:ext cx="580151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</a:t>
            </a:r>
            <a:r>
              <a:rPr lang="ru-RU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оследовательность</a:t>
            </a: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работы гравиметра: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Магнито-оптическая ловушка (МОЛ)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Субдоплеровское охлаждение</a:t>
            </a:r>
            <a:endParaRPr lang="ru-RU"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Подготовка начального атомного волнового пакета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томная интерференция</a:t>
            </a: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Детектирование</a:t>
            </a: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2768A1C-0EF5-462D-9F3E-871D6D7DCD89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0104CFAB-661A-70B1-D4BF-84D4505FC1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5" t="3324" r="2549" b="371"/>
          <a:stretch/>
        </p:blipFill>
        <p:spPr>
          <a:xfrm>
            <a:off x="1500895" y="690154"/>
            <a:ext cx="4353963" cy="5165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B517E7CE-C80C-57B9-6CD2-509946F43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9" t="3914" r="2226" b="2619"/>
          <a:stretch/>
        </p:blipFill>
        <p:spPr>
          <a:xfrm>
            <a:off x="3758669" y="776576"/>
            <a:ext cx="4178620" cy="2931639"/>
          </a:xfrm>
          <a:prstGeom prst="rect">
            <a:avLst/>
          </a:prstGeom>
        </p:spPr>
      </p:pic>
      <p:sp>
        <p:nvSpPr>
          <p:cNvPr id="2" name="Google Shape;136;p21">
            <a:extLst>
              <a:ext uri="{FF2B5EF4-FFF2-40B4-BE49-F238E27FC236}">
                <a16:creationId xmlns:a16="http://schemas.microsoft.com/office/drawing/2014/main" xmlns="" id="{1E7CF083-A787-4F48-A93A-E44DFC78373A}"/>
              </a:ext>
            </a:extLst>
          </p:cNvPr>
          <p:cNvSpPr/>
          <p:nvPr/>
        </p:nvSpPr>
        <p:spPr>
          <a:xfrm>
            <a:off x="1619070" y="32347"/>
            <a:ext cx="8953860" cy="62364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атомного интерферометра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3A8042C-E52E-4288-B49A-5DABBD83A1A0}"/>
              </a:ext>
            </a:extLst>
          </p:cNvPr>
          <p:cNvSpPr txBox="1"/>
          <p:nvPr/>
        </p:nvSpPr>
        <p:spPr>
          <a:xfrm>
            <a:off x="3263753" y="3692162"/>
            <a:ext cx="5862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Разность фаз между плечами интерферометра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472" y="776576"/>
            <a:ext cx="3545100" cy="30137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B363D8B-4970-43DE-BCF6-8B91DEC4358D}"/>
              </a:ext>
            </a:extLst>
          </p:cNvPr>
          <p:cNvSpPr txBox="1"/>
          <p:nvPr/>
        </p:nvSpPr>
        <p:spPr>
          <a:xfrm>
            <a:off x="522248" y="65599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C228A56-F53C-4040-AA74-A750668FC7D9}"/>
              </a:ext>
            </a:extLst>
          </p:cNvPr>
          <p:cNvSpPr txBox="1"/>
          <p:nvPr/>
        </p:nvSpPr>
        <p:spPr>
          <a:xfrm>
            <a:off x="3209143" y="65599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C228A56-F53C-4040-AA74-A750668FC7D9}"/>
              </a:ext>
            </a:extLst>
          </p:cNvPr>
          <p:cNvSpPr txBox="1"/>
          <p:nvPr/>
        </p:nvSpPr>
        <p:spPr>
          <a:xfrm>
            <a:off x="8178782" y="65599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4290609" y="4239173"/>
                <a:ext cx="2647969" cy="39709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dirty="0" smtClean="0">
                          <a:latin typeface="Cambria Math" panose="02040503050406030204" pitchFamily="18" charset="0"/>
                          <a:sym typeface="Symbol"/>
                        </a:rPr>
                        <m:t></m:t>
                      </m:r>
                      <m:r>
                        <a:rPr lang="ru-RU" sz="1800" i="1" dirty="0" smtClean="0">
                          <a:latin typeface="Cambria Math" panose="02040503050406030204" pitchFamily="18" charset="0"/>
                        </a:rPr>
                        <m:t>Ф=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609" y="4239173"/>
                <a:ext cx="2647969" cy="397096"/>
              </a:xfrm>
              <a:prstGeom prst="rect">
                <a:avLst/>
              </a:prstGeom>
              <a:blipFill rotWithShape="0">
                <a:blip r:embed="rId5"/>
                <a:stretch>
                  <a:fillRect b="-4225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178555" y="4742630"/>
            <a:ext cx="4481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эффективное волновое число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3A8042C-E52E-4288-B49A-5DABBD83A1A0}"/>
              </a:ext>
            </a:extLst>
          </p:cNvPr>
          <p:cNvSpPr txBox="1"/>
          <p:nvPr/>
        </p:nvSpPr>
        <p:spPr>
          <a:xfrm>
            <a:off x="8258681" y="3692162"/>
            <a:ext cx="3619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Населённость атомных состояний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8574804" y="4151302"/>
                <a:ext cx="3181768" cy="118000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  <m:t>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</a:rPr>
                            <m:t>Ф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1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1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𝑒𝑓𝑓</m:t>
                              </m:r>
                            </m:sub>
                          </m:s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804" y="4151302"/>
                <a:ext cx="3181768" cy="11800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Google Shape;139;p21">
            <a:extLst>
              <a:ext uri="{FF2B5EF4-FFF2-40B4-BE49-F238E27FC236}">
                <a16:creationId xmlns:a16="http://schemas.microsoft.com/office/drawing/2014/main" xmlns="" id="{B7A8C424-1497-4145-B7C5-C8EA445193E9}"/>
              </a:ext>
            </a:extLst>
          </p:cNvPr>
          <p:cNvSpPr txBox="1"/>
          <p:nvPr/>
        </p:nvSpPr>
        <p:spPr>
          <a:xfrm>
            <a:off x="608506" y="5888947"/>
            <a:ext cx="1079090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2.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Схема переходов в </a:t>
            </a:r>
            <a:r>
              <a:rPr lang="en-US" sz="16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Rb,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используемых для атомной интерференции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иллюстрация принципа работы атомного интерферометра в гравитационном поле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(б),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зависимость величины интерференционного сигнала от скорости чирпирования </a:t>
            </a:r>
            <a:r>
              <a:rPr lang="el-GR" sz="1600" dirty="0"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82296" y="3692162"/>
            <a:ext cx="26757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Чирпирование частоты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723472" y="4162817"/>
                <a:ext cx="1791196" cy="36933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dirty="0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ru-RU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sym typeface="Symbol"/>
                            </a:rPr>
                            <m:t>𝑅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ru-RU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0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  <a:sym typeface="Symbol"/>
                        </a:rPr>
                        <m:t>+2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/>
                        </a:rPr>
                        <m:t>𝜋𝛼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/>
                        </a:rPr>
                        <m:t>𝑡</m:t>
                      </m:r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72" y="4162817"/>
                <a:ext cx="1791196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66405" y="4742630"/>
            <a:ext cx="3047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скорость чирпирования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C7C7F885-9814-4E89-91F6-B6347CA79E74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428" y="1431362"/>
            <a:ext cx="2981325" cy="1914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970D59FF-3EFC-AE6F-C462-671EC06C19B7}"/>
                  </a:ext>
                </a:extLst>
              </p:cNvPr>
              <p:cNvSpPr txBox="1"/>
              <p:nvPr/>
            </p:nvSpPr>
            <p:spPr>
              <a:xfrm>
                <a:off x="5198036" y="5243717"/>
                <a:ext cx="1044004" cy="549381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u-RU" sz="18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𝑒𝑓𝑓</m:t>
                            </m:r>
                          </m:sub>
                        </m:sSub>
                      </m:den>
                    </m:f>
                  </m:oMath>
                </a14:m>
                <a:endParaRPr lang="ru-RU" sz="1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0D59FF-3EFC-AE6F-C462-671EC06C1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036" y="5243717"/>
                <a:ext cx="1044004" cy="549381"/>
              </a:xfrm>
              <a:prstGeom prst="rect">
                <a:avLst/>
              </a:prstGeom>
              <a:blipFill>
                <a:blip r:embed="rId9"/>
                <a:stretch>
                  <a:fillRect b="-1053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975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1DC97405-FC6B-4DED-9A25-2DB377181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79" y="1179408"/>
            <a:ext cx="5615229" cy="347457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B5E0CD9E-6E28-AA2D-6EAD-7D917ADD4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9" t="3793" r="231"/>
          <a:stretch/>
        </p:blipFill>
        <p:spPr>
          <a:xfrm>
            <a:off x="5910608" y="1687201"/>
            <a:ext cx="6226111" cy="2458992"/>
          </a:xfrm>
          <a:prstGeom prst="rect">
            <a:avLst/>
          </a:prstGeom>
        </p:spPr>
      </p:pic>
      <p:sp>
        <p:nvSpPr>
          <p:cNvPr id="4" name="Google Shape;178;p5">
            <a:extLst>
              <a:ext uri="{FF2B5EF4-FFF2-40B4-BE49-F238E27FC236}">
                <a16:creationId xmlns:a16="http://schemas.microsoft.com/office/drawing/2014/main" xmlns="" id="{0C300431-2A84-42F9-AC7F-37BC35CDB8A9}"/>
              </a:ext>
            </a:extLst>
          </p:cNvPr>
          <p:cNvSpPr/>
          <p:nvPr/>
        </p:nvSpPr>
        <p:spPr>
          <a:xfrm>
            <a:off x="2272032" y="152105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гравиметра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D2686F3-13E8-45ED-A8AD-5CE2C3BD8A29}"/>
              </a:ext>
            </a:extLst>
          </p:cNvPr>
          <p:cNvSpPr txBox="1"/>
          <p:nvPr/>
        </p:nvSpPr>
        <p:spPr>
          <a:xfrm>
            <a:off x="684775" y="5010629"/>
            <a:ext cx="105871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Рис. 3. С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хема уровней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</a:t>
            </a:r>
            <a:r>
              <a:rPr lang="ru-RU" sz="14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линии атома </a:t>
            </a:r>
            <a:r>
              <a:rPr lang="ru-RU" sz="14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87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Rb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 используемые частоты лазерного излучения (слева)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о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птическая схема формирования лазерного излучения, используемого для лазерного охлаждения и пленения атомов рубидия, оптической накачки и осуществления двухфотонных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рамановских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переходов в атомном интерферометре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справа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AF96418-F43F-49D3-8F8E-E2651F57759E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28788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/>
        </p:nvSpPr>
        <p:spPr>
          <a:xfrm>
            <a:off x="1789922" y="5162073"/>
            <a:ext cx="819227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4. Трехмерная модель экспериментальной установки. На рисунке представлены: вакуумная камера, три пары компенсационных магнитных катушек, охлаждающие лазерные пучки (розовые), рамановские пучки (фиолетовые), пробный пучок (жёлтый), оптика (коллиматоры, зеркала, линзы) и видеокамера. На рисунке не показаны четвертьволновые пластинки и катушка анти-Гельмгольца(фронтальная сторона)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2465349" y="100125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установка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FB779BE-E95C-4F23-B584-09191216FEFF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E8DBF2D1-7100-5EC3-B82B-FE54E4636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480" y="1184995"/>
            <a:ext cx="7401958" cy="37152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Прямоугольник 83"/>
          <p:cNvSpPr/>
          <p:nvPr/>
        </p:nvSpPr>
        <p:spPr>
          <a:xfrm>
            <a:off x="7293648" y="4457301"/>
            <a:ext cx="2126372" cy="1731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Прямоугольник 82"/>
          <p:cNvSpPr/>
          <p:nvPr/>
        </p:nvSpPr>
        <p:spPr>
          <a:xfrm>
            <a:off x="10579453" y="4129970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Прямоугольник 80"/>
          <p:cNvSpPr/>
          <p:nvPr/>
        </p:nvSpPr>
        <p:spPr>
          <a:xfrm>
            <a:off x="10270032" y="2105263"/>
            <a:ext cx="21259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 76"/>
          <p:cNvSpPr/>
          <p:nvPr/>
        </p:nvSpPr>
        <p:spPr>
          <a:xfrm>
            <a:off x="9233029" y="4122702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рямоугольник 74"/>
          <p:cNvSpPr/>
          <p:nvPr/>
        </p:nvSpPr>
        <p:spPr>
          <a:xfrm>
            <a:off x="8125093" y="4126685"/>
            <a:ext cx="44036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Прямоугольник 73"/>
          <p:cNvSpPr/>
          <p:nvPr/>
        </p:nvSpPr>
        <p:spPr>
          <a:xfrm>
            <a:off x="7291205" y="4126831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 72"/>
          <p:cNvSpPr/>
          <p:nvPr/>
        </p:nvSpPr>
        <p:spPr>
          <a:xfrm>
            <a:off x="5520028" y="3426494"/>
            <a:ext cx="328768" cy="1981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5358427" y="3794876"/>
            <a:ext cx="4382559" cy="167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5039772" y="3079237"/>
            <a:ext cx="24414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рямоугольник 53"/>
          <p:cNvSpPr/>
          <p:nvPr/>
        </p:nvSpPr>
        <p:spPr>
          <a:xfrm>
            <a:off x="3981508" y="2125399"/>
            <a:ext cx="1001779" cy="1753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Прямоугольник 52"/>
          <p:cNvSpPr/>
          <p:nvPr/>
        </p:nvSpPr>
        <p:spPr>
          <a:xfrm>
            <a:off x="3981509" y="1818671"/>
            <a:ext cx="755297" cy="18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2670350" y="1808076"/>
            <a:ext cx="1187327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660002" y="1498979"/>
            <a:ext cx="1199014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2670350" y="2106695"/>
            <a:ext cx="1188734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Google Shape;188;p22"/>
          <p:cNvSpPr/>
          <p:nvPr/>
        </p:nvSpPr>
        <p:spPr>
          <a:xfrm>
            <a:off x="2465349" y="100125"/>
            <a:ext cx="6910755" cy="48334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последовательность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7016" y="1382592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Маг. поле МОЛ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424751" y="1599156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716" y="1706864"/>
            <a:ext cx="2586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Охлаждающее излучение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416568" y="1912594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40467" y="2004912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Перекачка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416568" y="2212439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48696" y="2353150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Камера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2545" y="2668175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Камера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6197" y="3012200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2-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2416568" y="3203007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05295" y="3689814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 поле</a:t>
            </a:r>
          </a:p>
        </p:txBody>
      </p:sp>
      <p:cxnSp>
        <p:nvCxnSpPr>
          <p:cNvPr id="35" name="Прямая соединительная линия 34"/>
          <p:cNvCxnSpPr/>
          <p:nvPr/>
        </p:nvCxnSpPr>
        <p:spPr>
          <a:xfrm>
            <a:off x="2416568" y="3531123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64650" y="3336272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1-0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80683" y="4029245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Раман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12287" y="4351350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Чирпирование</a:t>
            </a:r>
          </a:p>
        </p:txBody>
      </p:sp>
      <p:cxnSp>
        <p:nvCxnSpPr>
          <p:cNvPr id="41" name="Прямая соединительная линия 40"/>
          <p:cNvCxnSpPr/>
          <p:nvPr/>
        </p:nvCxnSpPr>
        <p:spPr>
          <a:xfrm>
            <a:off x="2421069" y="455346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/>
          <p:nvPr/>
        </p:nvCxnSpPr>
        <p:spPr>
          <a:xfrm>
            <a:off x="2657749" y="1261745"/>
            <a:ext cx="20647" cy="366229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>
            <a:off x="3851039" y="1267762"/>
            <a:ext cx="16090" cy="365628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D264B975-A8B3-4554-9188-E48F759EEE32}"/>
              </a:ext>
            </a:extLst>
          </p:cNvPr>
          <p:cNvSpPr txBox="1"/>
          <p:nvPr/>
        </p:nvSpPr>
        <p:spPr>
          <a:xfrm>
            <a:off x="2510135" y="4875571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D264B975-A8B3-4554-9188-E48F759EEE32}"/>
              </a:ext>
            </a:extLst>
          </p:cNvPr>
          <p:cNvSpPr txBox="1"/>
          <p:nvPr/>
        </p:nvSpPr>
        <p:spPr>
          <a:xfrm>
            <a:off x="3606920" y="4873816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919577" y="921194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D264B975-A8B3-4554-9188-E48F759EEE32}"/>
              </a:ext>
            </a:extLst>
          </p:cNvPr>
          <p:cNvSpPr txBox="1"/>
          <p:nvPr/>
        </p:nvSpPr>
        <p:spPr>
          <a:xfrm>
            <a:off x="4680190" y="4869468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07851" y="906878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Субдоплер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887811" y="868192"/>
            <a:ext cx="221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в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немаг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состояние</a:t>
            </a:r>
          </a:p>
        </p:txBody>
      </p:sp>
      <p:cxnSp>
        <p:nvCxnSpPr>
          <p:cNvPr id="59" name="Прямая соединительная линия 58"/>
          <p:cNvCxnSpPr/>
          <p:nvPr/>
        </p:nvCxnSpPr>
        <p:spPr>
          <a:xfrm>
            <a:off x="7094658" y="1261745"/>
            <a:ext cx="21816" cy="366229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D264B975-A8B3-4554-9188-E48F759EEE32}"/>
              </a:ext>
            </a:extLst>
          </p:cNvPr>
          <p:cNvSpPr txBox="1"/>
          <p:nvPr/>
        </p:nvSpPr>
        <p:spPr>
          <a:xfrm>
            <a:off x="6844877" y="4864030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Прямая соединительная линия 63"/>
          <p:cNvCxnSpPr/>
          <p:nvPr/>
        </p:nvCxnSpPr>
        <p:spPr>
          <a:xfrm>
            <a:off x="9723937" y="1261745"/>
            <a:ext cx="17049" cy="366229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D264B975-A8B3-4554-9188-E48F759EEE32}"/>
              </a:ext>
            </a:extLst>
          </p:cNvPr>
          <p:cNvSpPr txBox="1"/>
          <p:nvPr/>
        </p:nvSpPr>
        <p:spPr>
          <a:xfrm>
            <a:off x="9482662" y="4861198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Google Shape;187;p22"/>
          <p:cNvSpPr txBox="1"/>
          <p:nvPr/>
        </p:nvSpPr>
        <p:spPr>
          <a:xfrm>
            <a:off x="2805834" y="5572585"/>
            <a:ext cx="81922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5. </a:t>
            </a: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Временная последовательность работы гравиметра.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Прямая соединительная линия 78"/>
          <p:cNvCxnSpPr/>
          <p:nvPr/>
        </p:nvCxnSpPr>
        <p:spPr>
          <a:xfrm>
            <a:off x="11092199" y="1261745"/>
            <a:ext cx="5591" cy="36432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D264B975-A8B3-4554-9188-E48F759EEE32}"/>
              </a:ext>
            </a:extLst>
          </p:cNvPr>
          <p:cNvSpPr txBox="1"/>
          <p:nvPr/>
        </p:nvSpPr>
        <p:spPr>
          <a:xfrm>
            <a:off x="10932024" y="4871253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49919" y="924113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Интерференция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59969" y="924113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</a:t>
            </a:r>
          </a:p>
        </p:txBody>
      </p:sp>
      <p:sp>
        <p:nvSpPr>
          <p:cNvPr id="63" name="Google Shape;187;p22">
            <a:extLst>
              <a:ext uri="{FF2B5EF4-FFF2-40B4-BE49-F238E27FC236}">
                <a16:creationId xmlns:a16="http://schemas.microsoft.com/office/drawing/2014/main" xmlns="" id="{752E87BA-AE03-4575-BC6E-FFA836941546}"/>
              </a:ext>
            </a:extLst>
          </p:cNvPr>
          <p:cNvSpPr txBox="1"/>
          <p:nvPr/>
        </p:nvSpPr>
        <p:spPr>
          <a:xfrm>
            <a:off x="2980435" y="5203294"/>
            <a:ext cx="81922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dirty="0">
                <a:latin typeface="Times New Roman"/>
                <a:cs typeface="Times New Roman"/>
                <a:sym typeface="Times New Roman"/>
              </a:rPr>
              <a:t>Время, </a:t>
            </a:r>
            <a:r>
              <a:rPr lang="en-US" sz="1800" dirty="0">
                <a:latin typeface="Times New Roman"/>
                <a:cs typeface="Times New Roman"/>
                <a:sym typeface="Times New Roman"/>
              </a:rPr>
              <a:t>[</a:t>
            </a:r>
            <a:r>
              <a:rPr lang="ru-RU" sz="1800" dirty="0" err="1">
                <a:latin typeface="Times New Roman"/>
                <a:cs typeface="Times New Roman"/>
                <a:sym typeface="Times New Roman"/>
              </a:rPr>
              <a:t>мс</a:t>
            </a:r>
            <a:r>
              <a:rPr lang="en-US" sz="1800" dirty="0">
                <a:latin typeface="Times New Roman"/>
                <a:cs typeface="Times New Roman"/>
                <a:sym typeface="Times New Roman"/>
              </a:rPr>
              <a:t>]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Прямая соединительная линия 150">
            <a:extLst>
              <a:ext uri="{FF2B5EF4-FFF2-40B4-BE49-F238E27FC236}">
                <a16:creationId xmlns:a16="http://schemas.microsoft.com/office/drawing/2014/main" xmlns="" id="{248B8D68-1797-4905-AC45-2C0793BDA79A}"/>
              </a:ext>
            </a:extLst>
          </p:cNvPr>
          <p:cNvCxnSpPr/>
          <p:nvPr/>
        </p:nvCxnSpPr>
        <p:spPr>
          <a:xfrm flipH="1">
            <a:off x="3041397" y="4410725"/>
            <a:ext cx="144491" cy="284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Прямая соединительная линия 153">
            <a:extLst>
              <a:ext uri="{FF2B5EF4-FFF2-40B4-BE49-F238E27FC236}">
                <a16:creationId xmlns:a16="http://schemas.microsoft.com/office/drawing/2014/main" xmlns="" id="{E08F3811-E9DD-466E-B562-EDC2724496C2}"/>
              </a:ext>
            </a:extLst>
          </p:cNvPr>
          <p:cNvCxnSpPr/>
          <p:nvPr/>
        </p:nvCxnSpPr>
        <p:spPr>
          <a:xfrm flipH="1">
            <a:off x="3343492" y="4408042"/>
            <a:ext cx="144491" cy="284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xmlns="" id="{D95B086B-20F1-4FB8-973C-18B9F97E541F}"/>
              </a:ext>
            </a:extLst>
          </p:cNvPr>
          <p:cNvSpPr/>
          <p:nvPr/>
        </p:nvSpPr>
        <p:spPr>
          <a:xfrm rot="1536041">
            <a:off x="3143797" y="4384282"/>
            <a:ext cx="241841" cy="341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xmlns="" id="{EE466986-E0AF-4394-9D4C-BEFEDC65AD31}"/>
              </a:ext>
            </a:extLst>
          </p:cNvPr>
          <p:cNvSpPr/>
          <p:nvPr/>
        </p:nvSpPr>
        <p:spPr>
          <a:xfrm>
            <a:off x="9840902" y="4136831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xmlns="" id="{883A6D51-BD10-4CB1-9C2A-1746D6D82718}"/>
              </a:ext>
            </a:extLst>
          </p:cNvPr>
          <p:cNvSpPr/>
          <p:nvPr/>
        </p:nvSpPr>
        <p:spPr>
          <a:xfrm>
            <a:off x="9840903" y="2446541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xmlns="" id="{71D83A6E-C16E-4F2B-83C6-29C70DD39534}"/>
              </a:ext>
            </a:extLst>
          </p:cNvPr>
          <p:cNvSpPr/>
          <p:nvPr/>
        </p:nvSpPr>
        <p:spPr>
          <a:xfrm>
            <a:off x="10579453" y="2764203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2416568" y="254231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2416568" y="3881241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2416568" y="4231359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2416568" y="285796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5FB779BE-E95C-4F23-B584-09191216FEFF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</a:t>
            </a:r>
          </a:p>
        </p:txBody>
      </p:sp>
      <p:cxnSp>
        <p:nvCxnSpPr>
          <p:cNvPr id="117" name="Прямая соединительная линия 116"/>
          <p:cNvCxnSpPr/>
          <p:nvPr/>
        </p:nvCxnSpPr>
        <p:spPr>
          <a:xfrm>
            <a:off x="4974321" y="1267762"/>
            <a:ext cx="16090" cy="365628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872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xmlns="" id="{54FCBDA4-5566-47DB-88F3-11F7896C9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225694"/>
              </p:ext>
            </p:extLst>
          </p:nvPr>
        </p:nvGraphicFramePr>
        <p:xfrm>
          <a:off x="1790170" y="596900"/>
          <a:ext cx="8611660" cy="6044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5830">
                  <a:extLst>
                    <a:ext uri="{9D8B030D-6E8A-4147-A177-3AD203B41FA5}">
                      <a16:colId xmlns:a16="http://schemas.microsoft.com/office/drawing/2014/main" xmlns="" val="3217741643"/>
                    </a:ext>
                  </a:extLst>
                </a:gridCol>
                <a:gridCol w="4305830">
                  <a:extLst>
                    <a:ext uri="{9D8B030D-6E8A-4147-A177-3AD203B41FA5}">
                      <a16:colId xmlns:a16="http://schemas.microsoft.com/office/drawing/2014/main" xmlns="" val="3049118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Оптическая накачка из состояния ∣F = 2⟩ в состояние ∣F = 1⟩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Оптическая накачка в состояние ∣F = 1, m = 0⟩ из состояния ∣F = 1⟩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17233675"/>
                  </a:ext>
                </a:extLst>
              </a:tr>
              <a:tr h="2301240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775067"/>
                  </a:ext>
                </a:extLst>
              </a:tr>
              <a:tr h="423952">
                <a:tc gridSpan="2"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Результаты моделирования оптической накачки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90096364"/>
                  </a:ext>
                </a:extLst>
              </a:tr>
              <a:tr h="2801035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92659424"/>
                  </a:ext>
                </a:extLst>
              </a:tr>
            </a:tbl>
          </a:graphicData>
        </a:graphic>
      </p:graphicFrame>
      <p:pic>
        <p:nvPicPr>
          <p:cNvPr id="66" name="Рисунок 65">
            <a:extLst>
              <a:ext uri="{FF2B5EF4-FFF2-40B4-BE49-F238E27FC236}">
                <a16:creationId xmlns:a16="http://schemas.microsoft.com/office/drawing/2014/main" xmlns="" id="{E8E229DC-645D-4BF2-B2AD-A21DBE638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085" y="4031656"/>
            <a:ext cx="3344244" cy="2363523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xmlns="" id="{E92481A7-F519-4885-95E9-8AF365188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185" y="3957146"/>
            <a:ext cx="3449671" cy="2438033"/>
          </a:xfrm>
          <a:prstGeom prst="rect">
            <a:avLst/>
          </a:prstGeom>
        </p:spPr>
      </p:pic>
      <p:sp>
        <p:nvSpPr>
          <p:cNvPr id="2" name="Google Shape;246;p7">
            <a:extLst>
              <a:ext uri="{FF2B5EF4-FFF2-40B4-BE49-F238E27FC236}">
                <a16:creationId xmlns:a16="http://schemas.microsoft.com/office/drawing/2014/main" xmlns="" id="{ADBA48A0-643A-42AD-B040-E7A9A3323698}"/>
              </a:ext>
            </a:extLst>
          </p:cNvPr>
          <p:cNvSpPr/>
          <p:nvPr/>
        </p:nvSpPr>
        <p:spPr>
          <a:xfrm>
            <a:off x="2085240" y="83130"/>
            <a:ext cx="8611659" cy="4135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моделирования 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299;p7">
            <a:extLst>
              <a:ext uri="{FF2B5EF4-FFF2-40B4-BE49-F238E27FC236}">
                <a16:creationId xmlns:a16="http://schemas.microsoft.com/office/drawing/2014/main" xmlns="" id="{2E5A9624-18A1-400B-AF2C-0F07EC11EAFB}"/>
              </a:ext>
            </a:extLst>
          </p:cNvPr>
          <p:cNvCxnSpPr/>
          <p:nvPr/>
        </p:nvCxnSpPr>
        <p:spPr>
          <a:xfrm>
            <a:off x="3484945" y="1289692"/>
            <a:ext cx="180937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04" name="Google Shape;300;p7">
            <a:extLst>
              <a:ext uri="{FF2B5EF4-FFF2-40B4-BE49-F238E27FC236}">
                <a16:creationId xmlns:a16="http://schemas.microsoft.com/office/drawing/2014/main" xmlns="" id="{A5811CD6-B7D7-4A6E-97A8-B2E5FF831621}"/>
              </a:ext>
            </a:extLst>
          </p:cNvPr>
          <p:cNvSpPr txBox="1"/>
          <p:nvPr/>
        </p:nvSpPr>
        <p:spPr>
          <a:xfrm>
            <a:off x="2497990" y="1135803"/>
            <a:ext cx="9342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F’ = 2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5" name="Google Shape;302;p7">
            <a:extLst>
              <a:ext uri="{FF2B5EF4-FFF2-40B4-BE49-F238E27FC236}">
                <a16:creationId xmlns:a16="http://schemas.microsoft.com/office/drawing/2014/main" xmlns="" id="{9B2782CE-7759-4404-BDA1-E97051A2F3AA}"/>
              </a:ext>
            </a:extLst>
          </p:cNvPr>
          <p:cNvCxnSpPr>
            <a:cxnSpLocks/>
          </p:cNvCxnSpPr>
          <p:nvPr/>
        </p:nvCxnSpPr>
        <p:spPr>
          <a:xfrm flipH="1" flipV="1">
            <a:off x="4436901" y="1388163"/>
            <a:ext cx="1" cy="5475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6" name="Google Shape;303;p7">
            <a:extLst>
              <a:ext uri="{FF2B5EF4-FFF2-40B4-BE49-F238E27FC236}">
                <a16:creationId xmlns:a16="http://schemas.microsoft.com/office/drawing/2014/main" xmlns="" id="{46DA7C1D-A09F-40A2-B438-F879F9AEF3BF}"/>
              </a:ext>
            </a:extLst>
          </p:cNvPr>
          <p:cNvCxnSpPr>
            <a:cxnSpLocks/>
          </p:cNvCxnSpPr>
          <p:nvPr/>
        </p:nvCxnSpPr>
        <p:spPr>
          <a:xfrm>
            <a:off x="4705721" y="1388163"/>
            <a:ext cx="0" cy="121804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07" name="Google Shape;305;p7">
            <a:extLst>
              <a:ext uri="{FF2B5EF4-FFF2-40B4-BE49-F238E27FC236}">
                <a16:creationId xmlns:a16="http://schemas.microsoft.com/office/drawing/2014/main" xmlns="" id="{78281A48-1C8E-4756-8AD5-13BE4DCF54D1}"/>
              </a:ext>
            </a:extLst>
          </p:cNvPr>
          <p:cNvCxnSpPr/>
          <p:nvPr/>
        </p:nvCxnSpPr>
        <p:spPr>
          <a:xfrm>
            <a:off x="3213242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8" name="Google Shape;306;p7">
            <a:extLst>
              <a:ext uri="{FF2B5EF4-FFF2-40B4-BE49-F238E27FC236}">
                <a16:creationId xmlns:a16="http://schemas.microsoft.com/office/drawing/2014/main" xmlns="" id="{86C83C26-B327-4DAA-9909-D7AFD6E8B2FC}"/>
              </a:ext>
            </a:extLst>
          </p:cNvPr>
          <p:cNvCxnSpPr/>
          <p:nvPr/>
        </p:nvCxnSpPr>
        <p:spPr>
          <a:xfrm>
            <a:off x="3722693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9" name="Google Shape;307;p7">
            <a:extLst>
              <a:ext uri="{FF2B5EF4-FFF2-40B4-BE49-F238E27FC236}">
                <a16:creationId xmlns:a16="http://schemas.microsoft.com/office/drawing/2014/main" xmlns="" id="{F0AF9A47-8BB9-429D-8469-BB18AF98FBCB}"/>
              </a:ext>
            </a:extLst>
          </p:cNvPr>
          <p:cNvCxnSpPr/>
          <p:nvPr/>
        </p:nvCxnSpPr>
        <p:spPr>
          <a:xfrm>
            <a:off x="4254956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0" name="Google Shape;308;p7">
            <a:extLst>
              <a:ext uri="{FF2B5EF4-FFF2-40B4-BE49-F238E27FC236}">
                <a16:creationId xmlns:a16="http://schemas.microsoft.com/office/drawing/2014/main" xmlns="" id="{E375B3E5-5994-4344-9A91-0ED396A99478}"/>
              </a:ext>
            </a:extLst>
          </p:cNvPr>
          <p:cNvCxnSpPr/>
          <p:nvPr/>
        </p:nvCxnSpPr>
        <p:spPr>
          <a:xfrm>
            <a:off x="4776431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1" name="Google Shape;309;p7">
            <a:extLst>
              <a:ext uri="{FF2B5EF4-FFF2-40B4-BE49-F238E27FC236}">
                <a16:creationId xmlns:a16="http://schemas.microsoft.com/office/drawing/2014/main" xmlns="" id="{50D2C602-EE44-4C8A-BF36-161ABD8AFC21}"/>
              </a:ext>
            </a:extLst>
          </p:cNvPr>
          <p:cNvCxnSpPr/>
          <p:nvPr/>
        </p:nvCxnSpPr>
        <p:spPr>
          <a:xfrm>
            <a:off x="5290236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2" name="Google Shape;310;p7">
            <a:extLst>
              <a:ext uri="{FF2B5EF4-FFF2-40B4-BE49-F238E27FC236}">
                <a16:creationId xmlns:a16="http://schemas.microsoft.com/office/drawing/2014/main" xmlns="" id="{FCDCCEAE-71B2-4116-BEE3-F401B9723EC2}"/>
              </a:ext>
            </a:extLst>
          </p:cNvPr>
          <p:cNvCxnSpPr/>
          <p:nvPr/>
        </p:nvCxnSpPr>
        <p:spPr>
          <a:xfrm>
            <a:off x="3722693" y="2710477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3" name="Google Shape;311;p7">
            <a:extLst>
              <a:ext uri="{FF2B5EF4-FFF2-40B4-BE49-F238E27FC236}">
                <a16:creationId xmlns:a16="http://schemas.microsoft.com/office/drawing/2014/main" xmlns="" id="{B993C26E-959A-4C2D-92AF-F9C0AAAB6D91}"/>
              </a:ext>
            </a:extLst>
          </p:cNvPr>
          <p:cNvCxnSpPr/>
          <p:nvPr/>
        </p:nvCxnSpPr>
        <p:spPr>
          <a:xfrm>
            <a:off x="4254956" y="2710477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4" name="Google Shape;312;p7">
            <a:extLst>
              <a:ext uri="{FF2B5EF4-FFF2-40B4-BE49-F238E27FC236}">
                <a16:creationId xmlns:a16="http://schemas.microsoft.com/office/drawing/2014/main" xmlns="" id="{C2EF69D7-75C1-4C20-B345-8C9821CDDB97}"/>
              </a:ext>
            </a:extLst>
          </p:cNvPr>
          <p:cNvCxnSpPr/>
          <p:nvPr/>
        </p:nvCxnSpPr>
        <p:spPr>
          <a:xfrm>
            <a:off x="4772077" y="2710477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15" name="Google Shape;313;p7">
            <a:extLst>
              <a:ext uri="{FF2B5EF4-FFF2-40B4-BE49-F238E27FC236}">
                <a16:creationId xmlns:a16="http://schemas.microsoft.com/office/drawing/2014/main" xmlns="" id="{89C8025C-74C2-46A1-B2BF-9DFCF11A979D}"/>
              </a:ext>
            </a:extLst>
          </p:cNvPr>
          <p:cNvSpPr txBox="1"/>
          <p:nvPr/>
        </p:nvSpPr>
        <p:spPr>
          <a:xfrm>
            <a:off x="2503493" y="1943033"/>
            <a:ext cx="1384663" cy="306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2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314;p7">
            <a:extLst>
              <a:ext uri="{FF2B5EF4-FFF2-40B4-BE49-F238E27FC236}">
                <a16:creationId xmlns:a16="http://schemas.microsoft.com/office/drawing/2014/main" xmlns="" id="{9492B3EB-7F3F-4A24-AF62-549E44472DFD}"/>
              </a:ext>
            </a:extLst>
          </p:cNvPr>
          <p:cNvSpPr txBox="1"/>
          <p:nvPr/>
        </p:nvSpPr>
        <p:spPr>
          <a:xfrm>
            <a:off x="2503493" y="2556588"/>
            <a:ext cx="6780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1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315;p7">
            <a:extLst>
              <a:ext uri="{FF2B5EF4-FFF2-40B4-BE49-F238E27FC236}">
                <a16:creationId xmlns:a16="http://schemas.microsoft.com/office/drawing/2014/main" xmlns="" id="{28F9B385-9F4C-4F9B-BD30-7EB8D06697DF}"/>
              </a:ext>
            </a:extLst>
          </p:cNvPr>
          <p:cNvSpPr txBox="1"/>
          <p:nvPr/>
        </p:nvSpPr>
        <p:spPr>
          <a:xfrm>
            <a:off x="4164556" y="2777279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m=0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8" name="Google Shape;316;p7">
            <a:extLst>
              <a:ext uri="{FF2B5EF4-FFF2-40B4-BE49-F238E27FC236}">
                <a16:creationId xmlns:a16="http://schemas.microsoft.com/office/drawing/2014/main" xmlns="" id="{F072E1E4-3562-4629-8097-9D0781860DED}"/>
              </a:ext>
            </a:extLst>
          </p:cNvPr>
          <p:cNvSpPr txBox="1"/>
          <p:nvPr/>
        </p:nvSpPr>
        <p:spPr>
          <a:xfrm>
            <a:off x="3581082" y="2777279"/>
            <a:ext cx="5980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9" name="Google Shape;317;p7">
            <a:extLst>
              <a:ext uri="{FF2B5EF4-FFF2-40B4-BE49-F238E27FC236}">
                <a16:creationId xmlns:a16="http://schemas.microsoft.com/office/drawing/2014/main" xmlns="" id="{3DD80756-09C9-4FCF-BB5F-F96A644B54F8}"/>
              </a:ext>
            </a:extLst>
          </p:cNvPr>
          <p:cNvSpPr txBox="1"/>
          <p:nvPr/>
        </p:nvSpPr>
        <p:spPr>
          <a:xfrm>
            <a:off x="4705722" y="2777279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0" name="Google Shape;318;p7">
            <a:extLst>
              <a:ext uri="{FF2B5EF4-FFF2-40B4-BE49-F238E27FC236}">
                <a16:creationId xmlns:a16="http://schemas.microsoft.com/office/drawing/2014/main" xmlns="" id="{AE4AE603-6403-46A0-A55A-B2F23A170FC7}"/>
              </a:ext>
            </a:extLst>
          </p:cNvPr>
          <p:cNvSpPr txBox="1"/>
          <p:nvPr/>
        </p:nvSpPr>
        <p:spPr>
          <a:xfrm>
            <a:off x="4146898" y="2095977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m=0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319;p7">
            <a:extLst>
              <a:ext uri="{FF2B5EF4-FFF2-40B4-BE49-F238E27FC236}">
                <a16:creationId xmlns:a16="http://schemas.microsoft.com/office/drawing/2014/main" xmlns="" id="{3177D817-74B7-4764-9B36-8C7999C346B7}"/>
              </a:ext>
            </a:extLst>
          </p:cNvPr>
          <p:cNvSpPr txBox="1"/>
          <p:nvPr/>
        </p:nvSpPr>
        <p:spPr>
          <a:xfrm>
            <a:off x="4705721" y="1679399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2" name="Google Shape;320;p7">
            <a:extLst>
              <a:ext uri="{FF2B5EF4-FFF2-40B4-BE49-F238E27FC236}">
                <a16:creationId xmlns:a16="http://schemas.microsoft.com/office/drawing/2014/main" xmlns="" id="{BBD09642-BA00-455B-A6C5-43B1C80FEB03}"/>
              </a:ext>
            </a:extLst>
          </p:cNvPr>
          <p:cNvSpPr txBox="1"/>
          <p:nvPr/>
        </p:nvSpPr>
        <p:spPr>
          <a:xfrm>
            <a:off x="3623391" y="1678800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3" name="Google Shape;321;p7">
            <a:extLst>
              <a:ext uri="{FF2B5EF4-FFF2-40B4-BE49-F238E27FC236}">
                <a16:creationId xmlns:a16="http://schemas.microsoft.com/office/drawing/2014/main" xmlns="" id="{72930C02-8558-435C-B73F-668AC9196C5C}"/>
              </a:ext>
            </a:extLst>
          </p:cNvPr>
          <p:cNvSpPr txBox="1"/>
          <p:nvPr/>
        </p:nvSpPr>
        <p:spPr>
          <a:xfrm>
            <a:off x="5246886" y="1678799"/>
            <a:ext cx="5411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m=2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4" name="Google Shape;322;p7">
            <a:extLst>
              <a:ext uri="{FF2B5EF4-FFF2-40B4-BE49-F238E27FC236}">
                <a16:creationId xmlns:a16="http://schemas.microsoft.com/office/drawing/2014/main" xmlns="" id="{A856AB1E-7EAA-4252-9F9E-2D17D90A05C9}"/>
              </a:ext>
            </a:extLst>
          </p:cNvPr>
          <p:cNvSpPr txBox="1"/>
          <p:nvPr/>
        </p:nvSpPr>
        <p:spPr>
          <a:xfrm>
            <a:off x="3091937" y="1678798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m=-2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5" name="Google Shape;324;p7">
            <a:extLst>
              <a:ext uri="{FF2B5EF4-FFF2-40B4-BE49-F238E27FC236}">
                <a16:creationId xmlns:a16="http://schemas.microsoft.com/office/drawing/2014/main" xmlns="" id="{C7E2C7D4-6EB7-4199-AF71-1F752404AD37}"/>
              </a:ext>
            </a:extLst>
          </p:cNvPr>
          <p:cNvSpPr/>
          <p:nvPr/>
        </p:nvSpPr>
        <p:spPr>
          <a:xfrm>
            <a:off x="3801591" y="2638633"/>
            <a:ext cx="172998" cy="147474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325;p7">
            <a:extLst>
              <a:ext uri="{FF2B5EF4-FFF2-40B4-BE49-F238E27FC236}">
                <a16:creationId xmlns:a16="http://schemas.microsoft.com/office/drawing/2014/main" xmlns="" id="{7EF5AC33-F806-45AD-9355-C0C56E36D8E0}"/>
              </a:ext>
            </a:extLst>
          </p:cNvPr>
          <p:cNvSpPr/>
          <p:nvPr/>
        </p:nvSpPr>
        <p:spPr>
          <a:xfrm>
            <a:off x="4341421" y="2636739"/>
            <a:ext cx="172998" cy="147474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326;p7">
            <a:extLst>
              <a:ext uri="{FF2B5EF4-FFF2-40B4-BE49-F238E27FC236}">
                <a16:creationId xmlns:a16="http://schemas.microsoft.com/office/drawing/2014/main" xmlns="" id="{D487D161-CE2D-4505-B512-9F7EE8F4AF98}"/>
              </a:ext>
            </a:extLst>
          </p:cNvPr>
          <p:cNvSpPr/>
          <p:nvPr/>
        </p:nvSpPr>
        <p:spPr>
          <a:xfrm>
            <a:off x="4850076" y="2629294"/>
            <a:ext cx="172998" cy="147474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327;p7">
            <a:extLst>
              <a:ext uri="{FF2B5EF4-FFF2-40B4-BE49-F238E27FC236}">
                <a16:creationId xmlns:a16="http://schemas.microsoft.com/office/drawing/2014/main" xmlns="" id="{B2AE25D9-ABE4-4DA0-8BC1-2769C7E58598}"/>
              </a:ext>
            </a:extLst>
          </p:cNvPr>
          <p:cNvCxnSpPr/>
          <p:nvPr/>
        </p:nvCxnSpPr>
        <p:spPr>
          <a:xfrm>
            <a:off x="8117130" y="1344070"/>
            <a:ext cx="358998" cy="11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29" name="Google Shape;328;p7">
            <a:extLst>
              <a:ext uri="{FF2B5EF4-FFF2-40B4-BE49-F238E27FC236}">
                <a16:creationId xmlns:a16="http://schemas.microsoft.com/office/drawing/2014/main" xmlns="" id="{759DCDE9-0FE5-47F3-A4B3-F7579EB31A17}"/>
              </a:ext>
            </a:extLst>
          </p:cNvPr>
          <p:cNvSpPr txBox="1"/>
          <p:nvPr/>
        </p:nvSpPr>
        <p:spPr>
          <a:xfrm>
            <a:off x="7426972" y="1182868"/>
            <a:ext cx="9342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F’ = 0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0" name="Google Shape;329;p7">
            <a:extLst>
              <a:ext uri="{FF2B5EF4-FFF2-40B4-BE49-F238E27FC236}">
                <a16:creationId xmlns:a16="http://schemas.microsoft.com/office/drawing/2014/main" xmlns="" id="{7FB0B97D-86CE-4837-A249-CF2BB06DC8BC}"/>
              </a:ext>
            </a:extLst>
          </p:cNvPr>
          <p:cNvCxnSpPr/>
          <p:nvPr/>
        </p:nvCxnSpPr>
        <p:spPr>
          <a:xfrm>
            <a:off x="7594786" y="2639398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31" name="Google Shape;330;p7">
            <a:extLst>
              <a:ext uri="{FF2B5EF4-FFF2-40B4-BE49-F238E27FC236}">
                <a16:creationId xmlns:a16="http://schemas.microsoft.com/office/drawing/2014/main" xmlns="" id="{17F9E9EB-B791-478A-8720-BEF74803123B}"/>
              </a:ext>
            </a:extLst>
          </p:cNvPr>
          <p:cNvCxnSpPr/>
          <p:nvPr/>
        </p:nvCxnSpPr>
        <p:spPr>
          <a:xfrm>
            <a:off x="8120734" y="270927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32" name="Google Shape;331;p7">
            <a:extLst>
              <a:ext uri="{FF2B5EF4-FFF2-40B4-BE49-F238E27FC236}">
                <a16:creationId xmlns:a16="http://schemas.microsoft.com/office/drawing/2014/main" xmlns="" id="{DA5E6E9C-B693-4905-AF03-2DADF2992FAC}"/>
              </a:ext>
            </a:extLst>
          </p:cNvPr>
          <p:cNvCxnSpPr/>
          <p:nvPr/>
        </p:nvCxnSpPr>
        <p:spPr>
          <a:xfrm>
            <a:off x="8642747" y="2795170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33" name="Google Shape;332;p7">
            <a:extLst>
              <a:ext uri="{FF2B5EF4-FFF2-40B4-BE49-F238E27FC236}">
                <a16:creationId xmlns:a16="http://schemas.microsoft.com/office/drawing/2014/main" xmlns="" id="{C881895D-327E-4DA1-B6B5-EDF9B15CF510}"/>
              </a:ext>
            </a:extLst>
          </p:cNvPr>
          <p:cNvSpPr txBox="1"/>
          <p:nvPr/>
        </p:nvSpPr>
        <p:spPr>
          <a:xfrm>
            <a:off x="6614068" y="2564022"/>
            <a:ext cx="6780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1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333;p7">
            <a:extLst>
              <a:ext uri="{FF2B5EF4-FFF2-40B4-BE49-F238E27FC236}">
                <a16:creationId xmlns:a16="http://schemas.microsoft.com/office/drawing/2014/main" xmlns="" id="{ECD6A746-0D5B-4E93-8BA9-B883FF63CFBE}"/>
              </a:ext>
            </a:extLst>
          </p:cNvPr>
          <p:cNvSpPr txBox="1"/>
          <p:nvPr/>
        </p:nvSpPr>
        <p:spPr>
          <a:xfrm>
            <a:off x="8030334" y="2776074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m=0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5" name="Google Shape;334;p7">
            <a:extLst>
              <a:ext uri="{FF2B5EF4-FFF2-40B4-BE49-F238E27FC236}">
                <a16:creationId xmlns:a16="http://schemas.microsoft.com/office/drawing/2014/main" xmlns="" id="{B58DD3D3-AA6B-4314-BF84-2078711C8530}"/>
              </a:ext>
            </a:extLst>
          </p:cNvPr>
          <p:cNvSpPr txBox="1"/>
          <p:nvPr/>
        </p:nvSpPr>
        <p:spPr>
          <a:xfrm>
            <a:off x="7453174" y="2706200"/>
            <a:ext cx="6124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6" name="Google Shape;335;p7">
            <a:extLst>
              <a:ext uri="{FF2B5EF4-FFF2-40B4-BE49-F238E27FC236}">
                <a16:creationId xmlns:a16="http://schemas.microsoft.com/office/drawing/2014/main" xmlns="" id="{1083B4B1-55E8-4208-95C6-60AE75E49B8B}"/>
              </a:ext>
            </a:extLst>
          </p:cNvPr>
          <p:cNvSpPr txBox="1"/>
          <p:nvPr/>
        </p:nvSpPr>
        <p:spPr>
          <a:xfrm>
            <a:off x="8576393" y="2861972"/>
            <a:ext cx="5400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7" name="Google Shape;336;p7">
            <a:extLst>
              <a:ext uri="{FF2B5EF4-FFF2-40B4-BE49-F238E27FC236}">
                <a16:creationId xmlns:a16="http://schemas.microsoft.com/office/drawing/2014/main" xmlns="" id="{59868BE4-E23F-4B46-AC6B-6FB8F481ACE2}"/>
              </a:ext>
            </a:extLst>
          </p:cNvPr>
          <p:cNvSpPr/>
          <p:nvPr/>
        </p:nvSpPr>
        <p:spPr>
          <a:xfrm>
            <a:off x="8208032" y="2638633"/>
            <a:ext cx="172998" cy="147474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337;p7">
            <a:extLst>
              <a:ext uri="{FF2B5EF4-FFF2-40B4-BE49-F238E27FC236}">
                <a16:creationId xmlns:a16="http://schemas.microsoft.com/office/drawing/2014/main" xmlns="" id="{116226FF-8C6F-479C-8EA1-9576E5EC9DDA}"/>
              </a:ext>
            </a:extLst>
          </p:cNvPr>
          <p:cNvCxnSpPr/>
          <p:nvPr/>
        </p:nvCxnSpPr>
        <p:spPr>
          <a:xfrm rot="10800000" flipH="1">
            <a:off x="7782842" y="1485448"/>
            <a:ext cx="391188" cy="107725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9" name="Google Shape;338;p7">
            <a:extLst>
              <a:ext uri="{FF2B5EF4-FFF2-40B4-BE49-F238E27FC236}">
                <a16:creationId xmlns:a16="http://schemas.microsoft.com/office/drawing/2014/main" xmlns="" id="{06F1CA81-846C-43DA-863B-EABCF861BD6A}"/>
              </a:ext>
            </a:extLst>
          </p:cNvPr>
          <p:cNvCxnSpPr>
            <a:cxnSpLocks/>
          </p:cNvCxnSpPr>
          <p:nvPr/>
        </p:nvCxnSpPr>
        <p:spPr>
          <a:xfrm flipH="1" flipV="1">
            <a:off x="8436177" y="1485448"/>
            <a:ext cx="358310" cy="1230099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0" name="Google Shape;339;p7">
            <a:extLst>
              <a:ext uri="{FF2B5EF4-FFF2-40B4-BE49-F238E27FC236}">
                <a16:creationId xmlns:a16="http://schemas.microsoft.com/office/drawing/2014/main" xmlns="" id="{9A162B01-25C6-41BB-92A1-4360229920F2}"/>
              </a:ext>
            </a:extLst>
          </p:cNvPr>
          <p:cNvCxnSpPr/>
          <p:nvPr/>
        </p:nvCxnSpPr>
        <p:spPr>
          <a:xfrm>
            <a:off x="8295101" y="1485447"/>
            <a:ext cx="20004" cy="1077249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41" name="Google Shape;340;p7">
            <a:extLst>
              <a:ext uri="{FF2B5EF4-FFF2-40B4-BE49-F238E27FC236}">
                <a16:creationId xmlns:a16="http://schemas.microsoft.com/office/drawing/2014/main" xmlns="" id="{1699AABE-ACD0-4B3A-8A06-D24C5EB4EB20}"/>
              </a:ext>
            </a:extLst>
          </p:cNvPr>
          <p:cNvSpPr txBox="1"/>
          <p:nvPr/>
        </p:nvSpPr>
        <p:spPr>
          <a:xfrm>
            <a:off x="8523458" y="1159699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m’=0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42" name="Google Shape;373;p7">
            <a:extLst>
              <a:ext uri="{FF2B5EF4-FFF2-40B4-BE49-F238E27FC236}">
                <a16:creationId xmlns:a16="http://schemas.microsoft.com/office/drawing/2014/main" xmlns="" id="{EB38CCD1-B7F0-44DE-9AA5-6FD12D922F1A}"/>
              </a:ext>
            </a:extLst>
          </p:cNvPr>
          <p:cNvCxnSpPr/>
          <p:nvPr/>
        </p:nvCxnSpPr>
        <p:spPr>
          <a:xfrm>
            <a:off x="7083536" y="2288687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3" name="Google Shape;374;p7">
            <a:extLst>
              <a:ext uri="{FF2B5EF4-FFF2-40B4-BE49-F238E27FC236}">
                <a16:creationId xmlns:a16="http://schemas.microsoft.com/office/drawing/2014/main" xmlns="" id="{25AA9A3C-5B8B-4227-B9AC-7E86AED6BD6A}"/>
              </a:ext>
            </a:extLst>
          </p:cNvPr>
          <p:cNvCxnSpPr/>
          <p:nvPr/>
        </p:nvCxnSpPr>
        <p:spPr>
          <a:xfrm>
            <a:off x="7581410" y="2200560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4" name="Google Shape;375;p7">
            <a:extLst>
              <a:ext uri="{FF2B5EF4-FFF2-40B4-BE49-F238E27FC236}">
                <a16:creationId xmlns:a16="http://schemas.microsoft.com/office/drawing/2014/main" xmlns="" id="{E83ADE1F-B8D9-48B4-A5AD-AFCDD8B239CA}"/>
              </a:ext>
            </a:extLst>
          </p:cNvPr>
          <p:cNvCxnSpPr/>
          <p:nvPr/>
        </p:nvCxnSpPr>
        <p:spPr>
          <a:xfrm>
            <a:off x="8132014" y="2114641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5" name="Google Shape;376;p7">
            <a:extLst>
              <a:ext uri="{FF2B5EF4-FFF2-40B4-BE49-F238E27FC236}">
                <a16:creationId xmlns:a16="http://schemas.microsoft.com/office/drawing/2014/main" xmlns="" id="{AFAE1C24-C6A6-4383-90A6-5A50058053F3}"/>
              </a:ext>
            </a:extLst>
          </p:cNvPr>
          <p:cNvCxnSpPr/>
          <p:nvPr/>
        </p:nvCxnSpPr>
        <p:spPr>
          <a:xfrm>
            <a:off x="8646652" y="2042681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6" name="Google Shape;377;p7">
            <a:extLst>
              <a:ext uri="{FF2B5EF4-FFF2-40B4-BE49-F238E27FC236}">
                <a16:creationId xmlns:a16="http://schemas.microsoft.com/office/drawing/2014/main" xmlns="" id="{05D09583-3DCF-44D9-87CC-905A4A89AA37}"/>
              </a:ext>
            </a:extLst>
          </p:cNvPr>
          <p:cNvCxnSpPr/>
          <p:nvPr/>
        </p:nvCxnSpPr>
        <p:spPr>
          <a:xfrm>
            <a:off x="9170461" y="1933335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47" name="Google Shape;378;p7">
            <a:extLst>
              <a:ext uri="{FF2B5EF4-FFF2-40B4-BE49-F238E27FC236}">
                <a16:creationId xmlns:a16="http://schemas.microsoft.com/office/drawing/2014/main" xmlns="" id="{BAEDA4E0-587A-4267-89FE-4FC711B0E1F7}"/>
              </a:ext>
            </a:extLst>
          </p:cNvPr>
          <p:cNvSpPr txBox="1"/>
          <p:nvPr/>
        </p:nvSpPr>
        <p:spPr>
          <a:xfrm>
            <a:off x="8059272" y="1696916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m=0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8" name="Google Shape;379;p7">
            <a:extLst>
              <a:ext uri="{FF2B5EF4-FFF2-40B4-BE49-F238E27FC236}">
                <a16:creationId xmlns:a16="http://schemas.microsoft.com/office/drawing/2014/main" xmlns="" id="{8A94FCC0-D12B-4EB7-A1C3-A147A92512EB}"/>
              </a:ext>
            </a:extLst>
          </p:cNvPr>
          <p:cNvSpPr txBox="1"/>
          <p:nvPr/>
        </p:nvSpPr>
        <p:spPr>
          <a:xfrm>
            <a:off x="8575942" y="1625558"/>
            <a:ext cx="58451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9" name="Google Shape;380;p7">
            <a:extLst>
              <a:ext uri="{FF2B5EF4-FFF2-40B4-BE49-F238E27FC236}">
                <a16:creationId xmlns:a16="http://schemas.microsoft.com/office/drawing/2014/main" xmlns="" id="{462E83DB-0967-4C6C-91F2-42BD7ACB7BFB}"/>
              </a:ext>
            </a:extLst>
          </p:cNvPr>
          <p:cNvSpPr txBox="1"/>
          <p:nvPr/>
        </p:nvSpPr>
        <p:spPr>
          <a:xfrm>
            <a:off x="7482109" y="1782838"/>
            <a:ext cx="69344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0" name="Google Shape;381;p7">
            <a:extLst>
              <a:ext uri="{FF2B5EF4-FFF2-40B4-BE49-F238E27FC236}">
                <a16:creationId xmlns:a16="http://schemas.microsoft.com/office/drawing/2014/main" xmlns="" id="{B6BBE47B-96BD-46BD-8A90-B48B304BA76D}"/>
              </a:ext>
            </a:extLst>
          </p:cNvPr>
          <p:cNvSpPr txBox="1"/>
          <p:nvPr/>
        </p:nvSpPr>
        <p:spPr>
          <a:xfrm>
            <a:off x="9127111" y="1515612"/>
            <a:ext cx="5411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m=2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1" name="Google Shape;382;p7">
            <a:extLst>
              <a:ext uri="{FF2B5EF4-FFF2-40B4-BE49-F238E27FC236}">
                <a16:creationId xmlns:a16="http://schemas.microsoft.com/office/drawing/2014/main" xmlns="" id="{9EE52862-1DA1-4CD5-A4E4-497D8182FDC8}"/>
              </a:ext>
            </a:extLst>
          </p:cNvPr>
          <p:cNvSpPr txBox="1"/>
          <p:nvPr/>
        </p:nvSpPr>
        <p:spPr>
          <a:xfrm>
            <a:off x="6962232" y="1870963"/>
            <a:ext cx="6124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m=-2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xmlns="" id="{4690278A-6D62-485B-8146-211394838776}"/>
              </a:ext>
            </a:extLst>
          </p:cNvPr>
          <p:cNvSpPr txBox="1"/>
          <p:nvPr/>
        </p:nvSpPr>
        <p:spPr>
          <a:xfrm>
            <a:off x="6123869" y="3099931"/>
            <a:ext cx="1446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0ffset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xmlns="" id="{A2139D55-AFC1-4115-B3BE-5F5EE8D9B4B1}"/>
              </a:ext>
            </a:extLst>
          </p:cNvPr>
          <p:cNvSpPr txBox="1"/>
          <p:nvPr/>
        </p:nvSpPr>
        <p:spPr>
          <a:xfrm>
            <a:off x="8431469" y="4454479"/>
            <a:ext cx="1281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0.7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мкК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xmlns="" id="{A3553470-9FC6-45ED-AFC0-2FB15617DAFE}"/>
              </a:ext>
            </a:extLst>
          </p:cNvPr>
          <p:cNvSpPr txBox="1"/>
          <p:nvPr/>
        </p:nvSpPr>
        <p:spPr>
          <a:xfrm>
            <a:off x="8552207" y="5288531"/>
            <a:ext cx="16048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1/5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69BAC13F-972B-4520-8F42-178EA2560BFB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11A813CB-9917-465E-A632-9D569239EDC9}"/>
              </a:ext>
            </a:extLst>
          </p:cNvPr>
          <p:cNvSpPr txBox="1"/>
          <p:nvPr/>
        </p:nvSpPr>
        <p:spPr>
          <a:xfrm>
            <a:off x="4145750" y="4206975"/>
            <a:ext cx="152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0.7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мкК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91C9B38F-757E-4A17-96B5-0217DB266AA6}"/>
              </a:ext>
            </a:extLst>
          </p:cNvPr>
          <p:cNvSpPr txBox="1"/>
          <p:nvPr/>
        </p:nvSpPr>
        <p:spPr>
          <a:xfrm>
            <a:off x="4145750" y="5194585"/>
            <a:ext cx="13814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1/5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1/5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697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1"/>
          <p:cNvSpPr/>
          <p:nvPr/>
        </p:nvSpPr>
        <p:spPr>
          <a:xfrm>
            <a:off x="3258776" y="136525"/>
            <a:ext cx="5855293" cy="7650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Экспериментальные результаты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1"/>
          <p:cNvSpPr txBox="1"/>
          <p:nvPr/>
        </p:nvSpPr>
        <p:spPr>
          <a:xfrm>
            <a:off x="1574196" y="5246411"/>
            <a:ext cx="959672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Временная последовательность оптической накачки (а) , и </a:t>
            </a:r>
            <a:r>
              <a:rPr lang="ru-RU" dirty="0">
                <a:latin typeface="Times New Roman"/>
                <a:cs typeface="Times New Roman"/>
                <a:sym typeface="Times New Roman"/>
              </a:rPr>
              <a:t>э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кспериментальная з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ависимость населенности атомов до и после оптической накачки от отстройки рамановского излучения относительно часового перехода.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E5FBF466-A86A-4FC6-9496-0D1B6DBCC0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198"/>
          <a:stretch/>
        </p:blipFill>
        <p:spPr>
          <a:xfrm>
            <a:off x="7160309" y="1148376"/>
            <a:ext cx="3945690" cy="3203965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4803766" y="3972182"/>
            <a:ext cx="430759" cy="1307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4426824" y="3598494"/>
            <a:ext cx="1246987" cy="170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2464630" y="3249171"/>
            <a:ext cx="551888" cy="17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121765" y="3169036"/>
            <a:ext cx="1325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2-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Прямая соединительная линия 17"/>
          <p:cNvCxnSpPr>
            <a:cxnSpLocks/>
          </p:cNvCxnSpPr>
          <p:nvPr/>
        </p:nvCxnSpPr>
        <p:spPr>
          <a:xfrm>
            <a:off x="1454056" y="3341653"/>
            <a:ext cx="4918502" cy="8225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1640" y="3480527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 поле</a:t>
            </a:r>
          </a:p>
        </p:txBody>
      </p:sp>
      <p:cxnSp>
        <p:nvCxnSpPr>
          <p:cNvPr id="20" name="Прямая соединительная линия 19"/>
          <p:cNvCxnSpPr>
            <a:cxnSpLocks/>
          </p:cNvCxnSpPr>
          <p:nvPr/>
        </p:nvCxnSpPr>
        <p:spPr>
          <a:xfrm flipV="1">
            <a:off x="1454056" y="3676251"/>
            <a:ext cx="4918502" cy="12182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1765" y="3870161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1-0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Прямая соединительная линия 21"/>
          <p:cNvCxnSpPr>
            <a:cxnSpLocks/>
          </p:cNvCxnSpPr>
          <p:nvPr/>
        </p:nvCxnSpPr>
        <p:spPr>
          <a:xfrm>
            <a:off x="1454056" y="4038549"/>
            <a:ext cx="4918502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46666" y="2995692"/>
            <a:ext cx="807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70 </a:t>
            </a:r>
            <a:r>
              <a:rPr lang="ru-RU" sz="1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мкс</a:t>
            </a:r>
            <a:endParaRPr lang="ru-RU"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88529" y="3724991"/>
            <a:ext cx="807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25</a:t>
            </a:r>
            <a:r>
              <a:rPr lang="ru-RU" sz="1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мкс</a:t>
            </a:r>
            <a:endParaRPr lang="ru-RU"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flipH="1">
            <a:off x="3954356" y="2995692"/>
            <a:ext cx="1817" cy="123995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H="1">
            <a:off x="6022276" y="3068455"/>
            <a:ext cx="1817" cy="123995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 flipH="1">
            <a:off x="1522547" y="2995692"/>
            <a:ext cx="1817" cy="123995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7D479D87-544A-4FA4-BA06-D7B01FAB3C76}"/>
              </a:ext>
            </a:extLst>
          </p:cNvPr>
          <p:cNvSpPr txBox="1"/>
          <p:nvPr/>
        </p:nvSpPr>
        <p:spPr>
          <a:xfrm>
            <a:off x="1034178" y="1046632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51251" y="3356914"/>
            <a:ext cx="807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0.5 </a:t>
            </a:r>
            <a:r>
              <a:rPr lang="ru-RU" sz="1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Гс</a:t>
            </a:r>
            <a:endParaRPr lang="ru-RU"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7D479D87-544A-4FA4-BA06-D7B01FAB3C76}"/>
              </a:ext>
            </a:extLst>
          </p:cNvPr>
          <p:cNvSpPr txBox="1"/>
          <p:nvPr/>
        </p:nvSpPr>
        <p:spPr>
          <a:xfrm>
            <a:off x="6794727" y="1084738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E2B4286C-1033-4ED6-8922-95C7C36C5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196" y="1431361"/>
            <a:ext cx="2212161" cy="128798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65C9107F-86E2-4F78-B853-DF8620913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132" y="1424455"/>
            <a:ext cx="2163487" cy="134774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ACDD460A-11BF-4D35-82B4-53CC6CCB63DD}"/>
              </a:ext>
            </a:extLst>
          </p:cNvPr>
          <p:cNvSpPr txBox="1"/>
          <p:nvPr/>
        </p:nvSpPr>
        <p:spPr>
          <a:xfrm>
            <a:off x="11681926" y="6391158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EC5D26EC-C1DB-444B-8ECC-DCAEF9CF4396}"/>
              </a:ext>
            </a:extLst>
          </p:cNvPr>
          <p:cNvSpPr txBox="1"/>
          <p:nvPr/>
        </p:nvSpPr>
        <p:spPr>
          <a:xfrm>
            <a:off x="7511091" y="4336498"/>
            <a:ext cx="51440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Century Gothic" panose="020B0502020202020204" pitchFamily="34" charset="0"/>
              </a:rPr>
              <a:t>Отстройка частоты рамановского излучения, </a:t>
            </a:r>
            <a:r>
              <a:rPr lang="en-US" sz="1000" dirty="0">
                <a:latin typeface="Century Gothic" panose="020B0502020202020204" pitchFamily="34" charset="0"/>
              </a:rPr>
              <a:t>[</a:t>
            </a:r>
            <a:r>
              <a:rPr lang="ru-RU" sz="1000" dirty="0">
                <a:latin typeface="Century Gothic" panose="020B0502020202020204" pitchFamily="34" charset="0"/>
              </a:rPr>
              <a:t>МГц</a:t>
            </a:r>
            <a:r>
              <a:rPr lang="en-US" sz="1000" dirty="0">
                <a:latin typeface="Century Gothic" panose="020B0502020202020204" pitchFamily="34" charset="0"/>
              </a:rPr>
              <a:t>]</a:t>
            </a:r>
            <a:r>
              <a:rPr lang="ru-RU" sz="1000" dirty="0">
                <a:latin typeface="Century Gothic" panose="020B0502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41;p41">
            <a:extLst>
              <a:ext uri="{FF2B5EF4-FFF2-40B4-BE49-F238E27FC236}">
                <a16:creationId xmlns:a16="http://schemas.microsoft.com/office/drawing/2014/main" xmlns="" id="{EBD5BC16-2C05-4F48-9860-17E97A3AC0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7649"/>
          <a:stretch/>
        </p:blipFill>
        <p:spPr>
          <a:xfrm>
            <a:off x="6524767" y="1765465"/>
            <a:ext cx="3832083" cy="30083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42;p41">
            <a:extLst>
              <a:ext uri="{FF2B5EF4-FFF2-40B4-BE49-F238E27FC236}">
                <a16:creationId xmlns:a16="http://schemas.microsoft.com/office/drawing/2014/main" xmlns="" id="{F153B16B-206B-47E6-91BB-9ABCF38CB307}"/>
              </a:ext>
            </a:extLst>
          </p:cNvPr>
          <p:cNvSpPr txBox="1"/>
          <p:nvPr/>
        </p:nvSpPr>
        <p:spPr>
          <a:xfrm>
            <a:off x="2304966" y="4870390"/>
            <a:ext cx="679321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7.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Изображение временной эволюции облака атомов  (а), и экспериментальная з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ависимости квадрата размера облака холодных атомов (1/e) от квадрата времени свободного падения до и после оптической накачки в магнито-нечувствительное состояние (б).</a:t>
            </a:r>
            <a:endParaRPr dirty="0"/>
          </a:p>
        </p:txBody>
      </p:sp>
      <p:pic>
        <p:nvPicPr>
          <p:cNvPr id="5" name="Google Shape;127;p1" descr="https://lh7-rt.googleusercontent.com/slidesz/AGV_vUfQFYLtY2FjTQr7IFHzlkKBCHeyujkayVscmvM_ZtWrphAdXKCaLY60ZbpfLZg12jZAsRqQl4iqGW0lWkIEBozY5KtHbVxjFwlR49-6HQN-dGVIqjq8HAfU-aO2zNamebJymnukrX72YDnhLmvRxTU=s2048?key=P4lD9V1SCTzNB_8IaOOg0ZNi">
            <a:extLst>
              <a:ext uri="{FF2B5EF4-FFF2-40B4-BE49-F238E27FC236}">
                <a16:creationId xmlns:a16="http://schemas.microsoft.com/office/drawing/2014/main" xmlns="" id="{BC71BF39-5AEA-4F19-9B32-F7B8C639F7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1099" b="5356"/>
          <a:stretch/>
        </p:blipFill>
        <p:spPr>
          <a:xfrm>
            <a:off x="1220392" y="1765465"/>
            <a:ext cx="4673599" cy="216684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971711A6-1744-407B-8346-FEF2A684FBF3}"/>
                  </a:ext>
                </a:extLst>
              </p:cNvPr>
              <p:cNvSpPr txBox="1"/>
              <p:nvPr/>
            </p:nvSpPr>
            <p:spPr>
              <a:xfrm>
                <a:off x="8284545" y="3733800"/>
                <a:ext cx="2185237" cy="3102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1711A6-1744-407B-8346-FEF2A684F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545" y="3733800"/>
                <a:ext cx="2185237" cy="310278"/>
              </a:xfrm>
              <a:prstGeom prst="rect">
                <a:avLst/>
              </a:prstGeom>
              <a:blipFill>
                <a:blip r:embed="rId4"/>
                <a:stretch>
                  <a:fillRect l="-1955" b="-1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33;p24">
            <a:extLst>
              <a:ext uri="{FF2B5EF4-FFF2-40B4-BE49-F238E27FC236}">
                <a16:creationId xmlns:a16="http://schemas.microsoft.com/office/drawing/2014/main" xmlns="" id="{8E6AD891-851D-4A07-A31D-5F7A366E551C}"/>
              </a:ext>
            </a:extLst>
          </p:cNvPr>
          <p:cNvSpPr txBox="1"/>
          <p:nvPr/>
        </p:nvSpPr>
        <p:spPr>
          <a:xfrm>
            <a:off x="4933354" y="802731"/>
            <a:ext cx="24268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</a:t>
            </a:r>
            <a:r>
              <a:rPr lang="ru-RU" sz="2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ru-RU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ru-RU" sz="2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flight</a:t>
            </a:r>
            <a:r>
              <a:rPr lang="ru-RU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D479D87-544A-4FA4-BA06-D7B01FAB3C76}"/>
              </a:ext>
            </a:extLst>
          </p:cNvPr>
          <p:cNvSpPr txBox="1"/>
          <p:nvPr/>
        </p:nvSpPr>
        <p:spPr>
          <a:xfrm>
            <a:off x="1063699" y="1303824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75955D3-509D-4D02-B799-756F1560F9D5}"/>
              </a:ext>
            </a:extLst>
          </p:cNvPr>
          <p:cNvSpPr txBox="1"/>
          <p:nvPr/>
        </p:nvSpPr>
        <p:spPr>
          <a:xfrm>
            <a:off x="6354685" y="1303824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438;p41">
            <a:extLst>
              <a:ext uri="{FF2B5EF4-FFF2-40B4-BE49-F238E27FC236}">
                <a16:creationId xmlns:a16="http://schemas.microsoft.com/office/drawing/2014/main" xmlns="" id="{9F6DF20E-0EBF-46A5-BE99-0FBFFA90B945}"/>
              </a:ext>
            </a:extLst>
          </p:cNvPr>
          <p:cNvSpPr/>
          <p:nvPr/>
        </p:nvSpPr>
        <p:spPr>
          <a:xfrm>
            <a:off x="1903454" y="122102"/>
            <a:ext cx="7585131" cy="39511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Нагрев вследствие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D3CF238-36AA-4DCF-8C45-8041EC38BEF3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691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42">
            <a:extLst>
              <a:ext uri="{FF2B5EF4-FFF2-40B4-BE49-F238E27FC236}">
                <a16:creationId xmlns:a16="http://schemas.microsoft.com/office/drawing/2014/main" xmlns="" id="{669106B0-9619-2660-610E-CC37F6EF9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5" y="1258091"/>
            <a:ext cx="5633530" cy="4229563"/>
          </a:xfrm>
          <a:prstGeom prst="rect">
            <a:avLst/>
          </a:prstGeom>
        </p:spPr>
      </p:pic>
      <p:sp>
        <p:nvSpPr>
          <p:cNvPr id="2" name="Google Shape;438;p41">
            <a:extLst>
              <a:ext uri="{FF2B5EF4-FFF2-40B4-BE49-F238E27FC236}">
                <a16:creationId xmlns:a16="http://schemas.microsoft.com/office/drawing/2014/main" xmlns="" id="{52BC617F-5E2D-4580-9506-94A652B0244A}"/>
              </a:ext>
            </a:extLst>
          </p:cNvPr>
          <p:cNvSpPr/>
          <p:nvPr/>
        </p:nvSpPr>
        <p:spPr>
          <a:xfrm>
            <a:off x="2456857" y="100559"/>
            <a:ext cx="6910755" cy="52174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Регистрация сигнала атомного интерферометра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Прямоугольник 48"/>
          <p:cNvSpPr/>
          <p:nvPr/>
        </p:nvSpPr>
        <p:spPr>
          <a:xfrm>
            <a:off x="3048000" y="5972475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8. Экспериментальная последовательность рамановских импульсов и схема чирпирования частоты рамановского излучения (а), схема детектирования атомов (б).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7D479D87-544A-4FA4-BA06-D7B01FAB3C76}"/>
              </a:ext>
            </a:extLst>
          </p:cNvPr>
          <p:cNvSpPr txBox="1"/>
          <p:nvPr/>
        </p:nvSpPr>
        <p:spPr>
          <a:xfrm>
            <a:off x="673366" y="738466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4AF22725-24E1-4D71-A1C2-667222AA1559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621DB70-2DE0-B84B-4885-33F99F2FE7AC}"/>
              </a:ext>
            </a:extLst>
          </p:cNvPr>
          <p:cNvSpPr txBox="1"/>
          <p:nvPr/>
        </p:nvSpPr>
        <p:spPr>
          <a:xfrm>
            <a:off x="6483633" y="738466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12E02A25-AA81-88E4-C2B7-CC7FD0F3B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851" y="738466"/>
            <a:ext cx="3856298" cy="481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117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C0795E4E-07A3-0C68-A2F4-A4D330BBC3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02" t="9063" r="5275" b="3240"/>
          <a:stretch/>
        </p:blipFill>
        <p:spPr>
          <a:xfrm>
            <a:off x="3742267" y="1326378"/>
            <a:ext cx="3562871" cy="326255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E49EA7A-594C-4C5E-A996-39C565AC1A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83" t="7199" r="3691" b="4753"/>
          <a:stretch/>
        </p:blipFill>
        <p:spPr>
          <a:xfrm>
            <a:off x="7305139" y="1176867"/>
            <a:ext cx="3286662" cy="3327400"/>
          </a:xfrm>
          <a:prstGeom prst="rect">
            <a:avLst/>
          </a:prstGeom>
        </p:spPr>
      </p:pic>
      <p:sp>
        <p:nvSpPr>
          <p:cNvPr id="2" name="Google Shape;438;p41">
            <a:extLst>
              <a:ext uri="{FF2B5EF4-FFF2-40B4-BE49-F238E27FC236}">
                <a16:creationId xmlns:a16="http://schemas.microsoft.com/office/drawing/2014/main" xmlns="" id="{3000FCD4-85EE-457A-83FB-C6C8399B520D}"/>
              </a:ext>
            </a:extLst>
          </p:cNvPr>
          <p:cNvSpPr/>
          <p:nvPr/>
        </p:nvSpPr>
        <p:spPr>
          <a:xfrm>
            <a:off x="2456857" y="100559"/>
            <a:ext cx="6910755" cy="52174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Регистрация сигнала атомного интерферометра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45B9989-4C10-432B-8594-3E58550995F7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E9968B14-1908-46A4-93D4-2D88AF236BC1}"/>
              </a:ext>
            </a:extLst>
          </p:cNvPr>
          <p:cNvSpPr txBox="1"/>
          <p:nvPr/>
        </p:nvSpPr>
        <p:spPr>
          <a:xfrm>
            <a:off x="2679108" y="4738444"/>
            <a:ext cx="84861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Сигнал атомной интерференции, полученный при сканировании скорости чирпирования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слева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 зависимость стандартного отклонения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измерений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гравитационного ускорения от времени усреднения (справа).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21842DF5-87AF-4AFA-A45C-0EC2908FA86D}"/>
                  </a:ext>
                </a:extLst>
              </p:cNvPr>
              <p:cNvSpPr txBox="1"/>
              <p:nvPr/>
            </p:nvSpPr>
            <p:spPr>
              <a:xfrm>
                <a:off x="1132724" y="2969700"/>
                <a:ext cx="2050754" cy="62632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  <m:t>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</a:rPr>
                            <m:t>Ф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842DF5-87AF-4AFA-A45C-0EC2908FA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724" y="2969700"/>
                <a:ext cx="2050754" cy="6263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65E1332E-B1D6-4008-82C1-20AC426FB8D6}"/>
                  </a:ext>
                </a:extLst>
              </p:cNvPr>
              <p:cNvSpPr txBox="1"/>
              <p:nvPr/>
            </p:nvSpPr>
            <p:spPr>
              <a:xfrm>
                <a:off x="784513" y="2094241"/>
                <a:ext cx="2647969" cy="39709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dirty="0" smtClean="0">
                          <a:latin typeface="Cambria Math" panose="02040503050406030204" pitchFamily="18" charset="0"/>
                          <a:sym typeface="Symbol"/>
                        </a:rPr>
                        <m:t></m:t>
                      </m:r>
                      <m:r>
                        <a:rPr lang="ru-RU" sz="1800" i="1" dirty="0" smtClean="0">
                          <a:latin typeface="Cambria Math" panose="02040503050406030204" pitchFamily="18" charset="0"/>
                        </a:rPr>
                        <m:t>Ф=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5E1332E-B1D6-4008-82C1-20AC426FB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13" y="2094241"/>
                <a:ext cx="2647969" cy="397096"/>
              </a:xfrm>
              <a:prstGeom prst="rect">
                <a:avLst/>
              </a:prstGeom>
              <a:blipFill>
                <a:blip r:embed="rId5"/>
                <a:stretch>
                  <a:fillRect b="-4286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04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4191"/>
          <a:stretch/>
        </p:blipFill>
        <p:spPr>
          <a:xfrm>
            <a:off x="2313708" y="915605"/>
            <a:ext cx="911540" cy="2203764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xmlns="" id="{D6D133B6-FCC8-4C58-A203-3759379D37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63" t="10044" r="6469" b="9599"/>
          <a:stretch/>
        </p:blipFill>
        <p:spPr>
          <a:xfrm>
            <a:off x="8345660" y="1143528"/>
            <a:ext cx="3263240" cy="2355310"/>
          </a:xfrm>
          <a:prstGeom prst="rect">
            <a:avLst/>
          </a:prstGeom>
        </p:spPr>
      </p:pic>
      <p:sp>
        <p:nvSpPr>
          <p:cNvPr id="2" name="Google Shape;136;p21">
            <a:extLst>
              <a:ext uri="{FF2B5EF4-FFF2-40B4-BE49-F238E27FC236}">
                <a16:creationId xmlns:a16="http://schemas.microsoft.com/office/drawing/2014/main" xmlns="" id="{1E7CF083-A787-4F48-A93A-E44DFC78373A}"/>
              </a:ext>
            </a:extLst>
          </p:cNvPr>
          <p:cNvSpPr/>
          <p:nvPr/>
        </p:nvSpPr>
        <p:spPr>
          <a:xfrm>
            <a:off x="1619070" y="32347"/>
            <a:ext cx="8953860" cy="62364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Arial"/>
                <a:cs typeface="Times New Roman"/>
                <a:sym typeface="Times New Roman"/>
              </a:rPr>
              <a:t>Влияние вибрационных возмущений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3A8042C-E52E-4288-B49A-5DABBD83A1A0}"/>
              </a:ext>
            </a:extLst>
          </p:cNvPr>
          <p:cNvSpPr txBox="1"/>
          <p:nvPr/>
        </p:nvSpPr>
        <p:spPr>
          <a:xfrm>
            <a:off x="1633025" y="4793634"/>
            <a:ext cx="4928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Разность фаз между плечами интерферометра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C228A56-F53C-4040-AA74-A750668FC7D9}"/>
              </a:ext>
            </a:extLst>
          </p:cNvPr>
          <p:cNvSpPr txBox="1"/>
          <p:nvPr/>
        </p:nvSpPr>
        <p:spPr>
          <a:xfrm>
            <a:off x="7971039" y="75798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2361163" y="5213896"/>
                <a:ext cx="3198953" cy="36324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dirty="0" smtClean="0">
                          <a:latin typeface="Cambria Math" panose="02040503050406030204" pitchFamily="18" charset="0"/>
                          <a:sym typeface="Symbol"/>
                        </a:rPr>
                        <m:t></m:t>
                      </m:r>
                      <m:r>
                        <a:rPr lang="ru-RU" sz="1600" i="1" dirty="0" smtClean="0">
                          <a:latin typeface="Cambria Math" panose="02040503050406030204" pitchFamily="18" charset="0"/>
                        </a:rPr>
                        <m:t>Ф=</m:t>
                      </m:r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600" b="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ru-RU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Ф</m:t>
                          </m:r>
                        </m:e>
                        <m:sub>
                          <m:r>
                            <a:rPr lang="ru-RU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виб</m:t>
                          </m:r>
                        </m:sub>
                      </m:sSub>
                      <m:r>
                        <a:rPr lang="ru-RU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163" y="5213896"/>
                <a:ext cx="3198953" cy="363241"/>
              </a:xfrm>
              <a:prstGeom prst="rect">
                <a:avLst/>
              </a:prstGeom>
              <a:blipFill rotWithShape="0">
                <a:blip r:embed="rId5"/>
                <a:stretch>
                  <a:fillRect b="-5000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232454" y="5630107"/>
            <a:ext cx="41853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эффективное волновое число,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скорость чирпирования,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вибрационная фаза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139;p21">
            <a:extLst>
              <a:ext uri="{FF2B5EF4-FFF2-40B4-BE49-F238E27FC236}">
                <a16:creationId xmlns:a16="http://schemas.microsoft.com/office/drawing/2014/main" xmlns="" id="{B7A8C424-1497-4145-B7C5-C8EA445193E9}"/>
              </a:ext>
            </a:extLst>
          </p:cNvPr>
          <p:cNvSpPr txBox="1"/>
          <p:nvPr/>
        </p:nvSpPr>
        <p:spPr>
          <a:xfrm>
            <a:off x="901476" y="4182229"/>
            <a:ext cx="1079090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10. Демонстрация влияни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я вибраций зеркала на фазу лазерного излучения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иллюстрация принципа работы атомного интерферометра в гравитационном поле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(б),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демонстрация смешения интерференционной картины из-за вибрация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C7C7F885-9814-4E89-91F6-B6347CA79E74}"/>
              </a:ext>
            </a:extLst>
          </p:cNvPr>
          <p:cNvSpPr txBox="1"/>
          <p:nvPr/>
        </p:nvSpPr>
        <p:spPr>
          <a:xfrm>
            <a:off x="11571298" y="6440400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12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A6D079D9-E0B6-4B34-9A4C-E1FEA0DE601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614" t="4947" r="2762" b="4591"/>
          <a:stretch/>
        </p:blipFill>
        <p:spPr>
          <a:xfrm>
            <a:off x="4180898" y="1022063"/>
            <a:ext cx="3602192" cy="25034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C228A56-F53C-4040-AA74-A750668FC7D9}"/>
              </a:ext>
            </a:extLst>
          </p:cNvPr>
          <p:cNvSpPr txBox="1"/>
          <p:nvPr/>
        </p:nvSpPr>
        <p:spPr>
          <a:xfrm>
            <a:off x="1392699" y="768545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1F084374-756E-4C7D-93D4-4F9875A29030}"/>
                  </a:ext>
                </a:extLst>
              </p:cNvPr>
              <p:cNvSpPr txBox="1"/>
              <p:nvPr/>
            </p:nvSpPr>
            <p:spPr>
              <a:xfrm>
                <a:off x="2421985" y="2540296"/>
                <a:ext cx="27122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F084374-756E-4C7D-93D4-4F9875A29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985" y="2540296"/>
                <a:ext cx="271228" cy="246221"/>
              </a:xfrm>
              <a:prstGeom prst="rect">
                <a:avLst/>
              </a:prstGeom>
              <a:blipFill rotWithShape="0">
                <a:blip r:embed="rId7"/>
                <a:stretch>
                  <a:fillRect l="-15556" r="-6667"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75AB15FA-B823-45BE-9719-060BB92C4C75}"/>
                  </a:ext>
                </a:extLst>
              </p:cNvPr>
              <p:cNvSpPr txBox="1"/>
              <p:nvPr/>
            </p:nvSpPr>
            <p:spPr>
              <a:xfrm>
                <a:off x="2156394" y="3445722"/>
                <a:ext cx="1226168" cy="2659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ru-RU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AB15FA-B823-45BE-9719-060BB92C4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394" y="3445722"/>
                <a:ext cx="1226168" cy="265970"/>
              </a:xfrm>
              <a:prstGeom prst="rect">
                <a:avLst/>
              </a:prstGeom>
              <a:blipFill rotWithShape="0">
                <a:blip r:embed="rId8"/>
                <a:stretch>
                  <a:fillRect l="-2985" r="-995" b="-2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3DE66B3E-91DE-4731-B98D-DD8CA74B0925}"/>
              </a:ext>
            </a:extLst>
          </p:cNvPr>
          <p:cNvSpPr txBox="1"/>
          <p:nvPr/>
        </p:nvSpPr>
        <p:spPr>
          <a:xfrm>
            <a:off x="1920629" y="3097228"/>
            <a:ext cx="16976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Набег фазы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05B47A22-8C1F-491D-8F65-97B9F142E382}"/>
              </a:ext>
            </a:extLst>
          </p:cNvPr>
          <p:cNvSpPr txBox="1"/>
          <p:nvPr/>
        </p:nvSpPr>
        <p:spPr>
          <a:xfrm>
            <a:off x="3990271" y="768545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21842DF5-87AF-4AFA-A45C-0EC2908FA86D}"/>
                  </a:ext>
                </a:extLst>
              </p:cNvPr>
              <p:cNvSpPr txBox="1"/>
              <p:nvPr/>
            </p:nvSpPr>
            <p:spPr>
              <a:xfrm>
                <a:off x="9024213" y="3532336"/>
                <a:ext cx="2050754" cy="62632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  <m:t>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</a:rPr>
                            <m:t>Ф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1842DF5-87AF-4AFA-A45C-0EC2908FA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213" y="3532336"/>
                <a:ext cx="2050754" cy="62632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3A8042C-E52E-4288-B49A-5DABBD83A1A0}"/>
              </a:ext>
            </a:extLst>
          </p:cNvPr>
          <p:cNvSpPr txBox="1"/>
          <p:nvPr/>
        </p:nvSpPr>
        <p:spPr>
          <a:xfrm>
            <a:off x="8198288" y="4793634"/>
            <a:ext cx="2704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Нахождение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sz="1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656B4533-F1DA-4E4E-8C53-BCC6CEFB8E14}"/>
                  </a:ext>
                </a:extLst>
              </p:cNvPr>
              <p:cNvSpPr txBox="1"/>
              <p:nvPr/>
            </p:nvSpPr>
            <p:spPr>
              <a:xfrm>
                <a:off x="8090657" y="5158858"/>
                <a:ext cx="3269005" cy="33451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Ф</m:t>
                        </m:r>
                      </m:e>
                      <m:sub>
                        <m:r>
                          <a:rPr lang="ru-RU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виб</m:t>
                        </m:r>
                      </m:sub>
                    </m:sSub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nary>
                      <m:naryPr>
                        <m:ctrlP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u-RU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инт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ru-RU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  <m: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ru-RU" sz="1600" dirty="0"/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56B4533-F1DA-4E4E-8C53-BCC6CEFB8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0657" y="5158858"/>
                <a:ext cx="3269005" cy="334515"/>
              </a:xfrm>
              <a:prstGeom prst="rect">
                <a:avLst/>
              </a:prstGeom>
              <a:blipFill rotWithShape="0">
                <a:blip r:embed="rId10"/>
                <a:stretch>
                  <a:fillRect l="-2239" t="-140000" b="-220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E0F4C38C-6509-4CBE-B2EB-9C3DBDE6CBCF}"/>
              </a:ext>
            </a:extLst>
          </p:cNvPr>
          <p:cNvSpPr txBox="1"/>
          <p:nvPr/>
        </p:nvSpPr>
        <p:spPr>
          <a:xfrm>
            <a:off x="7375737" y="5630107"/>
            <a:ext cx="4698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ускорение зеркала,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время атомной интерференции,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чувствительность гравиметра. </a:t>
            </a:r>
          </a:p>
        </p:txBody>
      </p:sp>
    </p:spTree>
    <p:extLst>
      <p:ext uri="{BB962C8B-B14F-4D97-AF65-F5344CB8AC3E}">
        <p14:creationId xmlns:p14="http://schemas.microsoft.com/office/powerpoint/2010/main" val="3660272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0" y="841777"/>
            <a:ext cx="3106388" cy="2634532"/>
          </a:xfrm>
          <a:prstGeom prst="rect">
            <a:avLst/>
          </a:prstGeom>
        </p:spPr>
      </p:pic>
      <p:sp>
        <p:nvSpPr>
          <p:cNvPr id="2" name="Google Shape;136;p21">
            <a:extLst>
              <a:ext uri="{FF2B5EF4-FFF2-40B4-BE49-F238E27FC236}">
                <a16:creationId xmlns:a16="http://schemas.microsoft.com/office/drawing/2014/main" xmlns="" id="{535A5357-A41F-4385-8B97-66DA938677B8}"/>
              </a:ext>
            </a:extLst>
          </p:cNvPr>
          <p:cNvSpPr/>
          <p:nvPr/>
        </p:nvSpPr>
        <p:spPr>
          <a:xfrm>
            <a:off x="729552" y="100772"/>
            <a:ext cx="10324114" cy="48394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Arial"/>
                <a:cs typeface="Times New Roman"/>
                <a:sym typeface="Times New Roman"/>
              </a:rPr>
              <a:t>Экспериментальная схема компенсации вибрационных шумов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932C695-49B8-4572-9706-EB584FF3B2F0}"/>
              </a:ext>
            </a:extLst>
          </p:cNvPr>
          <p:cNvSpPr txBox="1"/>
          <p:nvPr/>
        </p:nvSpPr>
        <p:spPr>
          <a:xfrm>
            <a:off x="11591156" y="6446706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14</a:t>
            </a:r>
          </a:p>
        </p:txBody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xmlns="" id="{1B86CB88-0BFE-4864-B2EE-834FABF0D6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67" t="2852" r="3812" b="3862"/>
          <a:stretch/>
        </p:blipFill>
        <p:spPr>
          <a:xfrm>
            <a:off x="3301392" y="841777"/>
            <a:ext cx="4076117" cy="2870818"/>
          </a:xfrm>
          <a:prstGeom prst="rect">
            <a:avLst/>
          </a:prstGeom>
        </p:spPr>
      </p:pic>
      <p:sp>
        <p:nvSpPr>
          <p:cNvPr id="51" name="Google Shape;139;p21">
            <a:extLst>
              <a:ext uri="{FF2B5EF4-FFF2-40B4-BE49-F238E27FC236}">
                <a16:creationId xmlns:a16="http://schemas.microsoft.com/office/drawing/2014/main" xmlns="" id="{DB31045B-64E8-4C95-921F-4E6125B3101B}"/>
              </a:ext>
            </a:extLst>
          </p:cNvPr>
          <p:cNvSpPr txBox="1"/>
          <p:nvPr/>
        </p:nvSpPr>
        <p:spPr>
          <a:xfrm>
            <a:off x="569997" y="3969653"/>
            <a:ext cx="111377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11. Экспериментальная установка для измерения ускорения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 зеркала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(а)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Окно программы для управления сбора данных с акселерометра с помощью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Red pitaya (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б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):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сигнал акселерометра – синий, триггерный сигнал– красный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Демонстрация подбора коэффициентов передаточной функции и демонстрация пост-коррекции интерференционного сигнала (в).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C123148B-D47B-4EE9-816D-57391A88CB09}"/>
              </a:ext>
            </a:extLst>
          </p:cNvPr>
          <p:cNvSpPr txBox="1"/>
          <p:nvPr/>
        </p:nvSpPr>
        <p:spPr>
          <a:xfrm>
            <a:off x="2598548" y="4824882"/>
            <a:ext cx="2468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Передаточная функция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="" id="{54F217A7-8A53-4051-B61A-46EE6B6E7593}"/>
                  </a:ext>
                </a:extLst>
              </p:cNvPr>
              <p:cNvSpPr txBox="1"/>
              <p:nvPr/>
            </p:nvSpPr>
            <p:spPr>
              <a:xfrm>
                <a:off x="2949363" y="5252788"/>
                <a:ext cx="192514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4F217A7-8A53-4051-B61A-46EE6B6E7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363" y="5252788"/>
                <a:ext cx="1925142" cy="246221"/>
              </a:xfrm>
              <a:prstGeom prst="rect">
                <a:avLst/>
              </a:prstGeom>
              <a:blipFill>
                <a:blip r:embed="rId5"/>
                <a:stretch>
                  <a:fillRect l="-949" b="-7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74EEC305-5116-49C6-A223-32088B9EBA3B}"/>
              </a:ext>
            </a:extLst>
          </p:cNvPr>
          <p:cNvSpPr txBox="1"/>
          <p:nvPr/>
        </p:nvSpPr>
        <p:spPr>
          <a:xfrm>
            <a:off x="1962054" y="5591435"/>
            <a:ext cx="45519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ускорение зеркала,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ускорение акселерометра,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∆t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временная задержка сигнала,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амплитудный коэффициент.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Рисунок 64">
            <a:extLst>
              <a:ext uri="{FF2B5EF4-FFF2-40B4-BE49-F238E27FC236}">
                <a16:creationId xmlns:a16="http://schemas.microsoft.com/office/drawing/2014/main" xmlns="" id="{03EAB47F-A127-4F36-9FC1-BDC6A329A7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67" t="5015" r="1585" b="4990"/>
          <a:stretch/>
        </p:blipFill>
        <p:spPr>
          <a:xfrm>
            <a:off x="7402858" y="1389413"/>
            <a:ext cx="4788569" cy="1439260"/>
          </a:xfrm>
          <a:prstGeom prst="rect">
            <a:avLst/>
          </a:prstGeom>
        </p:spPr>
      </p:pic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xmlns="" id="{95661207-FD7C-4B8C-81F6-BA9919077A58}"/>
              </a:ext>
            </a:extLst>
          </p:cNvPr>
          <p:cNvCxnSpPr>
            <a:cxnSpLocks/>
          </p:cNvCxnSpPr>
          <p:nvPr/>
        </p:nvCxnSpPr>
        <p:spPr>
          <a:xfrm>
            <a:off x="8540620" y="1376142"/>
            <a:ext cx="25130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59144724-DE99-40F5-98CF-EB3900FD24E4}"/>
              </a:ext>
            </a:extLst>
          </p:cNvPr>
          <p:cNvSpPr txBox="1"/>
          <p:nvPr/>
        </p:nvSpPr>
        <p:spPr>
          <a:xfrm>
            <a:off x="7490493" y="997996"/>
            <a:ext cx="6574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подбора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K, </a:t>
            </a:r>
            <a:r>
              <a:rPr lang="el-G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пост-коррекции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C7485A22-BF4D-48AC-895F-DF74FD27014A}"/>
              </a:ext>
            </a:extLst>
          </p:cNvPr>
          <p:cNvSpPr txBox="1"/>
          <p:nvPr/>
        </p:nvSpPr>
        <p:spPr>
          <a:xfrm>
            <a:off x="2873322" y="544419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3ADBD3C2-D191-4F54-98DB-3146E94F5266}"/>
              </a:ext>
            </a:extLst>
          </p:cNvPr>
          <p:cNvSpPr txBox="1"/>
          <p:nvPr/>
        </p:nvSpPr>
        <p:spPr>
          <a:xfrm>
            <a:off x="52086" y="540754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D4BEB926-DBF2-4E58-9E83-99A4A921468F}"/>
              </a:ext>
            </a:extLst>
          </p:cNvPr>
          <p:cNvSpPr txBox="1"/>
          <p:nvPr/>
        </p:nvSpPr>
        <p:spPr>
          <a:xfrm>
            <a:off x="7377509" y="53800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C747BF1-D877-C44D-1A3D-9144D24233F7}"/>
              </a:ext>
            </a:extLst>
          </p:cNvPr>
          <p:cNvSpPr txBox="1"/>
          <p:nvPr/>
        </p:nvSpPr>
        <p:spPr>
          <a:xfrm>
            <a:off x="8066581" y="4910149"/>
            <a:ext cx="2704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Нахождение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sz="1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47BEAB4-D999-D846-EE9C-F090FA6F536A}"/>
                  </a:ext>
                </a:extLst>
              </p:cNvPr>
              <p:cNvSpPr txBox="1"/>
              <p:nvPr/>
            </p:nvSpPr>
            <p:spPr>
              <a:xfrm>
                <a:off x="7958950" y="5275373"/>
                <a:ext cx="3269005" cy="33451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Ф</m:t>
                        </m:r>
                      </m:e>
                      <m:sub>
                        <m:r>
                          <a:rPr lang="ru-RU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виб</m:t>
                        </m:r>
                      </m:sub>
                    </m:sSub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nary>
                      <m:naryPr>
                        <m:ctrlP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u-RU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инт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ru-RU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  <m: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ru-RU" sz="16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7BEAB4-D999-D846-EE9C-F090FA6F5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950" y="5275373"/>
                <a:ext cx="3269005" cy="334515"/>
              </a:xfrm>
              <a:prstGeom prst="rect">
                <a:avLst/>
              </a:prstGeom>
              <a:blipFill>
                <a:blip r:embed="rId7"/>
                <a:stretch>
                  <a:fillRect l="-2239" t="-140000" b="-220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EDDC6D4-77F4-B572-AD4A-BE90EC1E8615}"/>
              </a:ext>
            </a:extLst>
          </p:cNvPr>
          <p:cNvSpPr txBox="1"/>
          <p:nvPr/>
        </p:nvSpPr>
        <p:spPr>
          <a:xfrm>
            <a:off x="7244030" y="5746622"/>
            <a:ext cx="4698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ускорение зеркала,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время атомной интерференции,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чувствительность гравиметра. </a:t>
            </a:r>
          </a:p>
        </p:txBody>
      </p:sp>
    </p:spTree>
    <p:extLst>
      <p:ext uri="{BB962C8B-B14F-4D97-AF65-F5344CB8AC3E}">
        <p14:creationId xmlns:p14="http://schemas.microsoft.com/office/powerpoint/2010/main" val="1983370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xmlns="" id="{BD9BAB60-4C9B-A162-3711-B2619D94C0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1" t="2378" r="1029" b="1819"/>
          <a:stretch/>
        </p:blipFill>
        <p:spPr>
          <a:xfrm>
            <a:off x="957739" y="504140"/>
            <a:ext cx="10276522" cy="4092350"/>
          </a:xfrm>
          <a:prstGeom prst="rect">
            <a:avLst/>
          </a:prstGeom>
        </p:spPr>
      </p:pic>
      <p:sp>
        <p:nvSpPr>
          <p:cNvPr id="2" name="Google Shape;438;p41">
            <a:extLst>
              <a:ext uri="{FF2B5EF4-FFF2-40B4-BE49-F238E27FC236}">
                <a16:creationId xmlns:a16="http://schemas.microsoft.com/office/drawing/2014/main" xmlns="" id="{FD46C5F4-A971-4CA4-8EA1-62B295AC1E02}"/>
              </a:ext>
            </a:extLst>
          </p:cNvPr>
          <p:cNvSpPr/>
          <p:nvPr/>
        </p:nvSpPr>
        <p:spPr>
          <a:xfrm>
            <a:off x="1742753" y="74058"/>
            <a:ext cx="9169087" cy="35684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Результаты компенсации вибрационных шумов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CFBBB85-1DFE-4038-BF35-8451EAA57176}"/>
              </a:ext>
            </a:extLst>
          </p:cNvPr>
          <p:cNvSpPr txBox="1"/>
          <p:nvPr/>
        </p:nvSpPr>
        <p:spPr>
          <a:xfrm>
            <a:off x="394898" y="4553232"/>
            <a:ext cx="11370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Интерференционная картина до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после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компенсации вибрационных шумов.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04A0537-671D-4211-BE82-4434C00B09D1}"/>
              </a:ext>
            </a:extLst>
          </p:cNvPr>
          <p:cNvSpPr txBox="1"/>
          <p:nvPr/>
        </p:nvSpPr>
        <p:spPr>
          <a:xfrm>
            <a:off x="11591156" y="6446706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7F9714C1-0278-418E-9C5E-8C01C702F211}"/>
                  </a:ext>
                </a:extLst>
              </p:cNvPr>
              <p:cNvSpPr txBox="1"/>
              <p:nvPr/>
            </p:nvSpPr>
            <p:spPr>
              <a:xfrm>
                <a:off x="7994239" y="5336377"/>
                <a:ext cx="1832425" cy="3075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𝑔𝑒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=21 </m:t>
                      </m:r>
                      <m:r>
                        <a:rPr lang="ru-RU" sz="1600" b="0" i="1" smtClean="0">
                          <a:latin typeface="Cambria Math" panose="02040503050406030204" pitchFamily="18" charset="0"/>
                        </a:rPr>
                        <m:t>мГал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sz="1600" b="0" i="1" smtClean="0">
                              <a:latin typeface="Cambria Math" panose="02040503050406030204" pitchFamily="18" charset="0"/>
                            </a:rPr>
                            <m:t>Гц</m:t>
                          </m:r>
                        </m:e>
                      </m:ra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F9714C1-0278-418E-9C5E-8C01C702F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4239" y="5336377"/>
                <a:ext cx="1832425" cy="307585"/>
              </a:xfrm>
              <a:prstGeom prst="rect">
                <a:avLst/>
              </a:prstGeom>
              <a:blipFill rotWithShape="0">
                <a:blip r:embed="rId3"/>
                <a:stretch>
                  <a:fillRect l="-332" r="-2990" b="-196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AF027379-30AF-49FA-9C6A-2DC113651CF2}"/>
                  </a:ext>
                </a:extLst>
              </p:cNvPr>
              <p:cNvSpPr txBox="1"/>
              <p:nvPr/>
            </p:nvSpPr>
            <p:spPr>
              <a:xfrm>
                <a:off x="7994238" y="5707035"/>
                <a:ext cx="1842492" cy="3075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𝑔𝑝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ru-RU" sz="1600" b="0" i="1" smtClean="0">
                          <a:latin typeface="Cambria Math" panose="02040503050406030204" pitchFamily="18" charset="0"/>
                        </a:rPr>
                        <m:t>мГал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sz="1600" b="0" i="1" smtClean="0">
                              <a:latin typeface="Cambria Math" panose="02040503050406030204" pitchFamily="18" charset="0"/>
                            </a:rPr>
                            <m:t>Гц</m:t>
                          </m:r>
                        </m:e>
                      </m:ra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F027379-30AF-49FA-9C6A-2DC113651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4238" y="5707035"/>
                <a:ext cx="1842492" cy="307585"/>
              </a:xfrm>
              <a:prstGeom prst="rect">
                <a:avLst/>
              </a:prstGeom>
              <a:blipFill rotWithShape="0">
                <a:blip r:embed="rId4"/>
                <a:stretch>
                  <a:fillRect l="-330" r="-2640" b="-196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2067F7B2-4F17-4FA1-9BF5-0D4932780402}"/>
                  </a:ext>
                </a:extLst>
              </p:cNvPr>
              <p:cNvSpPr txBox="1"/>
              <p:nvPr/>
            </p:nvSpPr>
            <p:spPr>
              <a:xfrm>
                <a:off x="8541504" y="6087857"/>
                <a:ext cx="737894" cy="496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067F7B2-4F17-4FA1-9BF5-0D4932780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1504" y="6087857"/>
                <a:ext cx="737894" cy="496931"/>
              </a:xfrm>
              <a:prstGeom prst="rect">
                <a:avLst/>
              </a:prstGeom>
              <a:blipFill rotWithShape="0">
                <a:blip r:embed="rId5"/>
                <a:stretch>
                  <a:fillRect l="-2479" r="-4959" b="-1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137EB49-2938-48C8-976D-CD72A01DB3CB}"/>
              </a:ext>
            </a:extLst>
          </p:cNvPr>
          <p:cNvSpPr txBox="1"/>
          <p:nvPr/>
        </p:nvSpPr>
        <p:spPr>
          <a:xfrm>
            <a:off x="6327296" y="4965023"/>
            <a:ext cx="6392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Чувствительность гравиметра до и после пост-коррекции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21842DF5-87AF-4AFA-A45C-0EC2908FA86D}"/>
                  </a:ext>
                </a:extLst>
              </p:cNvPr>
              <p:cNvSpPr txBox="1"/>
              <p:nvPr/>
            </p:nvSpPr>
            <p:spPr>
              <a:xfrm>
                <a:off x="2547231" y="5643962"/>
                <a:ext cx="2050754" cy="62632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  <m:t>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</a:rPr>
                            <m:t>Ф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1842DF5-87AF-4AFA-A45C-0EC2908FA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231" y="5643962"/>
                <a:ext cx="2050754" cy="62632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65E1332E-B1D6-4008-82C1-20AC426FB8D6}"/>
                  </a:ext>
                </a:extLst>
              </p:cNvPr>
              <p:cNvSpPr txBox="1"/>
              <p:nvPr/>
            </p:nvSpPr>
            <p:spPr>
              <a:xfrm>
                <a:off x="1742753" y="5069326"/>
                <a:ext cx="3779419" cy="39709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dirty="0" smtClean="0">
                        <a:latin typeface="Cambria Math" panose="02040503050406030204" pitchFamily="18" charset="0"/>
                        <a:sym typeface="Symbol"/>
                      </a:rPr>
                      <m:t></m:t>
                    </m:r>
                    <m:r>
                      <a:rPr lang="ru-RU" sz="1800" i="1" dirty="0" smtClean="0">
                        <a:latin typeface="Cambria Math" panose="02040503050406030204" pitchFamily="18" charset="0"/>
                      </a:rPr>
                      <m:t>Ф=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Ф</m:t>
                        </m:r>
                      </m:e>
                      <m:sub>
                        <m:r>
                          <a:rPr lang="ru-RU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виб</m:t>
                        </m:r>
                      </m:sub>
                    </m:sSub>
                  </m:oMath>
                </a14:m>
                <a:endParaRPr lang="ru-RU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E1332E-B1D6-4008-82C1-20AC426FB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753" y="5069326"/>
                <a:ext cx="3779419" cy="397096"/>
              </a:xfrm>
              <a:prstGeom prst="rect">
                <a:avLst/>
              </a:prstGeom>
              <a:blipFill>
                <a:blip r:embed="rId7"/>
                <a:stretch>
                  <a:fillRect t="-4286" b="-12857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87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>
          <a:extLst>
            <a:ext uri="{FF2B5EF4-FFF2-40B4-BE49-F238E27FC236}">
              <a16:creationId xmlns:a16="http://schemas.microsoft.com/office/drawing/2014/main" xmlns="" id="{2A8D5B80-DE45-CA24-8AEC-F7F4E8ABF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3">
            <a:extLst>
              <a:ext uri="{FF2B5EF4-FFF2-40B4-BE49-F238E27FC236}">
                <a16:creationId xmlns:a16="http://schemas.microsoft.com/office/drawing/2014/main" xmlns="" id="{B766B388-3BEE-43F4-D3FB-320633F3096C}"/>
              </a:ext>
            </a:extLst>
          </p:cNvPr>
          <p:cNvSpPr/>
          <p:nvPr/>
        </p:nvSpPr>
        <p:spPr>
          <a:xfrm>
            <a:off x="2440631" y="32966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40;p8">
            <a:extLst>
              <a:ext uri="{FF2B5EF4-FFF2-40B4-BE49-F238E27FC236}">
                <a16:creationId xmlns:a16="http://schemas.microsoft.com/office/drawing/2014/main" xmlns="" id="{137E8DA9-8746-00A9-621F-685812E3E204}"/>
              </a:ext>
            </a:extLst>
          </p:cNvPr>
          <p:cNvSpPr txBox="1"/>
          <p:nvPr/>
        </p:nvSpPr>
        <p:spPr>
          <a:xfrm>
            <a:off x="1276347" y="887878"/>
            <a:ext cx="9239321" cy="43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</a:pPr>
            <a:endParaRPr lang="ru-RU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Выполнено моделирование оптической накачки через переход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∣F=1⟩↔∣F=0’⟩ 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на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</a:t>
            </a:r>
            <a:r>
              <a:rPr lang="en-US" sz="1800" baseline="-25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линии </a:t>
            </a:r>
            <a:r>
              <a:rPr lang="en-US" sz="1800" baseline="30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87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Rb.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Моделирование показало нагрев атомного облака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~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1 мкК, не оказывающий заметного паразитного влияния на </a:t>
            </a:r>
            <a:r>
              <a:rPr lang="ru-RU" sz="180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сигнал атомного 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гравиметра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</a:p>
          <a:p>
            <a:pPr marL="342900" indent="-342900" algn="just">
              <a:spcAft>
                <a:spcPts val="120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Проведено экспериментальное исследование по подготовке атомов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87Rb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в магнито-нечувствительное состояние. Достигнутая эффективность оптической накачки составила более 9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%, а нагрев всего лишь 1 мкК, что близко к результатам численного моделирования. Благодаря применению данного способа подготовки атомов в квантовом гравиметре продемонстрирована 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чувствительность около 5.2 мГал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/>
                <a:sym typeface="Times New Roman"/>
              </a:rPr>
              <a:t>/</a:t>
            </a: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Гц</a:t>
            </a:r>
            <a:r>
              <a:rPr lang="ru-RU" sz="18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8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/2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.</a:t>
            </a:r>
            <a:endParaRPr lang="ru-RU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just">
              <a:spcAft>
                <a:spcPts val="120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Реализована система пост-коррекции вибрационного шума для сигнала атомного интерферометра. Экспериментальная проверка данной системы привела к увеличению чувствительности гравиметра в два раза в условиях повышенных вибрационных возмущений.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6574AE1-2241-61BD-B020-065272383BFF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64780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0;p8">
            <a:extLst>
              <a:ext uri="{FF2B5EF4-FFF2-40B4-BE49-F238E27FC236}">
                <a16:creationId xmlns:a16="http://schemas.microsoft.com/office/drawing/2014/main" xmlns="" id="{29231A27-E450-41D8-A924-F74AF49F383D}"/>
              </a:ext>
            </a:extLst>
          </p:cNvPr>
          <p:cNvSpPr txBox="1"/>
          <p:nvPr/>
        </p:nvSpPr>
        <p:spPr>
          <a:xfrm>
            <a:off x="2108129" y="874495"/>
            <a:ext cx="8410322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Статьи:</a:t>
            </a: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Интерференция ультрахолодных атомов 87 Rb в квантовом гравиметре / Д. Н. Капуста, А. 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 Н. Гончаров [и др.]. — Текст : непосредственный // ЖЭТФ. — 2025. — № 1. — С. 47-54.</a:t>
            </a:r>
          </a:p>
        </p:txBody>
      </p:sp>
      <p:sp>
        <p:nvSpPr>
          <p:cNvPr id="4" name="Google Shape;340;p8">
            <a:extLst>
              <a:ext uri="{FF2B5EF4-FFF2-40B4-BE49-F238E27FC236}">
                <a16:creationId xmlns:a16="http://schemas.microsoft.com/office/drawing/2014/main" xmlns="" id="{29231A27-E450-41D8-A924-F74AF49F383D}"/>
              </a:ext>
            </a:extLst>
          </p:cNvPr>
          <p:cNvSpPr txBox="1"/>
          <p:nvPr/>
        </p:nvSpPr>
        <p:spPr>
          <a:xfrm>
            <a:off x="3781678" y="147329"/>
            <a:ext cx="8410322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ru-RU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Апробация результатов</a:t>
            </a:r>
          </a:p>
        </p:txBody>
      </p:sp>
      <p:sp>
        <p:nvSpPr>
          <p:cNvPr id="5" name="Google Shape;340;p8">
            <a:extLst>
              <a:ext uri="{FF2B5EF4-FFF2-40B4-BE49-F238E27FC236}">
                <a16:creationId xmlns:a16="http://schemas.microsoft.com/office/drawing/2014/main" xmlns="" id="{29231A27-E450-41D8-A924-F74AF49F383D}"/>
              </a:ext>
            </a:extLst>
          </p:cNvPr>
          <p:cNvSpPr txBox="1"/>
          <p:nvPr/>
        </p:nvSpPr>
        <p:spPr>
          <a:xfrm>
            <a:off x="2108129" y="1982450"/>
            <a:ext cx="8410322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Конференции</a:t>
            </a:r>
          </a:p>
          <a:p>
            <a:pPr marL="285750" lvl="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Д.Н. Капуста, А.Э.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А.Н. Гончаров, К.Н. Адамов, О.Н. Прудников, А.В.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Тайченачев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/ Интерференция ультрахолодных атомов 87Rb в квантовом гравиметре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Материалы конференции ФУХА-2024 (Новосибирск). – 2024 декабрь. – с. 29.</a:t>
            </a: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Д.Н. Капуста, А.Э.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А.Н. Гончаров, К.Н. Адамов, О.Н. Прудников, А.В.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Тайченачев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/ Интерференция ультрахолодных атомов 87Rb в квантовом гравиметре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Материалы конференции КВНО-2025 (Санкт-Петербург). – 2025 апрель.</a:t>
            </a: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Д.Н. Капуста, А.Э.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А.Н. Гончаров, К.Н. Адамов, О.Н. Прудников, А.В.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Тайченачев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/ Подготовка начального волнового пакета для квантового интерферометра-гравиметра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Материалы конференции МНСК-2025 (Новосибирск). – 2025 апрель.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836EB2D-2CF5-452C-9CE6-0A5E961FBED9}"/>
              </a:ext>
            </a:extLst>
          </p:cNvPr>
          <p:cNvSpPr txBox="1"/>
          <p:nvPr/>
        </p:nvSpPr>
        <p:spPr>
          <a:xfrm>
            <a:off x="11681925" y="6408575"/>
            <a:ext cx="553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8905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9"/>
          <p:cNvSpPr/>
          <p:nvPr/>
        </p:nvSpPr>
        <p:spPr>
          <a:xfrm>
            <a:off x="2640622" y="83724"/>
            <a:ext cx="6910755" cy="53931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Моделирование 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9"/>
          <p:cNvSpPr txBox="1"/>
          <p:nvPr/>
        </p:nvSpPr>
        <p:spPr>
          <a:xfrm>
            <a:off x="5847081" y="817199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</a:t>
            </a:r>
            <a:endParaRPr dirty="0"/>
          </a:p>
        </p:txBody>
      </p:sp>
      <p:sp>
        <p:nvSpPr>
          <p:cNvPr id="391" name="Google Shape;391;p39"/>
          <p:cNvSpPr txBox="1"/>
          <p:nvPr/>
        </p:nvSpPr>
        <p:spPr>
          <a:xfrm>
            <a:off x="5855796" y="1528092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</a:t>
            </a:r>
            <a:endParaRPr dirty="0"/>
          </a:p>
        </p:txBody>
      </p:sp>
      <p:sp>
        <p:nvSpPr>
          <p:cNvPr id="392" name="Google Shape;392;p39"/>
          <p:cNvSpPr txBox="1"/>
          <p:nvPr/>
        </p:nvSpPr>
        <p:spPr>
          <a:xfrm>
            <a:off x="5821509" y="2133478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</a:t>
            </a:r>
            <a:endParaRPr dirty="0"/>
          </a:p>
        </p:txBody>
      </p:sp>
      <p:sp>
        <p:nvSpPr>
          <p:cNvPr id="394" name="Google Shape;394;p39"/>
          <p:cNvSpPr txBox="1"/>
          <p:nvPr/>
        </p:nvSpPr>
        <p:spPr>
          <a:xfrm>
            <a:off x="4204746" y="6517813"/>
            <a:ext cx="63416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*F.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Atoneche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A.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Kastberg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European Journal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38.4, 045703 (2017).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98" name="Google Shape;398;p39"/>
          <p:cNvGrpSpPr/>
          <p:nvPr/>
        </p:nvGrpSpPr>
        <p:grpSpPr>
          <a:xfrm>
            <a:off x="8257414" y="1369553"/>
            <a:ext cx="2288943" cy="2386967"/>
            <a:chOff x="7675472" y="1286220"/>
            <a:chExt cx="2288943" cy="2386967"/>
          </a:xfrm>
        </p:grpSpPr>
        <p:cxnSp>
          <p:nvCxnSpPr>
            <p:cNvPr id="399" name="Google Shape;399;p39"/>
            <p:cNvCxnSpPr/>
            <p:nvPr/>
          </p:nvCxnSpPr>
          <p:spPr>
            <a:xfrm>
              <a:off x="7675472" y="3309245"/>
              <a:ext cx="927946" cy="1349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sp>
          <p:nvSpPr>
            <p:cNvPr id="400" name="Google Shape;400;p39"/>
            <p:cNvSpPr txBox="1"/>
            <p:nvPr/>
          </p:nvSpPr>
          <p:spPr>
            <a:xfrm>
              <a:off x="7973080" y="3365410"/>
              <a:ext cx="54186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r>
                <a:rPr lang="ru-RU" sz="1400" b="0" i="0" u="none" strike="noStrike" cap="none" baseline="-25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1" name="Google Shape;401;p39"/>
            <p:cNvCxnSpPr/>
            <p:nvPr/>
          </p:nvCxnSpPr>
          <p:spPr>
            <a:xfrm>
              <a:off x="9243498" y="2821794"/>
              <a:ext cx="49445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sp>
          <p:nvSpPr>
            <p:cNvPr id="402" name="Google Shape;402;p39"/>
            <p:cNvSpPr txBox="1"/>
            <p:nvPr/>
          </p:nvSpPr>
          <p:spPr>
            <a:xfrm>
              <a:off x="9342103" y="2845792"/>
              <a:ext cx="6223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r>
                <a:rPr lang="ru-RU" sz="1400" b="0" i="0" u="none" strike="noStrike" cap="none" baseline="-25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3" name="Google Shape;403;p39"/>
            <p:cNvCxnSpPr/>
            <p:nvPr/>
          </p:nvCxnSpPr>
          <p:spPr>
            <a:xfrm>
              <a:off x="8447631" y="1620378"/>
              <a:ext cx="49445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sp>
          <p:nvSpPr>
            <p:cNvPr id="404" name="Google Shape;404;p39"/>
            <p:cNvSpPr txBox="1"/>
            <p:nvPr/>
          </p:nvSpPr>
          <p:spPr>
            <a:xfrm>
              <a:off x="8560576" y="1286220"/>
              <a:ext cx="6223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ru-RU" sz="1400" b="0" i="0" u="none" strike="noStrike" cap="none" baseline="-25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5" name="Google Shape;405;p39"/>
            <p:cNvGrpSpPr/>
            <p:nvPr/>
          </p:nvGrpSpPr>
          <p:grpSpPr>
            <a:xfrm rot="1429140">
              <a:off x="8146741" y="1652422"/>
              <a:ext cx="0" cy="1623907"/>
              <a:chOff x="10160000" y="3429000"/>
              <a:chExt cx="0" cy="1623907"/>
            </a:xfrm>
          </p:grpSpPr>
          <p:cxnSp>
            <p:nvCxnSpPr>
              <p:cNvPr id="406" name="Google Shape;406;p39"/>
              <p:cNvCxnSpPr/>
              <p:nvPr/>
            </p:nvCxnSpPr>
            <p:spPr>
              <a:xfrm>
                <a:off x="10160000" y="4416213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dash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08" name="Google Shape;408;p39"/>
              <p:cNvCxnSpPr/>
              <p:nvPr/>
            </p:nvCxnSpPr>
            <p:spPr>
              <a:xfrm>
                <a:off x="10160000" y="3429000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09" name="Google Shape;409;p39"/>
            <p:cNvGrpSpPr/>
            <p:nvPr/>
          </p:nvGrpSpPr>
          <p:grpSpPr>
            <a:xfrm rot="-1879641">
              <a:off x="9249827" y="1651472"/>
              <a:ext cx="0" cy="1192945"/>
              <a:chOff x="10160000" y="3429000"/>
              <a:chExt cx="0" cy="1623907"/>
            </a:xfrm>
          </p:grpSpPr>
          <p:cxnSp>
            <p:nvCxnSpPr>
              <p:cNvPr id="410" name="Google Shape;410;p39"/>
              <p:cNvCxnSpPr/>
              <p:nvPr/>
            </p:nvCxnSpPr>
            <p:spPr>
              <a:xfrm>
                <a:off x="10160000" y="4416213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dash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12" name="Google Shape;412;p39"/>
              <p:cNvCxnSpPr/>
              <p:nvPr/>
            </p:nvCxnSpPr>
            <p:spPr>
              <a:xfrm>
                <a:off x="10160000" y="3429000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13" name="Google Shape;413;p39"/>
            <p:cNvGrpSpPr/>
            <p:nvPr/>
          </p:nvGrpSpPr>
          <p:grpSpPr>
            <a:xfrm rot="-10320581">
              <a:off x="8599830" y="1691863"/>
              <a:ext cx="0" cy="1529262"/>
              <a:chOff x="10160000" y="3429000"/>
              <a:chExt cx="0" cy="1623907"/>
            </a:xfrm>
          </p:grpSpPr>
          <p:cxnSp>
            <p:nvCxnSpPr>
              <p:cNvPr id="414" name="Google Shape;414;p39"/>
              <p:cNvCxnSpPr/>
              <p:nvPr/>
            </p:nvCxnSpPr>
            <p:spPr>
              <a:xfrm>
                <a:off x="10160000" y="4416213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16" name="Google Shape;416;p39"/>
              <p:cNvCxnSpPr/>
              <p:nvPr/>
            </p:nvCxnSpPr>
            <p:spPr>
              <a:xfrm>
                <a:off x="10160000" y="3429000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stealth" w="med" len="med"/>
                <a:tailEnd type="none" w="sm" len="sm"/>
              </a:ln>
            </p:spPr>
          </p:cxnSp>
        </p:grpSp>
      </p:grpSp>
      <p:sp>
        <p:nvSpPr>
          <p:cNvPr id="417" name="Google Shape;417;p39"/>
          <p:cNvSpPr txBox="1"/>
          <p:nvPr/>
        </p:nvSpPr>
        <p:spPr>
          <a:xfrm>
            <a:off x="7000673" y="3741252"/>
            <a:ext cx="48383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7. Принципиальная схема оптической накачки в магнито-нечувствительное состояние.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9"/>
          <p:cNvSpPr txBox="1"/>
          <p:nvPr/>
        </p:nvSpPr>
        <p:spPr>
          <a:xfrm>
            <a:off x="5807514" y="2815847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(4)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4F5967E-D4F9-4842-B0EB-39DB23D352F1}"/>
              </a:ext>
            </a:extLst>
          </p:cNvPr>
          <p:cNvSpPr txBox="1"/>
          <p:nvPr/>
        </p:nvSpPr>
        <p:spPr>
          <a:xfrm>
            <a:off x="8975152" y="2366927"/>
            <a:ext cx="1107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ru-RU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A5C2B33-9DCB-4AFD-A255-467C2A05B4AF}"/>
              </a:ext>
            </a:extLst>
          </p:cNvPr>
          <p:cNvSpPr txBox="1"/>
          <p:nvPr/>
        </p:nvSpPr>
        <p:spPr>
          <a:xfrm>
            <a:off x="8491886" y="2396931"/>
            <a:ext cx="927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⋅</a:t>
            </a:r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ru-RU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4531E132-C4B3-421F-ADA7-7C75D186F689}"/>
              </a:ext>
            </a:extLst>
          </p:cNvPr>
          <p:cNvSpPr txBox="1"/>
          <p:nvPr/>
        </p:nvSpPr>
        <p:spPr>
          <a:xfrm>
            <a:off x="9618412" y="2166485"/>
            <a:ext cx="927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⋅</a:t>
            </a:r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xmlns="" id="{29BE1B8A-953A-40F9-8B17-DD9A0A91F65D}"/>
                  </a:ext>
                </a:extLst>
              </p:cNvPr>
              <p:cNvSpPr txBox="1"/>
              <p:nvPr/>
            </p:nvSpPr>
            <p:spPr>
              <a:xfrm>
                <a:off x="867197" y="631446"/>
                <a:ext cx="1683184" cy="722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к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</m:e>
                      </m:nary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9BE1B8A-953A-40F9-8B17-DD9A0A91F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97" y="631446"/>
                <a:ext cx="1683184" cy="722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A9B134FA-BCAE-424B-8058-92E1B494C264}"/>
                  </a:ext>
                </a:extLst>
              </p:cNvPr>
              <p:cNvSpPr txBox="1"/>
              <p:nvPr/>
            </p:nvSpPr>
            <p:spPr>
              <a:xfrm>
                <a:off x="913918" y="2624514"/>
                <a:ext cx="4613300" cy="6904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𝑗𝑘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𝑛𝑘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𝑛𝑘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𝑛𝑘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9B134FA-BCAE-424B-8058-92E1B494C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918" y="2624514"/>
                <a:ext cx="4613300" cy="6904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9B3F2F19-6460-4369-BABA-AA6847BB5756}"/>
                  </a:ext>
                </a:extLst>
              </p:cNvPr>
              <p:cNvSpPr txBox="1"/>
              <p:nvPr/>
            </p:nvSpPr>
            <p:spPr>
              <a:xfrm>
                <a:off x="1021326" y="1391137"/>
                <a:ext cx="2450786" cy="774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Г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2∆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𝑗𝑘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Г</m:t>
                                          </m:r>
                                        </m:e>
                                        <m: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к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3F2F19-6460-4369-BABA-AA6847BB5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26" y="1391137"/>
                <a:ext cx="2450786" cy="7742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xmlns="" id="{02CB737A-7F63-452A-A4F0-ADB5F62E6118}"/>
                  </a:ext>
                </a:extLst>
              </p:cNvPr>
              <p:cNvSpPr txBox="1"/>
              <p:nvPr/>
            </p:nvSpPr>
            <p:spPr>
              <a:xfrm>
                <a:off x="689387" y="2135321"/>
                <a:ext cx="1557332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2CB737A-7F63-452A-A4F0-ADB5F62E6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87" y="2135321"/>
                <a:ext cx="1557332" cy="325089"/>
              </a:xfrm>
              <a:prstGeom prst="rect">
                <a:avLst/>
              </a:prstGeom>
              <a:blipFill>
                <a:blip r:embed="rId6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C1FFB71-6BBE-4169-8FB5-1E179654E9EC}"/>
              </a:ext>
            </a:extLst>
          </p:cNvPr>
          <p:cNvSpPr txBox="1"/>
          <p:nvPr/>
        </p:nvSpPr>
        <p:spPr>
          <a:xfrm>
            <a:off x="837021" y="4629134"/>
            <a:ext cx="47670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населённость нижнего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 уровня,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поглощения для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jk-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перехода,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относительная скорость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перехода,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естественная ширина линии,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показатель насыщения,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отстройка частоты излучения от частоты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перехода,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рассеяных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атомом фотонов,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ΔT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нагрев атома.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xmlns="" id="{DAE0082C-540F-46FC-9C43-AFAC0234EA26}"/>
                  </a:ext>
                </a:extLst>
              </p:cNvPr>
              <p:cNvSpPr txBox="1"/>
              <p:nvPr/>
            </p:nvSpPr>
            <p:spPr>
              <a:xfrm>
                <a:off x="514935" y="3342816"/>
                <a:ext cx="3131740" cy="740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nary>
                                <m:naryPr>
                                  <m:limLoc m:val="subSu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𝑛𝑘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e>
                              </m:nary>
                            </m:e>
                          </m:nary>
                          <m:r>
                            <a:rPr lang="ru-RU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E0082C-540F-46FC-9C43-AFAC0234E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35" y="3342816"/>
                <a:ext cx="3131740" cy="740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Google Shape;418;p39">
            <a:extLst>
              <a:ext uri="{FF2B5EF4-FFF2-40B4-BE49-F238E27FC236}">
                <a16:creationId xmlns:a16="http://schemas.microsoft.com/office/drawing/2014/main" xmlns="" id="{D2A9A03C-6C0A-4874-A8D5-6C3DFEA81824}"/>
              </a:ext>
            </a:extLst>
          </p:cNvPr>
          <p:cNvSpPr txBox="1"/>
          <p:nvPr/>
        </p:nvSpPr>
        <p:spPr>
          <a:xfrm>
            <a:off x="5821509" y="3559092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(5)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xmlns="" id="{056F8552-3D85-40B7-B09A-9E64C1933AB2}"/>
                  </a:ext>
                </a:extLst>
              </p:cNvPr>
              <p:cNvSpPr txBox="1"/>
              <p:nvPr/>
            </p:nvSpPr>
            <p:spPr>
              <a:xfrm>
                <a:off x="541902" y="4093857"/>
                <a:ext cx="2333774" cy="524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hk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6F8552-3D85-40B7-B09A-9E64C1933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02" y="4093857"/>
                <a:ext cx="2333774" cy="524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Google Shape;418;p39">
            <a:extLst>
              <a:ext uri="{FF2B5EF4-FFF2-40B4-BE49-F238E27FC236}">
                <a16:creationId xmlns:a16="http://schemas.microsoft.com/office/drawing/2014/main" xmlns="" id="{D9E07F0D-D8D6-4961-B75B-70C78DAB38E6}"/>
              </a:ext>
            </a:extLst>
          </p:cNvPr>
          <p:cNvSpPr txBox="1"/>
          <p:nvPr/>
        </p:nvSpPr>
        <p:spPr>
          <a:xfrm>
            <a:off x="5810691" y="4202251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(6)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D1D74A28-7D6C-4CFE-ADD8-63365A444680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8;p41">
            <a:extLst>
              <a:ext uri="{FF2B5EF4-FFF2-40B4-BE49-F238E27FC236}">
                <a16:creationId xmlns:a16="http://schemas.microsoft.com/office/drawing/2014/main" xmlns="" id="{52BC617F-5E2D-4580-9506-94A652B0244A}"/>
              </a:ext>
            </a:extLst>
          </p:cNvPr>
          <p:cNvSpPr/>
          <p:nvPr/>
        </p:nvSpPr>
        <p:spPr>
          <a:xfrm>
            <a:off x="2456856" y="56641"/>
            <a:ext cx="6910755" cy="35684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Функция чувствительности гравиметра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45930" y="928144"/>
                <a:ext cx="3087897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nary>
                      <m:naryPr>
                        <m:ctrlP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+4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  <m:e>
                        <m:sSub>
                          <m:sSubPr>
                            <m:ctrlPr>
                              <a:rPr lang="ru-RU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ru-RU" sz="1800" dirty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930" y="928144"/>
                <a:ext cx="3087897" cy="376321"/>
              </a:xfrm>
              <a:prstGeom prst="rect">
                <a:avLst/>
              </a:prstGeom>
              <a:blipFill>
                <a:blip r:embed="rId2"/>
                <a:stretch>
                  <a:fillRect l="-2767" t="-141935" b="-222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3815591" y="1279536"/>
            <a:ext cx="44065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между рамановскими импульсами,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длительность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импульса,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чувствительность гравиметра для ускорения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820395" y="2664744"/>
                <a:ext cx="6055889" cy="2943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800" b="0" i="1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 &lt;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m:rPr>
                                  <m:nor/>
                                </m:rPr>
                                <a:rPr lang="ru-RU" sz="1800" dirty="0"/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1800" i="1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1800" i="1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≤4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395" y="2664744"/>
                <a:ext cx="6055889" cy="29434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912398" y="5725619"/>
            <a:ext cx="4406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30226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6139</TotalTime>
  <Words>1620</Words>
  <Application>Microsoft Office PowerPoint</Application>
  <PresentationFormat>Широкоэкранный</PresentationFormat>
  <Paragraphs>282</Paragraphs>
  <Slides>20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 Math</vt:lpstr>
      <vt:lpstr>Century Gothic</vt:lpstr>
      <vt:lpstr>Symbol</vt:lpstr>
      <vt:lpstr>Tahoma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kilrealladam@gmail.com</dc:creator>
  <cp:lastModifiedBy>Макаров Антон Олегович</cp:lastModifiedBy>
  <cp:revision>312</cp:revision>
  <dcterms:created xsi:type="dcterms:W3CDTF">2023-12-21T05:49:20Z</dcterms:created>
  <dcterms:modified xsi:type="dcterms:W3CDTF">2025-11-12T07:34:18Z</dcterms:modified>
</cp:coreProperties>
</file>