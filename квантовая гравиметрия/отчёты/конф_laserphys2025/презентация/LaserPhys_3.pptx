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05" r:id="rId2"/>
    <p:sldId id="306" r:id="rId3"/>
    <p:sldId id="307" r:id="rId4"/>
    <p:sldId id="258" r:id="rId5"/>
    <p:sldId id="308" r:id="rId6"/>
    <p:sldId id="259" r:id="rId7"/>
    <p:sldId id="292" r:id="rId8"/>
    <p:sldId id="312" r:id="rId9"/>
    <p:sldId id="261" r:id="rId10"/>
    <p:sldId id="302" r:id="rId11"/>
    <p:sldId id="318" r:id="rId12"/>
    <p:sldId id="297" r:id="rId13"/>
    <p:sldId id="268" r:id="rId14"/>
    <p:sldId id="298" r:id="rId15"/>
    <p:sldId id="303" r:id="rId16"/>
    <p:sldId id="313" r:id="rId17"/>
    <p:sldId id="314" r:id="rId18"/>
    <p:sldId id="315" r:id="rId19"/>
    <p:sldId id="316" r:id="rId20"/>
    <p:sldId id="317" r:id="rId21"/>
    <p:sldId id="309" r:id="rId22"/>
    <p:sldId id="310" r:id="rId23"/>
    <p:sldId id="270" r:id="rId24"/>
    <p:sldId id="296" r:id="rId25"/>
    <p:sldId id="266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5" roundtripDataSignature="AMtx7mhBqtUg9D33KGP93h8hXToFf3vrqg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ilrealladam@gmail.com" initials="k" lastIdx="1" clrIdx="0">
    <p:extLst>
      <p:ext uri="{19B8F6BF-5375-455C-9EA6-DF929625EA0E}">
        <p15:presenceInfo xmlns:p15="http://schemas.microsoft.com/office/powerpoint/2012/main" userId="06abd9abe9dc439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F9F"/>
    <a:srgbClr val="FF5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55" autoAdjust="0"/>
    <p:restoredTop sz="94131" autoAdjust="0"/>
  </p:normalViewPr>
  <p:slideViewPr>
    <p:cSldViewPr snapToGrid="0">
      <p:cViewPr>
        <p:scale>
          <a:sx n="100" d="100"/>
          <a:sy n="100" d="100"/>
        </p:scale>
        <p:origin x="1146" y="29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5" Type="http://customschemas.google.com/relationships/presentationmetadata" Target="metadata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="" xmlns:a16="http://schemas.microsoft.com/office/drawing/2014/main" id="{53C5C78D-3493-4AB6-B6C4-71977B81EE7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="" xmlns:a16="http://schemas.microsoft.com/office/drawing/2014/main" id="{3349AD0A-FD81-4209-B751-6B835D3BD58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7F42C-05F7-408C-B103-96C0C10292EF}" type="datetimeFigureOut">
              <a:rPr lang="ru-RU" smtClean="0"/>
              <a:t>10.11.2025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="" xmlns:a16="http://schemas.microsoft.com/office/drawing/2014/main" id="{C77F5D0C-A26F-41B4-A78D-D513AA88C0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="" xmlns:a16="http://schemas.microsoft.com/office/drawing/2014/main" id="{77CC604D-54B8-4AC3-A942-D3AE589051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61B033-AC90-43D5-B19D-E9E15640301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40203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68492247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801561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06328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46886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ru-RU"/>
              <a:t>Корректировки:</a:t>
            </a:r>
            <a:br>
              <a:rPr lang="ru-RU"/>
            </a:br>
            <a:r>
              <a:rPr lang="ru-RU"/>
              <a:t>1. Много текста</a:t>
            </a:r>
            <a:endParaRPr/>
          </a:p>
        </p:txBody>
      </p:sp>
      <p:sp>
        <p:nvSpPr>
          <p:cNvPr id="184" name="Google Shape;18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075839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4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417572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86010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5868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3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3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4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15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5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7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9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0" name="Google Shape;70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20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Титульный слайд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0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0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379879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9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3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28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30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0.png"/><Relationship Id="rId3" Type="http://schemas.openxmlformats.org/officeDocument/2006/relationships/image" Target="../media/image100.png"/><Relationship Id="rId7" Type="http://schemas.openxmlformats.org/officeDocument/2006/relationships/image" Target="../media/image1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Relationship Id="rId4" Type="http://schemas.openxmlformats.org/officeDocument/2006/relationships/image" Target="../media/image1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"/>
          <p:cNvSpPr txBox="1"/>
          <p:nvPr/>
        </p:nvSpPr>
        <p:spPr>
          <a:xfrm>
            <a:off x="880131" y="3185368"/>
            <a:ext cx="10362068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2400" b="0" i="0" u="sng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К.Н. Адамов</a:t>
            </a:r>
            <a:r>
              <a:rPr lang="ru-RU" sz="24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Д.Н. Капуста</a:t>
            </a:r>
            <a:r>
              <a:rPr lang="ru-RU" sz="24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</a:t>
            </a:r>
            <a:r>
              <a:rPr lang="ru-RU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А.Э.Бонерт</a:t>
            </a:r>
            <a:r>
              <a:rPr lang="ru-RU" sz="24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А.Н. Гончаров</a:t>
            </a:r>
            <a:r>
              <a:rPr lang="ru-RU" sz="2400" b="0" i="0" u="none" strike="noStrike" cap="none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1,2,3</a:t>
            </a:r>
            <a:endParaRPr sz="2400" b="0" i="0" u="sng" strike="noStrike" cap="none" baseline="30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"/>
          <p:cNvSpPr txBox="1"/>
          <p:nvPr/>
        </p:nvSpPr>
        <p:spPr>
          <a:xfrm>
            <a:off x="-55685" y="1042072"/>
            <a:ext cx="1230337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ru-RU" sz="32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Подготовка начального волнового пакета для квантового интерферометра-гравиметра</a:t>
            </a:r>
            <a:endParaRPr sz="3200" b="1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4156140" y="80866"/>
            <a:ext cx="4149011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Институт лазерной физики СО РАН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Новосибирск, Россия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2720805" y="3737956"/>
            <a:ext cx="7850156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ru-RU" sz="1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Институт лазерной физики СО РАН, Новосибирск, Россия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ru-RU" sz="1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Новосибирский государственный университет, Новосибирск, Россия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1" u="none" strike="noStrike" cap="none" baseline="30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ru-RU" sz="1600" b="0" i="1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Новосибирский государственный технический университет, Новосибирск, Россия</a:t>
            </a:r>
            <a:endParaRPr sz="1600" b="0" i="1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261256" y="5984033"/>
            <a:ext cx="3097763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email: ofadamovkirill@gmail.com</a:t>
            </a: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892256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2549" y="104154"/>
            <a:ext cx="788996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Содержание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Введение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Общие принципы работы квантового гравиметра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оптической </a:t>
            </a: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накачки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Исследование по компенсации вибрационных шумов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3970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94;p16">
            <a:extLst>
              <a:ext uri="{FF2B5EF4-FFF2-40B4-BE49-F238E27FC236}">
                <a16:creationId xmlns="" xmlns:a16="http://schemas.microsoft.com/office/drawing/2014/main" id="{C5767328-1785-46B5-813F-A312F3382CC4}"/>
              </a:ext>
            </a:extLst>
          </p:cNvPr>
          <p:cNvSpPr/>
          <p:nvPr/>
        </p:nvSpPr>
        <p:spPr>
          <a:xfrm>
            <a:off x="2495423" y="44900"/>
            <a:ext cx="6910755" cy="3541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Введение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3704031" y="6395583"/>
            <a:ext cx="449353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buSzPts val="1600"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Табл. 1. Типы гравиметров и их характеристики.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593EC11A-A157-487D-ADF7-8A978D0305FA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10262367" y="44900"/>
            <a:ext cx="16193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</a:t>
            </a:r>
            <a:r>
              <a:rPr lang="ru-RU" sz="180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Гал</a:t>
            </a:r>
            <a:r>
              <a:rPr lang="ru-RU" sz="1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1 см</a:t>
            </a:r>
            <a:r>
              <a:rPr lang="en-US" sz="18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/c</a:t>
            </a:r>
            <a:r>
              <a:rPr lang="en-US" sz="1800" baseline="300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lang="ru-RU" sz="1800" baseline="30000" dirty="0">
              <a:solidFill>
                <a:srgbClr val="FF0000"/>
              </a:solidFill>
            </a:endParaRPr>
          </a:p>
        </p:txBody>
      </p:sp>
      <p:graphicFrame>
        <p:nvGraphicFramePr>
          <p:cNvPr id="15" name="Таблица 14">
            <a:extLst>
              <a:ext uri="{FF2B5EF4-FFF2-40B4-BE49-F238E27FC236}">
                <a16:creationId xmlns="" xmlns:a16="http://schemas.microsoft.com/office/drawing/2014/main" id="{7088C13C-1B02-440F-93B7-1757D68623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562631"/>
              </p:ext>
            </p:extLst>
          </p:nvPr>
        </p:nvGraphicFramePr>
        <p:xfrm>
          <a:off x="675669" y="2325380"/>
          <a:ext cx="10490925" cy="37907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038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94701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201509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304074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12593">
                <a:tc>
                  <a:txBody>
                    <a:bodyPr/>
                    <a:lstStyle/>
                    <a:p>
                      <a:pPr algn="ctr"/>
                      <a:r>
                        <a:rPr lang="ru-RU" sz="1800" b="1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Типы гравиметров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Относительные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Абсолютные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02609"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Виды гравиметров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Сверхпроводниковые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Баллистические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i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Квантовые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00178">
                <a:tc>
                  <a:txBody>
                    <a:bodyPr/>
                    <a:lstStyle/>
                    <a:p>
                      <a:pPr algn="ctr"/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Чувствительность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нГал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√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Гц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 мкГал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√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Гц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 мкГал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√</a:t>
                      </a:r>
                      <a:r>
                        <a:rPr lang="ru-RU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  <a:sym typeface="Arial"/>
                        </a:rPr>
                        <a:t>Гц</a:t>
                      </a:r>
                      <a:r>
                        <a:rPr lang="ru-RU" b="0" baseline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00178">
                <a:tc>
                  <a:txBody>
                    <a:bodyPr/>
                    <a:lstStyle/>
                    <a:p>
                      <a:pPr algn="ctr"/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Стабильность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нГал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 мкГал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 мкГал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80599">
                <a:tc>
                  <a:txBody>
                    <a:bodyPr/>
                    <a:lstStyle/>
                    <a:p>
                      <a:pPr algn="ctr"/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Точность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</a:t>
                      </a:r>
                      <a:r>
                        <a:rPr lang="ru-RU" b="0" dirty="0" err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нГал</a:t>
                      </a:r>
                      <a:endParaRPr lang="ru-RU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мкГал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0.39 мкГал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10096">
                <a:tc>
                  <a:txBody>
                    <a:bodyPr/>
                    <a:lstStyle/>
                    <a:p>
                      <a:pPr algn="ctr"/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Дрейф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мкГал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год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отсутствует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отсутствует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38059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Необходимость калибровки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Есть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нет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3471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Частота опроса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1000 Гц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 Гц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 smtClean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2</a:t>
                      </a:r>
                      <a:r>
                        <a:rPr lang="ru-RU" sz="1400" dirty="0" smtClean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 </a:t>
                      </a:r>
                      <a:r>
                        <a:rPr lang="ru-RU" sz="14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Гц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34718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600" b="0" u="sng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Подвижные элементы в конструкции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Присутствуют, не являются проблемой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b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Присутствуют, ограничивают частоту опроса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dirty="0">
                          <a:latin typeface="Times New Roman" panose="02020603050405020304" pitchFamily="18" charset="0"/>
                          <a:ea typeface="Times New Roman"/>
                          <a:cs typeface="Times New Roman" panose="02020603050405020304" pitchFamily="18" charset="0"/>
                          <a:sym typeface="Times New Roman"/>
                        </a:rPr>
                        <a:t>Отсутствуют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142304434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566304"/>
              </p:ext>
            </p:extLst>
          </p:nvPr>
        </p:nvGraphicFramePr>
        <p:xfrm>
          <a:off x="1231848" y="972214"/>
          <a:ext cx="9728304" cy="949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1384"/>
                <a:gridCol w="1621384"/>
                <a:gridCol w="1621384"/>
                <a:gridCol w="1621384"/>
                <a:gridCol w="1621384"/>
                <a:gridCol w="1621384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Факторы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Локальные</a:t>
                      </a:r>
                      <a:r>
                        <a:rPr lang="ru-RU" sz="16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аномалии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Давление</a:t>
                      </a:r>
                      <a:r>
                        <a:rPr lang="ru-RU" sz="16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воздуха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Приливы</a:t>
                      </a:r>
                      <a:r>
                        <a:rPr lang="ru-RU" sz="16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 отливы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Сезонные</a:t>
                      </a:r>
                      <a:r>
                        <a:rPr lang="ru-RU" sz="1600" b="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изменения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Дрейф</a:t>
                      </a:r>
                      <a:endParaRPr lang="ru-RU" sz="1600" b="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Влияние</a:t>
                      </a:r>
                      <a:endParaRPr lang="ru-RU" sz="16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 мкГал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</a:t>
                      </a:r>
                      <a:r>
                        <a:rPr lang="en-US" sz="16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250-300 </a:t>
                      </a:r>
                      <a:r>
                        <a:rPr lang="ru-RU" sz="16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мкГал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aseline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30 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мкГал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 </a:t>
                      </a:r>
                      <a:r>
                        <a:rPr lang="ru-RU" sz="16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мкГал</a:t>
                      </a:r>
                      <a:endParaRPr lang="ru-RU" sz="16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01771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"/>
          <p:cNvSpPr txBox="1"/>
          <p:nvPr/>
        </p:nvSpPr>
        <p:spPr>
          <a:xfrm>
            <a:off x="1187629" y="5980125"/>
            <a:ext cx="4038192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1. Принципиальная схема работы абсолютного атомного гравиметра.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" name="Google Shape;135;p3"/>
          <p:cNvSpPr/>
          <p:nvPr/>
        </p:nvSpPr>
        <p:spPr>
          <a:xfrm>
            <a:off x="2504131" y="94718"/>
            <a:ext cx="6910755" cy="47118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гравиметра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6096000" y="1658031"/>
            <a:ext cx="580151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ru-RU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</a:t>
            </a:r>
            <a:r>
              <a:rPr lang="ru-RU" sz="2000" b="1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оследовательность</a:t>
            </a:r>
            <a:r>
              <a:rPr lang="ru-RU" sz="20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работы гравиметра:</a:t>
            </a:r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Магнито-оптическая ловушка (МОЛ)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Субдоплеровское охлаждение</a:t>
            </a:r>
            <a:endParaRPr lang="ru-RU"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Подготовка начального атомного волнового пакета</a:t>
            </a: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томная интерференция</a:t>
            </a: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Char char="-"/>
            </a:pPr>
            <a:r>
              <a:rPr lang="ru-RU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Детектирование</a:t>
            </a:r>
            <a:endParaRPr sz="18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12768A1C-0EF5-462D-9F3E-871D6D7DCD89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</a:t>
            </a:r>
            <a:endParaRPr lang="ru-RU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9" y="742950"/>
            <a:ext cx="4552950" cy="5372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6;p21">
            <a:extLst>
              <a:ext uri="{FF2B5EF4-FFF2-40B4-BE49-F238E27FC236}">
                <a16:creationId xmlns="" xmlns:a16="http://schemas.microsoft.com/office/drawing/2014/main" id="{1E7CF083-A787-4F48-A93A-E44DFC78373A}"/>
              </a:ext>
            </a:extLst>
          </p:cNvPr>
          <p:cNvSpPr/>
          <p:nvPr/>
        </p:nvSpPr>
        <p:spPr>
          <a:xfrm>
            <a:off x="1619070" y="32347"/>
            <a:ext cx="8953860" cy="62364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Принцип работы атомного интерферометра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3A8042C-E52E-4288-B49A-5DABBD83A1A0}"/>
              </a:ext>
            </a:extLst>
          </p:cNvPr>
          <p:cNvSpPr txBox="1"/>
          <p:nvPr/>
        </p:nvSpPr>
        <p:spPr>
          <a:xfrm>
            <a:off x="3263753" y="3692162"/>
            <a:ext cx="5862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Разность фаз между плечами интерферометра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3901" y="807974"/>
            <a:ext cx="3392671" cy="288418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="" xmlns:a16="http://schemas.microsoft.com/office/drawing/2014/main" id="{5B363D8B-4970-43DE-BCF6-8B91DEC4358D}"/>
              </a:ext>
            </a:extLst>
          </p:cNvPr>
          <p:cNvSpPr txBox="1"/>
          <p:nvPr/>
        </p:nvSpPr>
        <p:spPr>
          <a:xfrm>
            <a:off x="522248" y="655990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C228A56-F53C-4040-AA74-A750668FC7D9}"/>
              </a:ext>
            </a:extLst>
          </p:cNvPr>
          <p:cNvSpPr txBox="1"/>
          <p:nvPr/>
        </p:nvSpPr>
        <p:spPr>
          <a:xfrm>
            <a:off x="3209143" y="655990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FC228A56-F53C-4040-AA74-A750668FC7D9}"/>
              </a:ext>
            </a:extLst>
          </p:cNvPr>
          <p:cNvSpPr txBox="1"/>
          <p:nvPr/>
        </p:nvSpPr>
        <p:spPr>
          <a:xfrm>
            <a:off x="8178782" y="655990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4290609" y="4239173"/>
                <a:ext cx="2647969" cy="39709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dirty="0" smtClean="0">
                          <a:latin typeface="Cambria Math" panose="02040503050406030204" pitchFamily="18" charset="0"/>
                          <a:sym typeface="Symbol"/>
                        </a:rPr>
                        <m:t></m:t>
                      </m:r>
                      <m:r>
                        <a:rPr lang="ru-RU" sz="1800" i="1" dirty="0" smtClean="0">
                          <a:latin typeface="Cambria Math" panose="02040503050406030204" pitchFamily="18" charset="0"/>
                        </a:rPr>
                        <m:t>Ф=</m:t>
                      </m:r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0609" y="4239173"/>
                <a:ext cx="2647969" cy="397096"/>
              </a:xfrm>
              <a:prstGeom prst="rect">
                <a:avLst/>
              </a:prstGeom>
              <a:blipFill rotWithShape="0">
                <a:blip r:embed="rId5"/>
                <a:stretch>
                  <a:fillRect b="-4225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4287332" y="4742630"/>
            <a:ext cx="41853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b="1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k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-k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эффективный волновой вектор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53A8042C-E52E-4288-B49A-5DABBD83A1A0}"/>
              </a:ext>
            </a:extLst>
          </p:cNvPr>
          <p:cNvSpPr txBox="1"/>
          <p:nvPr/>
        </p:nvSpPr>
        <p:spPr>
          <a:xfrm>
            <a:off x="8258681" y="3692162"/>
            <a:ext cx="586283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Населённость атомных состояний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9018537" y="4128662"/>
                <a:ext cx="1937582" cy="618118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  <a:sym typeface="Symbol"/>
                            </a:rPr>
                            <m:t>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</a:rPr>
                            <m:t>Ф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8537" y="4128662"/>
                <a:ext cx="1937582" cy="618118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Google Shape;139;p21">
            <a:extLst>
              <a:ext uri="{FF2B5EF4-FFF2-40B4-BE49-F238E27FC236}">
                <a16:creationId xmlns="" xmlns:a16="http://schemas.microsoft.com/office/drawing/2014/main" id="{B7A8C424-1497-4145-B7C5-C8EA445193E9}"/>
              </a:ext>
            </a:extLst>
          </p:cNvPr>
          <p:cNvSpPr txBox="1"/>
          <p:nvPr/>
        </p:nvSpPr>
        <p:spPr>
          <a:xfrm>
            <a:off x="608506" y="5581427"/>
            <a:ext cx="10790908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600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2.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Схема переходов в </a:t>
            </a:r>
            <a:r>
              <a:rPr lang="en-US" sz="1600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Rb,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используемых для атомной интерференции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иллюстрация принципа работы атомного интерферометра в гравитационном поле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(б),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зависимость величины интерференционного сигнала от скорости чирпирования </a:t>
            </a:r>
            <a:r>
              <a:rPr lang="el-GR" sz="1600" dirty="0">
                <a:latin typeface="Times New Roman"/>
                <a:ea typeface="Times New Roman"/>
                <a:cs typeface="Times New Roman"/>
                <a:sym typeface="Times New Roman"/>
              </a:rPr>
              <a:t>α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Прямоугольник 20"/>
          <p:cNvSpPr/>
          <p:nvPr/>
        </p:nvSpPr>
        <p:spPr>
          <a:xfrm>
            <a:off x="182296" y="3692162"/>
            <a:ext cx="267573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Чирпирование частоты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466405" y="4239173"/>
                <a:ext cx="1791196" cy="36933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dirty="0" smtClean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ru-RU" sz="1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sym typeface="Symbol"/>
                            </a:rPr>
                            <m:t>𝑅</m:t>
                          </m:r>
                        </m:sub>
                      </m:sSub>
                      <m:r>
                        <a:rPr lang="en-US" sz="1800" b="0" i="1" dirty="0" smtClean="0">
                          <a:latin typeface="Cambria Math" panose="02040503050406030204" pitchFamily="18" charset="0"/>
                          <a:sym typeface="Symbol"/>
                        </a:rPr>
                        <m:t>=</m:t>
                      </m:r>
                      <m:sSub>
                        <m:sSubPr>
                          <m:ctrlPr>
                            <a:rPr lang="ru-RU" sz="1800" i="1" dirty="0">
                              <a:latin typeface="Cambria Math" panose="02040503050406030204" pitchFamily="18" charset="0"/>
                              <a:sym typeface="Symbol"/>
                            </a:rPr>
                          </m:ctrlPr>
                        </m:sSubPr>
                        <m:e>
                          <m:r>
                            <a:rPr lang="ru-RU" sz="1800" i="1" dirty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/>
                            </a:rPr>
                            <m:t>𝛿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sym typeface="Symbol"/>
                            </a:rPr>
                            <m:t>0</m:t>
                          </m:r>
                        </m:sub>
                      </m:sSub>
                      <m:r>
                        <a:rPr lang="en-US" sz="1800" b="0" i="1" dirty="0" smtClean="0">
                          <a:latin typeface="Cambria Math" panose="02040503050406030204" pitchFamily="18" charset="0"/>
                          <a:sym typeface="Symbol"/>
                        </a:rPr>
                        <m:t>+2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/>
                        </a:rPr>
                        <m:t>𝜋𝛼</m:t>
                      </m:r>
                      <m:r>
                        <a:rPr lang="en-US" sz="18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sym typeface="Symbol"/>
                        </a:rPr>
                        <m:t>𝑡</m:t>
                      </m:r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405" y="4239173"/>
                <a:ext cx="1791196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Box 23"/>
          <p:cNvSpPr txBox="1"/>
          <p:nvPr/>
        </p:nvSpPr>
        <p:spPr>
          <a:xfrm>
            <a:off x="466405" y="4742630"/>
            <a:ext cx="30473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скорость чирпирования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C7C7F885-9814-4E89-91F6-B6347CA79E74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A6D079D9-E0B6-4B34-9A4C-E1FEA0DE6010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5614" t="4947" r="2762" b="4591"/>
          <a:stretch/>
        </p:blipFill>
        <p:spPr>
          <a:xfrm>
            <a:off x="3787168" y="1005797"/>
            <a:ext cx="3893488" cy="2705890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2428" y="1431362"/>
            <a:ext cx="2981325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975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6"/>
          <p:cNvSpPr/>
          <p:nvPr/>
        </p:nvSpPr>
        <p:spPr>
          <a:xfrm>
            <a:off x="2572555" y="80840"/>
            <a:ext cx="6910755" cy="55364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Используемые переходы атома </a:t>
            </a:r>
            <a:r>
              <a:rPr lang="ru-RU" sz="2400" b="1" i="0" u="none" strike="noStrike" cap="none" baseline="300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</a:t>
            </a:r>
            <a:r>
              <a:rPr lang="en-US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Rb</a:t>
            </a:r>
            <a:endParaRPr lang="en-US"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="" xmlns:a16="http://schemas.microsoft.com/office/drawing/2014/main" id="{C0BC523E-C572-40EC-9063-421483B6825E}"/>
              </a:ext>
            </a:extLst>
          </p:cNvPr>
          <p:cNvSpPr txBox="1"/>
          <p:nvPr/>
        </p:nvSpPr>
        <p:spPr>
          <a:xfrm>
            <a:off x="-298579" y="5466515"/>
            <a:ext cx="12192000" cy="422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ru-RU" sz="16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Рис. 3. 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Схема уровней 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</a:t>
            </a:r>
            <a:r>
              <a:rPr lang="ru-RU" sz="16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линии атома </a:t>
            </a:r>
            <a:r>
              <a:rPr lang="ru-RU" sz="16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87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Rb</a:t>
            </a:r>
            <a:r>
              <a:rPr lang="ru-RU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 используемые частоты лазерного излучения. </a:t>
            </a:r>
            <a:endParaRPr lang="ru-RU" dirty="0">
              <a:effectLst/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25C80F64-1A92-4CBB-A332-7F48B7C36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9385" y="923119"/>
            <a:ext cx="6876071" cy="425475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44F5585-7BC7-48D8-991F-EE7FB391AB59}"/>
              </a:ext>
            </a:extLst>
          </p:cNvPr>
          <p:cNvSpPr txBox="1"/>
          <p:nvPr/>
        </p:nvSpPr>
        <p:spPr>
          <a:xfrm>
            <a:off x="665725" y="5070942"/>
            <a:ext cx="10587134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Рис. 4. 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Оптическая схема формирования лазерного излучения, используемого для лазерного охлаждения и пленения атомов рубидия, оптической накачки и осуществления двухфотонных рамановских переходов в атомном интерферометре. АОМ – акустооптический модулятор, ЭОМ – электрооптический модулятор, ДЛВР – диодный лазер с внешним резонатором, λ/2 – полуволновая пластинка, λ/4 – четвертьволновая пластинка, З – плоское зеркало, СЗ – сферическое зеркало, Линза – собирающая линза, ОИ – оптический изолятор Фарадея, ПДК – поляризационный делительный кубик, СЧБ – стабилизация частоты с помощью биений, СНС – установка для спектроскопии насыщенного поглощения, ДК – делительный кубик, λ-метр – измеритель длины волны, ФД -фотодиод.</a:t>
            </a:r>
            <a:endParaRPr lang="ru-RU" dirty="0"/>
          </a:p>
        </p:txBody>
      </p:sp>
      <p:sp>
        <p:nvSpPr>
          <p:cNvPr id="5" name="Google Shape;178;p5">
            <a:extLst>
              <a:ext uri="{FF2B5EF4-FFF2-40B4-BE49-F238E27FC236}">
                <a16:creationId xmlns="" xmlns:a16="http://schemas.microsoft.com/office/drawing/2014/main" id="{685FAB7F-096C-4160-8A8F-AF21AFC9F4E2}"/>
              </a:ext>
            </a:extLst>
          </p:cNvPr>
          <p:cNvSpPr/>
          <p:nvPr/>
        </p:nvSpPr>
        <p:spPr>
          <a:xfrm>
            <a:off x="2367282" y="120355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гравиметра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4D30DFEF-8F23-4151-9AAE-358E840F0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2289" y="791016"/>
            <a:ext cx="7727421" cy="429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75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78;p5">
            <a:extLst>
              <a:ext uri="{FF2B5EF4-FFF2-40B4-BE49-F238E27FC236}">
                <a16:creationId xmlns="" xmlns:a16="http://schemas.microsoft.com/office/drawing/2014/main" id="{0C300431-2A84-42F9-AC7F-37BC35CDB8A9}"/>
              </a:ext>
            </a:extLst>
          </p:cNvPr>
          <p:cNvSpPr/>
          <p:nvPr/>
        </p:nvSpPr>
        <p:spPr>
          <a:xfrm>
            <a:off x="2272032" y="152105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Оптическая схема гравиметра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1DC97405-FC6B-4DED-9A25-2DB377181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5172" y="1275222"/>
            <a:ext cx="5615229" cy="34745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7D2686F3-13E8-45ED-A8AD-5CE2C3BD8A29}"/>
              </a:ext>
            </a:extLst>
          </p:cNvPr>
          <p:cNvSpPr txBox="1"/>
          <p:nvPr/>
        </p:nvSpPr>
        <p:spPr>
          <a:xfrm>
            <a:off x="684775" y="5010629"/>
            <a:ext cx="1058713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Рис. . </a:t>
            </a:r>
            <a:r>
              <a:rPr 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Оптическая схема формирования лазерного излучения, используемого для лазерного охлаждения и пленения атомов рубидия, оптической накачки и осуществления двухфотонных рамановских переходов в атомном интерферометре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слева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и с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хема уровней 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</a:t>
            </a:r>
            <a:r>
              <a:rPr lang="ru-RU" sz="14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линии атома </a:t>
            </a:r>
            <a:r>
              <a:rPr lang="ru-RU" sz="14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87</a:t>
            </a:r>
            <a:r>
              <a:rPr lang="en-US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Rb</a:t>
            </a:r>
            <a:r>
              <a:rPr lang="ru-RU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и используемые частоты лазерного излучения (справа). </a:t>
            </a:r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2AF96418-F43F-49D3-8F8E-E2651F57759E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4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C9E0EA01-1078-478A-8722-E95A3AB970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599" y="1794822"/>
            <a:ext cx="6096000" cy="2562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7887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2"/>
          <p:cNvSpPr txBox="1"/>
          <p:nvPr/>
        </p:nvSpPr>
        <p:spPr>
          <a:xfrm>
            <a:off x="1789922" y="5162073"/>
            <a:ext cx="8192278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5. Трехмерная модель экспериментальной установки. На рисунке представлены: вакуумная камера, три пары компенсационных магнитных катушек, охлаждающие лазерные пучки (розовые), рамановские пучки (фиолетовые), пробный пучок (жёлтый), оптика (коллиматоры, зеркала, линзы) и видеокамера. На рисунке не показаны четвертьволновые пластинки и катушка анти-Гельмгольца(фронтальная сторона)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2465349" y="100125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установка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5FB779BE-E95C-4F23-B584-09191216FEFF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5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="" xmlns:a16="http://schemas.microsoft.com/office/drawing/2014/main" id="{801F9415-05F2-4C90-989F-7AFCBD430C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8554" y="982104"/>
            <a:ext cx="7694891" cy="38313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Прямоугольник 83"/>
          <p:cNvSpPr/>
          <p:nvPr/>
        </p:nvSpPr>
        <p:spPr>
          <a:xfrm>
            <a:off x="7354608" y="4640181"/>
            <a:ext cx="2126372" cy="1731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Прямоугольник 82"/>
          <p:cNvSpPr/>
          <p:nvPr/>
        </p:nvSpPr>
        <p:spPr>
          <a:xfrm>
            <a:off x="10640413" y="4312850"/>
            <a:ext cx="34784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Прямоугольник 80"/>
          <p:cNvSpPr/>
          <p:nvPr/>
        </p:nvSpPr>
        <p:spPr>
          <a:xfrm>
            <a:off x="10330992" y="2288143"/>
            <a:ext cx="21259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Прямоугольник 76"/>
          <p:cNvSpPr/>
          <p:nvPr/>
        </p:nvSpPr>
        <p:spPr>
          <a:xfrm>
            <a:off x="9293989" y="4305582"/>
            <a:ext cx="18699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Прямоугольник 74"/>
          <p:cNvSpPr/>
          <p:nvPr/>
        </p:nvSpPr>
        <p:spPr>
          <a:xfrm>
            <a:off x="8186053" y="4309565"/>
            <a:ext cx="44036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Прямоугольник 73"/>
          <p:cNvSpPr/>
          <p:nvPr/>
        </p:nvSpPr>
        <p:spPr>
          <a:xfrm>
            <a:off x="7352165" y="4309711"/>
            <a:ext cx="18699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Прямоугольник 72"/>
          <p:cNvSpPr/>
          <p:nvPr/>
        </p:nvSpPr>
        <p:spPr>
          <a:xfrm>
            <a:off x="5580988" y="3609374"/>
            <a:ext cx="328768" cy="1981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Прямоугольник 71"/>
          <p:cNvSpPr/>
          <p:nvPr/>
        </p:nvSpPr>
        <p:spPr>
          <a:xfrm>
            <a:off x="5419387" y="3977756"/>
            <a:ext cx="4382559" cy="167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рямоугольник 69"/>
          <p:cNvSpPr/>
          <p:nvPr/>
        </p:nvSpPr>
        <p:spPr>
          <a:xfrm>
            <a:off x="5100732" y="3262117"/>
            <a:ext cx="24414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Прямоугольник 53"/>
          <p:cNvSpPr/>
          <p:nvPr/>
        </p:nvSpPr>
        <p:spPr>
          <a:xfrm>
            <a:off x="4042468" y="2308279"/>
            <a:ext cx="1001779" cy="1753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Прямоугольник 52"/>
          <p:cNvSpPr/>
          <p:nvPr/>
        </p:nvSpPr>
        <p:spPr>
          <a:xfrm>
            <a:off x="4042469" y="2001551"/>
            <a:ext cx="755297" cy="18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Прямоугольник 50"/>
          <p:cNvSpPr/>
          <p:nvPr/>
        </p:nvSpPr>
        <p:spPr>
          <a:xfrm>
            <a:off x="4043396" y="1665997"/>
            <a:ext cx="755297" cy="18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2739355" y="1990956"/>
            <a:ext cx="1179282" cy="1941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/>
        </p:nvSpPr>
        <p:spPr>
          <a:xfrm>
            <a:off x="2739356" y="1665998"/>
            <a:ext cx="1172436" cy="18690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739356" y="1336699"/>
            <a:ext cx="1172436" cy="1941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2731310" y="2289575"/>
            <a:ext cx="1188734" cy="1941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Google Shape;188;p22"/>
          <p:cNvSpPr/>
          <p:nvPr/>
        </p:nvSpPr>
        <p:spPr>
          <a:xfrm>
            <a:off x="2465349" y="100125"/>
            <a:ext cx="6910755" cy="48334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последовательность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79793" y="1220312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Маг. поле МОЛ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477528" y="1436876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16698" y="1573621"/>
            <a:ext cx="2355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Мощность Охлаждения</a:t>
            </a:r>
          </a:p>
        </p:txBody>
      </p:sp>
      <p:cxnSp>
        <p:nvCxnSpPr>
          <p:cNvPr id="7" name="Прямая соединительная линия 6"/>
          <p:cNvCxnSpPr/>
          <p:nvPr/>
        </p:nvCxnSpPr>
        <p:spPr>
          <a:xfrm>
            <a:off x="2477528" y="1766175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42942" y="1905043"/>
            <a:ext cx="235593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Частота Охлаждения</a:t>
            </a: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477528" y="2095474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401427" y="2187792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Перекачка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477528" y="2395319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509656" y="2536030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Камера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03505" y="2851055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Камера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7157" y="3195080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Накачка 2-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2’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>
            <a:off x="2477528" y="3385887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66255" y="3872694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 поле</a:t>
            </a:r>
          </a:p>
        </p:txBody>
      </p:sp>
      <p:cxnSp>
        <p:nvCxnSpPr>
          <p:cNvPr id="35" name="Прямая соединительная линия 34"/>
          <p:cNvCxnSpPr/>
          <p:nvPr/>
        </p:nvCxnSpPr>
        <p:spPr>
          <a:xfrm>
            <a:off x="2477528" y="3714003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225610" y="3519152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Накачка 1-0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741643" y="4212125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Раман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73247" y="4534230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Чирпирование</a:t>
            </a:r>
          </a:p>
        </p:txBody>
      </p:sp>
      <p:cxnSp>
        <p:nvCxnSpPr>
          <p:cNvPr id="41" name="Прямая соединительная линия 40"/>
          <p:cNvCxnSpPr/>
          <p:nvPr/>
        </p:nvCxnSpPr>
        <p:spPr>
          <a:xfrm>
            <a:off x="2482029" y="4736345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/>
          <p:nvPr/>
        </p:nvCxnSpPr>
        <p:spPr>
          <a:xfrm>
            <a:off x="2723266" y="995153"/>
            <a:ext cx="16090" cy="411177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/>
          <p:nvPr/>
        </p:nvCxnSpPr>
        <p:spPr>
          <a:xfrm>
            <a:off x="3911999" y="995153"/>
            <a:ext cx="16090" cy="411177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2571095" y="5058451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3667880" y="5056696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980593" y="850514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МОЛ</a:t>
            </a:r>
          </a:p>
        </p:txBody>
      </p:sp>
      <p:cxnSp>
        <p:nvCxnSpPr>
          <p:cNvPr id="55" name="Прямая соединительная линия 54"/>
          <p:cNvCxnSpPr/>
          <p:nvPr/>
        </p:nvCxnSpPr>
        <p:spPr>
          <a:xfrm>
            <a:off x="5037400" y="998514"/>
            <a:ext cx="16090" cy="411177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4741150" y="5052348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868867" y="836198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Субдоплер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948827" y="797512"/>
            <a:ext cx="2210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в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немаг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состояние</a:t>
            </a:r>
          </a:p>
        </p:txBody>
      </p:sp>
      <p:cxnSp>
        <p:nvCxnSpPr>
          <p:cNvPr id="59" name="Прямая соединительная линия 58"/>
          <p:cNvCxnSpPr/>
          <p:nvPr/>
        </p:nvCxnSpPr>
        <p:spPr>
          <a:xfrm>
            <a:off x="7161344" y="995153"/>
            <a:ext cx="16090" cy="411177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6905837" y="5046910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" name="Прямая соединительная линия 63"/>
          <p:cNvCxnSpPr/>
          <p:nvPr/>
        </p:nvCxnSpPr>
        <p:spPr>
          <a:xfrm>
            <a:off x="9785856" y="995153"/>
            <a:ext cx="16090" cy="411177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9543622" y="5044078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Google Shape;187;p22"/>
          <p:cNvSpPr txBox="1"/>
          <p:nvPr/>
        </p:nvSpPr>
        <p:spPr>
          <a:xfrm>
            <a:off x="2866794" y="5755465"/>
            <a:ext cx="81922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6. </a:t>
            </a:r>
            <a:r>
              <a:rPr lang="ru-RU" sz="1800" dirty="0">
                <a:latin typeface="Times New Roman"/>
                <a:ea typeface="Times New Roman"/>
                <a:cs typeface="Times New Roman"/>
                <a:sym typeface="Times New Roman"/>
              </a:rPr>
              <a:t>Временная последовательность работы гравиметра.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Прямая соединительная линия 78"/>
          <p:cNvCxnSpPr/>
          <p:nvPr/>
        </p:nvCxnSpPr>
        <p:spPr>
          <a:xfrm>
            <a:off x="11142660" y="976125"/>
            <a:ext cx="16090" cy="411177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10992984" y="5054133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610935" y="853433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Интерференция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820985" y="853433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</a:t>
            </a:r>
          </a:p>
        </p:txBody>
      </p:sp>
      <p:sp>
        <p:nvSpPr>
          <p:cNvPr id="63" name="Google Shape;187;p22">
            <a:extLst>
              <a:ext uri="{FF2B5EF4-FFF2-40B4-BE49-F238E27FC236}">
                <a16:creationId xmlns="" xmlns:a16="http://schemas.microsoft.com/office/drawing/2014/main" id="{752E87BA-AE03-4575-BC6E-FFA836941546}"/>
              </a:ext>
            </a:extLst>
          </p:cNvPr>
          <p:cNvSpPr txBox="1"/>
          <p:nvPr/>
        </p:nvSpPr>
        <p:spPr>
          <a:xfrm>
            <a:off x="3041395" y="5386174"/>
            <a:ext cx="81922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dirty="0">
                <a:latin typeface="Times New Roman"/>
                <a:cs typeface="Times New Roman"/>
                <a:sym typeface="Times New Roman"/>
              </a:rPr>
              <a:t>Время, </a:t>
            </a:r>
            <a:r>
              <a:rPr lang="en-US" sz="1800" dirty="0">
                <a:latin typeface="Times New Roman"/>
                <a:cs typeface="Times New Roman"/>
                <a:sym typeface="Times New Roman"/>
              </a:rPr>
              <a:t>[</a:t>
            </a:r>
            <a:r>
              <a:rPr lang="ru-RU" sz="1800" dirty="0" err="1">
                <a:latin typeface="Times New Roman"/>
                <a:cs typeface="Times New Roman"/>
                <a:sym typeface="Times New Roman"/>
              </a:rPr>
              <a:t>мс</a:t>
            </a:r>
            <a:r>
              <a:rPr lang="en-US" sz="1800" dirty="0">
                <a:latin typeface="Times New Roman"/>
                <a:cs typeface="Times New Roman"/>
                <a:sym typeface="Times New Roman"/>
              </a:rPr>
              <a:t>]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Прямая соединительная линия 150">
            <a:extLst>
              <a:ext uri="{FF2B5EF4-FFF2-40B4-BE49-F238E27FC236}">
                <a16:creationId xmlns="" xmlns:a16="http://schemas.microsoft.com/office/drawing/2014/main" id="{248B8D68-1797-4905-AC45-2C0793BDA79A}"/>
              </a:ext>
            </a:extLst>
          </p:cNvPr>
          <p:cNvCxnSpPr/>
          <p:nvPr/>
        </p:nvCxnSpPr>
        <p:spPr>
          <a:xfrm flipH="1">
            <a:off x="3102357" y="4593605"/>
            <a:ext cx="144491" cy="284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Прямая соединительная линия 153">
            <a:extLst>
              <a:ext uri="{FF2B5EF4-FFF2-40B4-BE49-F238E27FC236}">
                <a16:creationId xmlns="" xmlns:a16="http://schemas.microsoft.com/office/drawing/2014/main" id="{E08F3811-E9DD-466E-B562-EDC2724496C2}"/>
              </a:ext>
            </a:extLst>
          </p:cNvPr>
          <p:cNvCxnSpPr/>
          <p:nvPr/>
        </p:nvCxnSpPr>
        <p:spPr>
          <a:xfrm flipH="1">
            <a:off x="3404452" y="4590922"/>
            <a:ext cx="144491" cy="284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Прямоугольник 174">
            <a:extLst>
              <a:ext uri="{FF2B5EF4-FFF2-40B4-BE49-F238E27FC236}">
                <a16:creationId xmlns="" xmlns:a16="http://schemas.microsoft.com/office/drawing/2014/main" id="{D95B086B-20F1-4FB8-973C-18B9F97E541F}"/>
              </a:ext>
            </a:extLst>
          </p:cNvPr>
          <p:cNvSpPr/>
          <p:nvPr/>
        </p:nvSpPr>
        <p:spPr>
          <a:xfrm rot="1536041">
            <a:off x="3204757" y="4567162"/>
            <a:ext cx="241841" cy="341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>
            <a:extLst>
              <a:ext uri="{FF2B5EF4-FFF2-40B4-BE49-F238E27FC236}">
                <a16:creationId xmlns="" xmlns:a16="http://schemas.microsoft.com/office/drawing/2014/main" id="{EE466986-E0AF-4394-9D4C-BEFEDC65AD31}"/>
              </a:ext>
            </a:extLst>
          </p:cNvPr>
          <p:cNvSpPr/>
          <p:nvPr/>
        </p:nvSpPr>
        <p:spPr>
          <a:xfrm>
            <a:off x="9901862" y="4319711"/>
            <a:ext cx="34784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Прямоугольник 67">
            <a:extLst>
              <a:ext uri="{FF2B5EF4-FFF2-40B4-BE49-F238E27FC236}">
                <a16:creationId xmlns="" xmlns:a16="http://schemas.microsoft.com/office/drawing/2014/main" id="{883A6D51-BD10-4CB1-9C2A-1746D6D82718}"/>
              </a:ext>
            </a:extLst>
          </p:cNvPr>
          <p:cNvSpPr/>
          <p:nvPr/>
        </p:nvSpPr>
        <p:spPr>
          <a:xfrm>
            <a:off x="9901863" y="2629421"/>
            <a:ext cx="34784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 68">
            <a:extLst>
              <a:ext uri="{FF2B5EF4-FFF2-40B4-BE49-F238E27FC236}">
                <a16:creationId xmlns="" xmlns:a16="http://schemas.microsoft.com/office/drawing/2014/main" id="{71D83A6E-C16E-4F2B-83C6-29C70DD39534}"/>
              </a:ext>
            </a:extLst>
          </p:cNvPr>
          <p:cNvSpPr/>
          <p:nvPr/>
        </p:nvSpPr>
        <p:spPr>
          <a:xfrm>
            <a:off x="10640413" y="2947083"/>
            <a:ext cx="34784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9" name="Прямая соединительная линия 28"/>
          <p:cNvCxnSpPr/>
          <p:nvPr/>
        </p:nvCxnSpPr>
        <p:spPr>
          <a:xfrm>
            <a:off x="2477528" y="2725195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2477528" y="4064121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>
            <a:off x="2477528" y="4414239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2477528" y="3040845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933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Прямоугольник 83"/>
          <p:cNvSpPr/>
          <p:nvPr/>
        </p:nvSpPr>
        <p:spPr>
          <a:xfrm>
            <a:off x="7293648" y="4457301"/>
            <a:ext cx="2126372" cy="1731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3" name="Прямоугольник 82"/>
          <p:cNvSpPr/>
          <p:nvPr/>
        </p:nvSpPr>
        <p:spPr>
          <a:xfrm>
            <a:off x="10579453" y="4129970"/>
            <a:ext cx="34784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1" name="Прямоугольник 80"/>
          <p:cNvSpPr/>
          <p:nvPr/>
        </p:nvSpPr>
        <p:spPr>
          <a:xfrm>
            <a:off x="10270032" y="2105263"/>
            <a:ext cx="21259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7" name="Прямоугольник 76"/>
          <p:cNvSpPr/>
          <p:nvPr/>
        </p:nvSpPr>
        <p:spPr>
          <a:xfrm>
            <a:off x="9233029" y="4122702"/>
            <a:ext cx="18699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5" name="Прямоугольник 74"/>
          <p:cNvSpPr/>
          <p:nvPr/>
        </p:nvSpPr>
        <p:spPr>
          <a:xfrm>
            <a:off x="8125093" y="4126685"/>
            <a:ext cx="44036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4" name="Прямоугольник 73"/>
          <p:cNvSpPr/>
          <p:nvPr/>
        </p:nvSpPr>
        <p:spPr>
          <a:xfrm>
            <a:off x="7291205" y="4126831"/>
            <a:ext cx="18699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3" name="Прямоугольник 72"/>
          <p:cNvSpPr/>
          <p:nvPr/>
        </p:nvSpPr>
        <p:spPr>
          <a:xfrm>
            <a:off x="5520028" y="3426494"/>
            <a:ext cx="328768" cy="19812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2" name="Прямоугольник 71"/>
          <p:cNvSpPr/>
          <p:nvPr/>
        </p:nvSpPr>
        <p:spPr>
          <a:xfrm>
            <a:off x="5358427" y="3794876"/>
            <a:ext cx="4382559" cy="16716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0" name="Прямоугольник 69"/>
          <p:cNvSpPr/>
          <p:nvPr/>
        </p:nvSpPr>
        <p:spPr>
          <a:xfrm>
            <a:off x="5039772" y="3079237"/>
            <a:ext cx="24414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4" name="Прямоугольник 53"/>
          <p:cNvSpPr/>
          <p:nvPr/>
        </p:nvSpPr>
        <p:spPr>
          <a:xfrm>
            <a:off x="3981508" y="2125399"/>
            <a:ext cx="1001779" cy="175398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3" name="Прямоугольник 52"/>
          <p:cNvSpPr/>
          <p:nvPr/>
        </p:nvSpPr>
        <p:spPr>
          <a:xfrm>
            <a:off x="3981509" y="1818671"/>
            <a:ext cx="755297" cy="189623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/>
        </p:nvSpPr>
        <p:spPr>
          <a:xfrm>
            <a:off x="2670350" y="1808076"/>
            <a:ext cx="1187327" cy="1941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/>
        </p:nvSpPr>
        <p:spPr>
          <a:xfrm>
            <a:off x="2660002" y="1498979"/>
            <a:ext cx="1199014" cy="1941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/>
        </p:nvSpPr>
        <p:spPr>
          <a:xfrm>
            <a:off x="2670350" y="2106695"/>
            <a:ext cx="1188734" cy="19410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Google Shape;188;p22"/>
          <p:cNvSpPr/>
          <p:nvPr/>
        </p:nvSpPr>
        <p:spPr>
          <a:xfrm>
            <a:off x="2465349" y="100125"/>
            <a:ext cx="6910755" cy="483349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Экспериментальная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последовательность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927016" y="1382592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Маг. поле МОЛ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424751" y="1599156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8716" y="1706864"/>
            <a:ext cx="25866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Охлаждающее излучение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Прямая соединительная линия 8"/>
          <p:cNvCxnSpPr/>
          <p:nvPr/>
        </p:nvCxnSpPr>
        <p:spPr>
          <a:xfrm>
            <a:off x="2416568" y="1912594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340467" y="2004912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Перекачка</a:t>
            </a:r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2416568" y="2212439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448696" y="2353150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Камера 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42545" y="2668175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Камера 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76197" y="3012200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Накачка 2-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2’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>
            <a:off x="2416568" y="3203007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305295" y="3689814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 поле</a:t>
            </a:r>
          </a:p>
        </p:txBody>
      </p:sp>
      <p:cxnSp>
        <p:nvCxnSpPr>
          <p:cNvPr id="35" name="Прямая соединительная линия 34"/>
          <p:cNvCxnSpPr/>
          <p:nvPr/>
        </p:nvCxnSpPr>
        <p:spPr>
          <a:xfrm>
            <a:off x="2416568" y="3531123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1164650" y="3336272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Накачка 1-0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680683" y="4029245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Раман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12287" y="4351350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Чирпирование</a:t>
            </a:r>
          </a:p>
        </p:txBody>
      </p:sp>
      <p:cxnSp>
        <p:nvCxnSpPr>
          <p:cNvPr id="41" name="Прямая соединительная линия 40"/>
          <p:cNvCxnSpPr/>
          <p:nvPr/>
        </p:nvCxnSpPr>
        <p:spPr>
          <a:xfrm>
            <a:off x="2421069" y="4553465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Прямая соединительная линия 42"/>
          <p:cNvCxnSpPr/>
          <p:nvPr/>
        </p:nvCxnSpPr>
        <p:spPr>
          <a:xfrm>
            <a:off x="2657749" y="1261745"/>
            <a:ext cx="20647" cy="3662298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/>
          <p:cNvCxnSpPr/>
          <p:nvPr/>
        </p:nvCxnSpPr>
        <p:spPr>
          <a:xfrm>
            <a:off x="3851039" y="1267762"/>
            <a:ext cx="16090" cy="365628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2510135" y="4875571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3606920" y="4873816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919577" y="921194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МОЛ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4680190" y="4869468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3807851" y="906878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Субдоплер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887811" y="868192"/>
            <a:ext cx="2210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Подготовка в </a:t>
            </a:r>
            <a:r>
              <a:rPr lang="ru-RU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немаг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состояние</a:t>
            </a:r>
          </a:p>
        </p:txBody>
      </p:sp>
      <p:cxnSp>
        <p:nvCxnSpPr>
          <p:cNvPr id="59" name="Прямая соединительная линия 58"/>
          <p:cNvCxnSpPr/>
          <p:nvPr/>
        </p:nvCxnSpPr>
        <p:spPr>
          <a:xfrm>
            <a:off x="7094658" y="1261745"/>
            <a:ext cx="21816" cy="3662298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6844877" y="4864030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4" name="Прямая соединительная линия 63"/>
          <p:cNvCxnSpPr/>
          <p:nvPr/>
        </p:nvCxnSpPr>
        <p:spPr>
          <a:xfrm>
            <a:off x="9723937" y="1261745"/>
            <a:ext cx="17049" cy="3662298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9482662" y="4861198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300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Google Shape;187;p22"/>
          <p:cNvSpPr txBox="1"/>
          <p:nvPr/>
        </p:nvSpPr>
        <p:spPr>
          <a:xfrm>
            <a:off x="2805834" y="5572585"/>
            <a:ext cx="81922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6. </a:t>
            </a:r>
            <a:r>
              <a:rPr lang="ru-RU" sz="1800" dirty="0">
                <a:latin typeface="Times New Roman"/>
                <a:ea typeface="Times New Roman"/>
                <a:cs typeface="Times New Roman"/>
                <a:sym typeface="Times New Roman"/>
              </a:rPr>
              <a:t>Временная последовательность работы гравиметра.</a:t>
            </a:r>
            <a:endParaRPr sz="2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9" name="Прямая соединительная линия 78"/>
          <p:cNvCxnSpPr/>
          <p:nvPr/>
        </p:nvCxnSpPr>
        <p:spPr>
          <a:xfrm>
            <a:off x="11092199" y="1261745"/>
            <a:ext cx="5591" cy="364327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10932024" y="4871253"/>
            <a:ext cx="1515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7549919" y="924113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Интерференция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759969" y="924113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</a:t>
            </a:r>
          </a:p>
        </p:txBody>
      </p:sp>
      <p:sp>
        <p:nvSpPr>
          <p:cNvPr id="63" name="Google Shape;187;p22">
            <a:extLst>
              <a:ext uri="{FF2B5EF4-FFF2-40B4-BE49-F238E27FC236}">
                <a16:creationId xmlns="" xmlns:a16="http://schemas.microsoft.com/office/drawing/2014/main" id="{752E87BA-AE03-4575-BC6E-FFA836941546}"/>
              </a:ext>
            </a:extLst>
          </p:cNvPr>
          <p:cNvSpPr txBox="1"/>
          <p:nvPr/>
        </p:nvSpPr>
        <p:spPr>
          <a:xfrm>
            <a:off x="2980435" y="5203294"/>
            <a:ext cx="819227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sz="1800" dirty="0">
                <a:latin typeface="Times New Roman"/>
                <a:cs typeface="Times New Roman"/>
                <a:sym typeface="Times New Roman"/>
              </a:rPr>
              <a:t>Время, </a:t>
            </a:r>
            <a:r>
              <a:rPr lang="en-US" sz="1800" dirty="0">
                <a:latin typeface="Times New Roman"/>
                <a:cs typeface="Times New Roman"/>
                <a:sym typeface="Times New Roman"/>
              </a:rPr>
              <a:t>[</a:t>
            </a:r>
            <a:r>
              <a:rPr lang="ru-RU" sz="1800" dirty="0" err="1">
                <a:latin typeface="Times New Roman"/>
                <a:cs typeface="Times New Roman"/>
                <a:sym typeface="Times New Roman"/>
              </a:rPr>
              <a:t>мс</a:t>
            </a:r>
            <a:r>
              <a:rPr lang="en-US" sz="1800" dirty="0">
                <a:latin typeface="Times New Roman"/>
                <a:cs typeface="Times New Roman"/>
                <a:sym typeface="Times New Roman"/>
              </a:rPr>
              <a:t>]</a:t>
            </a:r>
            <a:endParaRPr sz="1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Прямая соединительная линия 150">
            <a:extLst>
              <a:ext uri="{FF2B5EF4-FFF2-40B4-BE49-F238E27FC236}">
                <a16:creationId xmlns="" xmlns:a16="http://schemas.microsoft.com/office/drawing/2014/main" id="{248B8D68-1797-4905-AC45-2C0793BDA79A}"/>
              </a:ext>
            </a:extLst>
          </p:cNvPr>
          <p:cNvCxnSpPr/>
          <p:nvPr/>
        </p:nvCxnSpPr>
        <p:spPr>
          <a:xfrm flipH="1">
            <a:off x="3041397" y="4410725"/>
            <a:ext cx="144491" cy="284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Прямая соединительная линия 153">
            <a:extLst>
              <a:ext uri="{FF2B5EF4-FFF2-40B4-BE49-F238E27FC236}">
                <a16:creationId xmlns="" xmlns:a16="http://schemas.microsoft.com/office/drawing/2014/main" id="{E08F3811-E9DD-466E-B562-EDC2724496C2}"/>
              </a:ext>
            </a:extLst>
          </p:cNvPr>
          <p:cNvCxnSpPr/>
          <p:nvPr/>
        </p:nvCxnSpPr>
        <p:spPr>
          <a:xfrm flipH="1">
            <a:off x="3343492" y="4408042"/>
            <a:ext cx="144491" cy="28423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5" name="Прямоугольник 174">
            <a:extLst>
              <a:ext uri="{FF2B5EF4-FFF2-40B4-BE49-F238E27FC236}">
                <a16:creationId xmlns="" xmlns:a16="http://schemas.microsoft.com/office/drawing/2014/main" id="{D95B086B-20F1-4FB8-973C-18B9F97E541F}"/>
              </a:ext>
            </a:extLst>
          </p:cNvPr>
          <p:cNvSpPr/>
          <p:nvPr/>
        </p:nvSpPr>
        <p:spPr>
          <a:xfrm rot="1536041">
            <a:off x="3143797" y="4384282"/>
            <a:ext cx="241841" cy="3417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7" name="Прямоугольник 66">
            <a:extLst>
              <a:ext uri="{FF2B5EF4-FFF2-40B4-BE49-F238E27FC236}">
                <a16:creationId xmlns="" xmlns:a16="http://schemas.microsoft.com/office/drawing/2014/main" id="{EE466986-E0AF-4394-9D4C-BEFEDC65AD31}"/>
              </a:ext>
            </a:extLst>
          </p:cNvPr>
          <p:cNvSpPr/>
          <p:nvPr/>
        </p:nvSpPr>
        <p:spPr>
          <a:xfrm>
            <a:off x="9840902" y="4136831"/>
            <a:ext cx="34784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8" name="Прямоугольник 67">
            <a:extLst>
              <a:ext uri="{FF2B5EF4-FFF2-40B4-BE49-F238E27FC236}">
                <a16:creationId xmlns="" xmlns:a16="http://schemas.microsoft.com/office/drawing/2014/main" id="{883A6D51-BD10-4CB1-9C2A-1746D6D82718}"/>
              </a:ext>
            </a:extLst>
          </p:cNvPr>
          <p:cNvSpPr/>
          <p:nvPr/>
        </p:nvSpPr>
        <p:spPr>
          <a:xfrm>
            <a:off x="9840903" y="2446541"/>
            <a:ext cx="34784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9" name="Прямоугольник 68">
            <a:extLst>
              <a:ext uri="{FF2B5EF4-FFF2-40B4-BE49-F238E27FC236}">
                <a16:creationId xmlns="" xmlns:a16="http://schemas.microsoft.com/office/drawing/2014/main" id="{71D83A6E-C16E-4F2B-83C6-29C70DD39534}"/>
              </a:ext>
            </a:extLst>
          </p:cNvPr>
          <p:cNvSpPr/>
          <p:nvPr/>
        </p:nvSpPr>
        <p:spPr>
          <a:xfrm>
            <a:off x="10579453" y="2764203"/>
            <a:ext cx="34784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9" name="Прямая соединительная линия 28"/>
          <p:cNvCxnSpPr/>
          <p:nvPr/>
        </p:nvCxnSpPr>
        <p:spPr>
          <a:xfrm>
            <a:off x="2416568" y="2542315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Прямая соединительная линия 36"/>
          <p:cNvCxnSpPr/>
          <p:nvPr/>
        </p:nvCxnSpPr>
        <p:spPr>
          <a:xfrm>
            <a:off x="2416568" y="3881241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Прямая соединительная линия 38"/>
          <p:cNvCxnSpPr/>
          <p:nvPr/>
        </p:nvCxnSpPr>
        <p:spPr>
          <a:xfrm>
            <a:off x="2416568" y="4231359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/>
          <p:cNvCxnSpPr/>
          <p:nvPr/>
        </p:nvCxnSpPr>
        <p:spPr>
          <a:xfrm>
            <a:off x="2416568" y="2857965"/>
            <a:ext cx="8856618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="" xmlns:a16="http://schemas.microsoft.com/office/drawing/2014/main" id="{5FB779BE-E95C-4F23-B584-09191216FEFF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6</a:t>
            </a:r>
            <a:endParaRPr lang="ru-RU" dirty="0"/>
          </a:p>
        </p:txBody>
      </p:sp>
      <p:cxnSp>
        <p:nvCxnSpPr>
          <p:cNvPr id="117" name="Прямая соединительная линия 116"/>
          <p:cNvCxnSpPr/>
          <p:nvPr/>
        </p:nvCxnSpPr>
        <p:spPr>
          <a:xfrm>
            <a:off x="4974321" y="1267762"/>
            <a:ext cx="16090" cy="365628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0872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3">
            <a:extLst>
              <a:ext uri="{FF2B5EF4-FFF2-40B4-BE49-F238E27FC236}">
                <a16:creationId xmlns="" xmlns:a16="http://schemas.microsoft.com/office/drawing/2014/main" id="{54FCBDA4-5566-47DB-88F3-11F7896C96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225694"/>
              </p:ext>
            </p:extLst>
          </p:nvPr>
        </p:nvGraphicFramePr>
        <p:xfrm>
          <a:off x="1790170" y="596900"/>
          <a:ext cx="8611660" cy="60443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5830">
                  <a:extLst>
                    <a:ext uri="{9D8B030D-6E8A-4147-A177-3AD203B41FA5}">
                      <a16:colId xmlns="" xmlns:a16="http://schemas.microsoft.com/office/drawing/2014/main" val="3217741643"/>
                    </a:ext>
                  </a:extLst>
                </a:gridCol>
                <a:gridCol w="4305830">
                  <a:extLst>
                    <a:ext uri="{9D8B030D-6E8A-4147-A177-3AD203B41FA5}">
                      <a16:colId xmlns="" xmlns:a16="http://schemas.microsoft.com/office/drawing/2014/main" val="30491186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Оптическая накачка из состояния ∣F = 2⟩ в состояние ∣F = 1⟩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Оптическая накачка в состояние ∣F = 1, m = 0⟩ из состояния ∣F = 1⟩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17233675"/>
                  </a:ext>
                </a:extLst>
              </a:tr>
              <a:tr h="2301240"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227775067"/>
                  </a:ext>
                </a:extLst>
              </a:tr>
              <a:tr h="423952">
                <a:tc gridSpan="2">
                  <a:txBody>
                    <a:bodyPr/>
                    <a:lstStyle/>
                    <a:p>
                      <a:pPr algn="ctr"/>
                      <a:r>
                        <a:rPr lang="ru-RU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Результаты моделирования оптической накачки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790096364"/>
                  </a:ext>
                </a:extLst>
              </a:tr>
              <a:tr h="2801035"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ru-RU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692659424"/>
                  </a:ext>
                </a:extLst>
              </a:tr>
            </a:tbl>
          </a:graphicData>
        </a:graphic>
      </p:graphicFrame>
      <p:pic>
        <p:nvPicPr>
          <p:cNvPr id="66" name="Рисунок 65">
            <a:extLst>
              <a:ext uri="{FF2B5EF4-FFF2-40B4-BE49-F238E27FC236}">
                <a16:creationId xmlns="" xmlns:a16="http://schemas.microsoft.com/office/drawing/2014/main" id="{E8E229DC-645D-4BF2-B2AD-A21DBE6389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085" y="4031656"/>
            <a:ext cx="3344244" cy="2363523"/>
          </a:xfrm>
          <a:prstGeom prst="rect">
            <a:avLst/>
          </a:prstGeom>
        </p:spPr>
      </p:pic>
      <p:pic>
        <p:nvPicPr>
          <p:cNvPr id="65" name="Рисунок 64">
            <a:extLst>
              <a:ext uri="{FF2B5EF4-FFF2-40B4-BE49-F238E27FC236}">
                <a16:creationId xmlns="" xmlns:a16="http://schemas.microsoft.com/office/drawing/2014/main" id="{E92481A7-F519-4885-95E9-8AF3651886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9185" y="3957146"/>
            <a:ext cx="3449671" cy="2438033"/>
          </a:xfrm>
          <a:prstGeom prst="rect">
            <a:avLst/>
          </a:prstGeom>
        </p:spPr>
      </p:pic>
      <p:sp>
        <p:nvSpPr>
          <p:cNvPr id="2" name="Google Shape;246;p7">
            <a:extLst>
              <a:ext uri="{FF2B5EF4-FFF2-40B4-BE49-F238E27FC236}">
                <a16:creationId xmlns="" xmlns:a16="http://schemas.microsoft.com/office/drawing/2014/main" id="{ADBA48A0-643A-42AD-B040-E7A9A3323698}"/>
              </a:ext>
            </a:extLst>
          </p:cNvPr>
          <p:cNvSpPr/>
          <p:nvPr/>
        </p:nvSpPr>
        <p:spPr>
          <a:xfrm>
            <a:off x="2085240" y="83130"/>
            <a:ext cx="8611659" cy="41358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Результаты моделирования 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" name="Google Shape;299;p7">
            <a:extLst>
              <a:ext uri="{FF2B5EF4-FFF2-40B4-BE49-F238E27FC236}">
                <a16:creationId xmlns="" xmlns:a16="http://schemas.microsoft.com/office/drawing/2014/main" id="{2E5A9624-18A1-400B-AF2C-0F07EC11EAFB}"/>
              </a:ext>
            </a:extLst>
          </p:cNvPr>
          <p:cNvCxnSpPr/>
          <p:nvPr/>
        </p:nvCxnSpPr>
        <p:spPr>
          <a:xfrm>
            <a:off x="3484945" y="1289692"/>
            <a:ext cx="180937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04" name="Google Shape;300;p7">
            <a:extLst>
              <a:ext uri="{FF2B5EF4-FFF2-40B4-BE49-F238E27FC236}">
                <a16:creationId xmlns="" xmlns:a16="http://schemas.microsoft.com/office/drawing/2014/main" id="{A5811CD6-B7D7-4A6E-97A8-B2E5FF831621}"/>
              </a:ext>
            </a:extLst>
          </p:cNvPr>
          <p:cNvSpPr txBox="1"/>
          <p:nvPr/>
        </p:nvSpPr>
        <p:spPr>
          <a:xfrm>
            <a:off x="2497990" y="1135803"/>
            <a:ext cx="9342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F’ = 2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5" name="Google Shape;302;p7">
            <a:extLst>
              <a:ext uri="{FF2B5EF4-FFF2-40B4-BE49-F238E27FC236}">
                <a16:creationId xmlns="" xmlns:a16="http://schemas.microsoft.com/office/drawing/2014/main" id="{9B2782CE-7759-4404-BDA1-E97051A2F3AA}"/>
              </a:ext>
            </a:extLst>
          </p:cNvPr>
          <p:cNvCxnSpPr>
            <a:cxnSpLocks/>
          </p:cNvCxnSpPr>
          <p:nvPr/>
        </p:nvCxnSpPr>
        <p:spPr>
          <a:xfrm flipH="1" flipV="1">
            <a:off x="4436901" y="1388163"/>
            <a:ext cx="1" cy="54755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6" name="Google Shape;303;p7">
            <a:extLst>
              <a:ext uri="{FF2B5EF4-FFF2-40B4-BE49-F238E27FC236}">
                <a16:creationId xmlns="" xmlns:a16="http://schemas.microsoft.com/office/drawing/2014/main" id="{46DA7C1D-A09F-40A2-B438-F879F9AEF3BF}"/>
              </a:ext>
            </a:extLst>
          </p:cNvPr>
          <p:cNvCxnSpPr>
            <a:cxnSpLocks/>
          </p:cNvCxnSpPr>
          <p:nvPr/>
        </p:nvCxnSpPr>
        <p:spPr>
          <a:xfrm>
            <a:off x="4705721" y="1388163"/>
            <a:ext cx="0" cy="1218048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dash"/>
            <a:round/>
            <a:headEnd type="none" w="sm" len="sm"/>
            <a:tailEnd type="triangle" w="med" len="med"/>
          </a:ln>
        </p:spPr>
      </p:cxnSp>
      <p:cxnSp>
        <p:nvCxnSpPr>
          <p:cNvPr id="107" name="Google Shape;305;p7">
            <a:extLst>
              <a:ext uri="{FF2B5EF4-FFF2-40B4-BE49-F238E27FC236}">
                <a16:creationId xmlns="" xmlns:a16="http://schemas.microsoft.com/office/drawing/2014/main" id="{78281A48-1C8E-4756-8AD5-13BE4DCF54D1}"/>
              </a:ext>
            </a:extLst>
          </p:cNvPr>
          <p:cNvCxnSpPr/>
          <p:nvPr/>
        </p:nvCxnSpPr>
        <p:spPr>
          <a:xfrm>
            <a:off x="3213242" y="2096522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08" name="Google Shape;306;p7">
            <a:extLst>
              <a:ext uri="{FF2B5EF4-FFF2-40B4-BE49-F238E27FC236}">
                <a16:creationId xmlns="" xmlns:a16="http://schemas.microsoft.com/office/drawing/2014/main" id="{86C83C26-B327-4DAA-9909-D7AFD6E8B2FC}"/>
              </a:ext>
            </a:extLst>
          </p:cNvPr>
          <p:cNvCxnSpPr/>
          <p:nvPr/>
        </p:nvCxnSpPr>
        <p:spPr>
          <a:xfrm>
            <a:off x="3722693" y="2096522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09" name="Google Shape;307;p7">
            <a:extLst>
              <a:ext uri="{FF2B5EF4-FFF2-40B4-BE49-F238E27FC236}">
                <a16:creationId xmlns="" xmlns:a16="http://schemas.microsoft.com/office/drawing/2014/main" id="{F0AF9A47-8BB9-429D-8469-BB18AF98FBCB}"/>
              </a:ext>
            </a:extLst>
          </p:cNvPr>
          <p:cNvCxnSpPr/>
          <p:nvPr/>
        </p:nvCxnSpPr>
        <p:spPr>
          <a:xfrm>
            <a:off x="4254956" y="2096522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10" name="Google Shape;308;p7">
            <a:extLst>
              <a:ext uri="{FF2B5EF4-FFF2-40B4-BE49-F238E27FC236}">
                <a16:creationId xmlns="" xmlns:a16="http://schemas.microsoft.com/office/drawing/2014/main" id="{E375B3E5-5994-4344-9A91-0ED396A99478}"/>
              </a:ext>
            </a:extLst>
          </p:cNvPr>
          <p:cNvCxnSpPr/>
          <p:nvPr/>
        </p:nvCxnSpPr>
        <p:spPr>
          <a:xfrm>
            <a:off x="4776431" y="2096522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11" name="Google Shape;309;p7">
            <a:extLst>
              <a:ext uri="{FF2B5EF4-FFF2-40B4-BE49-F238E27FC236}">
                <a16:creationId xmlns="" xmlns:a16="http://schemas.microsoft.com/office/drawing/2014/main" id="{50D2C602-EE44-4C8A-BF36-161ABD8AFC21}"/>
              </a:ext>
            </a:extLst>
          </p:cNvPr>
          <p:cNvCxnSpPr/>
          <p:nvPr/>
        </p:nvCxnSpPr>
        <p:spPr>
          <a:xfrm>
            <a:off x="5290236" y="2096522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12" name="Google Shape;310;p7">
            <a:extLst>
              <a:ext uri="{FF2B5EF4-FFF2-40B4-BE49-F238E27FC236}">
                <a16:creationId xmlns="" xmlns:a16="http://schemas.microsoft.com/office/drawing/2014/main" id="{FCDCCEAE-71B2-4116-BEE3-F401B9723EC2}"/>
              </a:ext>
            </a:extLst>
          </p:cNvPr>
          <p:cNvCxnSpPr/>
          <p:nvPr/>
        </p:nvCxnSpPr>
        <p:spPr>
          <a:xfrm>
            <a:off x="3722693" y="2710477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13" name="Google Shape;311;p7">
            <a:extLst>
              <a:ext uri="{FF2B5EF4-FFF2-40B4-BE49-F238E27FC236}">
                <a16:creationId xmlns="" xmlns:a16="http://schemas.microsoft.com/office/drawing/2014/main" id="{B993C26E-959A-4C2D-92AF-F9C0AAAB6D91}"/>
              </a:ext>
            </a:extLst>
          </p:cNvPr>
          <p:cNvCxnSpPr/>
          <p:nvPr/>
        </p:nvCxnSpPr>
        <p:spPr>
          <a:xfrm>
            <a:off x="4254956" y="2710477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14" name="Google Shape;312;p7">
            <a:extLst>
              <a:ext uri="{FF2B5EF4-FFF2-40B4-BE49-F238E27FC236}">
                <a16:creationId xmlns="" xmlns:a16="http://schemas.microsoft.com/office/drawing/2014/main" id="{C2EF69D7-75C1-4C20-B345-8C9821CDDB97}"/>
              </a:ext>
            </a:extLst>
          </p:cNvPr>
          <p:cNvCxnSpPr/>
          <p:nvPr/>
        </p:nvCxnSpPr>
        <p:spPr>
          <a:xfrm>
            <a:off x="4772077" y="2710477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15" name="Google Shape;313;p7">
            <a:extLst>
              <a:ext uri="{FF2B5EF4-FFF2-40B4-BE49-F238E27FC236}">
                <a16:creationId xmlns="" xmlns:a16="http://schemas.microsoft.com/office/drawing/2014/main" id="{89C8025C-74C2-46A1-B2BF-9DFCF11A979D}"/>
              </a:ext>
            </a:extLst>
          </p:cNvPr>
          <p:cNvSpPr txBox="1"/>
          <p:nvPr/>
        </p:nvSpPr>
        <p:spPr>
          <a:xfrm>
            <a:off x="2503493" y="1943033"/>
            <a:ext cx="1384663" cy="306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2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314;p7">
            <a:extLst>
              <a:ext uri="{FF2B5EF4-FFF2-40B4-BE49-F238E27FC236}">
                <a16:creationId xmlns="" xmlns:a16="http://schemas.microsoft.com/office/drawing/2014/main" id="{9492B3EB-7F3F-4A24-AF62-549E44472DFD}"/>
              </a:ext>
            </a:extLst>
          </p:cNvPr>
          <p:cNvSpPr txBox="1"/>
          <p:nvPr/>
        </p:nvSpPr>
        <p:spPr>
          <a:xfrm>
            <a:off x="2503493" y="2556588"/>
            <a:ext cx="6780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1</a:t>
            </a:r>
            <a:endParaRPr sz="1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315;p7">
            <a:extLst>
              <a:ext uri="{FF2B5EF4-FFF2-40B4-BE49-F238E27FC236}">
                <a16:creationId xmlns="" xmlns:a16="http://schemas.microsoft.com/office/drawing/2014/main" id="{28F9B385-9F4C-4F9B-BD30-7EB8D06697DF}"/>
              </a:ext>
            </a:extLst>
          </p:cNvPr>
          <p:cNvSpPr txBox="1"/>
          <p:nvPr/>
        </p:nvSpPr>
        <p:spPr>
          <a:xfrm>
            <a:off x="4164556" y="2777279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m=0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8" name="Google Shape;316;p7">
            <a:extLst>
              <a:ext uri="{FF2B5EF4-FFF2-40B4-BE49-F238E27FC236}">
                <a16:creationId xmlns="" xmlns:a16="http://schemas.microsoft.com/office/drawing/2014/main" id="{F072E1E4-3562-4629-8097-9D0781860DED}"/>
              </a:ext>
            </a:extLst>
          </p:cNvPr>
          <p:cNvSpPr txBox="1"/>
          <p:nvPr/>
        </p:nvSpPr>
        <p:spPr>
          <a:xfrm>
            <a:off x="3581082" y="2777279"/>
            <a:ext cx="598082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m=-1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19" name="Google Shape;317;p7">
            <a:extLst>
              <a:ext uri="{FF2B5EF4-FFF2-40B4-BE49-F238E27FC236}">
                <a16:creationId xmlns="" xmlns:a16="http://schemas.microsoft.com/office/drawing/2014/main" id="{3DD80756-09C9-4FCF-BB5F-F96A644B54F8}"/>
              </a:ext>
            </a:extLst>
          </p:cNvPr>
          <p:cNvSpPr txBox="1"/>
          <p:nvPr/>
        </p:nvSpPr>
        <p:spPr>
          <a:xfrm>
            <a:off x="4705722" y="2777279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0" name="Google Shape;318;p7">
            <a:extLst>
              <a:ext uri="{FF2B5EF4-FFF2-40B4-BE49-F238E27FC236}">
                <a16:creationId xmlns="" xmlns:a16="http://schemas.microsoft.com/office/drawing/2014/main" id="{AE4AE603-6403-46A0-A55A-B2F23A170FC7}"/>
              </a:ext>
            </a:extLst>
          </p:cNvPr>
          <p:cNvSpPr txBox="1"/>
          <p:nvPr/>
        </p:nvSpPr>
        <p:spPr>
          <a:xfrm>
            <a:off x="4146898" y="2095977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m=0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319;p7">
            <a:extLst>
              <a:ext uri="{FF2B5EF4-FFF2-40B4-BE49-F238E27FC236}">
                <a16:creationId xmlns="" xmlns:a16="http://schemas.microsoft.com/office/drawing/2014/main" id="{3177D817-74B7-4764-9B36-8C7999C346B7}"/>
              </a:ext>
            </a:extLst>
          </p:cNvPr>
          <p:cNvSpPr txBox="1"/>
          <p:nvPr/>
        </p:nvSpPr>
        <p:spPr>
          <a:xfrm>
            <a:off x="4705721" y="1679399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2" name="Google Shape;320;p7">
            <a:extLst>
              <a:ext uri="{FF2B5EF4-FFF2-40B4-BE49-F238E27FC236}">
                <a16:creationId xmlns="" xmlns:a16="http://schemas.microsoft.com/office/drawing/2014/main" id="{BBD09642-BA00-455B-A6C5-43B1C80FEB03}"/>
              </a:ext>
            </a:extLst>
          </p:cNvPr>
          <p:cNvSpPr txBox="1"/>
          <p:nvPr/>
        </p:nvSpPr>
        <p:spPr>
          <a:xfrm>
            <a:off x="3623391" y="1678800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m=-1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3" name="Google Shape;321;p7">
            <a:extLst>
              <a:ext uri="{FF2B5EF4-FFF2-40B4-BE49-F238E27FC236}">
                <a16:creationId xmlns="" xmlns:a16="http://schemas.microsoft.com/office/drawing/2014/main" id="{72930C02-8558-435C-B73F-668AC9196C5C}"/>
              </a:ext>
            </a:extLst>
          </p:cNvPr>
          <p:cNvSpPr txBox="1"/>
          <p:nvPr/>
        </p:nvSpPr>
        <p:spPr>
          <a:xfrm>
            <a:off x="5246886" y="1678799"/>
            <a:ext cx="54116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m=2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4" name="Google Shape;322;p7">
            <a:extLst>
              <a:ext uri="{FF2B5EF4-FFF2-40B4-BE49-F238E27FC236}">
                <a16:creationId xmlns="" xmlns:a16="http://schemas.microsoft.com/office/drawing/2014/main" id="{A856AB1E-7EAA-4252-9F9E-2D17D90A05C9}"/>
              </a:ext>
            </a:extLst>
          </p:cNvPr>
          <p:cNvSpPr txBox="1"/>
          <p:nvPr/>
        </p:nvSpPr>
        <p:spPr>
          <a:xfrm>
            <a:off x="3091937" y="1678798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m=-2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5" name="Google Shape;324;p7">
            <a:extLst>
              <a:ext uri="{FF2B5EF4-FFF2-40B4-BE49-F238E27FC236}">
                <a16:creationId xmlns="" xmlns:a16="http://schemas.microsoft.com/office/drawing/2014/main" id="{C7E2C7D4-6EB7-4199-AF71-1F752404AD37}"/>
              </a:ext>
            </a:extLst>
          </p:cNvPr>
          <p:cNvSpPr/>
          <p:nvPr/>
        </p:nvSpPr>
        <p:spPr>
          <a:xfrm>
            <a:off x="3801591" y="2638633"/>
            <a:ext cx="172998" cy="147474"/>
          </a:xfrm>
          <a:prstGeom prst="ellipse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325;p7">
            <a:extLst>
              <a:ext uri="{FF2B5EF4-FFF2-40B4-BE49-F238E27FC236}">
                <a16:creationId xmlns="" xmlns:a16="http://schemas.microsoft.com/office/drawing/2014/main" id="{7EF5AC33-F806-45AD-9355-C0C56E36D8E0}"/>
              </a:ext>
            </a:extLst>
          </p:cNvPr>
          <p:cNvSpPr/>
          <p:nvPr/>
        </p:nvSpPr>
        <p:spPr>
          <a:xfrm>
            <a:off x="4341421" y="2636739"/>
            <a:ext cx="172998" cy="147474"/>
          </a:xfrm>
          <a:prstGeom prst="ellipse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326;p7">
            <a:extLst>
              <a:ext uri="{FF2B5EF4-FFF2-40B4-BE49-F238E27FC236}">
                <a16:creationId xmlns="" xmlns:a16="http://schemas.microsoft.com/office/drawing/2014/main" id="{D487D161-CE2D-4505-B512-9F7EE8F4AF98}"/>
              </a:ext>
            </a:extLst>
          </p:cNvPr>
          <p:cNvSpPr/>
          <p:nvPr/>
        </p:nvSpPr>
        <p:spPr>
          <a:xfrm>
            <a:off x="4850076" y="2629294"/>
            <a:ext cx="172998" cy="147474"/>
          </a:xfrm>
          <a:prstGeom prst="ellipse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8" name="Google Shape;327;p7">
            <a:extLst>
              <a:ext uri="{FF2B5EF4-FFF2-40B4-BE49-F238E27FC236}">
                <a16:creationId xmlns="" xmlns:a16="http://schemas.microsoft.com/office/drawing/2014/main" id="{B2AE25D9-ABE4-4DA0-8BC1-2769C7E58598}"/>
              </a:ext>
            </a:extLst>
          </p:cNvPr>
          <p:cNvCxnSpPr/>
          <p:nvPr/>
        </p:nvCxnSpPr>
        <p:spPr>
          <a:xfrm>
            <a:off x="8117130" y="1344070"/>
            <a:ext cx="358998" cy="11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29" name="Google Shape;328;p7">
            <a:extLst>
              <a:ext uri="{FF2B5EF4-FFF2-40B4-BE49-F238E27FC236}">
                <a16:creationId xmlns="" xmlns:a16="http://schemas.microsoft.com/office/drawing/2014/main" id="{759DCDE9-0FE5-47F3-A4B3-F7579EB31A17}"/>
              </a:ext>
            </a:extLst>
          </p:cNvPr>
          <p:cNvSpPr txBox="1"/>
          <p:nvPr/>
        </p:nvSpPr>
        <p:spPr>
          <a:xfrm>
            <a:off x="7426972" y="1182868"/>
            <a:ext cx="93425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F’ = 0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0" name="Google Shape;329;p7">
            <a:extLst>
              <a:ext uri="{FF2B5EF4-FFF2-40B4-BE49-F238E27FC236}">
                <a16:creationId xmlns="" xmlns:a16="http://schemas.microsoft.com/office/drawing/2014/main" id="{7FB0B97D-86CE-4837-A249-CF2BB06DC8BC}"/>
              </a:ext>
            </a:extLst>
          </p:cNvPr>
          <p:cNvCxnSpPr/>
          <p:nvPr/>
        </p:nvCxnSpPr>
        <p:spPr>
          <a:xfrm>
            <a:off x="7594786" y="2639398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31" name="Google Shape;330;p7">
            <a:extLst>
              <a:ext uri="{FF2B5EF4-FFF2-40B4-BE49-F238E27FC236}">
                <a16:creationId xmlns="" xmlns:a16="http://schemas.microsoft.com/office/drawing/2014/main" id="{17F9E9EB-B791-478A-8720-BEF74803123B}"/>
              </a:ext>
            </a:extLst>
          </p:cNvPr>
          <p:cNvCxnSpPr/>
          <p:nvPr/>
        </p:nvCxnSpPr>
        <p:spPr>
          <a:xfrm>
            <a:off x="8120734" y="2709272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32" name="Google Shape;331;p7">
            <a:extLst>
              <a:ext uri="{FF2B5EF4-FFF2-40B4-BE49-F238E27FC236}">
                <a16:creationId xmlns="" xmlns:a16="http://schemas.microsoft.com/office/drawing/2014/main" id="{DA5E6E9C-B693-4905-AF03-2DADF2992FAC}"/>
              </a:ext>
            </a:extLst>
          </p:cNvPr>
          <p:cNvCxnSpPr/>
          <p:nvPr/>
        </p:nvCxnSpPr>
        <p:spPr>
          <a:xfrm>
            <a:off x="8642747" y="2795170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33" name="Google Shape;332;p7">
            <a:extLst>
              <a:ext uri="{FF2B5EF4-FFF2-40B4-BE49-F238E27FC236}">
                <a16:creationId xmlns="" xmlns:a16="http://schemas.microsoft.com/office/drawing/2014/main" id="{C881895D-327E-4DA1-B6B5-EDF9B15CF510}"/>
              </a:ext>
            </a:extLst>
          </p:cNvPr>
          <p:cNvSpPr txBox="1"/>
          <p:nvPr/>
        </p:nvSpPr>
        <p:spPr>
          <a:xfrm>
            <a:off x="6614068" y="2564022"/>
            <a:ext cx="67803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 = 1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" name="Google Shape;333;p7">
            <a:extLst>
              <a:ext uri="{FF2B5EF4-FFF2-40B4-BE49-F238E27FC236}">
                <a16:creationId xmlns="" xmlns:a16="http://schemas.microsoft.com/office/drawing/2014/main" id="{ECD6A746-0D5B-4E93-8BA9-B883FF63CFBE}"/>
              </a:ext>
            </a:extLst>
          </p:cNvPr>
          <p:cNvSpPr txBox="1"/>
          <p:nvPr/>
        </p:nvSpPr>
        <p:spPr>
          <a:xfrm>
            <a:off x="8030334" y="2776074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m=0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5" name="Google Shape;334;p7">
            <a:extLst>
              <a:ext uri="{FF2B5EF4-FFF2-40B4-BE49-F238E27FC236}">
                <a16:creationId xmlns="" xmlns:a16="http://schemas.microsoft.com/office/drawing/2014/main" id="{B58DD3D3-AA6B-4314-BF84-2078711C8530}"/>
              </a:ext>
            </a:extLst>
          </p:cNvPr>
          <p:cNvSpPr txBox="1"/>
          <p:nvPr/>
        </p:nvSpPr>
        <p:spPr>
          <a:xfrm>
            <a:off x="7453174" y="2706200"/>
            <a:ext cx="61241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m=-1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6" name="Google Shape;335;p7">
            <a:extLst>
              <a:ext uri="{FF2B5EF4-FFF2-40B4-BE49-F238E27FC236}">
                <a16:creationId xmlns="" xmlns:a16="http://schemas.microsoft.com/office/drawing/2014/main" id="{1083B4B1-55E8-4208-95C6-60AE75E49B8B}"/>
              </a:ext>
            </a:extLst>
          </p:cNvPr>
          <p:cNvSpPr txBox="1"/>
          <p:nvPr/>
        </p:nvSpPr>
        <p:spPr>
          <a:xfrm>
            <a:off x="8576393" y="2861972"/>
            <a:ext cx="54009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7" name="Google Shape;336;p7">
            <a:extLst>
              <a:ext uri="{FF2B5EF4-FFF2-40B4-BE49-F238E27FC236}">
                <a16:creationId xmlns="" xmlns:a16="http://schemas.microsoft.com/office/drawing/2014/main" id="{59868BE4-E23F-4B46-AC6B-6FB8F481ACE2}"/>
              </a:ext>
            </a:extLst>
          </p:cNvPr>
          <p:cNvSpPr/>
          <p:nvPr/>
        </p:nvSpPr>
        <p:spPr>
          <a:xfrm>
            <a:off x="8208032" y="2638633"/>
            <a:ext cx="172998" cy="147474"/>
          </a:xfrm>
          <a:prstGeom prst="ellipse">
            <a:avLst/>
          </a:prstGeom>
          <a:solidFill>
            <a:srgbClr val="FF0000"/>
          </a:solidFill>
          <a:ln w="254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337;p7">
            <a:extLst>
              <a:ext uri="{FF2B5EF4-FFF2-40B4-BE49-F238E27FC236}">
                <a16:creationId xmlns="" xmlns:a16="http://schemas.microsoft.com/office/drawing/2014/main" id="{116226FF-8C6F-479C-8EA1-9576E5EC9DDA}"/>
              </a:ext>
            </a:extLst>
          </p:cNvPr>
          <p:cNvCxnSpPr/>
          <p:nvPr/>
        </p:nvCxnSpPr>
        <p:spPr>
          <a:xfrm rot="10800000" flipH="1">
            <a:off x="7782842" y="1485448"/>
            <a:ext cx="391188" cy="107725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9" name="Google Shape;338;p7">
            <a:extLst>
              <a:ext uri="{FF2B5EF4-FFF2-40B4-BE49-F238E27FC236}">
                <a16:creationId xmlns="" xmlns:a16="http://schemas.microsoft.com/office/drawing/2014/main" id="{06F1CA81-846C-43DA-863B-EABCF861BD6A}"/>
              </a:ext>
            </a:extLst>
          </p:cNvPr>
          <p:cNvCxnSpPr>
            <a:cxnSpLocks/>
          </p:cNvCxnSpPr>
          <p:nvPr/>
        </p:nvCxnSpPr>
        <p:spPr>
          <a:xfrm flipH="1" flipV="1">
            <a:off x="8436177" y="1485448"/>
            <a:ext cx="358310" cy="1230099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40" name="Google Shape;339;p7">
            <a:extLst>
              <a:ext uri="{FF2B5EF4-FFF2-40B4-BE49-F238E27FC236}">
                <a16:creationId xmlns="" xmlns:a16="http://schemas.microsoft.com/office/drawing/2014/main" id="{9A162B01-25C6-41BB-92A1-4360229920F2}"/>
              </a:ext>
            </a:extLst>
          </p:cNvPr>
          <p:cNvCxnSpPr/>
          <p:nvPr/>
        </p:nvCxnSpPr>
        <p:spPr>
          <a:xfrm>
            <a:off x="8295101" y="1485447"/>
            <a:ext cx="20004" cy="1077249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141" name="Google Shape;340;p7">
            <a:extLst>
              <a:ext uri="{FF2B5EF4-FFF2-40B4-BE49-F238E27FC236}">
                <a16:creationId xmlns="" xmlns:a16="http://schemas.microsoft.com/office/drawing/2014/main" id="{1699AABE-ACD0-4B3A-8A06-D24C5EB4EB20}"/>
              </a:ext>
            </a:extLst>
          </p:cNvPr>
          <p:cNvSpPr txBox="1"/>
          <p:nvPr/>
        </p:nvSpPr>
        <p:spPr>
          <a:xfrm>
            <a:off x="8523458" y="1159699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m’=0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142" name="Google Shape;373;p7">
            <a:extLst>
              <a:ext uri="{FF2B5EF4-FFF2-40B4-BE49-F238E27FC236}">
                <a16:creationId xmlns="" xmlns:a16="http://schemas.microsoft.com/office/drawing/2014/main" id="{EB38CCD1-B7F0-44DE-9AA5-6FD12D922F1A}"/>
              </a:ext>
            </a:extLst>
          </p:cNvPr>
          <p:cNvCxnSpPr/>
          <p:nvPr/>
        </p:nvCxnSpPr>
        <p:spPr>
          <a:xfrm>
            <a:off x="7083536" y="2288687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43" name="Google Shape;374;p7">
            <a:extLst>
              <a:ext uri="{FF2B5EF4-FFF2-40B4-BE49-F238E27FC236}">
                <a16:creationId xmlns="" xmlns:a16="http://schemas.microsoft.com/office/drawing/2014/main" id="{25AA9A3C-5B8B-4227-B9AC-7E86AED6BD6A}"/>
              </a:ext>
            </a:extLst>
          </p:cNvPr>
          <p:cNvCxnSpPr/>
          <p:nvPr/>
        </p:nvCxnSpPr>
        <p:spPr>
          <a:xfrm>
            <a:off x="7581410" y="2200560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44" name="Google Shape;375;p7">
            <a:extLst>
              <a:ext uri="{FF2B5EF4-FFF2-40B4-BE49-F238E27FC236}">
                <a16:creationId xmlns="" xmlns:a16="http://schemas.microsoft.com/office/drawing/2014/main" id="{E83ADE1F-B8D9-48B4-A5AD-AFCDD8B239CA}"/>
              </a:ext>
            </a:extLst>
          </p:cNvPr>
          <p:cNvCxnSpPr/>
          <p:nvPr/>
        </p:nvCxnSpPr>
        <p:spPr>
          <a:xfrm>
            <a:off x="8132014" y="2114641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45" name="Google Shape;376;p7">
            <a:extLst>
              <a:ext uri="{FF2B5EF4-FFF2-40B4-BE49-F238E27FC236}">
                <a16:creationId xmlns="" xmlns:a16="http://schemas.microsoft.com/office/drawing/2014/main" id="{AFAE1C24-C6A6-4383-90A6-5A50058053F3}"/>
              </a:ext>
            </a:extLst>
          </p:cNvPr>
          <p:cNvCxnSpPr/>
          <p:nvPr/>
        </p:nvCxnSpPr>
        <p:spPr>
          <a:xfrm>
            <a:off x="8646652" y="2042681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146" name="Google Shape;377;p7">
            <a:extLst>
              <a:ext uri="{FF2B5EF4-FFF2-40B4-BE49-F238E27FC236}">
                <a16:creationId xmlns="" xmlns:a16="http://schemas.microsoft.com/office/drawing/2014/main" id="{05D09583-3DCF-44D9-87CC-905A4A89AA37}"/>
              </a:ext>
            </a:extLst>
          </p:cNvPr>
          <p:cNvCxnSpPr/>
          <p:nvPr/>
        </p:nvCxnSpPr>
        <p:spPr>
          <a:xfrm>
            <a:off x="9170461" y="1933335"/>
            <a:ext cx="330926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147" name="Google Shape;378;p7">
            <a:extLst>
              <a:ext uri="{FF2B5EF4-FFF2-40B4-BE49-F238E27FC236}">
                <a16:creationId xmlns="" xmlns:a16="http://schemas.microsoft.com/office/drawing/2014/main" id="{BAEDA4E0-587A-4267-89FE-4FC711B0E1F7}"/>
              </a:ext>
            </a:extLst>
          </p:cNvPr>
          <p:cNvSpPr txBox="1"/>
          <p:nvPr/>
        </p:nvSpPr>
        <p:spPr>
          <a:xfrm>
            <a:off x="8059272" y="1696916"/>
            <a:ext cx="8915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m=0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8" name="Google Shape;379;p7">
            <a:extLst>
              <a:ext uri="{FF2B5EF4-FFF2-40B4-BE49-F238E27FC236}">
                <a16:creationId xmlns="" xmlns:a16="http://schemas.microsoft.com/office/drawing/2014/main" id="{8A94FCC0-D12B-4EB7-A1C3-A147A92512EB}"/>
              </a:ext>
            </a:extLst>
          </p:cNvPr>
          <p:cNvSpPr txBox="1"/>
          <p:nvPr/>
        </p:nvSpPr>
        <p:spPr>
          <a:xfrm>
            <a:off x="8575942" y="1625558"/>
            <a:ext cx="58451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49" name="Google Shape;380;p7">
            <a:extLst>
              <a:ext uri="{FF2B5EF4-FFF2-40B4-BE49-F238E27FC236}">
                <a16:creationId xmlns="" xmlns:a16="http://schemas.microsoft.com/office/drawing/2014/main" id="{462E83DB-0967-4C6C-91F2-42BD7ACB7BFB}"/>
              </a:ext>
            </a:extLst>
          </p:cNvPr>
          <p:cNvSpPr txBox="1"/>
          <p:nvPr/>
        </p:nvSpPr>
        <p:spPr>
          <a:xfrm>
            <a:off x="7482109" y="1782838"/>
            <a:ext cx="693446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m=-1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50" name="Google Shape;381;p7">
            <a:extLst>
              <a:ext uri="{FF2B5EF4-FFF2-40B4-BE49-F238E27FC236}">
                <a16:creationId xmlns="" xmlns:a16="http://schemas.microsoft.com/office/drawing/2014/main" id="{B6BBE47B-96BD-46BD-8A90-B48B304BA76D}"/>
              </a:ext>
            </a:extLst>
          </p:cNvPr>
          <p:cNvSpPr txBox="1"/>
          <p:nvPr/>
        </p:nvSpPr>
        <p:spPr>
          <a:xfrm>
            <a:off x="9127111" y="1515612"/>
            <a:ext cx="541165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m=2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51" name="Google Shape;382;p7">
            <a:extLst>
              <a:ext uri="{FF2B5EF4-FFF2-40B4-BE49-F238E27FC236}">
                <a16:creationId xmlns="" xmlns:a16="http://schemas.microsoft.com/office/drawing/2014/main" id="{9EE52862-1DA1-4CD5-A4E4-497D8182FDC8}"/>
              </a:ext>
            </a:extLst>
          </p:cNvPr>
          <p:cNvSpPr txBox="1"/>
          <p:nvPr/>
        </p:nvSpPr>
        <p:spPr>
          <a:xfrm>
            <a:off x="6962232" y="1870963"/>
            <a:ext cx="61241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m=-2</a:t>
            </a:r>
            <a:endParaRPr sz="14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52" name="TextBox 151">
            <a:extLst>
              <a:ext uri="{FF2B5EF4-FFF2-40B4-BE49-F238E27FC236}">
                <a16:creationId xmlns="" xmlns:a16="http://schemas.microsoft.com/office/drawing/2014/main" id="{4690278A-6D62-485B-8146-211394838776}"/>
              </a:ext>
            </a:extLst>
          </p:cNvPr>
          <p:cNvSpPr txBox="1"/>
          <p:nvPr/>
        </p:nvSpPr>
        <p:spPr>
          <a:xfrm>
            <a:off x="6123869" y="3099931"/>
            <a:ext cx="1446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0ffset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~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0.5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mG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2" name="TextBox 161">
            <a:extLst>
              <a:ext uri="{FF2B5EF4-FFF2-40B4-BE49-F238E27FC236}">
                <a16:creationId xmlns="" xmlns:a16="http://schemas.microsoft.com/office/drawing/2014/main" id="{A2139D55-AFC1-4115-B3BE-5F5EE8D9B4B1}"/>
              </a:ext>
            </a:extLst>
          </p:cNvPr>
          <p:cNvSpPr txBox="1"/>
          <p:nvPr/>
        </p:nvSpPr>
        <p:spPr>
          <a:xfrm>
            <a:off x="8431469" y="4454479"/>
            <a:ext cx="12813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0.7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мкК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TextBox 162">
            <a:extLst>
              <a:ext uri="{FF2B5EF4-FFF2-40B4-BE49-F238E27FC236}">
                <a16:creationId xmlns="" xmlns:a16="http://schemas.microsoft.com/office/drawing/2014/main" id="{A3553470-9FC6-45ED-AFC0-2FB15617DAFE}"/>
              </a:ext>
            </a:extLst>
          </p:cNvPr>
          <p:cNvSpPr txBox="1"/>
          <p:nvPr/>
        </p:nvSpPr>
        <p:spPr>
          <a:xfrm>
            <a:off x="8552207" y="5288531"/>
            <a:ext cx="160480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1/5</a:t>
            </a: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1/3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="" xmlns:a16="http://schemas.microsoft.com/office/drawing/2014/main" id="{69BAC13F-972B-4520-8F42-178EA2560BFB}"/>
              </a:ext>
            </a:extLst>
          </p:cNvPr>
          <p:cNvSpPr txBox="1"/>
          <p:nvPr/>
        </p:nvSpPr>
        <p:spPr>
          <a:xfrm>
            <a:off x="11681926" y="6408575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7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="" xmlns:a16="http://schemas.microsoft.com/office/drawing/2014/main" id="{11A813CB-9917-465E-A632-9D569239EDC9}"/>
              </a:ext>
            </a:extLst>
          </p:cNvPr>
          <p:cNvSpPr txBox="1"/>
          <p:nvPr/>
        </p:nvSpPr>
        <p:spPr>
          <a:xfrm>
            <a:off x="4145750" y="4206975"/>
            <a:ext cx="15239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= 0.7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мкК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="" xmlns:a16="http://schemas.microsoft.com/office/drawing/2014/main" id="{91C9B38F-757E-4A17-96B5-0217DB266AA6}"/>
              </a:ext>
            </a:extLst>
          </p:cNvPr>
          <p:cNvSpPr txBox="1"/>
          <p:nvPr/>
        </p:nvSpPr>
        <p:spPr>
          <a:xfrm>
            <a:off x="4145750" y="5194585"/>
            <a:ext cx="13814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I/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1/5</a:t>
            </a: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1/5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697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1"/>
          <p:cNvSpPr/>
          <p:nvPr/>
        </p:nvSpPr>
        <p:spPr>
          <a:xfrm>
            <a:off x="3258776" y="136525"/>
            <a:ext cx="5855293" cy="76501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Экспериментальные результаты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0" name="Google Shape;440;p41"/>
          <p:cNvSpPr txBox="1"/>
          <p:nvPr/>
        </p:nvSpPr>
        <p:spPr>
          <a:xfrm>
            <a:off x="1574196" y="5246411"/>
            <a:ext cx="9596724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Временная последовательность оптической накачки (а) , и </a:t>
            </a:r>
            <a:r>
              <a:rPr lang="ru-RU" dirty="0">
                <a:latin typeface="Times New Roman"/>
                <a:cs typeface="Times New Roman"/>
                <a:sym typeface="Times New Roman"/>
              </a:rPr>
              <a:t>э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кспериментальная з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ависимость населенности атомов до и после оптической накачки от отстройки рамановского излучения относительно часового перехода.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="" xmlns:a16="http://schemas.microsoft.com/office/drawing/2014/main" id="{E5FBF466-A86A-4FC6-9496-0D1B6DBCC0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198"/>
          <a:stretch/>
        </p:blipFill>
        <p:spPr>
          <a:xfrm>
            <a:off x="7160309" y="1148376"/>
            <a:ext cx="3945690" cy="3203965"/>
          </a:xfrm>
          <a:prstGeom prst="rect">
            <a:avLst/>
          </a:prstGeom>
        </p:spPr>
      </p:pic>
      <p:sp>
        <p:nvSpPr>
          <p:cNvPr id="14" name="Прямоугольник 13"/>
          <p:cNvSpPr/>
          <p:nvPr/>
        </p:nvSpPr>
        <p:spPr>
          <a:xfrm>
            <a:off x="4803766" y="3972182"/>
            <a:ext cx="430759" cy="1307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/>
        </p:nvSpPr>
        <p:spPr>
          <a:xfrm>
            <a:off x="4426824" y="3598494"/>
            <a:ext cx="1246987" cy="17034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2464630" y="3249171"/>
            <a:ext cx="551888" cy="17380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/>
          <p:cNvSpPr txBox="1"/>
          <p:nvPr/>
        </p:nvSpPr>
        <p:spPr>
          <a:xfrm>
            <a:off x="121765" y="3169036"/>
            <a:ext cx="13253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Накачка 2-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2’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Прямая соединительная линия 17"/>
          <p:cNvCxnSpPr>
            <a:cxnSpLocks/>
          </p:cNvCxnSpPr>
          <p:nvPr/>
        </p:nvCxnSpPr>
        <p:spPr>
          <a:xfrm>
            <a:off x="1454056" y="3341653"/>
            <a:ext cx="4918502" cy="8225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61640" y="3480527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Z-</a:t>
            </a: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маг поле</a:t>
            </a:r>
          </a:p>
        </p:txBody>
      </p:sp>
      <p:cxnSp>
        <p:nvCxnSpPr>
          <p:cNvPr id="20" name="Прямая соединительная линия 19"/>
          <p:cNvCxnSpPr>
            <a:cxnSpLocks/>
          </p:cNvCxnSpPr>
          <p:nvPr/>
        </p:nvCxnSpPr>
        <p:spPr>
          <a:xfrm flipV="1">
            <a:off x="1454056" y="3676251"/>
            <a:ext cx="4918502" cy="12182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21765" y="3870161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Накачка 1-0</a:t>
            </a:r>
            <a:r>
              <a:rPr lang="en-US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2" name="Прямая соединительная линия 21"/>
          <p:cNvCxnSpPr>
            <a:cxnSpLocks/>
          </p:cNvCxnSpPr>
          <p:nvPr/>
        </p:nvCxnSpPr>
        <p:spPr>
          <a:xfrm>
            <a:off x="1454056" y="4038549"/>
            <a:ext cx="4918502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446666" y="2995692"/>
            <a:ext cx="807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70 </a:t>
            </a:r>
            <a:r>
              <a:rPr lang="ru-RU" sz="1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мкс</a:t>
            </a:r>
            <a:endParaRPr lang="ru-RU" sz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88529" y="3724991"/>
            <a:ext cx="807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25</a:t>
            </a:r>
            <a:r>
              <a:rPr lang="ru-RU" sz="1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ru-RU" sz="1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мкс</a:t>
            </a:r>
            <a:endParaRPr lang="ru-RU" sz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 flipH="1">
            <a:off x="3954356" y="2995692"/>
            <a:ext cx="1817" cy="123995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единительная линия 25"/>
          <p:cNvCxnSpPr/>
          <p:nvPr/>
        </p:nvCxnSpPr>
        <p:spPr>
          <a:xfrm flipH="1">
            <a:off x="6022276" y="3068455"/>
            <a:ext cx="1817" cy="123995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единительная линия 26"/>
          <p:cNvCxnSpPr/>
          <p:nvPr/>
        </p:nvCxnSpPr>
        <p:spPr>
          <a:xfrm flipH="1">
            <a:off x="1522547" y="2995692"/>
            <a:ext cx="1817" cy="123995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7D479D87-544A-4FA4-BA06-D7B01FAB3C76}"/>
              </a:ext>
            </a:extLst>
          </p:cNvPr>
          <p:cNvSpPr txBox="1"/>
          <p:nvPr/>
        </p:nvSpPr>
        <p:spPr>
          <a:xfrm>
            <a:off x="1034178" y="1046632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51251" y="3356914"/>
            <a:ext cx="807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0.5 </a:t>
            </a:r>
            <a:r>
              <a:rPr lang="ru-RU" sz="12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Гс</a:t>
            </a:r>
            <a:endParaRPr lang="ru-RU" sz="12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7D479D87-544A-4FA4-BA06-D7B01FAB3C76}"/>
              </a:ext>
            </a:extLst>
          </p:cNvPr>
          <p:cNvSpPr txBox="1"/>
          <p:nvPr/>
        </p:nvSpPr>
        <p:spPr>
          <a:xfrm>
            <a:off x="6794727" y="1084738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="" xmlns:a16="http://schemas.microsoft.com/office/drawing/2014/main" id="{E2B4286C-1033-4ED6-8922-95C7C36C5C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4196" y="1431361"/>
            <a:ext cx="2212161" cy="128798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65C9107F-86E2-4F78-B853-DF86209133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132" y="1424455"/>
            <a:ext cx="2163487" cy="1347746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ACDD460A-11BF-4D35-82B4-53CC6CCB63DD}"/>
              </a:ext>
            </a:extLst>
          </p:cNvPr>
          <p:cNvSpPr txBox="1"/>
          <p:nvPr/>
        </p:nvSpPr>
        <p:spPr>
          <a:xfrm>
            <a:off x="11681926" y="6391158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8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EC5D26EC-C1DB-444B-8ECC-DCAEF9CF4396}"/>
              </a:ext>
            </a:extLst>
          </p:cNvPr>
          <p:cNvSpPr txBox="1"/>
          <p:nvPr/>
        </p:nvSpPr>
        <p:spPr>
          <a:xfrm>
            <a:off x="7511091" y="4336498"/>
            <a:ext cx="514407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000" dirty="0">
                <a:latin typeface="Century Gothic" panose="020B0502020202020204" pitchFamily="34" charset="0"/>
              </a:rPr>
              <a:t>Отстройка частоты рамановского излучения, </a:t>
            </a:r>
            <a:r>
              <a:rPr lang="en-US" sz="1000" dirty="0">
                <a:latin typeface="Century Gothic" panose="020B0502020202020204" pitchFamily="34" charset="0"/>
              </a:rPr>
              <a:t>[</a:t>
            </a:r>
            <a:r>
              <a:rPr lang="ru-RU" sz="1000" dirty="0">
                <a:latin typeface="Century Gothic" panose="020B0502020202020204" pitchFamily="34" charset="0"/>
              </a:rPr>
              <a:t>МГц</a:t>
            </a:r>
            <a:r>
              <a:rPr lang="en-US" sz="1000" dirty="0">
                <a:latin typeface="Century Gothic" panose="020B0502020202020204" pitchFamily="34" charset="0"/>
              </a:rPr>
              <a:t>]</a:t>
            </a:r>
            <a:r>
              <a:rPr lang="ru-RU" sz="1000" dirty="0">
                <a:latin typeface="Century Gothic" panose="020B0502020202020204" pitchFamily="34" charset="0"/>
              </a:rPr>
              <a:t>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oogle Shape;441;p41">
            <a:extLst>
              <a:ext uri="{FF2B5EF4-FFF2-40B4-BE49-F238E27FC236}">
                <a16:creationId xmlns="" xmlns:a16="http://schemas.microsoft.com/office/drawing/2014/main" id="{EBD5BC16-2C05-4F48-9860-17E97A3AC0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 t="7649"/>
          <a:stretch/>
        </p:blipFill>
        <p:spPr>
          <a:xfrm>
            <a:off x="6524767" y="1765465"/>
            <a:ext cx="3832083" cy="300834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442;p41">
            <a:extLst>
              <a:ext uri="{FF2B5EF4-FFF2-40B4-BE49-F238E27FC236}">
                <a16:creationId xmlns="" xmlns:a16="http://schemas.microsoft.com/office/drawing/2014/main" id="{F153B16B-206B-47E6-91BB-9ABCF38CB307}"/>
              </a:ext>
            </a:extLst>
          </p:cNvPr>
          <p:cNvSpPr txBox="1"/>
          <p:nvPr/>
        </p:nvSpPr>
        <p:spPr>
          <a:xfrm>
            <a:off x="2304966" y="4870390"/>
            <a:ext cx="6793216" cy="9540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9. </a:t>
            </a:r>
            <a:r>
              <a:rPr lang="ru-RU" dirty="0">
                <a:latin typeface="Times New Roman"/>
                <a:ea typeface="Times New Roman"/>
                <a:cs typeface="Times New Roman"/>
                <a:sym typeface="Times New Roman"/>
              </a:rPr>
              <a:t>Изображение временной эволюции облака атомов  (а), и экспериментальная з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ависимости квадрата размера облака холодных атомов (1/e) от квадрата времени свободного падения до и после оптической накачки в магнито-нечувствительное состояние (б).</a:t>
            </a:r>
            <a:endParaRPr dirty="0"/>
          </a:p>
        </p:txBody>
      </p:sp>
      <p:pic>
        <p:nvPicPr>
          <p:cNvPr id="5" name="Google Shape;127;p1" descr="https://lh7-rt.googleusercontent.com/slidesz/AGV_vUfQFYLtY2FjTQr7IFHzlkKBCHeyujkayVscmvM_ZtWrphAdXKCaLY60ZbpfLZg12jZAsRqQl4iqGW0lWkIEBozY5KtHbVxjFwlR49-6HQN-dGVIqjq8HAfU-aO2zNamebJymnukrX72YDnhLmvRxTU=s2048?key=P4lD9V1SCTzNB_8IaOOg0ZNi">
            <a:extLst>
              <a:ext uri="{FF2B5EF4-FFF2-40B4-BE49-F238E27FC236}">
                <a16:creationId xmlns="" xmlns:a16="http://schemas.microsoft.com/office/drawing/2014/main" id="{BC71BF39-5AEA-4F19-9B32-F7B8C639F70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21099" b="5356"/>
          <a:stretch/>
        </p:blipFill>
        <p:spPr>
          <a:xfrm>
            <a:off x="1220392" y="1765465"/>
            <a:ext cx="4673599" cy="2166841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="" xmlns:a16="http://schemas.microsoft.com/office/drawing/2014/main" id="{971711A6-1744-407B-8346-FEF2A684FBF3}"/>
                  </a:ext>
                </a:extLst>
              </p:cNvPr>
              <p:cNvSpPr txBox="1"/>
              <p:nvPr/>
            </p:nvSpPr>
            <p:spPr>
              <a:xfrm>
                <a:off x="8284545" y="3733800"/>
                <a:ext cx="2185237" cy="31027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ru-RU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ru-RU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ru-RU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ru-RU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ru-RU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𝑇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den>
                    </m:f>
                  </m:oMath>
                </a14:m>
                <a:r>
                  <a:rPr lang="ru-RU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ru-RU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ru-RU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1711A6-1744-407B-8346-FEF2A684FB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4545" y="3733800"/>
                <a:ext cx="2185237" cy="310278"/>
              </a:xfrm>
              <a:prstGeom prst="rect">
                <a:avLst/>
              </a:prstGeom>
              <a:blipFill>
                <a:blip r:embed="rId4"/>
                <a:stretch>
                  <a:fillRect l="-1955" b="-12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33;p24">
            <a:extLst>
              <a:ext uri="{FF2B5EF4-FFF2-40B4-BE49-F238E27FC236}">
                <a16:creationId xmlns="" xmlns:a16="http://schemas.microsoft.com/office/drawing/2014/main" id="{8E6AD891-851D-4A07-A31D-5F7A366E551C}"/>
              </a:ext>
            </a:extLst>
          </p:cNvPr>
          <p:cNvSpPr txBox="1"/>
          <p:nvPr/>
        </p:nvSpPr>
        <p:spPr>
          <a:xfrm>
            <a:off x="4933354" y="802731"/>
            <a:ext cx="2426892" cy="461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</a:t>
            </a:r>
            <a:r>
              <a:rPr lang="ru-RU" sz="24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ru-RU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</a:t>
            </a:r>
            <a:r>
              <a:rPr lang="ru-RU" sz="2400" b="1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flight</a:t>
            </a:r>
            <a:r>
              <a:rPr lang="ru-RU" sz="2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</a:t>
            </a:r>
            <a:endParaRPr sz="2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7D479D87-544A-4FA4-BA06-D7B01FAB3C76}"/>
              </a:ext>
            </a:extLst>
          </p:cNvPr>
          <p:cNvSpPr txBox="1"/>
          <p:nvPr/>
        </p:nvSpPr>
        <p:spPr>
          <a:xfrm>
            <a:off x="1063699" y="1303824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F75955D3-509D-4D02-B799-756F1560F9D5}"/>
              </a:ext>
            </a:extLst>
          </p:cNvPr>
          <p:cNvSpPr txBox="1"/>
          <p:nvPr/>
        </p:nvSpPr>
        <p:spPr>
          <a:xfrm>
            <a:off x="6354685" y="1303824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438;p41">
            <a:extLst>
              <a:ext uri="{FF2B5EF4-FFF2-40B4-BE49-F238E27FC236}">
                <a16:creationId xmlns="" xmlns:a16="http://schemas.microsoft.com/office/drawing/2014/main" id="{9F6DF20E-0EBF-46A5-BE99-0FBFFA90B945}"/>
              </a:ext>
            </a:extLst>
          </p:cNvPr>
          <p:cNvSpPr/>
          <p:nvPr/>
        </p:nvSpPr>
        <p:spPr>
          <a:xfrm>
            <a:off x="1903454" y="122102"/>
            <a:ext cx="7585131" cy="39511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Нагрев вследствие</a:t>
            </a:r>
            <a:r>
              <a:rPr lang="en-US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 </a:t>
            </a: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="" xmlns:a16="http://schemas.microsoft.com/office/drawing/2014/main" id="{2D3CF238-36AA-4DCF-8C45-8041EC38BEF3}"/>
              </a:ext>
            </a:extLst>
          </p:cNvPr>
          <p:cNvSpPr txBox="1"/>
          <p:nvPr/>
        </p:nvSpPr>
        <p:spPr>
          <a:xfrm>
            <a:off x="11681926" y="6408575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06914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38;p41">
            <a:extLst>
              <a:ext uri="{FF2B5EF4-FFF2-40B4-BE49-F238E27FC236}">
                <a16:creationId xmlns="" xmlns:a16="http://schemas.microsoft.com/office/drawing/2014/main" id="{52BC617F-5E2D-4580-9506-94A652B0244A}"/>
              </a:ext>
            </a:extLst>
          </p:cNvPr>
          <p:cNvSpPr/>
          <p:nvPr/>
        </p:nvSpPr>
        <p:spPr>
          <a:xfrm>
            <a:off x="2456857" y="100559"/>
            <a:ext cx="6910755" cy="52174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Регистрация сигнала атомного интерферометра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="" xmlns:a16="http://schemas.microsoft.com/office/drawing/2014/main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3271847" y="3078480"/>
                <a:ext cx="1146211" cy="533929"/>
              </a:xfrm>
              <a:prstGeom prst="rect">
                <a:avLst/>
              </a:prstGeom>
              <a:noFill/>
              <a:ln w="28575">
                <a:solidFill>
                  <a:schemeClr val="bg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b="0" i="1" smtClean="0">
                          <a:latin typeface="Cambria Math" panose="02040503050406030204" pitchFamily="18" charset="0"/>
                        </a:rPr>
                        <m:t>α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𝜗</m:t>
                              </m:r>
                            </m:e>
                            <m:sub>
                              <m:r>
                                <a:rPr lang="ru-RU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𝜗</m:t>
                              </m:r>
                            </m:e>
                            <m:sub>
                              <m:r>
                                <a:rPr lang="ru-RU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1847" y="3078480"/>
                <a:ext cx="1146211" cy="53392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  <a:ln w="28575">
                <a:solidFill>
                  <a:schemeClr val="bg1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4237782" y="1511201"/>
            <a:ext cx="18699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Прямоугольник 4"/>
          <p:cNvSpPr/>
          <p:nvPr/>
        </p:nvSpPr>
        <p:spPr>
          <a:xfrm>
            <a:off x="3129846" y="1515184"/>
            <a:ext cx="440369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/>
        </p:nvSpPr>
        <p:spPr>
          <a:xfrm>
            <a:off x="2295958" y="1515330"/>
            <a:ext cx="186990" cy="1971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Box 6"/>
          <p:cNvSpPr txBox="1"/>
          <p:nvPr/>
        </p:nvSpPr>
        <p:spPr>
          <a:xfrm>
            <a:off x="1207076" y="1396939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Раман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Прямая соединительная линия 7"/>
          <p:cNvCxnSpPr/>
          <p:nvPr/>
        </p:nvCxnSpPr>
        <p:spPr>
          <a:xfrm>
            <a:off x="1943100" y="1609782"/>
            <a:ext cx="3421380" cy="0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600975" y="3787566"/>
            <a:ext cx="17765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Чирпирование</a:t>
            </a:r>
            <a:endParaRPr lang="ru-RU" sz="16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" name="Прямая соединительная линия 9"/>
          <p:cNvCxnSpPr/>
          <p:nvPr/>
        </p:nvCxnSpPr>
        <p:spPr>
          <a:xfrm>
            <a:off x="1943099" y="3671667"/>
            <a:ext cx="3421381" cy="1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/>
          <p:nvPr/>
        </p:nvCxnSpPr>
        <p:spPr>
          <a:xfrm flipV="1">
            <a:off x="2093681" y="2639499"/>
            <a:ext cx="2429664" cy="10321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единительная линия 11"/>
          <p:cNvCxnSpPr/>
          <p:nvPr/>
        </p:nvCxnSpPr>
        <p:spPr>
          <a:xfrm flipV="1">
            <a:off x="1943099" y="2616609"/>
            <a:ext cx="3421381" cy="10874"/>
          </a:xfrm>
          <a:prstGeom prst="line">
            <a:avLst/>
          </a:prstGeom>
          <a:ln w="19050">
            <a:prstDash val="sys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1603282" y="3495259"/>
                <a:ext cx="376008" cy="332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ru-RU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ru-RU" sz="16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3282" y="3495259"/>
                <a:ext cx="376008" cy="33291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Прямая соединительная линия 14"/>
          <p:cNvCxnSpPr/>
          <p:nvPr/>
        </p:nvCxnSpPr>
        <p:spPr>
          <a:xfrm flipH="1">
            <a:off x="2092824" y="1379131"/>
            <a:ext cx="857" cy="274419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/>
          <p:nvPr/>
        </p:nvCxnSpPr>
        <p:spPr>
          <a:xfrm flipH="1">
            <a:off x="4523345" y="1379130"/>
            <a:ext cx="857" cy="274419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1943099" y="4123321"/>
            <a:ext cx="1515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ru-RU" sz="1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D264B975-A8B3-4554-9188-E48F759EEE32}"/>
              </a:ext>
            </a:extLst>
          </p:cNvPr>
          <p:cNvSpPr txBox="1"/>
          <p:nvPr/>
        </p:nvSpPr>
        <p:spPr>
          <a:xfrm>
            <a:off x="4327257" y="4123321"/>
            <a:ext cx="15154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1600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ru-RU" sz="1800" baseline="-25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Стрелка вниз 24"/>
          <p:cNvSpPr/>
          <p:nvPr/>
        </p:nvSpPr>
        <p:spPr>
          <a:xfrm rot="10800000">
            <a:off x="6551803" y="3405275"/>
            <a:ext cx="246774" cy="472440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Овал 25"/>
          <p:cNvSpPr/>
          <p:nvPr/>
        </p:nvSpPr>
        <p:spPr>
          <a:xfrm>
            <a:off x="6437923" y="2256731"/>
            <a:ext cx="411480" cy="396240"/>
          </a:xfrm>
          <a:prstGeom prst="ellipse">
            <a:avLst/>
          </a:prstGeom>
          <a:solidFill>
            <a:srgbClr val="FFC00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Овал 26"/>
          <p:cNvSpPr/>
          <p:nvPr/>
        </p:nvSpPr>
        <p:spPr>
          <a:xfrm>
            <a:off x="7554368" y="2281351"/>
            <a:ext cx="411480" cy="396240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TextBox 27"/>
          <p:cNvSpPr txBox="1"/>
          <p:nvPr/>
        </p:nvSpPr>
        <p:spPr>
          <a:xfrm>
            <a:off x="6360956" y="1885751"/>
            <a:ext cx="115944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∣F=2⟩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Стрелка вниз 28"/>
          <p:cNvSpPr/>
          <p:nvPr/>
        </p:nvSpPr>
        <p:spPr>
          <a:xfrm rot="10800000">
            <a:off x="8152027" y="3386704"/>
            <a:ext cx="246774" cy="472440"/>
          </a:xfrm>
          <a:prstGeom prst="downArrow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/>
          <p:cNvSpPr txBox="1"/>
          <p:nvPr/>
        </p:nvSpPr>
        <p:spPr>
          <a:xfrm>
            <a:off x="8358680" y="1880280"/>
            <a:ext cx="686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∣F=2⟩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455320" y="1880280"/>
            <a:ext cx="75052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∣F=1⟩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114532" y="998079"/>
            <a:ext cx="2281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Подсветка</a:t>
            </a:r>
          </a:p>
        </p:txBody>
      </p:sp>
      <p:cxnSp>
        <p:nvCxnSpPr>
          <p:cNvPr id="33" name="Прямая соединительная линия 32"/>
          <p:cNvCxnSpPr/>
          <p:nvPr/>
        </p:nvCxnSpPr>
        <p:spPr>
          <a:xfrm flipH="1">
            <a:off x="6018858" y="1209854"/>
            <a:ext cx="857" cy="274419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/>
          <p:cNvCxnSpPr/>
          <p:nvPr/>
        </p:nvCxnSpPr>
        <p:spPr>
          <a:xfrm flipH="1">
            <a:off x="7330666" y="1209854"/>
            <a:ext cx="857" cy="274419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/>
          <p:cNvCxnSpPr/>
          <p:nvPr/>
        </p:nvCxnSpPr>
        <p:spPr>
          <a:xfrm flipH="1">
            <a:off x="9142389" y="1209854"/>
            <a:ext cx="857" cy="274419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127431" y="932447"/>
            <a:ext cx="2281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Перевод в светлое состояние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95135" y="3891340"/>
            <a:ext cx="1432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Резонансное излучение 2-3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533315" y="3891340"/>
            <a:ext cx="1432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Излучение перекачки 1-2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Прямая соединительная линия 38"/>
          <p:cNvCxnSpPr/>
          <p:nvPr/>
        </p:nvCxnSpPr>
        <p:spPr>
          <a:xfrm flipH="1">
            <a:off x="10776741" y="1244513"/>
            <a:ext cx="857" cy="274419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Овал 41"/>
          <p:cNvSpPr/>
          <p:nvPr/>
        </p:nvSpPr>
        <p:spPr>
          <a:xfrm>
            <a:off x="9695554" y="2281351"/>
            <a:ext cx="411480" cy="396240"/>
          </a:xfrm>
          <a:prstGeom prst="ellipse">
            <a:avLst/>
          </a:prstGeom>
          <a:solidFill>
            <a:srgbClr val="FFC00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46" name="TextBox 45"/>
          <p:cNvSpPr txBox="1"/>
          <p:nvPr/>
        </p:nvSpPr>
        <p:spPr>
          <a:xfrm>
            <a:off x="8804386" y="1031421"/>
            <a:ext cx="22810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Подсветка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48009" y="3891340"/>
            <a:ext cx="14325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Резонансное излучение 2-3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Прямоугольник 48"/>
          <p:cNvSpPr/>
          <p:nvPr/>
        </p:nvSpPr>
        <p:spPr>
          <a:xfrm>
            <a:off x="3048000" y="4794831"/>
            <a:ext cx="6096000" cy="73866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 . Экспериментальная последовательность рамановских импульсов и схема чирпирования частоты рамановского излучения (а), схема детектирования атомов (б).</a:t>
            </a:r>
          </a:p>
        </p:txBody>
      </p:sp>
      <p:sp>
        <p:nvSpPr>
          <p:cNvPr id="50" name="Стрелка вниз 49"/>
          <p:cNvSpPr/>
          <p:nvPr/>
        </p:nvSpPr>
        <p:spPr>
          <a:xfrm rot="10800000">
            <a:off x="9786379" y="3356213"/>
            <a:ext cx="246774" cy="472440"/>
          </a:xfrm>
          <a:prstGeom prst="downArrow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1" name="TextBox 50">
            <a:extLst>
              <a:ext uri="{FF2B5EF4-FFF2-40B4-BE49-F238E27FC236}">
                <a16:creationId xmlns="" xmlns:a16="http://schemas.microsoft.com/office/drawing/2014/main" id="{7D479D87-544A-4FA4-BA06-D7B01FAB3C76}"/>
              </a:ext>
            </a:extLst>
          </p:cNvPr>
          <p:cNvSpPr txBox="1"/>
          <p:nvPr/>
        </p:nvSpPr>
        <p:spPr>
          <a:xfrm>
            <a:off x="961233" y="739034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7D479D87-544A-4FA4-BA06-D7B01FAB3C76}"/>
              </a:ext>
            </a:extLst>
          </p:cNvPr>
          <p:cNvSpPr txBox="1"/>
          <p:nvPr/>
        </p:nvSpPr>
        <p:spPr>
          <a:xfrm>
            <a:off x="5462561" y="739034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="" xmlns:a16="http://schemas.microsoft.com/office/drawing/2014/main" id="{71F28231-BE93-4024-8C58-6DBF6769C07A}"/>
              </a:ext>
            </a:extLst>
          </p:cNvPr>
          <p:cNvSpPr txBox="1"/>
          <p:nvPr/>
        </p:nvSpPr>
        <p:spPr>
          <a:xfrm>
            <a:off x="9601498" y="1889144"/>
            <a:ext cx="6867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∣F=2⟩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1597020" y="2422301"/>
                <a:ext cx="376008" cy="332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𝜗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ru-RU" sz="1600" i="1" baseline="-25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7020" y="2422301"/>
                <a:ext cx="376008" cy="33291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Прямая со стрелкой 18">
            <a:extLst>
              <a:ext uri="{FF2B5EF4-FFF2-40B4-BE49-F238E27FC236}">
                <a16:creationId xmlns="" xmlns:a16="http://schemas.microsoft.com/office/drawing/2014/main" id="{A824D857-88EC-45CC-81C9-611B89E2D06D}"/>
              </a:ext>
            </a:extLst>
          </p:cNvPr>
          <p:cNvCxnSpPr/>
          <p:nvPr/>
        </p:nvCxnSpPr>
        <p:spPr>
          <a:xfrm>
            <a:off x="8052663" y="2479471"/>
            <a:ext cx="33967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Овал 55">
            <a:extLst>
              <a:ext uri="{FF2B5EF4-FFF2-40B4-BE49-F238E27FC236}">
                <a16:creationId xmlns="" xmlns:a16="http://schemas.microsoft.com/office/drawing/2014/main" id="{F719B0A7-3DA1-4D2E-A238-FCEC8C0AEA97}"/>
              </a:ext>
            </a:extLst>
          </p:cNvPr>
          <p:cNvSpPr/>
          <p:nvPr/>
        </p:nvSpPr>
        <p:spPr>
          <a:xfrm>
            <a:off x="8482898" y="2296453"/>
            <a:ext cx="411480" cy="396240"/>
          </a:xfrm>
          <a:prstGeom prst="ellipse">
            <a:avLst/>
          </a:prstGeom>
          <a:solidFill>
            <a:srgbClr val="FFC000"/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7" name="TextBox 56">
            <a:extLst>
              <a:ext uri="{FF2B5EF4-FFF2-40B4-BE49-F238E27FC236}">
                <a16:creationId xmlns="" xmlns:a16="http://schemas.microsoft.com/office/drawing/2014/main" id="{4AF22725-24E1-4D71-A1C2-667222AA1559}"/>
              </a:ext>
            </a:extLst>
          </p:cNvPr>
          <p:cNvSpPr txBox="1"/>
          <p:nvPr/>
        </p:nvSpPr>
        <p:spPr>
          <a:xfrm>
            <a:off x="11681926" y="6408575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71171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38;p41">
            <a:extLst>
              <a:ext uri="{FF2B5EF4-FFF2-40B4-BE49-F238E27FC236}">
                <a16:creationId xmlns="" xmlns:a16="http://schemas.microsoft.com/office/drawing/2014/main" id="{3000FCD4-85EE-457A-83FB-C6C8399B520D}"/>
              </a:ext>
            </a:extLst>
          </p:cNvPr>
          <p:cNvSpPr/>
          <p:nvPr/>
        </p:nvSpPr>
        <p:spPr>
          <a:xfrm>
            <a:off x="2456857" y="100559"/>
            <a:ext cx="6910755" cy="52174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Регистрация сигнала атомного интерферометра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45B9989-4C10-432B-8594-3E58550995F7}"/>
              </a:ext>
            </a:extLst>
          </p:cNvPr>
          <p:cNvSpPr txBox="1"/>
          <p:nvPr/>
        </p:nvSpPr>
        <p:spPr>
          <a:xfrm>
            <a:off x="11681926" y="6408575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11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="" xmlns:a16="http://schemas.microsoft.com/office/drawing/2014/main" id="{E9968B14-1908-46A4-93D4-2D88AF236BC1}"/>
              </a:ext>
            </a:extLst>
          </p:cNvPr>
          <p:cNvSpPr txBox="1"/>
          <p:nvPr/>
        </p:nvSpPr>
        <p:spPr>
          <a:xfrm>
            <a:off x="1769788" y="4830539"/>
            <a:ext cx="848614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Сигнал атомной интерференции, полученный при сканировании скорости чирпирования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слева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и зависимость стандартного отклонения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ru-RU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измерений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гравитационного ускорения от времени усреднения (справа).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="" xmlns:a16="http://schemas.microsoft.com/office/drawing/2014/main" id="{21842DF5-87AF-4AFA-A45C-0EC2908FA86D}"/>
                  </a:ext>
                </a:extLst>
              </p:cNvPr>
              <p:cNvSpPr txBox="1"/>
              <p:nvPr/>
            </p:nvSpPr>
            <p:spPr>
              <a:xfrm>
                <a:off x="1132724" y="2969700"/>
                <a:ext cx="2050754" cy="62632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  <a:sym typeface="Symbol"/>
                            </a:rPr>
                            <m:t>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</a:rPr>
                            <m:t>Ф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1842DF5-87AF-4AFA-A45C-0EC2908FA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2724" y="2969700"/>
                <a:ext cx="2050754" cy="62632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="" xmlns:a16="http://schemas.microsoft.com/office/drawing/2014/main" id="{65E1332E-B1D6-4008-82C1-20AC426FB8D6}"/>
                  </a:ext>
                </a:extLst>
              </p:cNvPr>
              <p:cNvSpPr txBox="1"/>
              <p:nvPr/>
            </p:nvSpPr>
            <p:spPr>
              <a:xfrm>
                <a:off x="784513" y="2094241"/>
                <a:ext cx="2647969" cy="39709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800" i="1" dirty="0" smtClean="0">
                          <a:latin typeface="Cambria Math" panose="02040503050406030204" pitchFamily="18" charset="0"/>
                          <a:sym typeface="Symbol"/>
                        </a:rPr>
                        <m:t></m:t>
                      </m:r>
                      <m:r>
                        <a:rPr lang="ru-RU" sz="1800" i="1" dirty="0" smtClean="0">
                          <a:latin typeface="Cambria Math" panose="02040503050406030204" pitchFamily="18" charset="0"/>
                        </a:rPr>
                        <m:t>Ф=</m:t>
                      </m:r>
                      <m:sSub>
                        <m:sSub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80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8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sz="18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8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5E1332E-B1D6-4008-82C1-20AC426FB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513" y="2094241"/>
                <a:ext cx="2647969" cy="397096"/>
              </a:xfrm>
              <a:prstGeom prst="rect">
                <a:avLst/>
              </a:prstGeom>
              <a:blipFill>
                <a:blip r:embed="rId3"/>
                <a:stretch>
                  <a:fillRect b="-4286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DE49EA7A-594C-4C5E-A996-39C565AC1A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8602" y="1505956"/>
            <a:ext cx="2764900" cy="284622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="" xmlns:a16="http://schemas.microsoft.com/office/drawing/2014/main" id="{D93572C7-63C4-4A64-99EF-63B124E429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9997" y="1534027"/>
            <a:ext cx="3953772" cy="2658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04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t="4191"/>
          <a:stretch/>
        </p:blipFill>
        <p:spPr>
          <a:xfrm>
            <a:off x="2313708" y="915605"/>
            <a:ext cx="911540" cy="2203764"/>
          </a:xfrm>
          <a:prstGeom prst="rect">
            <a:avLst/>
          </a:prstGeom>
        </p:spPr>
      </p:pic>
      <p:pic>
        <p:nvPicPr>
          <p:cNvPr id="58" name="Рисунок 57">
            <a:extLst>
              <a:ext uri="{FF2B5EF4-FFF2-40B4-BE49-F238E27FC236}">
                <a16:creationId xmlns="" xmlns:a16="http://schemas.microsoft.com/office/drawing/2014/main" id="{D6D133B6-FCC8-4C58-A203-3759379D37E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63" t="10044" r="6469" b="9599"/>
          <a:stretch/>
        </p:blipFill>
        <p:spPr>
          <a:xfrm>
            <a:off x="8345660" y="1143528"/>
            <a:ext cx="3263240" cy="2355310"/>
          </a:xfrm>
          <a:prstGeom prst="rect">
            <a:avLst/>
          </a:prstGeom>
        </p:spPr>
      </p:pic>
      <p:sp>
        <p:nvSpPr>
          <p:cNvPr id="2" name="Google Shape;136;p21">
            <a:extLst>
              <a:ext uri="{FF2B5EF4-FFF2-40B4-BE49-F238E27FC236}">
                <a16:creationId xmlns="" xmlns:a16="http://schemas.microsoft.com/office/drawing/2014/main" id="{1E7CF083-A787-4F48-A93A-E44DFC78373A}"/>
              </a:ext>
            </a:extLst>
          </p:cNvPr>
          <p:cNvSpPr/>
          <p:nvPr/>
        </p:nvSpPr>
        <p:spPr>
          <a:xfrm>
            <a:off x="1619070" y="32347"/>
            <a:ext cx="8953860" cy="62364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Arial"/>
                <a:cs typeface="Times New Roman"/>
                <a:sym typeface="Times New Roman"/>
              </a:rPr>
              <a:t>Влияние вибрационных возмущений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53A8042C-E52E-4288-B49A-5DABBD83A1A0}"/>
              </a:ext>
            </a:extLst>
          </p:cNvPr>
          <p:cNvSpPr txBox="1"/>
          <p:nvPr/>
        </p:nvSpPr>
        <p:spPr>
          <a:xfrm>
            <a:off x="690460" y="4285476"/>
            <a:ext cx="49286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Разность фаз между плечами интерферометра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FC228A56-F53C-4040-AA74-A750668FC7D9}"/>
              </a:ext>
            </a:extLst>
          </p:cNvPr>
          <p:cNvSpPr txBox="1"/>
          <p:nvPr/>
        </p:nvSpPr>
        <p:spPr>
          <a:xfrm>
            <a:off x="7971039" y="757980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="" xmlns:a16="http://schemas.microsoft.com/office/drawing/2014/main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1418598" y="4705738"/>
                <a:ext cx="3198953" cy="363241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 dirty="0" smtClean="0">
                          <a:latin typeface="Cambria Math" panose="02040503050406030204" pitchFamily="18" charset="0"/>
                          <a:sym typeface="Symbol"/>
                        </a:rPr>
                        <m:t></m:t>
                      </m:r>
                      <m:r>
                        <a:rPr lang="ru-RU" sz="1600" i="1" dirty="0" smtClean="0">
                          <a:latin typeface="Cambria Math" panose="02040503050406030204" pitchFamily="18" charset="0"/>
                        </a:rPr>
                        <m:t>Ф=</m:t>
                      </m:r>
                      <m:sSub>
                        <m:sSub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𝑔</m:t>
                      </m:r>
                      <m:sSup>
                        <m:sSupPr>
                          <m:ctrlP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p>
                          <m:r>
                            <a:rPr lang="en-US" sz="16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ru-RU" sz="1600" b="0" i="1" dirty="0" smtClean="0">
                          <a:latin typeface="Cambria Math" panose="02040503050406030204" pitchFamily="18" charset="0"/>
                        </a:rPr>
                        <m:t>+ </m:t>
                      </m:r>
                      <m:sSub>
                        <m:sSubPr>
                          <m:ctrlPr>
                            <a:rPr lang="ru-RU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Ф</m:t>
                          </m:r>
                        </m:e>
                        <m:sub>
                          <m:r>
                            <a:rPr lang="ru-RU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виб</m:t>
                          </m:r>
                        </m:sub>
                      </m:sSub>
                      <m:r>
                        <a:rPr lang="ru-RU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8598" y="4705738"/>
                <a:ext cx="3198953" cy="363241"/>
              </a:xfrm>
              <a:prstGeom prst="rect">
                <a:avLst/>
              </a:prstGeom>
              <a:blipFill rotWithShape="0">
                <a:blip r:embed="rId4"/>
                <a:stretch>
                  <a:fillRect b="-3333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1289889" y="5121949"/>
            <a:ext cx="41853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где,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k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-k</a:t>
            </a:r>
            <a:r>
              <a:rPr lang="en-US" sz="1600" b="1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эффективный волновой вектор,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скорость чирпирования,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Ф</a:t>
            </a:r>
            <a:r>
              <a:rPr lang="ru-RU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виб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вибрационная фаза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53A8042C-E52E-4288-B49A-5DABBD83A1A0}"/>
              </a:ext>
            </a:extLst>
          </p:cNvPr>
          <p:cNvSpPr txBox="1"/>
          <p:nvPr/>
        </p:nvSpPr>
        <p:spPr>
          <a:xfrm>
            <a:off x="6927491" y="4252219"/>
            <a:ext cx="393331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Населённость атомных состояний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="" xmlns:a16="http://schemas.microsoft.com/office/drawing/2014/main" id="{A5F76187-A348-4512-AFBD-6EA014B794F8}"/>
                  </a:ext>
                </a:extLst>
              </p:cNvPr>
              <p:cNvSpPr txBox="1"/>
              <p:nvPr/>
            </p:nvSpPr>
            <p:spPr>
              <a:xfrm>
                <a:off x="7100779" y="4603799"/>
                <a:ext cx="3647730" cy="170123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m:rPr>
                              <m:sty m:val="p"/>
                            </m:rPr>
                            <a:rPr lang="en-US" sz="16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ru-RU" sz="1600" i="1" dirty="0">
                              <a:latin typeface="Cambria Math" panose="02040503050406030204" pitchFamily="18" charset="0"/>
                              <a:sym typeface="Symbol"/>
                            </a:rPr>
                            <m:t></m:t>
                          </m:r>
                          <m:r>
                            <a:rPr lang="ru-RU" sz="1600" i="1" dirty="0">
                              <a:latin typeface="Cambria Math" panose="02040503050406030204" pitchFamily="18" charset="0"/>
                            </a:rPr>
                            <m:t>Ф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sz="1600" b="0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𝑒𝑓𝑓</m:t>
                              </m:r>
                            </m:sub>
                          </m:s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ru-RU" sz="1600" i="1" dirty="0">
                              <a:latin typeface="Cambria Math" panose="02040503050406030204" pitchFamily="18" charset="0"/>
                            </a:rPr>
                            <m:t>+ </m:t>
                          </m:r>
                          <m:sSub>
                            <m:sSubPr>
                              <m:ctrlPr>
                                <a:rPr lang="ru-RU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Ф</m:t>
                              </m:r>
                            </m:e>
                            <m:sub>
                              <m:r>
                                <a:rPr lang="ru-RU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виб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ru-RU" sz="1600" dirty="0"/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±</m:t>
                          </m:r>
                          <m:r>
                            <m:rPr>
                              <m:sty m:val="p"/>
                            </m:rPr>
                            <a:rPr lang="en-US" sz="160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⁡(</m:t>
                          </m:r>
                          <m:sSub>
                            <m:sSub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ru-RU" sz="1600" b="0" i="1" dirty="0" smtClean="0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  <m:r>
                                    <a:rPr lang="en-US" sz="1600" b="0" i="1" dirty="0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f>
                                    <m:fPr>
                                      <m:ctrlP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ru-RU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Ф</m:t>
                                          </m:r>
                                        </m:e>
                                        <m:sub>
                                          <m:r>
                                            <a:rPr lang="ru-RU" sz="1600" i="1" dirty="0">
                                              <a:solidFill>
                                                <a:schemeClr val="tx1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виб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  <m:r>
                                        <a:rPr lang="en-US" sz="1600" b="0" i="1" dirty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𝜋</m:t>
                                      </m:r>
                                      <m:sSup>
                                        <m:sSupPr>
                                          <m:ctrlPr>
                                            <a:rPr lang="en-US" sz="1600" b="0" i="1" dirty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sz="1600" b="0" i="1" dirty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  <m:sup>
                                          <m:r>
                                            <a:rPr lang="en-US" sz="1600" b="0" i="1" dirty="0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</m:sup>
                                      </m:sSup>
                                    </m:den>
                                  </m:f>
                                  <m:r>
                                    <a:rPr lang="ru-RU" sz="1600" b="0" i="1" dirty="0" smtClean="0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p>
                                  <m:r>
                                    <a:rPr lang="en-US" sz="16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𝑒𝑓𝑓</m:t>
                              </m:r>
                            </m:sub>
                          </m:sSub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𝑔</m:t>
                          </m:r>
                          <m:sSup>
                            <m:sSupPr>
                              <m:ctrlP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6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5F76187-A348-4512-AFBD-6EA014B794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00779" y="4603799"/>
                <a:ext cx="3647730" cy="170123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Google Shape;139;p21">
            <a:extLst>
              <a:ext uri="{FF2B5EF4-FFF2-40B4-BE49-F238E27FC236}">
                <a16:creationId xmlns="" xmlns:a16="http://schemas.microsoft.com/office/drawing/2014/main" id="{B7A8C424-1497-4145-B7C5-C8EA445193E9}"/>
              </a:ext>
            </a:extLst>
          </p:cNvPr>
          <p:cNvSpPr txBox="1"/>
          <p:nvPr/>
        </p:nvSpPr>
        <p:spPr>
          <a:xfrm>
            <a:off x="690460" y="3705337"/>
            <a:ext cx="10790908" cy="5847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600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. Демонстрация влияни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я вибраций зеркала на фазу лазерного излучения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иллюстрация принципа работы атомного интерферометра в гравитационном поле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(б),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демонстрация смешения интерференционной картины из-за вибрация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в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C7C7F885-9814-4E89-91F6-B6347CA79E74}"/>
              </a:ext>
            </a:extLst>
          </p:cNvPr>
          <p:cNvSpPr txBox="1"/>
          <p:nvPr/>
        </p:nvSpPr>
        <p:spPr>
          <a:xfrm>
            <a:off x="11571298" y="6440400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12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="" xmlns:a16="http://schemas.microsoft.com/office/drawing/2014/main" id="{A6D079D9-E0B6-4B34-9A4C-E1FEA0DE601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614" t="4947" r="2762" b="4591"/>
          <a:stretch/>
        </p:blipFill>
        <p:spPr>
          <a:xfrm>
            <a:off x="4180898" y="1022063"/>
            <a:ext cx="3602192" cy="25034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="" xmlns:a16="http://schemas.microsoft.com/office/drawing/2014/main" id="{FC228A56-F53C-4040-AA74-A750668FC7D9}"/>
              </a:ext>
            </a:extLst>
          </p:cNvPr>
          <p:cNvSpPr txBox="1"/>
          <p:nvPr/>
        </p:nvSpPr>
        <p:spPr>
          <a:xfrm>
            <a:off x="1392699" y="768545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1F084374-756E-4C7D-93D4-4F9875A29030}"/>
                  </a:ext>
                </a:extLst>
              </p:cNvPr>
              <p:cNvSpPr txBox="1"/>
              <p:nvPr/>
            </p:nvSpPr>
            <p:spPr>
              <a:xfrm>
                <a:off x="2421985" y="2540296"/>
                <a:ext cx="271228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xmlns:a14="http://schemas.microsoft.com/office/drawing/2010/main" id="{1F084374-756E-4C7D-93D4-4F9875A29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1985" y="2540296"/>
                <a:ext cx="271228" cy="246221"/>
              </a:xfrm>
              <a:prstGeom prst="rect">
                <a:avLst/>
              </a:prstGeom>
              <a:blipFill rotWithShape="0">
                <a:blip r:embed="rId7"/>
                <a:stretch>
                  <a:fillRect l="-15556" r="-6667" b="-1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75AB15FA-B823-45BE-9719-060BB92C4C75}"/>
                  </a:ext>
                </a:extLst>
              </p:cNvPr>
              <p:cNvSpPr txBox="1"/>
              <p:nvPr/>
            </p:nvSpPr>
            <p:spPr>
              <a:xfrm>
                <a:off x="2156394" y="3445722"/>
                <a:ext cx="1226168" cy="2659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𝜑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𝑒𝑓𝑓</m:t>
                          </m:r>
                        </m:sub>
                      </m:sSub>
                      <m:r>
                        <a:rPr lang="ru-RU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5AB15FA-B823-45BE-9719-060BB92C4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6394" y="3445722"/>
                <a:ext cx="1226168" cy="265970"/>
              </a:xfrm>
              <a:prstGeom prst="rect">
                <a:avLst/>
              </a:prstGeom>
              <a:blipFill rotWithShape="0">
                <a:blip r:embed="rId8"/>
                <a:stretch>
                  <a:fillRect l="-2985" r="-995" b="-25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="" xmlns:a16="http://schemas.microsoft.com/office/drawing/2014/main" id="{3DE66B3E-91DE-4731-B98D-DD8CA74B0925}"/>
              </a:ext>
            </a:extLst>
          </p:cNvPr>
          <p:cNvSpPr txBox="1"/>
          <p:nvPr/>
        </p:nvSpPr>
        <p:spPr>
          <a:xfrm>
            <a:off x="1920629" y="3097228"/>
            <a:ext cx="16976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Набег фазы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="" xmlns:a16="http://schemas.microsoft.com/office/drawing/2014/main" id="{05B47A22-8C1F-491D-8F65-97B9F142E382}"/>
              </a:ext>
            </a:extLst>
          </p:cNvPr>
          <p:cNvSpPr txBox="1"/>
          <p:nvPr/>
        </p:nvSpPr>
        <p:spPr>
          <a:xfrm>
            <a:off x="3990271" y="768545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="" xmlns:a16="http://schemas.microsoft.com/office/drawing/2014/main" id="{2A26391C-3869-43E7-8BEF-0BA904BE89BE}"/>
                  </a:ext>
                </a:extLst>
              </p:cNvPr>
              <p:cNvSpPr txBox="1"/>
              <p:nvPr/>
            </p:nvSpPr>
            <p:spPr>
              <a:xfrm>
                <a:off x="8669744" y="6228801"/>
                <a:ext cx="2332653" cy="5005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Ф</m:t>
                              </m:r>
                            </m:e>
                            <m:sub>
                              <m:r>
                                <a:rPr lang="ru-RU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виб</m:t>
                              </m:r>
                            </m:sub>
                          </m:sSub>
                        </m:num>
                        <m:den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A26391C-3869-43E7-8BEF-0BA904BE89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9744" y="6228801"/>
                <a:ext cx="2332653" cy="500586"/>
              </a:xfrm>
              <a:prstGeom prst="rect">
                <a:avLst/>
              </a:prstGeom>
              <a:blipFill rotWithShape="0">
                <a:blip r:embed="rId9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="" xmlns:a16="http://schemas.microsoft.com/office/drawing/2014/main" id="{E551286E-F6FF-4DE4-A290-380457F145C0}"/>
              </a:ext>
            </a:extLst>
          </p:cNvPr>
          <p:cNvSpPr txBox="1"/>
          <p:nvPr/>
        </p:nvSpPr>
        <p:spPr>
          <a:xfrm>
            <a:off x="7183377" y="6318060"/>
            <a:ext cx="21364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Корректировка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60272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6;p21">
            <a:extLst>
              <a:ext uri="{FF2B5EF4-FFF2-40B4-BE49-F238E27FC236}">
                <a16:creationId xmlns="" xmlns:a16="http://schemas.microsoft.com/office/drawing/2014/main" id="{C92AC4AA-0032-4615-96ED-9EC44976FD96}"/>
              </a:ext>
            </a:extLst>
          </p:cNvPr>
          <p:cNvSpPr/>
          <p:nvPr/>
        </p:nvSpPr>
        <p:spPr>
          <a:xfrm>
            <a:off x="1619070" y="32347"/>
            <a:ext cx="8953860" cy="623643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Arial"/>
                <a:cs typeface="Times New Roman"/>
                <a:sym typeface="Times New Roman"/>
              </a:rPr>
              <a:t>Нахождение вибрационной фазы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="" xmlns:a16="http://schemas.microsoft.com/office/drawing/2014/main" id="{656B4533-F1DA-4E4E-8C53-BCC6CEFB8E14}"/>
                  </a:ext>
                </a:extLst>
              </p:cNvPr>
              <p:cNvSpPr txBox="1"/>
              <p:nvPr/>
            </p:nvSpPr>
            <p:spPr>
              <a:xfrm>
                <a:off x="4119079" y="1025723"/>
                <a:ext cx="2886269" cy="334515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Ф</m:t>
                        </m:r>
                      </m:e>
                      <m:sub>
                        <m:r>
                          <a:rPr lang="ru-RU" sz="16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виб</m:t>
                        </m:r>
                      </m:sub>
                    </m:sSub>
                    <m:r>
                      <a:rPr lang="ru-RU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  <m:nary>
                      <m:naryPr>
                        <m:ctrlP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+4</m:t>
                        </m:r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p>
                      <m:e>
                        <m:sSub>
                          <m:sSubPr>
                            <m:ctrlPr>
                              <a:rPr lang="ru-RU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  <m:r>
                          <a:rPr lang="ru-RU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ru-RU" sz="1600" dirty="0"/>
                  <a:t> 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6B4533-F1DA-4E4E-8C53-BCC6CEFB8E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9079" y="1025723"/>
                <a:ext cx="2886269" cy="334515"/>
              </a:xfrm>
              <a:prstGeom prst="rect">
                <a:avLst/>
              </a:prstGeom>
              <a:blipFill>
                <a:blip r:embed="rId2"/>
                <a:stretch>
                  <a:fillRect l="-2537" t="-140000" b="-220000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0F4C38C-6509-4CBE-B2EB-9C3DBDE6CBCF}"/>
              </a:ext>
            </a:extLst>
          </p:cNvPr>
          <p:cNvSpPr txBox="1"/>
          <p:nvPr/>
        </p:nvSpPr>
        <p:spPr>
          <a:xfrm>
            <a:off x="3671813" y="1479462"/>
            <a:ext cx="53197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ru-RU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ускорение зеркала,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между рамановскими импульсами,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длительность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импульса,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чувствительность гравиметра.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="" xmlns:a16="http://schemas.microsoft.com/office/drawing/2014/main" id="{BC401C56-8DBA-49D4-A6F3-E46BAD8339E1}"/>
              </a:ext>
            </a:extLst>
          </p:cNvPr>
          <p:cNvSpPr txBox="1"/>
          <p:nvPr/>
        </p:nvSpPr>
        <p:spPr>
          <a:xfrm>
            <a:off x="1852925" y="5031323"/>
            <a:ext cx="8486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Функция чувствительности квантового гравиметра.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83934DD6-F1BA-4777-9BC3-0D3C76795A93}"/>
              </a:ext>
            </a:extLst>
          </p:cNvPr>
          <p:cNvSpPr txBox="1"/>
          <p:nvPr/>
        </p:nvSpPr>
        <p:spPr>
          <a:xfrm>
            <a:off x="11571298" y="6440400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13</a:t>
            </a:r>
            <a:endParaRPr lang="ru-RU" dirty="0"/>
          </a:p>
        </p:txBody>
      </p:sp>
      <p:pic>
        <p:nvPicPr>
          <p:cNvPr id="11" name="Рисунок 10">
            <a:extLst>
              <a:ext uri="{FF2B5EF4-FFF2-40B4-BE49-F238E27FC236}">
                <a16:creationId xmlns="" xmlns:a16="http://schemas.microsoft.com/office/drawing/2014/main" id="{ED034DE6-742C-4A63-A520-C0E758161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9079" y="2423682"/>
            <a:ext cx="3569345" cy="257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015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40" y="957372"/>
            <a:ext cx="3076056" cy="2299114"/>
          </a:xfrm>
          <a:prstGeom prst="rect">
            <a:avLst/>
          </a:prstGeom>
        </p:spPr>
      </p:pic>
      <p:sp>
        <p:nvSpPr>
          <p:cNvPr id="2" name="Google Shape;136;p21">
            <a:extLst>
              <a:ext uri="{FF2B5EF4-FFF2-40B4-BE49-F238E27FC236}">
                <a16:creationId xmlns="" xmlns:a16="http://schemas.microsoft.com/office/drawing/2014/main" id="{535A5357-A41F-4385-8B97-66DA938677B8}"/>
              </a:ext>
            </a:extLst>
          </p:cNvPr>
          <p:cNvSpPr/>
          <p:nvPr/>
        </p:nvSpPr>
        <p:spPr>
          <a:xfrm>
            <a:off x="729552" y="100772"/>
            <a:ext cx="10324114" cy="48394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Arial"/>
                <a:cs typeface="Times New Roman"/>
                <a:sym typeface="Times New Roman"/>
              </a:rPr>
              <a:t>Экспериментальная система для нахождения вибрационной фазы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9932C695-49B8-4572-9706-EB584FF3B2F0}"/>
              </a:ext>
            </a:extLst>
          </p:cNvPr>
          <p:cNvSpPr txBox="1"/>
          <p:nvPr/>
        </p:nvSpPr>
        <p:spPr>
          <a:xfrm>
            <a:off x="11591156" y="6446706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</a:t>
            </a:r>
            <a:r>
              <a:rPr lang="ru-RU" dirty="0"/>
              <a:t>4</a:t>
            </a:r>
            <a:endParaRPr lang="ru-RU" dirty="0"/>
          </a:p>
        </p:txBody>
      </p:sp>
      <p:pic>
        <p:nvPicPr>
          <p:cNvPr id="50" name="Рисунок 49">
            <a:extLst>
              <a:ext uri="{FF2B5EF4-FFF2-40B4-BE49-F238E27FC236}">
                <a16:creationId xmlns="" xmlns:a16="http://schemas.microsoft.com/office/drawing/2014/main" id="{1B86CB88-0BFE-4864-B2EE-834FABF0D64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367" t="2852" r="3812" b="3862"/>
          <a:stretch/>
        </p:blipFill>
        <p:spPr>
          <a:xfrm>
            <a:off x="3535438" y="762861"/>
            <a:ext cx="3704624" cy="2609175"/>
          </a:xfrm>
          <a:prstGeom prst="rect">
            <a:avLst/>
          </a:prstGeom>
        </p:spPr>
      </p:pic>
      <p:sp>
        <p:nvSpPr>
          <p:cNvPr id="51" name="Google Shape;139;p21">
            <a:extLst>
              <a:ext uri="{FF2B5EF4-FFF2-40B4-BE49-F238E27FC236}">
                <a16:creationId xmlns="" xmlns:a16="http://schemas.microsoft.com/office/drawing/2014/main" id="{DB31045B-64E8-4C95-921F-4E6125B3101B}"/>
              </a:ext>
            </a:extLst>
          </p:cNvPr>
          <p:cNvSpPr txBox="1"/>
          <p:nvPr/>
        </p:nvSpPr>
        <p:spPr>
          <a:xfrm>
            <a:off x="963530" y="3382817"/>
            <a:ext cx="10536307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600"/>
            </a:pP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. Экспериментальная установка для измерения ускорения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 зеркала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(а)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;</a:t>
            </a:r>
            <a:r>
              <a:rPr lang="ru-RU" sz="1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Окно программы для управления сбора данных с акселерометра с помощью 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Red pitaya (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б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):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сигнал акселерометра – синий, триггерный сигнал– красный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; </a:t>
            </a: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Подбор коэффициентов передаточной функции и демонстрация пост-коррекции интерференционного сигнала (в).</a:t>
            </a:r>
            <a:r>
              <a:rPr lang="en-US" sz="16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="" xmlns:a16="http://schemas.microsoft.com/office/drawing/2014/main" id="{C123148B-D47B-4EE9-816D-57391A88CB09}"/>
              </a:ext>
            </a:extLst>
          </p:cNvPr>
          <p:cNvSpPr txBox="1"/>
          <p:nvPr/>
        </p:nvSpPr>
        <p:spPr>
          <a:xfrm>
            <a:off x="963530" y="4264430"/>
            <a:ext cx="48419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Передаточная функция акселерометра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="" xmlns:a16="http://schemas.microsoft.com/office/drawing/2014/main" id="{54F217A7-8A53-4051-B61A-46EE6B6E7593}"/>
                  </a:ext>
                </a:extLst>
              </p:cNvPr>
              <p:cNvSpPr txBox="1"/>
              <p:nvPr/>
            </p:nvSpPr>
            <p:spPr>
              <a:xfrm>
                <a:off x="1809268" y="4779972"/>
                <a:ext cx="192514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54F217A7-8A53-4051-B61A-46EE6B6E75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268" y="4779972"/>
                <a:ext cx="1925142" cy="246221"/>
              </a:xfrm>
              <a:prstGeom prst="rect">
                <a:avLst/>
              </a:prstGeom>
              <a:blipFill>
                <a:blip r:embed="rId4"/>
                <a:stretch>
                  <a:fillRect l="-949" b="-731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TextBox 53">
            <a:extLst>
              <a:ext uri="{FF2B5EF4-FFF2-40B4-BE49-F238E27FC236}">
                <a16:creationId xmlns="" xmlns:a16="http://schemas.microsoft.com/office/drawing/2014/main" id="{74EEC305-5116-49C6-A223-32088B9EBA3B}"/>
              </a:ext>
            </a:extLst>
          </p:cNvPr>
          <p:cNvSpPr txBox="1"/>
          <p:nvPr/>
        </p:nvSpPr>
        <p:spPr>
          <a:xfrm>
            <a:off x="821813" y="5097734"/>
            <a:ext cx="45519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ускорение зеркала,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ускорение акселерометра,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∆t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временная задержка сигнала,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амплитудный коэффициент.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="" xmlns:a16="http://schemas.microsoft.com/office/drawing/2014/main" id="{D8F6EADB-B927-4550-9C49-1C7CCBBE09A2}"/>
                  </a:ext>
                </a:extLst>
              </p:cNvPr>
              <p:cNvSpPr txBox="1"/>
              <p:nvPr/>
            </p:nvSpPr>
            <p:spPr>
              <a:xfrm>
                <a:off x="8540621" y="4779972"/>
                <a:ext cx="2332653" cy="5143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Ф</m:t>
                              </m:r>
                            </m:e>
                            <m:sub>
                              <m:r>
                                <a:rPr lang="ru-RU" sz="1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виб</m:t>
                              </m:r>
                            </m:sub>
                          </m:sSub>
                          <m:r>
                            <a:rPr lang="ru-RU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ru-RU" sz="14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4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8F6EADB-B927-4550-9C49-1C7CCBBE0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0621" y="4779972"/>
                <a:ext cx="2332653" cy="5143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="" xmlns:a16="http://schemas.microsoft.com/office/drawing/2014/main" id="{39075ACC-2926-4BAF-926A-C744BEEE2389}"/>
              </a:ext>
            </a:extLst>
          </p:cNvPr>
          <p:cNvSpPr txBox="1"/>
          <p:nvPr/>
        </p:nvSpPr>
        <p:spPr>
          <a:xfrm>
            <a:off x="6818275" y="4882346"/>
            <a:ext cx="21364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216000"/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Корректировка 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α:</a:t>
            </a:r>
            <a:endParaRPr lang="ru-RU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="" xmlns:a16="http://schemas.microsoft.com/office/drawing/2014/main" id="{2137EB49-2938-48C8-976D-CD72A01DB3CB}"/>
              </a:ext>
            </a:extLst>
          </p:cNvPr>
          <p:cNvSpPr txBox="1"/>
          <p:nvPr/>
        </p:nvSpPr>
        <p:spPr>
          <a:xfrm>
            <a:off x="5617029" y="4236498"/>
            <a:ext cx="6574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Подбор коэффициентов передаточной функции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пост-коррекция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pic>
        <p:nvPicPr>
          <p:cNvPr id="65" name="Рисунок 64">
            <a:extLst>
              <a:ext uri="{FF2B5EF4-FFF2-40B4-BE49-F238E27FC236}">
                <a16:creationId xmlns="" xmlns:a16="http://schemas.microsoft.com/office/drawing/2014/main" id="{03EAB47F-A127-4F36-9FC1-BDC6A329A7DF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167" t="5015" r="1585" b="4990"/>
          <a:stretch/>
        </p:blipFill>
        <p:spPr>
          <a:xfrm>
            <a:off x="7312661" y="1264138"/>
            <a:ext cx="4788569" cy="1439260"/>
          </a:xfrm>
          <a:prstGeom prst="rect">
            <a:avLst/>
          </a:prstGeom>
        </p:spPr>
      </p:pic>
      <p:cxnSp>
        <p:nvCxnSpPr>
          <p:cNvPr id="67" name="Прямая со стрелкой 66">
            <a:extLst>
              <a:ext uri="{FF2B5EF4-FFF2-40B4-BE49-F238E27FC236}">
                <a16:creationId xmlns="" xmlns:a16="http://schemas.microsoft.com/office/drawing/2014/main" id="{95661207-FD7C-4B8C-81F6-BA9919077A58}"/>
              </a:ext>
            </a:extLst>
          </p:cNvPr>
          <p:cNvCxnSpPr>
            <a:cxnSpLocks/>
          </p:cNvCxnSpPr>
          <p:nvPr/>
        </p:nvCxnSpPr>
        <p:spPr>
          <a:xfrm>
            <a:off x="8540620" y="1107317"/>
            <a:ext cx="2513046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="" xmlns:a16="http://schemas.microsoft.com/office/drawing/2014/main" id="{59144724-DE99-40F5-98CF-EB3900FD24E4}"/>
              </a:ext>
            </a:extLst>
          </p:cNvPr>
          <p:cNvSpPr txBox="1"/>
          <p:nvPr/>
        </p:nvSpPr>
        <p:spPr>
          <a:xfrm>
            <a:off x="8135977" y="711019"/>
            <a:ext cx="657497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Подбор (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K, </a:t>
            </a:r>
            <a:r>
              <a:rPr lang="el-G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ru-RU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и пост-коррекция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="" xmlns:a16="http://schemas.microsoft.com/office/drawing/2014/main" id="{C7485A22-BF4D-48AC-895F-DF74FD27014A}"/>
              </a:ext>
            </a:extLst>
          </p:cNvPr>
          <p:cNvSpPr txBox="1"/>
          <p:nvPr/>
        </p:nvSpPr>
        <p:spPr>
          <a:xfrm>
            <a:off x="3084864" y="537383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="" xmlns:a16="http://schemas.microsoft.com/office/drawing/2014/main" id="{3ADBD3C2-D191-4F54-98DB-3146E94F5266}"/>
              </a:ext>
            </a:extLst>
          </p:cNvPr>
          <p:cNvSpPr txBox="1"/>
          <p:nvPr/>
        </p:nvSpPr>
        <p:spPr>
          <a:xfrm>
            <a:off x="52086" y="540754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="" xmlns:a16="http://schemas.microsoft.com/office/drawing/2014/main" id="{D4BEB926-DBF2-4E58-9E83-99A4A921468F}"/>
              </a:ext>
            </a:extLst>
          </p:cNvPr>
          <p:cNvSpPr txBox="1"/>
          <p:nvPr/>
        </p:nvSpPr>
        <p:spPr>
          <a:xfrm>
            <a:off x="7287649" y="589323"/>
            <a:ext cx="839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3370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38;p41">
            <a:extLst>
              <a:ext uri="{FF2B5EF4-FFF2-40B4-BE49-F238E27FC236}">
                <a16:creationId xmlns="" xmlns:a16="http://schemas.microsoft.com/office/drawing/2014/main" id="{FD46C5F4-A971-4CA4-8EA1-62B295AC1E02}"/>
              </a:ext>
            </a:extLst>
          </p:cNvPr>
          <p:cNvSpPr/>
          <p:nvPr/>
        </p:nvSpPr>
        <p:spPr>
          <a:xfrm>
            <a:off x="1742753" y="74058"/>
            <a:ext cx="9169087" cy="35684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Результаты компенсации вибрационных шумов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CFBBB85-1DFE-4038-BF35-8451EAA57176}"/>
              </a:ext>
            </a:extLst>
          </p:cNvPr>
          <p:cNvSpPr txBox="1"/>
          <p:nvPr/>
        </p:nvSpPr>
        <p:spPr>
          <a:xfrm>
            <a:off x="3702725" y="4738340"/>
            <a:ext cx="5625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Интерференционная картина до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 после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компенсации вибрационных шумов.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604A0537-671D-4211-BE82-4434C00B09D1}"/>
              </a:ext>
            </a:extLst>
          </p:cNvPr>
          <p:cNvSpPr txBox="1"/>
          <p:nvPr/>
        </p:nvSpPr>
        <p:spPr>
          <a:xfrm>
            <a:off x="11591156" y="6446706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</a:t>
            </a:r>
            <a:r>
              <a:rPr lang="ru-RU" dirty="0"/>
              <a:t>5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="" xmlns:a16="http://schemas.microsoft.com/office/drawing/2014/main" id="{FF817AEB-FE3F-406B-B0E6-30E72F4D28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7511" y="1211765"/>
            <a:ext cx="4658706" cy="341587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="" xmlns:a16="http://schemas.microsoft.com/office/drawing/2014/main" id="{7F9714C1-0278-418E-9C5E-8C01C702F211}"/>
                  </a:ext>
                </a:extLst>
              </p:cNvPr>
              <p:cNvSpPr txBox="1"/>
              <p:nvPr/>
            </p:nvSpPr>
            <p:spPr>
              <a:xfrm>
                <a:off x="8990198" y="2168425"/>
                <a:ext cx="1832425" cy="3075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𝑔𝑒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=21 </m:t>
                      </m:r>
                      <m:r>
                        <a:rPr lang="ru-RU" sz="1600" b="0" i="1" smtClean="0">
                          <a:latin typeface="Cambria Math" panose="02040503050406030204" pitchFamily="18" charset="0"/>
                        </a:rPr>
                        <m:t>мГал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u-RU" sz="1600" b="0" i="1" smtClean="0">
                              <a:latin typeface="Cambria Math" panose="02040503050406030204" pitchFamily="18" charset="0"/>
                            </a:rPr>
                            <m:t>Гц</m:t>
                          </m:r>
                        </m:e>
                      </m:rad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7F9714C1-0278-418E-9C5E-8C01C702F2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0198" y="2168425"/>
                <a:ext cx="1832425" cy="307585"/>
              </a:xfrm>
              <a:prstGeom prst="rect">
                <a:avLst/>
              </a:prstGeom>
              <a:blipFill rotWithShape="0">
                <a:blip r:embed="rId3"/>
                <a:stretch>
                  <a:fillRect l="-1000" r="-3000"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="" xmlns:a16="http://schemas.microsoft.com/office/drawing/2014/main" id="{AF027379-30AF-49FA-9C6A-2DC113651CF2}"/>
                  </a:ext>
                </a:extLst>
              </p:cNvPr>
              <p:cNvSpPr txBox="1"/>
              <p:nvPr/>
            </p:nvSpPr>
            <p:spPr>
              <a:xfrm>
                <a:off x="8990197" y="2539083"/>
                <a:ext cx="1842492" cy="30758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𝑔𝑝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=10 </m:t>
                      </m:r>
                      <m:r>
                        <a:rPr lang="ru-RU" sz="1600" b="0" i="1" smtClean="0">
                          <a:latin typeface="Cambria Math" panose="02040503050406030204" pitchFamily="18" charset="0"/>
                        </a:rPr>
                        <m:t>мГал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ru-RU" sz="1600" b="0" i="1" smtClean="0">
                              <a:latin typeface="Cambria Math" panose="02040503050406030204" pitchFamily="18" charset="0"/>
                            </a:rPr>
                            <m:t>Гц</m:t>
                          </m:r>
                        </m:e>
                      </m:rad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F027379-30AF-49FA-9C6A-2DC113651C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0197" y="2539083"/>
                <a:ext cx="1842492" cy="307585"/>
              </a:xfrm>
              <a:prstGeom prst="rect">
                <a:avLst/>
              </a:prstGeom>
              <a:blipFill rotWithShape="0">
                <a:blip r:embed="rId4"/>
                <a:stretch>
                  <a:fillRect l="-993" r="-2980" b="-20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="" xmlns:a16="http://schemas.microsoft.com/office/drawing/2014/main" id="{2067F7B2-4F17-4FA1-9BF5-0D4932780402}"/>
                  </a:ext>
                </a:extLst>
              </p:cNvPr>
              <p:cNvSpPr txBox="1"/>
              <p:nvPr/>
            </p:nvSpPr>
            <p:spPr>
              <a:xfrm>
                <a:off x="9444764" y="3118064"/>
                <a:ext cx="896592" cy="4969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𝑔𝑒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16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sz="16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=2.1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067F7B2-4F17-4FA1-9BF5-0D49327804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44764" y="3118064"/>
                <a:ext cx="896592" cy="496931"/>
              </a:xfrm>
              <a:prstGeom prst="rect">
                <a:avLst/>
              </a:prstGeom>
              <a:blipFill rotWithShape="0">
                <a:blip r:embed="rId5"/>
                <a:stretch>
                  <a:fillRect l="-2041" r="-4082" b="-97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="" xmlns:a16="http://schemas.microsoft.com/office/drawing/2014/main" id="{2137EB49-2938-48C8-976D-CD72A01DB3CB}"/>
              </a:ext>
            </a:extLst>
          </p:cNvPr>
          <p:cNvSpPr txBox="1"/>
          <p:nvPr/>
        </p:nvSpPr>
        <p:spPr>
          <a:xfrm>
            <a:off x="8286217" y="1447952"/>
            <a:ext cx="381501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Чувствительность гравиметра до и после пост-коррекции</a:t>
            </a:r>
            <a:r>
              <a:rPr lang="en-US" sz="1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="" xmlns:a16="http://schemas.microsoft.com/office/drawing/2014/main" id="{21842DF5-87AF-4AFA-A45C-0EC2908FA86D}"/>
                  </a:ext>
                </a:extLst>
              </p:cNvPr>
              <p:cNvSpPr txBox="1"/>
              <p:nvPr/>
            </p:nvSpPr>
            <p:spPr>
              <a:xfrm>
                <a:off x="1023204" y="3053366"/>
                <a:ext cx="2050754" cy="62632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cos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⁡(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  <a:sym typeface="Symbol"/>
                            </a:rPr>
                            <m:t></m:t>
                          </m:r>
                          <m:r>
                            <a:rPr lang="ru-RU" sz="1800" i="1" dirty="0">
                              <a:latin typeface="Cambria Math" panose="02040503050406030204" pitchFamily="18" charset="0"/>
                            </a:rPr>
                            <m:t>Ф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ru-RU" sz="18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1842DF5-87AF-4AFA-A45C-0EC2908FA8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3204" y="3053366"/>
                <a:ext cx="2050754" cy="626325"/>
              </a:xfrm>
              <a:prstGeom prst="rect">
                <a:avLst/>
              </a:prstGeom>
              <a:blipFill rotWithShape="0">
                <a:blip r:embed="rId6"/>
                <a:stretch>
                  <a:fillRect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="" xmlns:a16="http://schemas.microsoft.com/office/drawing/2014/main" id="{65E1332E-B1D6-4008-82C1-20AC426FB8D6}"/>
                  </a:ext>
                </a:extLst>
              </p:cNvPr>
              <p:cNvSpPr txBox="1"/>
              <p:nvPr/>
            </p:nvSpPr>
            <p:spPr>
              <a:xfrm>
                <a:off x="374127" y="2295779"/>
                <a:ext cx="3171301" cy="397096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800" i="1" dirty="0" smtClean="0">
                        <a:latin typeface="Cambria Math" panose="02040503050406030204" pitchFamily="18" charset="0"/>
                        <a:sym typeface="Symbol"/>
                      </a:rPr>
                      <m:t></m:t>
                    </m:r>
                    <m:r>
                      <a:rPr lang="ru-RU" sz="1800" i="1" dirty="0" smtClean="0">
                        <a:latin typeface="Cambria Math" panose="02040503050406030204" pitchFamily="18" charset="0"/>
                      </a:rPr>
                      <m:t>Ф=</m:t>
                    </m:r>
                    <m:sSub>
                      <m:sSub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𝜋</m:t>
                        </m:r>
                        <m:sSup>
                          <m:sSupPr>
                            <m:ctrlPr>
                              <a:rPr lang="en-US" sz="18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p>
                            <m:r>
                              <a:rPr lang="en-US" sz="1800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𝑔</m:t>
                    </m:r>
                    <m:sSup>
                      <m:sSupPr>
                        <m:ctrlPr>
                          <a:rPr lang="en-US" sz="18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p>
                        <m:r>
                          <a:rPr lang="en-US" sz="18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ru-RU" sz="180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Ф</m:t>
                        </m:r>
                      </m:e>
                      <m:sub>
                        <m:r>
                          <a:rPr lang="ru-RU" sz="18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виб</m:t>
                        </m:r>
                      </m:sub>
                    </m:sSub>
                  </m:oMath>
                </a14:m>
                <a:endParaRPr lang="ru-RU" sz="1800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5E1332E-B1D6-4008-82C1-20AC426FB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127" y="2295779"/>
                <a:ext cx="3171301" cy="397096"/>
              </a:xfrm>
              <a:prstGeom prst="rect">
                <a:avLst/>
              </a:prstGeom>
              <a:blipFill rotWithShape="0">
                <a:blip r:embed="rId7"/>
                <a:stretch>
                  <a:fillRect t="-4286" b="-12857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87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38;p41">
            <a:extLst>
              <a:ext uri="{FF2B5EF4-FFF2-40B4-BE49-F238E27FC236}">
                <a16:creationId xmlns="" xmlns:a16="http://schemas.microsoft.com/office/drawing/2014/main" id="{52BC617F-5E2D-4580-9506-94A652B0244A}"/>
              </a:ext>
            </a:extLst>
          </p:cNvPr>
          <p:cNvSpPr/>
          <p:nvPr/>
        </p:nvSpPr>
        <p:spPr>
          <a:xfrm>
            <a:off x="2456856" y="56641"/>
            <a:ext cx="6910755" cy="35684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Компенсация вибрационных шумов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744425" y="1245913"/>
                <a:ext cx="3087897" cy="3763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ru-RU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∆</m:t>
                    </m:r>
                    <m:r>
                      <m:rPr>
                        <m:sty m:val="p"/>
                      </m:rPr>
                      <a:rPr lang="el-GR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Φ</m:t>
                    </m:r>
                    <m:r>
                      <a:rPr lang="ru-RU" sz="1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𝑒𝑓𝑓</m:t>
                        </m:r>
                      </m:sub>
                    </m:sSub>
                    <m:nary>
                      <m:naryPr>
                        <m:ctrlP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𝑇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+4</m:t>
                        </m:r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𝜏</m:t>
                        </m:r>
                      </m:sup>
                      <m:e>
                        <m:sSub>
                          <m:sSubPr>
                            <m:ctrlPr>
                              <a:rPr lang="ru-RU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8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US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𝑑𝑡</m:t>
                        </m:r>
                        <m:r>
                          <a:rPr lang="ru-RU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</m:e>
                    </m:nary>
                  </m:oMath>
                </a14:m>
                <a:r>
                  <a:rPr lang="ru-RU" sz="1800" dirty="0"/>
                  <a:t>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44425" y="1245913"/>
                <a:ext cx="3087897" cy="376321"/>
              </a:xfrm>
              <a:prstGeom prst="rect">
                <a:avLst/>
              </a:prstGeom>
              <a:blipFill rotWithShape="0">
                <a:blip r:embed="rId2"/>
                <a:stretch>
                  <a:fillRect l="-2564" t="-141935" b="-22258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Google Shape;128;p3">
            <a:extLst>
              <a:ext uri="{FF2B5EF4-FFF2-40B4-BE49-F238E27FC236}">
                <a16:creationId xmlns="" xmlns:a16="http://schemas.microsoft.com/office/drawing/2014/main" id="{52CF571A-675C-4FDD-AB69-292840376EFC}"/>
              </a:ext>
            </a:extLst>
          </p:cNvPr>
          <p:cNvCxnSpPr/>
          <p:nvPr/>
        </p:nvCxnSpPr>
        <p:spPr>
          <a:xfrm flipV="1">
            <a:off x="6503394" y="908053"/>
            <a:ext cx="0" cy="449424"/>
          </a:xfrm>
          <a:prstGeom prst="straightConnector1">
            <a:avLst/>
          </a:prstGeom>
          <a:noFill/>
          <a:ln w="38100" cap="flat" cmpd="sng">
            <a:solidFill>
              <a:srgbClr val="C0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cxnSp>
        <p:nvCxnSpPr>
          <p:cNvPr id="6" name="Google Shape;129;p3">
            <a:extLst>
              <a:ext uri="{FF2B5EF4-FFF2-40B4-BE49-F238E27FC236}">
                <a16:creationId xmlns="" xmlns:a16="http://schemas.microsoft.com/office/drawing/2014/main" id="{36D48272-627A-435F-BE0E-419555BB1BEB}"/>
              </a:ext>
            </a:extLst>
          </p:cNvPr>
          <p:cNvCxnSpPr/>
          <p:nvPr/>
        </p:nvCxnSpPr>
        <p:spPr>
          <a:xfrm>
            <a:off x="6332954" y="936706"/>
            <a:ext cx="0" cy="449424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triangle" w="med" len="med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</p:cxnSp>
      <p:sp>
        <p:nvSpPr>
          <p:cNvPr id="7" name="Google Shape;130;p3">
            <a:extLst>
              <a:ext uri="{FF2B5EF4-FFF2-40B4-BE49-F238E27FC236}">
                <a16:creationId xmlns="" xmlns:a16="http://schemas.microsoft.com/office/drawing/2014/main" id="{73D215C2-69C5-4077-B42B-60F459E6AE6A}"/>
              </a:ext>
            </a:extLst>
          </p:cNvPr>
          <p:cNvSpPr txBox="1"/>
          <p:nvPr/>
        </p:nvSpPr>
        <p:spPr>
          <a:xfrm>
            <a:off x="5547359" y="413486"/>
            <a:ext cx="1741714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Рамановские</a:t>
            </a:r>
            <a:endParaRPr sz="1400" b="1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Пучки</a:t>
            </a:r>
            <a:endParaRPr dirty="0"/>
          </a:p>
        </p:txBody>
      </p:sp>
      <p:pic>
        <p:nvPicPr>
          <p:cNvPr id="8" name="Google Shape;132;p3">
            <a:extLst>
              <a:ext uri="{FF2B5EF4-FFF2-40B4-BE49-F238E27FC236}">
                <a16:creationId xmlns="" xmlns:a16="http://schemas.microsoft.com/office/drawing/2014/main" id="{67EF4C54-3DD4-461F-A1E6-2F7C12C0567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5973" b="20315"/>
          <a:stretch/>
        </p:blipFill>
        <p:spPr>
          <a:xfrm>
            <a:off x="6016046" y="1504350"/>
            <a:ext cx="804340" cy="242747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33;p3">
            <a:extLst>
              <a:ext uri="{FF2B5EF4-FFF2-40B4-BE49-F238E27FC236}">
                <a16:creationId xmlns="" xmlns:a16="http://schemas.microsoft.com/office/drawing/2014/main" id="{91B3367F-CA7E-4C97-86B3-FA5574D0557B}"/>
              </a:ext>
            </a:extLst>
          </p:cNvPr>
          <p:cNvSpPr txBox="1"/>
          <p:nvPr/>
        </p:nvSpPr>
        <p:spPr>
          <a:xfrm>
            <a:off x="5989589" y="1725513"/>
            <a:ext cx="104502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Зеркало</a:t>
            </a:r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14086" y="1597305"/>
            <a:ext cx="440653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T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время между рамановскими импульсами,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длительность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импульса,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6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функция чувствительность гравиметра для ускорения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893795" y="2652468"/>
                <a:ext cx="6055889" cy="29434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8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m:rPr>
                                      <m:sty m:val="p"/>
                                    </m:rPr>
                                    <a:rPr lang="en-US" sz="1800" b="0" i="0" smtClean="0"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l-GR" sz="1800" b="0" i="1" smtClean="0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  <m:d>
                                    <m:d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</a:rPr>
                                        <m:t>−2</m:t>
                                      </m:r>
                                      <m: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  <m: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</a:rPr>
                                <m:t> &lt;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m:rPr>
                                  <m:nor/>
                                </m:rPr>
                                <a:rPr lang="ru-RU" sz="1800" dirty="0"/>
                                <m:t> 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sz="1800" b="0" i="1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800" b="0" i="0" smtClean="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800" b="0" i="1" smtClean="0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1800" i="1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</a:rPr>
                                                <m:t>−2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</m:t>
                                              </m:r>
                                              <m:r>
                                                <a:rPr lang="en-US" sz="1800" b="0" i="1" smtClean="0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18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,3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e>
                              <m:f>
                                <m:fPr>
                                  <m:ctrlP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func>
                                    <m:funcPr>
                                      <m:ctrlPr>
                                        <a:rPr lang="en-US" sz="180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funcPr>
                                    <m:fName>
                                      <m:r>
                                        <m:rPr>
                                          <m:sty m:val="p"/>
                                        </m:rPr>
                                        <a:rPr lang="en-US" sz="1800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cos</m:t>
                                      </m:r>
                                    </m:fName>
                                    <m:e>
                                      <m:d>
                                        <m:dPr>
                                          <m:ctrlPr>
                                            <a:rPr lang="en-US" sz="1800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m:rPr>
                                              <m:sty m:val="p"/>
                                            </m:rPr>
                                            <a:rPr lang="el-GR" sz="1800" i="1">
                                              <a:latin typeface="Cambria Math" panose="02040503050406030204" pitchFamily="18" charset="0"/>
                                            </a:rPr>
                                            <m:t>Ω</m:t>
                                          </m:r>
                                          <m:d>
                                            <m:dPr>
                                              <m:ctrlP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dPr>
                                            <m:e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𝑡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</a:rPr>
                                                <m:t>−2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𝜏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−2</m:t>
                                              </m:r>
                                              <m:r>
                                                <a:rPr lang="en-US" sz="1800" i="1">
                                                  <a:latin typeface="Cambria Math" panose="02040503050406030204" pitchFamily="18" charset="0"/>
                                                  <a:ea typeface="Cambria Math" panose="02040503050406030204" pitchFamily="18" charset="0"/>
                                                </a:rPr>
                                                <m:t>𝑇</m:t>
                                              </m:r>
                                            </m:e>
                                          </m:d>
                                        </m:e>
                                      </m:d>
                                    </m:e>
                                  </m:func>
                                  <m:r>
                                    <a:rPr lang="en-US" sz="18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+1</m:t>
                                  </m:r>
                                </m:num>
                                <m:den>
                                  <m:r>
                                    <m:rPr>
                                      <m:sty m:val="p"/>
                                    </m:rPr>
                                    <a:rPr lang="el-GR" sz="1800" i="1">
                                      <a:latin typeface="Cambria Math" panose="02040503050406030204" pitchFamily="18" charset="0"/>
                                    </a:rPr>
                                    <m:t>Ω</m:t>
                                  </m:r>
                                </m:den>
                              </m:f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,3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≤4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+2</m:t>
                              </m:r>
                              <m:r>
                                <a:rPr lang="en-US" sz="18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3795" y="2652468"/>
                <a:ext cx="6055889" cy="2943498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6985798" y="5713343"/>
            <a:ext cx="4406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Ω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/2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частота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раби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6" name="Прямоугольник 15"/>
          <p:cNvSpPr/>
          <p:nvPr/>
        </p:nvSpPr>
        <p:spPr>
          <a:xfrm>
            <a:off x="621739" y="4216252"/>
            <a:ext cx="5870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800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(t)</a:t>
            </a:r>
            <a:endParaRPr lang="ru-RU" sz="1800" dirty="0"/>
          </a:p>
        </p:txBody>
      </p:sp>
      <p:pic>
        <p:nvPicPr>
          <p:cNvPr id="17" name="Рисунок 16"/>
          <p:cNvPicPr>
            <a:picLocks noChangeAspect="1"/>
          </p:cNvPicPr>
          <p:nvPr/>
        </p:nvPicPr>
        <p:blipFill rotWithShape="1">
          <a:blip r:embed="rId5"/>
          <a:srcRect l="2261" t="6649" r="4618" b="8482"/>
          <a:stretch/>
        </p:blipFill>
        <p:spPr>
          <a:xfrm>
            <a:off x="1235273" y="3001964"/>
            <a:ext cx="4088730" cy="2797909"/>
          </a:xfrm>
          <a:prstGeom prst="rect">
            <a:avLst/>
          </a:prstGeom>
        </p:spPr>
      </p:pic>
      <p:sp>
        <p:nvSpPr>
          <p:cNvPr id="28" name="Прямоугольник 27"/>
          <p:cNvSpPr/>
          <p:nvPr/>
        </p:nvSpPr>
        <p:spPr>
          <a:xfrm>
            <a:off x="4767978" y="5882620"/>
            <a:ext cx="77938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2T+4</a:t>
            </a:r>
            <a:r>
              <a:rPr lang="el-G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τ</a:t>
            </a:r>
            <a:endParaRPr lang="ru-RU" sz="1800" dirty="0"/>
          </a:p>
        </p:txBody>
      </p:sp>
      <p:sp>
        <p:nvSpPr>
          <p:cNvPr id="30" name="TextBox 29">
            <a:extLst>
              <a:ext uri="{FF2B5EF4-FFF2-40B4-BE49-F238E27FC236}">
                <a16:creationId xmlns="" xmlns:a16="http://schemas.microsoft.com/office/drawing/2014/main" id="{F2ADCC68-35D1-46EB-B0D8-184DCA14D90F}"/>
              </a:ext>
            </a:extLst>
          </p:cNvPr>
          <p:cNvSpPr txBox="1"/>
          <p:nvPr/>
        </p:nvSpPr>
        <p:spPr>
          <a:xfrm>
            <a:off x="-750937" y="6436617"/>
            <a:ext cx="8486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Рис.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Функция чувствительности квантового гравиметра для ускорения.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53A8042C-E52E-4288-B49A-5DABBD83A1A0}"/>
              </a:ext>
            </a:extLst>
          </p:cNvPr>
          <p:cNvSpPr txBox="1"/>
          <p:nvPr/>
        </p:nvSpPr>
        <p:spPr>
          <a:xfrm>
            <a:off x="407405" y="534233"/>
            <a:ext cx="50527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Дополнительная фаза, появляющаяся в результате вибраций зеркала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022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438;p41">
            <a:extLst>
              <a:ext uri="{FF2B5EF4-FFF2-40B4-BE49-F238E27FC236}">
                <a16:creationId xmlns="" xmlns:a16="http://schemas.microsoft.com/office/drawing/2014/main" id="{52BC617F-5E2D-4580-9506-94A652B0244A}"/>
              </a:ext>
            </a:extLst>
          </p:cNvPr>
          <p:cNvSpPr/>
          <p:nvPr/>
        </p:nvSpPr>
        <p:spPr>
          <a:xfrm>
            <a:off x="1707918" y="68911"/>
            <a:ext cx="9169087" cy="356845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1" dirty="0">
                <a:solidFill>
                  <a:schemeClr val="lt1"/>
                </a:solidFill>
                <a:latin typeface="Times New Roman"/>
                <a:cs typeface="Times New Roman"/>
                <a:sym typeface="Times New Roman"/>
              </a:rPr>
              <a:t>Эксперимент по компенсации вибрационных шумов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05991" y="878598"/>
            <a:ext cx="48419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Передаточная функция акселерометра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894973" y="1394140"/>
                <a:ext cx="1925142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𝑎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𝐴</m:t>
                      </m:r>
                      <m:d>
                        <m:d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+∆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4973" y="1394140"/>
                <a:ext cx="1925142" cy="246221"/>
              </a:xfrm>
              <a:prstGeom prst="rect">
                <a:avLst/>
              </a:prstGeom>
              <a:blipFill rotWithShape="0">
                <a:blip r:embed="rId2"/>
                <a:stretch>
                  <a:fillRect l="-949" b="-7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1105991" y="1879194"/>
            <a:ext cx="48419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ускорение зеркала,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ускорение акселерометра,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∆t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временная задержка сигнала,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 –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амплитудный коэффициент.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53943" y="878598"/>
            <a:ext cx="39275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Коррекция сигнала гравиметра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982262" y="1267962"/>
                <a:ext cx="2097908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ru-RU" sz="1600" b="0" i="1" smtClean="0">
                              <a:latin typeface="Cambria Math" panose="02040503050406030204" pitchFamily="18" charset="0"/>
                            </a:rPr>
                            <m:t>с</m:t>
                          </m:r>
                        </m:sub>
                      </m:sSub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ru-RU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m:rPr>
                              <m:sty m:val="p"/>
                            </m:rPr>
                            <a:rPr lang="el-GR" sz="16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Φ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p>
                              <m:r>
                                <a:rPr lang="en-US" sz="16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sz="1600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2262" y="1267962"/>
                <a:ext cx="2097908" cy="462627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0791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3"/>
          <p:cNvSpPr/>
          <p:nvPr/>
        </p:nvSpPr>
        <p:spPr>
          <a:xfrm>
            <a:off x="2440631" y="329667"/>
            <a:ext cx="6910755" cy="670661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ru-RU" sz="3200" b="1" i="0" u="none" strike="noStrike" cap="non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Заключение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340;p8"/>
          <p:cNvSpPr txBox="1"/>
          <p:nvPr/>
        </p:nvSpPr>
        <p:spPr>
          <a:xfrm>
            <a:off x="1339847" y="1485755"/>
            <a:ext cx="9239321" cy="43088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Выполнено моделирование оптической накачки через переход 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∣F=1⟩↔∣F=0’⟩ 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на 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D</a:t>
            </a:r>
            <a:r>
              <a:rPr lang="en-US" sz="1800" baseline="-250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2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линии </a:t>
            </a:r>
            <a:r>
              <a:rPr lang="en-US" sz="1800" baseline="30000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87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Rb.</a:t>
            </a:r>
            <a:r>
              <a:rPr lang="ru-RU" sz="1800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Моделирование 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показало нагрев атомного облака 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~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1 мкК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Проведена оптическая накачка в магнито-нечувствительное состояние с эффективность более 9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5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% и нагревом в 1 мкК, что близко к результатам численного моделирования.</a:t>
            </a:r>
          </a:p>
          <a:p>
            <a:pPr marL="342900" lvl="0" indent="-342900" algn="just">
              <a:spcAft>
                <a:spcPts val="120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Применения оптической накачки на этапе подготовки атомов </a:t>
            </a:r>
            <a:r>
              <a:rPr lang="en-US" sz="1800" baseline="30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87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Rb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 в немагнитном квантовом состоянии в сочетании с другими процедурами позволило достигнуть чувствительность 5.2 мГал</a:t>
            </a:r>
            <a:r>
              <a:rPr lang="en-US" sz="1800" dirty="0">
                <a:solidFill>
                  <a:schemeClr val="dk1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/>
                <a:sym typeface="Times New Roman"/>
              </a:rPr>
              <a:t>/</a:t>
            </a:r>
            <a:r>
              <a:rPr lang="ru-RU" sz="1800" dirty="0">
                <a:latin typeface="Times New Roman"/>
                <a:ea typeface="Times New Roman"/>
                <a:cs typeface="Times New Roman"/>
                <a:sym typeface="Times New Roman"/>
              </a:rPr>
              <a:t>Гц</a:t>
            </a:r>
            <a:r>
              <a:rPr lang="ru-RU" sz="1800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US" sz="1800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/2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Times New Roman"/>
              </a:rPr>
              <a:t>.</a:t>
            </a:r>
          </a:p>
          <a:p>
            <a:pPr marL="342900" lvl="0" indent="-342900" algn="just">
              <a:spcAft>
                <a:spcPts val="1200"/>
              </a:spcAft>
              <a:buClr>
                <a:schemeClr val="dk1"/>
              </a:buClr>
              <a:buSzPts val="2400"/>
              <a:buFont typeface="Times New Roman"/>
              <a:buChar char="-"/>
            </a:pPr>
            <a:r>
              <a:rPr lang="ru-RU" sz="1800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Реализована система пост-коррекции измерений квантового гравиметра на основе измерений акселерометра и платы сбора данных</a:t>
            </a:r>
            <a:r>
              <a:rPr lang="en-US" sz="1800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Red Pitaya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ru-RU" sz="1800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с целью компенсации фазового сдвига в сигнале атомной интерференции, вызванного вибрациями установки. Реализовано программное обеспечение для сбора и анализа данных для расчета и применения данной поправки. Использование данного алгоритма позволило увеличить 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чувствительности </a:t>
            </a:r>
            <a:r>
              <a:rPr lang="ru-RU" sz="1800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квантового гравиметра </a:t>
            </a:r>
            <a:r>
              <a:rPr lang="ru-RU" sz="1800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в два раза</a:t>
            </a:r>
            <a:r>
              <a:rPr lang="ru-RU" sz="1800" dirty="0" smtClean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.</a:t>
            </a:r>
            <a:endParaRPr lang="ru-RU" sz="1800" dirty="0" smtClean="0">
              <a:solidFill>
                <a:schemeClr val="dk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7EB3360-CB57-4ACC-9572-5FD9B50D06F8}"/>
              </a:ext>
            </a:extLst>
          </p:cNvPr>
          <p:cNvSpPr txBox="1"/>
          <p:nvPr/>
        </p:nvSpPr>
        <p:spPr>
          <a:xfrm>
            <a:off x="11681926" y="6408575"/>
            <a:ext cx="51007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1</a:t>
            </a:r>
            <a:r>
              <a:rPr lang="ru-RU" dirty="0"/>
              <a:t>6</a:t>
            </a:r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340;p8">
            <a:extLst>
              <a:ext uri="{FF2B5EF4-FFF2-40B4-BE49-F238E27FC236}">
                <a16:creationId xmlns="" xmlns:a16="http://schemas.microsoft.com/office/drawing/2014/main" id="{29231A27-E450-41D8-A924-F74AF49F383D}"/>
              </a:ext>
            </a:extLst>
          </p:cNvPr>
          <p:cNvSpPr txBox="1"/>
          <p:nvPr/>
        </p:nvSpPr>
        <p:spPr>
          <a:xfrm>
            <a:off x="2108129" y="874495"/>
            <a:ext cx="8410322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</a:pPr>
            <a:r>
              <a:rPr lang="ru-RU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Статьи:</a:t>
            </a:r>
          </a:p>
          <a:p>
            <a:pPr marL="285750" indent="-285750">
              <a:spcAft>
                <a:spcPts val="120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Интерференция ультрахолодных атомов 87 Rb в квантовом гравиметре / Д. Н. Капуста, А. Э.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Бонерт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А. Н. Гончаров [и др.]. — Текст : непосредственный // ЖЭТФ. — 2025. — № 1. — С. 47-54.</a:t>
            </a:r>
          </a:p>
        </p:txBody>
      </p:sp>
      <p:sp>
        <p:nvSpPr>
          <p:cNvPr id="4" name="Google Shape;340;p8">
            <a:extLst>
              <a:ext uri="{FF2B5EF4-FFF2-40B4-BE49-F238E27FC236}">
                <a16:creationId xmlns="" xmlns:a16="http://schemas.microsoft.com/office/drawing/2014/main" id="{29231A27-E450-41D8-A924-F74AF49F383D}"/>
              </a:ext>
            </a:extLst>
          </p:cNvPr>
          <p:cNvSpPr txBox="1"/>
          <p:nvPr/>
        </p:nvSpPr>
        <p:spPr>
          <a:xfrm>
            <a:off x="3781678" y="147329"/>
            <a:ext cx="8410322" cy="61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</a:pPr>
            <a:r>
              <a:rPr lang="ru-RU" sz="24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Апробация результатов</a:t>
            </a:r>
          </a:p>
        </p:txBody>
      </p:sp>
      <p:sp>
        <p:nvSpPr>
          <p:cNvPr id="5" name="Google Shape;340;p8">
            <a:extLst>
              <a:ext uri="{FF2B5EF4-FFF2-40B4-BE49-F238E27FC236}">
                <a16:creationId xmlns="" xmlns:a16="http://schemas.microsoft.com/office/drawing/2014/main" id="{29231A27-E450-41D8-A924-F74AF49F383D}"/>
              </a:ext>
            </a:extLst>
          </p:cNvPr>
          <p:cNvSpPr txBox="1"/>
          <p:nvPr/>
        </p:nvSpPr>
        <p:spPr>
          <a:xfrm>
            <a:off x="2108129" y="1982450"/>
            <a:ext cx="8410322" cy="2923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2400"/>
            </a:pPr>
            <a:r>
              <a:rPr lang="ru-RU" sz="1800" b="1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Конференции</a:t>
            </a:r>
          </a:p>
          <a:p>
            <a:pPr marL="285750" lvl="0" indent="-285750">
              <a:spcAft>
                <a:spcPts val="120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Д.Н. Капуста, А.Э.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Бонерт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А.Н. Гончаров, К.Н. Адамов, О.Н. Прудников, А.В.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Тайченачев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/ Интерференция ультрахолодных атомов 87Rb в квантовом гравиметре 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//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Материалы конференции ФУХА-2024 (Новосибирск). – 2024 декабрь. – с. 29.</a:t>
            </a:r>
          </a:p>
          <a:p>
            <a:pPr marL="285750" indent="-285750">
              <a:spcAft>
                <a:spcPts val="120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Д.Н. Капуста, А.Э.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Бонерт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А.Н. Гончаров, К.Н. Адамов, О.Н. Прудников, А.В.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Тайченачев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/ Интерференция ультрахолодных атомов 87Rb в квантовом гравиметре 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//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Материалы конференции КВНО-2025 (Санкт-Петербург). – 2025 апрель.</a:t>
            </a:r>
          </a:p>
          <a:p>
            <a:pPr marL="285750" indent="-285750">
              <a:spcAft>
                <a:spcPts val="120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Д.Н. Капуста, А.Э.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Бонерт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, А.Н. Гончаров, К.Н. Адамов, О.Н. Прудников, А.В. </a:t>
            </a:r>
            <a:r>
              <a:rPr lang="ru-RU" dirty="0" err="1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Тайченачев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 / Подготовка начального волнового пакета для квантового интерферометра-гравиметра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// </a:t>
            </a:r>
            <a:r>
              <a:rPr lang="ru-RU" dirty="0">
                <a:solidFill>
                  <a:schemeClr val="dk1"/>
                </a:solidFill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  <a:sym typeface="Times New Roman"/>
              </a:rPr>
              <a:t>Материалы конференции МНСК-2025 (Новосибирск). – 2025 апрель.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5836EB2D-2CF5-452C-9CE6-0A5E961FBED9}"/>
              </a:ext>
            </a:extLst>
          </p:cNvPr>
          <p:cNvSpPr txBox="1"/>
          <p:nvPr/>
        </p:nvSpPr>
        <p:spPr>
          <a:xfrm>
            <a:off x="11681925" y="6408575"/>
            <a:ext cx="5536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8789058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9"/>
          <p:cNvSpPr/>
          <p:nvPr/>
        </p:nvSpPr>
        <p:spPr>
          <a:xfrm>
            <a:off x="2640622" y="83724"/>
            <a:ext cx="6910755" cy="539317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2700" cap="flat" cmpd="sng">
            <a:solidFill>
              <a:srgbClr val="31538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ru-RU" sz="2400" b="1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Моделирование оптической накачки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39"/>
          <p:cNvSpPr txBox="1"/>
          <p:nvPr/>
        </p:nvSpPr>
        <p:spPr>
          <a:xfrm>
            <a:off x="5847081" y="817199"/>
            <a:ext cx="5706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</a:t>
            </a:r>
            <a:endParaRPr dirty="0"/>
          </a:p>
        </p:txBody>
      </p:sp>
      <p:sp>
        <p:nvSpPr>
          <p:cNvPr id="391" name="Google Shape;391;p39"/>
          <p:cNvSpPr txBox="1"/>
          <p:nvPr/>
        </p:nvSpPr>
        <p:spPr>
          <a:xfrm>
            <a:off x="5855796" y="1528092"/>
            <a:ext cx="5706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(2)</a:t>
            </a:r>
            <a:endParaRPr dirty="0"/>
          </a:p>
        </p:txBody>
      </p:sp>
      <p:sp>
        <p:nvSpPr>
          <p:cNvPr id="392" name="Google Shape;392;p39"/>
          <p:cNvSpPr txBox="1"/>
          <p:nvPr/>
        </p:nvSpPr>
        <p:spPr>
          <a:xfrm>
            <a:off x="5821509" y="2133478"/>
            <a:ext cx="5706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(3)</a:t>
            </a:r>
            <a:endParaRPr dirty="0"/>
          </a:p>
        </p:txBody>
      </p:sp>
      <p:sp>
        <p:nvSpPr>
          <p:cNvPr id="394" name="Google Shape;394;p39"/>
          <p:cNvSpPr txBox="1"/>
          <p:nvPr/>
        </p:nvSpPr>
        <p:spPr>
          <a:xfrm>
            <a:off x="4204746" y="6517813"/>
            <a:ext cx="6341611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*F.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Atoneche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A.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Kastberg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European Journal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ru-RU" sz="1400" b="0" i="0" u="none" strike="noStrike" cap="none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Physics</a:t>
            </a: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38.4, 045703 (2017).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98" name="Google Shape;398;p39"/>
          <p:cNvGrpSpPr/>
          <p:nvPr/>
        </p:nvGrpSpPr>
        <p:grpSpPr>
          <a:xfrm>
            <a:off x="8257414" y="1369553"/>
            <a:ext cx="2288943" cy="2386967"/>
            <a:chOff x="7675472" y="1286220"/>
            <a:chExt cx="2288943" cy="2386967"/>
          </a:xfrm>
        </p:grpSpPr>
        <p:cxnSp>
          <p:nvCxnSpPr>
            <p:cNvPr id="399" name="Google Shape;399;p39"/>
            <p:cNvCxnSpPr/>
            <p:nvPr/>
          </p:nvCxnSpPr>
          <p:spPr>
            <a:xfrm>
              <a:off x="7675472" y="3309245"/>
              <a:ext cx="927946" cy="1349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sp>
          <p:nvSpPr>
            <p:cNvPr id="400" name="Google Shape;400;p39"/>
            <p:cNvSpPr txBox="1"/>
            <p:nvPr/>
          </p:nvSpPr>
          <p:spPr>
            <a:xfrm>
              <a:off x="7973080" y="3365410"/>
              <a:ext cx="541866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r>
                <a:rPr lang="ru-RU" sz="1400" b="0" i="0" u="none" strike="noStrike" cap="none" baseline="-25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0" i="0" u="none" strike="noStrike" cap="none" baseline="-25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1" name="Google Shape;401;p39"/>
            <p:cNvCxnSpPr/>
            <p:nvPr/>
          </p:nvCxnSpPr>
          <p:spPr>
            <a:xfrm>
              <a:off x="9243498" y="2821794"/>
              <a:ext cx="49445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sp>
          <p:nvSpPr>
            <p:cNvPr id="402" name="Google Shape;402;p39"/>
            <p:cNvSpPr txBox="1"/>
            <p:nvPr/>
          </p:nvSpPr>
          <p:spPr>
            <a:xfrm>
              <a:off x="9342103" y="2845792"/>
              <a:ext cx="6223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g</a:t>
              </a:r>
              <a:r>
                <a:rPr lang="ru-RU" sz="1400" b="0" i="0" u="none" strike="noStrike" cap="none" baseline="-25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1400" b="0" i="0" u="none" strike="noStrike" cap="none" baseline="-25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03" name="Google Shape;403;p39"/>
            <p:cNvCxnSpPr/>
            <p:nvPr/>
          </p:nvCxnSpPr>
          <p:spPr>
            <a:xfrm>
              <a:off x="8447631" y="1620378"/>
              <a:ext cx="494454" cy="0"/>
            </a:xfrm>
            <a:prstGeom prst="straightConnector1">
              <a:avLst/>
            </a:prstGeom>
            <a:noFill/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</p:cxnSp>
        <p:sp>
          <p:nvSpPr>
            <p:cNvPr id="404" name="Google Shape;404;p39"/>
            <p:cNvSpPr txBox="1"/>
            <p:nvPr/>
          </p:nvSpPr>
          <p:spPr>
            <a:xfrm>
              <a:off x="8560576" y="1286220"/>
              <a:ext cx="62231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-RU"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e</a:t>
              </a:r>
              <a:r>
                <a:rPr lang="ru-RU" sz="1400" b="0" i="0" u="none" strike="noStrike" cap="none" baseline="-25000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1400" b="0" i="0" u="none" strike="noStrike" cap="none" baseline="-25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5" name="Google Shape;405;p39"/>
            <p:cNvGrpSpPr/>
            <p:nvPr/>
          </p:nvGrpSpPr>
          <p:grpSpPr>
            <a:xfrm rot="1429140">
              <a:off x="8146741" y="1652422"/>
              <a:ext cx="0" cy="1623907"/>
              <a:chOff x="10160000" y="3429000"/>
              <a:chExt cx="0" cy="1623907"/>
            </a:xfrm>
          </p:grpSpPr>
          <p:cxnSp>
            <p:nvCxnSpPr>
              <p:cNvPr id="406" name="Google Shape;406;p39"/>
              <p:cNvCxnSpPr/>
              <p:nvPr/>
            </p:nvCxnSpPr>
            <p:spPr>
              <a:xfrm>
                <a:off x="10160000" y="4416213"/>
                <a:ext cx="0" cy="6366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dash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08" name="Google Shape;408;p39"/>
              <p:cNvCxnSpPr/>
              <p:nvPr/>
            </p:nvCxnSpPr>
            <p:spPr>
              <a:xfrm>
                <a:off x="10160000" y="3429000"/>
                <a:ext cx="0" cy="6366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409" name="Google Shape;409;p39"/>
            <p:cNvGrpSpPr/>
            <p:nvPr/>
          </p:nvGrpSpPr>
          <p:grpSpPr>
            <a:xfrm rot="-1879641">
              <a:off x="9249827" y="1651472"/>
              <a:ext cx="0" cy="1192945"/>
              <a:chOff x="10160000" y="3429000"/>
              <a:chExt cx="0" cy="1623907"/>
            </a:xfrm>
          </p:grpSpPr>
          <p:cxnSp>
            <p:nvCxnSpPr>
              <p:cNvPr id="410" name="Google Shape;410;p39"/>
              <p:cNvCxnSpPr/>
              <p:nvPr/>
            </p:nvCxnSpPr>
            <p:spPr>
              <a:xfrm>
                <a:off x="10160000" y="4416213"/>
                <a:ext cx="0" cy="6366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dash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12" name="Google Shape;412;p39"/>
              <p:cNvCxnSpPr/>
              <p:nvPr/>
            </p:nvCxnSpPr>
            <p:spPr>
              <a:xfrm>
                <a:off x="10160000" y="3429000"/>
                <a:ext cx="0" cy="6366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00B050"/>
                </a:solidFill>
                <a:prstDash val="dash"/>
                <a:round/>
                <a:headEnd type="none" w="sm" len="sm"/>
                <a:tailEnd type="none" w="sm" len="sm"/>
              </a:ln>
            </p:spPr>
          </p:cxnSp>
        </p:grpSp>
        <p:grpSp>
          <p:nvGrpSpPr>
            <p:cNvPr id="413" name="Google Shape;413;p39"/>
            <p:cNvGrpSpPr/>
            <p:nvPr/>
          </p:nvGrpSpPr>
          <p:grpSpPr>
            <a:xfrm rot="-10320581">
              <a:off x="8599830" y="1691863"/>
              <a:ext cx="0" cy="1529262"/>
              <a:chOff x="10160000" y="3429000"/>
              <a:chExt cx="0" cy="1623907"/>
            </a:xfrm>
          </p:grpSpPr>
          <p:cxnSp>
            <p:nvCxnSpPr>
              <p:cNvPr id="414" name="Google Shape;414;p39"/>
              <p:cNvCxnSpPr/>
              <p:nvPr/>
            </p:nvCxnSpPr>
            <p:spPr>
              <a:xfrm>
                <a:off x="10160000" y="4416213"/>
                <a:ext cx="0" cy="6366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none" w="sm" len="sm"/>
                <a:tailEnd type="triangle" w="med" len="med"/>
              </a:ln>
            </p:spPr>
          </p:cxnSp>
          <p:cxnSp>
            <p:nvCxnSpPr>
              <p:cNvPr id="416" name="Google Shape;416;p39"/>
              <p:cNvCxnSpPr/>
              <p:nvPr/>
            </p:nvCxnSpPr>
            <p:spPr>
              <a:xfrm>
                <a:off x="10160000" y="3429000"/>
                <a:ext cx="0" cy="636694"/>
              </a:xfrm>
              <a:prstGeom prst="straightConnector1">
                <a:avLst/>
              </a:prstGeom>
              <a:noFill/>
              <a:ln w="28575" cap="flat" cmpd="sng">
                <a:solidFill>
                  <a:srgbClr val="FF0000"/>
                </a:solidFill>
                <a:prstDash val="solid"/>
                <a:round/>
                <a:headEnd type="stealth" w="med" len="med"/>
                <a:tailEnd type="none" w="sm" len="sm"/>
              </a:ln>
            </p:spPr>
          </p:cxnSp>
        </p:grpSp>
      </p:grpSp>
      <p:sp>
        <p:nvSpPr>
          <p:cNvPr id="417" name="Google Shape;417;p39"/>
          <p:cNvSpPr txBox="1"/>
          <p:nvPr/>
        </p:nvSpPr>
        <p:spPr>
          <a:xfrm>
            <a:off x="7000673" y="3741252"/>
            <a:ext cx="4838316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ru-RU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Рис. 7. Принципиальная схема оптической накачки в магнито-нечувствительное состояние.</a:t>
            </a:r>
            <a:endParaRPr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39"/>
          <p:cNvSpPr txBox="1"/>
          <p:nvPr/>
        </p:nvSpPr>
        <p:spPr>
          <a:xfrm>
            <a:off x="5807514" y="2815847"/>
            <a:ext cx="5706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(4)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94F5967E-D4F9-4842-B0EB-39DB23D352F1}"/>
              </a:ext>
            </a:extLst>
          </p:cNvPr>
          <p:cNvSpPr txBox="1"/>
          <p:nvPr/>
        </p:nvSpPr>
        <p:spPr>
          <a:xfrm>
            <a:off x="8975152" y="2366927"/>
            <a:ext cx="11072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endParaRPr lang="ru-RU" baseline="-25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A5C2B33-9DCB-4AFD-A255-467C2A05B4AF}"/>
              </a:ext>
            </a:extLst>
          </p:cNvPr>
          <p:cNvSpPr txBox="1"/>
          <p:nvPr/>
        </p:nvSpPr>
        <p:spPr>
          <a:xfrm>
            <a:off x="8491886" y="2396931"/>
            <a:ext cx="927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ru-RU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⋅</a:t>
            </a:r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ru-RU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4531E132-C4B3-421F-ADA7-7C75D186F689}"/>
              </a:ext>
            </a:extLst>
          </p:cNvPr>
          <p:cNvSpPr txBox="1"/>
          <p:nvPr/>
        </p:nvSpPr>
        <p:spPr>
          <a:xfrm>
            <a:off x="9618412" y="2166485"/>
            <a:ext cx="9279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ru-RU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⋅</a:t>
            </a:r>
            <a:r>
              <a:rPr lang="ru-RU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baseline="-25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="" xmlns:a16="http://schemas.microsoft.com/office/drawing/2014/main" id="{29BE1B8A-953A-40F9-8B17-DD9A0A91F65D}"/>
                  </a:ext>
                </a:extLst>
              </p:cNvPr>
              <p:cNvSpPr txBox="1"/>
              <p:nvPr/>
            </p:nvSpPr>
            <p:spPr>
              <a:xfrm>
                <a:off x="867197" y="631446"/>
                <a:ext cx="1683184" cy="7225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к</m:t>
                          </m:r>
                        </m:sub>
                      </m:sSub>
                      <m:nary>
                        <m:naryPr>
                          <m:chr m:val="∑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b>
                          </m:sSub>
                        </m:e>
                      </m:nary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29BE1B8A-953A-40F9-8B17-DD9A0A91F6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197" y="631446"/>
                <a:ext cx="1683184" cy="72250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="" xmlns:a16="http://schemas.microsoft.com/office/drawing/2014/main" id="{A9B134FA-BCAE-424B-8058-92E1B494C264}"/>
                  </a:ext>
                </a:extLst>
              </p:cNvPr>
              <p:cNvSpPr txBox="1"/>
              <p:nvPr/>
            </p:nvSpPr>
            <p:spPr>
              <a:xfrm>
                <a:off x="913918" y="2624514"/>
                <a:ext cx="4613300" cy="6904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≠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d>
                            <m:d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supHide m:val="on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𝑗𝑘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𝑛𝑘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nary>
                            <m:naryPr>
                              <m:chr m:val="∑"/>
                              <m:limLoc m:val="undOvr"/>
                              <m:supHide m:val="on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sSub>
                                <m:sSub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𝑛𝑘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𝑛𝑘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nary>
                          <m:r>
                            <a:rPr lang="ru-RU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A9B134FA-BCAE-424B-8058-92E1B494C2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918" y="2624514"/>
                <a:ext cx="4613300" cy="6904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="" xmlns:a16="http://schemas.microsoft.com/office/drawing/2014/main" id="{9B3F2F19-6460-4369-BABA-AA6847BB5756}"/>
                  </a:ext>
                </a:extLst>
              </p:cNvPr>
              <p:cNvSpPr txBox="1"/>
              <p:nvPr/>
            </p:nvSpPr>
            <p:spPr>
              <a:xfrm>
                <a:off x="1021326" y="1391137"/>
                <a:ext cx="2450786" cy="7742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Г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𝑆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1+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2∆</m:t>
                                          </m:r>
                                        </m:e>
                                        <m:sub>
                                          <m:r>
                                            <a:rPr lang="ru-RU" i="1">
                                              <a:latin typeface="Cambria Math" panose="02040503050406030204" pitchFamily="18" charset="0"/>
                                            </a:rPr>
                                            <m:t>𝑗𝑘</m:t>
                                          </m:r>
                                        </m:sub>
                                      </m:sSub>
                                    </m:num>
                                    <m:den>
                                      <m:sSub>
                                        <m:sSubPr>
                                          <m:ctrlPr>
                                            <a:rPr lang="ru-RU" i="1">
                                              <a:solidFill>
                                                <a:srgbClr val="836967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Г</m:t>
                                          </m:r>
                                        </m:e>
                                        <m:sub>
                                          <m:r>
                                            <a:rPr lang="ru-RU" i="0">
                                              <a:latin typeface="Cambria Math" panose="02040503050406030204" pitchFamily="18" charset="0"/>
                                            </a:rPr>
                                            <m:t>к</m:t>
                                          </m:r>
                                        </m:sub>
                                      </m:sSub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B3F2F19-6460-4369-BABA-AA6847BB57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326" y="1391137"/>
                <a:ext cx="2450786" cy="77425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="" xmlns:a16="http://schemas.microsoft.com/office/drawing/2014/main" id="{02CB737A-7F63-452A-A4F0-ADB5F62E6118}"/>
                  </a:ext>
                </a:extLst>
              </p:cNvPr>
              <p:cNvSpPr txBox="1"/>
              <p:nvPr/>
            </p:nvSpPr>
            <p:spPr>
              <a:xfrm>
                <a:off x="689387" y="2135321"/>
                <a:ext cx="1557332" cy="3250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𝑗𝑘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≪</m:t>
                      </m:r>
                      <m:sSub>
                        <m:sSub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Г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02CB737A-7F63-452A-A4F0-ADB5F62E61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87" y="2135321"/>
                <a:ext cx="1557332" cy="325089"/>
              </a:xfrm>
              <a:prstGeom prst="rect">
                <a:avLst/>
              </a:prstGeom>
              <a:blipFill>
                <a:blip r:embed="rId6"/>
                <a:stretch>
                  <a:fillRect b="-185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="" xmlns:a16="http://schemas.microsoft.com/office/drawing/2014/main" id="{CC1FFB71-6BBE-4169-8FB5-1E179654E9EC}"/>
              </a:ext>
            </a:extLst>
          </p:cNvPr>
          <p:cNvSpPr txBox="1"/>
          <p:nvPr/>
        </p:nvSpPr>
        <p:spPr>
          <a:xfrm>
            <a:off x="837021" y="4629134"/>
            <a:ext cx="476709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где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baseline="-25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населённость нижнего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го уровня,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скорость поглощения для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jk-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перехода,</a:t>
            </a:r>
          </a:p>
          <a:p>
            <a:r>
              <a:rPr lang="el-GR" dirty="0">
                <a:latin typeface="Times New Roman" panose="02020603050405020304" pitchFamily="18" charset="0"/>
                <a:cs typeface="Times New Roman" panose="02020603050405020304" pitchFamily="18" charset="0"/>
              </a:rPr>
              <a:t>β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относительная скорость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перехода,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естественная ширина линии,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показатель насыщения,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</a:t>
            </a:r>
            <a:r>
              <a:rPr lang="en-US" baseline="-2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отстройка частоты излучения от частоты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jk-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перехода,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количество </a:t>
            </a:r>
            <a:r>
              <a:rPr lang="ru-RU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рассеяных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атомом фотонов,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ΔT –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нагрев атома.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="" xmlns:a16="http://schemas.microsoft.com/office/drawing/2014/main" id="{DAE0082C-540F-46FC-9C43-AFAC0234EA26}"/>
                  </a:ext>
                </a:extLst>
              </p:cNvPr>
              <p:cNvSpPr txBox="1"/>
              <p:nvPr/>
            </p:nvSpPr>
            <p:spPr>
              <a:xfrm>
                <a:off x="514935" y="3342816"/>
                <a:ext cx="3131740" cy="740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ru-RU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= 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limLoc m:val="undOvr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/>
                            <m:e>
                              <m:nary>
                                <m:naryPr>
                                  <m:limLoc m:val="subSup"/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𝑛𝑘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ru-RU" i="1">
                                          <a:solidFill>
                                            <a:srgbClr val="836967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𝐺</m:t>
                                      </m:r>
                                    </m:e>
                                    <m:sub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  <m:d>
                                    <m:dPr>
                                      <m:ctrlP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ru-RU" i="1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𝑑𝑡</m:t>
                                  </m:r>
                                </m:e>
                              </m:nary>
                            </m:e>
                          </m:nary>
                          <m:r>
                            <a:rPr lang="ru-RU" b="0" i="0" smtClean="0"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nary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DAE0082C-540F-46FC-9C43-AFAC0234EA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935" y="3342816"/>
                <a:ext cx="3131740" cy="740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Google Shape;418;p39">
            <a:extLst>
              <a:ext uri="{FF2B5EF4-FFF2-40B4-BE49-F238E27FC236}">
                <a16:creationId xmlns="" xmlns:a16="http://schemas.microsoft.com/office/drawing/2014/main" id="{D2A9A03C-6C0A-4874-A8D5-6C3DFEA81824}"/>
              </a:ext>
            </a:extLst>
          </p:cNvPr>
          <p:cNvSpPr txBox="1"/>
          <p:nvPr/>
        </p:nvSpPr>
        <p:spPr>
          <a:xfrm>
            <a:off x="5821509" y="3559092"/>
            <a:ext cx="5706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(5)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="" xmlns:a16="http://schemas.microsoft.com/office/drawing/2014/main" id="{056F8552-3D85-40B7-B09A-9E64C1933AB2}"/>
                  </a:ext>
                </a:extLst>
              </p:cNvPr>
              <p:cNvSpPr txBox="1"/>
              <p:nvPr/>
            </p:nvSpPr>
            <p:spPr>
              <a:xfrm>
                <a:off x="541902" y="4093857"/>
                <a:ext cx="2333774" cy="5245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3</m:t>
                          </m:r>
                          <m:sSub>
                            <m:sSub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∆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𝑇</m:t>
                          </m:r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𝑚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ru-RU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i="1">
                                      <a:solidFill>
                                        <a:srgbClr val="83696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ru-RU" i="0">
                                      <a:latin typeface="Cambria Math" panose="02040503050406030204" pitchFamily="18" charset="0"/>
                                    </a:rPr>
                                    <m:t>hk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m</m:t>
                          </m:r>
                        </m:den>
                      </m:f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N</m:t>
                      </m:r>
                      <m:r>
                        <a:rPr lang="ru-RU" b="0" i="0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ru-RU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56F8552-3D85-40B7-B09A-9E64C1933A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902" y="4093857"/>
                <a:ext cx="2333774" cy="5245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Google Shape;418;p39">
            <a:extLst>
              <a:ext uri="{FF2B5EF4-FFF2-40B4-BE49-F238E27FC236}">
                <a16:creationId xmlns="" xmlns:a16="http://schemas.microsoft.com/office/drawing/2014/main" id="{D9E07F0D-D8D6-4961-B75B-70C78DAB38E6}"/>
              </a:ext>
            </a:extLst>
          </p:cNvPr>
          <p:cNvSpPr txBox="1"/>
          <p:nvPr/>
        </p:nvSpPr>
        <p:spPr>
          <a:xfrm>
            <a:off x="5810691" y="4202251"/>
            <a:ext cx="57061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(6)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="" xmlns:a16="http://schemas.microsoft.com/office/drawing/2014/main" id="{D1D74A28-7D6C-4CFE-ADD8-63365A444680}"/>
              </a:ext>
            </a:extLst>
          </p:cNvPr>
          <p:cNvSpPr txBox="1"/>
          <p:nvPr/>
        </p:nvSpPr>
        <p:spPr>
          <a:xfrm>
            <a:off x="11681926" y="6408575"/>
            <a:ext cx="360784" cy="312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8</a:t>
            </a:r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5196</TotalTime>
  <Words>1909</Words>
  <Application>Microsoft Office PowerPoint</Application>
  <PresentationFormat>Широкоэкранный</PresentationFormat>
  <Paragraphs>340</Paragraphs>
  <Slides>25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3" baseType="lpstr">
      <vt:lpstr>Arial</vt:lpstr>
      <vt:lpstr>Calibri</vt:lpstr>
      <vt:lpstr>Cambria Math</vt:lpstr>
      <vt:lpstr>Century Gothic</vt:lpstr>
      <vt:lpstr>Symbol</vt:lpstr>
      <vt:lpstr>Tahoma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kilrealladam@gmail.com</dc:creator>
  <cp:lastModifiedBy>Макаров Антон Олегович</cp:lastModifiedBy>
  <cp:revision>261</cp:revision>
  <dcterms:created xsi:type="dcterms:W3CDTF">2023-12-21T05:49:20Z</dcterms:created>
  <dcterms:modified xsi:type="dcterms:W3CDTF">2025-11-10T12:26:51Z</dcterms:modified>
</cp:coreProperties>
</file>