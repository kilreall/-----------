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2"/>
  </p:notesMasterIdLst>
  <p:handoutMasterIdLst>
    <p:handoutMasterId r:id="rId43"/>
  </p:handoutMasterIdLst>
  <p:sldIdLst>
    <p:sldId id="305" r:id="rId2"/>
    <p:sldId id="306" r:id="rId3"/>
    <p:sldId id="307" r:id="rId4"/>
    <p:sldId id="319" r:id="rId5"/>
    <p:sldId id="258" r:id="rId6"/>
    <p:sldId id="320" r:id="rId7"/>
    <p:sldId id="308" r:id="rId8"/>
    <p:sldId id="321" r:id="rId9"/>
    <p:sldId id="259" r:id="rId10"/>
    <p:sldId id="292" r:id="rId11"/>
    <p:sldId id="312" r:id="rId12"/>
    <p:sldId id="322" r:id="rId13"/>
    <p:sldId id="261" r:id="rId14"/>
    <p:sldId id="323" r:id="rId15"/>
    <p:sldId id="302" r:id="rId16"/>
    <p:sldId id="318" r:id="rId17"/>
    <p:sldId id="324" r:id="rId18"/>
    <p:sldId id="297" r:id="rId19"/>
    <p:sldId id="325" r:id="rId20"/>
    <p:sldId id="268" r:id="rId21"/>
    <p:sldId id="326" r:id="rId22"/>
    <p:sldId id="298" r:id="rId23"/>
    <p:sldId id="327" r:id="rId24"/>
    <p:sldId id="303" r:id="rId25"/>
    <p:sldId id="328" r:id="rId26"/>
    <p:sldId id="313" r:id="rId27"/>
    <p:sldId id="329" r:id="rId28"/>
    <p:sldId id="314" r:id="rId29"/>
    <p:sldId id="330" r:id="rId30"/>
    <p:sldId id="315" r:id="rId31"/>
    <p:sldId id="331" r:id="rId32"/>
    <p:sldId id="316" r:id="rId33"/>
    <p:sldId id="332" r:id="rId34"/>
    <p:sldId id="317" r:id="rId35"/>
    <p:sldId id="333" r:id="rId36"/>
    <p:sldId id="334" r:id="rId37"/>
    <p:sldId id="270" r:id="rId38"/>
    <p:sldId id="296" r:id="rId39"/>
    <p:sldId id="266" r:id="rId40"/>
    <p:sldId id="309"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hBqtUg9D33KGP93h8hXToFf3vrq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realladam@gmail.com" initials="k" lastIdx="1" clrIdx="0">
    <p:extLst>
      <p:ext uri="{19B8F6BF-5375-455C-9EA6-DF929625EA0E}">
        <p15:presenceInfo xmlns:p15="http://schemas.microsoft.com/office/powerpoint/2012/main" userId="06abd9abe9dc43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9F"/>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55" autoAdjust="0"/>
    <p:restoredTop sz="94131" autoAdjust="0"/>
  </p:normalViewPr>
  <p:slideViewPr>
    <p:cSldViewPr snapToGrid="0">
      <p:cViewPr varScale="1">
        <p:scale>
          <a:sx n="66" d="100"/>
          <a:sy n="66" d="100"/>
        </p:scale>
        <p:origin x="704" y="5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53C5C78D-3493-4AB6-B6C4-71977B81E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3349AD0A-FD81-4209-B751-6B835D3BD5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97F42C-05F7-408C-B103-96C0C10292EF}" type="datetimeFigureOut">
              <a:rPr lang="ru-RU" smtClean="0"/>
              <a:t>11.11.2025</a:t>
            </a:fld>
            <a:endParaRPr lang="ru-RU"/>
          </a:p>
        </p:txBody>
      </p:sp>
      <p:sp>
        <p:nvSpPr>
          <p:cNvPr id="4" name="Нижний колонтитул 3">
            <a:extLst>
              <a:ext uri="{FF2B5EF4-FFF2-40B4-BE49-F238E27FC236}">
                <a16:creationId xmlns:a16="http://schemas.microsoft.com/office/drawing/2014/main" id="{C77F5D0C-A26F-41B4-A78D-D513AA88C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77CC604D-54B8-4AC3-A942-D3AE589051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1B033-AC90-43D5-B19D-E9E156403019}" type="slidenum">
              <a:rPr lang="ru-RU" smtClean="0"/>
              <a:t>‹#›</a:t>
            </a:fld>
            <a:endParaRPr lang="ru-RU"/>
          </a:p>
        </p:txBody>
      </p:sp>
    </p:spTree>
    <p:extLst>
      <p:ext uri="{BB962C8B-B14F-4D97-AF65-F5344CB8AC3E}">
        <p14:creationId xmlns:p14="http://schemas.microsoft.com/office/powerpoint/2010/main" val="25324020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8492247"/>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015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3691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2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68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Корректировки:</a:t>
            </a:r>
            <a:br>
              <a:rPr lang="ru-RU"/>
            </a:br>
            <a:r>
              <a:rPr lang="ru-RU"/>
              <a:t>1. Много текста</a:t>
            </a:r>
            <a:endParaRPr/>
          </a:p>
        </p:txBody>
      </p:sp>
      <p:sp>
        <p:nvSpPr>
          <p:cNvPr id="184" name="Google Shape;18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83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75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238829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612388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a16="http://schemas.microsoft.com/office/drawing/2014/main" id="{9E080679-B901-3206-F122-6DCA7B65A275}"/>
            </a:ext>
          </a:extLst>
        </p:cNvPr>
        <p:cNvGrpSpPr/>
        <p:nvPr/>
      </p:nvGrpSpPr>
      <p:grpSpPr>
        <a:xfrm>
          <a:off x="0" y="0"/>
          <a:ext cx="0" cy="0"/>
          <a:chOff x="0" y="0"/>
          <a:chExt cx="0" cy="0"/>
        </a:xfrm>
      </p:grpSpPr>
      <p:sp>
        <p:nvSpPr>
          <p:cNvPr id="453" name="Google Shape;453;p43:notes">
            <a:extLst>
              <a:ext uri="{FF2B5EF4-FFF2-40B4-BE49-F238E27FC236}">
                <a16:creationId xmlns:a16="http://schemas.microsoft.com/office/drawing/2014/main" id="{4F66D097-9293-AE91-865E-9D10F58235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a:extLst>
              <a:ext uri="{FF2B5EF4-FFF2-40B4-BE49-F238E27FC236}">
                <a16:creationId xmlns:a16="http://schemas.microsoft.com/office/drawing/2014/main" id="{A8AA3B59-9A9D-62AD-DBA4-729F5ACF96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870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86010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86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
        <p:cNvGrpSpPr/>
        <p:nvPr/>
      </p:nvGrpSpPr>
      <p:grpSpPr>
        <a:xfrm>
          <a:off x="0" y="0"/>
          <a:ext cx="0" cy="0"/>
          <a:chOff x="0" y="0"/>
          <a:chExt cx="0" cy="0"/>
        </a:xfrm>
      </p:grpSpPr>
      <p:sp>
        <p:nvSpPr>
          <p:cNvPr id="22" name="Google Shape;2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extLst>
      <p:ext uri="{BB962C8B-B14F-4D97-AF65-F5344CB8AC3E}">
        <p14:creationId xmlns:p14="http://schemas.microsoft.com/office/powerpoint/2010/main" val="413798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00.png"/><Relationship Id="rId4" Type="http://schemas.openxmlformats.org/officeDocument/2006/relationships/image" Target="../media/image19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2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880131" y="3185368"/>
            <a:ext cx="10362068"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ru-RU" sz="2400" b="0" i="0" u="sng" strike="noStrike" cap="none">
                <a:solidFill>
                  <a:schemeClr val="dk1"/>
                </a:solidFill>
                <a:latin typeface="Times New Roman"/>
                <a:ea typeface="Times New Roman"/>
                <a:cs typeface="Times New Roman"/>
                <a:sym typeface="Times New Roman"/>
              </a:rPr>
              <a:t>К.Н. Адамов</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Д.Н. Капуста</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А.Э.Бонерт</a:t>
            </a:r>
            <a:r>
              <a:rPr lang="ru-RU" sz="2400" b="0" i="0" u="none" strike="noStrike" cap="none" baseline="30000">
                <a:solidFill>
                  <a:schemeClr val="dk1"/>
                </a:solidFill>
                <a:latin typeface="Times New Roman"/>
                <a:ea typeface="Times New Roman"/>
                <a:cs typeface="Times New Roman"/>
                <a:sym typeface="Times New Roman"/>
              </a:rPr>
              <a:t>1</a:t>
            </a:r>
            <a:r>
              <a:rPr lang="ru-RU" sz="2400" b="0" i="0" u="none" strike="noStrike" cap="none">
                <a:solidFill>
                  <a:schemeClr val="dk1"/>
                </a:solidFill>
                <a:latin typeface="Times New Roman"/>
                <a:ea typeface="Times New Roman"/>
                <a:cs typeface="Times New Roman"/>
                <a:sym typeface="Times New Roman"/>
              </a:rPr>
              <a:t>, А.Н. Гончаров</a:t>
            </a:r>
            <a:r>
              <a:rPr lang="ru-RU" sz="2400" b="0" i="0" u="none" strike="noStrike" cap="none" baseline="30000">
                <a:solidFill>
                  <a:schemeClr val="dk1"/>
                </a:solidFill>
                <a:latin typeface="Times New Roman"/>
                <a:ea typeface="Times New Roman"/>
                <a:cs typeface="Times New Roman"/>
                <a:sym typeface="Times New Roman"/>
              </a:rPr>
              <a:t>1,2,3</a:t>
            </a:r>
            <a:endParaRPr sz="2400" b="0" i="0" u="sng" strike="noStrike" cap="none" baseline="30000">
              <a:solidFill>
                <a:srgbClr val="000000"/>
              </a:solidFill>
              <a:latin typeface="Arial"/>
              <a:ea typeface="Arial"/>
              <a:cs typeface="Arial"/>
              <a:sym typeface="Arial"/>
            </a:endParaRPr>
          </a:p>
        </p:txBody>
      </p:sp>
      <p:sp>
        <p:nvSpPr>
          <p:cNvPr id="84" name="Google Shape;84;p1"/>
          <p:cNvSpPr txBox="1"/>
          <p:nvPr/>
        </p:nvSpPr>
        <p:spPr>
          <a:xfrm>
            <a:off x="-55685" y="1042072"/>
            <a:ext cx="1230337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200"/>
              <a:buFont typeface="Times New Roman"/>
              <a:buNone/>
            </a:pPr>
            <a:r>
              <a:rPr lang="ru-RU" sz="3200" b="1" i="0" u="none" strike="noStrike" cap="none" dirty="0">
                <a:solidFill>
                  <a:schemeClr val="dk1"/>
                </a:solidFill>
                <a:latin typeface="Times New Roman"/>
                <a:ea typeface="Times New Roman"/>
                <a:cs typeface="Times New Roman"/>
                <a:sym typeface="Times New Roman"/>
              </a:rPr>
              <a:t>Подготовка начального волнового пакета для квантового интерферометра-гравиметра</a:t>
            </a:r>
            <a:endParaRPr sz="3200" b="1" i="0" u="none" strike="noStrike" cap="none" dirty="0">
              <a:solidFill>
                <a:schemeClr val="dk1"/>
              </a:solidFill>
              <a:latin typeface="Times New Roman"/>
              <a:ea typeface="Times New Roman"/>
              <a:cs typeface="Times New Roman"/>
              <a:sym typeface="Times New Roman"/>
            </a:endParaRPr>
          </a:p>
        </p:txBody>
      </p:sp>
      <p:sp>
        <p:nvSpPr>
          <p:cNvPr id="85" name="Google Shape;85;p1"/>
          <p:cNvSpPr txBox="1"/>
          <p:nvPr/>
        </p:nvSpPr>
        <p:spPr>
          <a:xfrm>
            <a:off x="4156140" y="80866"/>
            <a:ext cx="4149011"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Институт лазерной физики СО РАН</a:t>
            </a:r>
            <a:endParaRPr sz="16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Новосибирск, Россия</a:t>
            </a:r>
            <a:endParaRPr/>
          </a:p>
        </p:txBody>
      </p:sp>
      <p:sp>
        <p:nvSpPr>
          <p:cNvPr id="86" name="Google Shape;86;p1"/>
          <p:cNvSpPr txBox="1"/>
          <p:nvPr/>
        </p:nvSpPr>
        <p:spPr>
          <a:xfrm>
            <a:off x="2720805" y="3737956"/>
            <a:ext cx="7850156"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1</a:t>
            </a:r>
            <a:r>
              <a:rPr lang="ru-RU" sz="1600" b="0" i="1" u="none" strike="noStrike" cap="none" dirty="0">
                <a:solidFill>
                  <a:srgbClr val="000000"/>
                </a:solidFill>
                <a:latin typeface="Times New Roman"/>
                <a:ea typeface="Times New Roman"/>
                <a:cs typeface="Times New Roman"/>
                <a:sym typeface="Times New Roman"/>
              </a:rPr>
              <a:t>Институт лазерной физики СО РАН,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2</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университет,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3</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технический университет, Новосибирск, Россия</a:t>
            </a:r>
            <a:endParaRPr sz="1600" b="0" i="1" u="none" strike="noStrike" cap="none" dirty="0">
              <a:solidFill>
                <a:srgbClr val="000000"/>
              </a:solidFill>
              <a:latin typeface="Times New Roman"/>
              <a:ea typeface="Times New Roman"/>
              <a:cs typeface="Times New Roman"/>
              <a:sym typeface="Times New Roman"/>
            </a:endParaRPr>
          </a:p>
        </p:txBody>
      </p:sp>
      <p:sp>
        <p:nvSpPr>
          <p:cNvPr id="87" name="Google Shape;87;p1"/>
          <p:cNvSpPr txBox="1"/>
          <p:nvPr/>
        </p:nvSpPr>
        <p:spPr>
          <a:xfrm>
            <a:off x="261256" y="5984033"/>
            <a:ext cx="309776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email: ofadamovkirill@gmail.com</a:t>
            </a:r>
            <a:endParaRPr sz="16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89225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549" y="104154"/>
            <a:ext cx="7889965" cy="3724096"/>
          </a:xfrm>
          <a:prstGeom prst="rect">
            <a:avLst/>
          </a:prstGeom>
          <a:noFill/>
        </p:spPr>
        <p:txBody>
          <a:bodyPr wrap="square" rtlCol="0">
            <a:spAutoFit/>
          </a:bodyPr>
          <a:lstStyle/>
          <a:p>
            <a:r>
              <a:rPr lang="ru-RU" sz="3600" dirty="0">
                <a:latin typeface="Times New Roman" panose="02020603050405020304" pitchFamily="18" charset="0"/>
                <a:cs typeface="Times New Roman" panose="02020603050405020304" pitchFamily="18" charset="0"/>
              </a:rPr>
              <a:t>Содержание</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Введение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Общие принципы работы квантового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Оптическая схема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Экспериментальная установка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оптической накачки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по компенсации вибрационных шумов</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Заключение</a:t>
            </a:r>
          </a:p>
        </p:txBody>
      </p:sp>
    </p:spTree>
    <p:extLst>
      <p:ext uri="{BB962C8B-B14F-4D97-AF65-F5344CB8AC3E}">
        <p14:creationId xmlns:p14="http://schemas.microsoft.com/office/powerpoint/2010/main" val="133397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4;p16">
            <a:extLst>
              <a:ext uri="{FF2B5EF4-FFF2-40B4-BE49-F238E27FC236}">
                <a16:creationId xmlns:a16="http://schemas.microsoft.com/office/drawing/2014/main" id="{C5767328-1785-46B5-813F-A312F3382CC4}"/>
              </a:ext>
            </a:extLst>
          </p:cNvPr>
          <p:cNvSpPr/>
          <p:nvPr/>
        </p:nvSpPr>
        <p:spPr>
          <a:xfrm>
            <a:off x="2495423" y="44900"/>
            <a:ext cx="6910755" cy="3541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Введение</a:t>
            </a:r>
            <a:endParaRPr sz="1400" b="0" i="0" u="none" strike="noStrike" cap="none" dirty="0">
              <a:solidFill>
                <a:srgbClr val="000000"/>
              </a:solidFill>
              <a:latin typeface="Arial"/>
              <a:ea typeface="Arial"/>
              <a:cs typeface="Arial"/>
              <a:sym typeface="Arial"/>
            </a:endParaRPr>
          </a:p>
        </p:txBody>
      </p:sp>
      <p:sp>
        <p:nvSpPr>
          <p:cNvPr id="13" name="TextBox 12">
            <a:extLst>
              <a:ext uri="{FF2B5EF4-FFF2-40B4-BE49-F238E27FC236}">
                <a16:creationId xmlns:a16="http://schemas.microsoft.com/office/drawing/2014/main" id="{593EC11A-A157-487D-ADF7-8A978D0305FA}"/>
              </a:ext>
            </a:extLst>
          </p:cNvPr>
          <p:cNvSpPr txBox="1"/>
          <p:nvPr/>
        </p:nvSpPr>
        <p:spPr>
          <a:xfrm>
            <a:off x="11681926" y="6408575"/>
            <a:ext cx="360784" cy="312570"/>
          </a:xfrm>
          <a:prstGeom prst="rect">
            <a:avLst/>
          </a:prstGeom>
          <a:noFill/>
        </p:spPr>
        <p:txBody>
          <a:bodyPr wrap="square" rtlCol="0">
            <a:spAutoFit/>
          </a:bodyPr>
          <a:lstStyle/>
          <a:p>
            <a:r>
              <a:rPr lang="ru-RU" dirty="0"/>
              <a:t>1</a:t>
            </a:r>
          </a:p>
        </p:txBody>
      </p:sp>
      <p:sp>
        <p:nvSpPr>
          <p:cNvPr id="14" name="Прямоугольник 13"/>
          <p:cNvSpPr/>
          <p:nvPr/>
        </p:nvSpPr>
        <p:spPr>
          <a:xfrm>
            <a:off x="10262367" y="44900"/>
            <a:ext cx="1619354" cy="369332"/>
          </a:xfrm>
          <a:prstGeom prst="rect">
            <a:avLst/>
          </a:prstGeom>
        </p:spPr>
        <p:txBody>
          <a:bodyPr wrap="none">
            <a:spAutoFit/>
          </a:bodyPr>
          <a:lstStyle/>
          <a:p>
            <a:r>
              <a:rPr lang="ru-RU" sz="1800" dirty="0">
                <a:solidFill>
                  <a:srgbClr val="FF0000"/>
                </a:solidFill>
                <a:latin typeface="Times New Roman"/>
                <a:ea typeface="Times New Roman"/>
                <a:cs typeface="Times New Roman"/>
                <a:sym typeface="Times New Roman"/>
              </a:rPr>
              <a:t>1 </a:t>
            </a:r>
            <a:r>
              <a:rPr lang="ru-RU" sz="1800" dirty="0" err="1">
                <a:solidFill>
                  <a:srgbClr val="FF0000"/>
                </a:solidFill>
                <a:latin typeface="Times New Roman"/>
                <a:ea typeface="Times New Roman"/>
                <a:cs typeface="Times New Roman"/>
                <a:sym typeface="Times New Roman"/>
              </a:rPr>
              <a:t>Гал</a:t>
            </a:r>
            <a:r>
              <a:rPr lang="ru-RU" sz="1800" dirty="0">
                <a:solidFill>
                  <a:srgbClr val="FF0000"/>
                </a:solidFill>
                <a:latin typeface="Times New Roman"/>
                <a:ea typeface="Times New Roman"/>
                <a:cs typeface="Times New Roman"/>
                <a:sym typeface="Times New Roman"/>
              </a:rPr>
              <a:t> = 1 см</a:t>
            </a:r>
            <a:r>
              <a:rPr lang="en-US" sz="1800" dirty="0">
                <a:solidFill>
                  <a:srgbClr val="FF0000"/>
                </a:solidFill>
                <a:latin typeface="Times New Roman"/>
                <a:ea typeface="Times New Roman"/>
                <a:cs typeface="Times New Roman"/>
                <a:sym typeface="Times New Roman"/>
              </a:rPr>
              <a:t>/c</a:t>
            </a:r>
            <a:r>
              <a:rPr lang="en-US" sz="1800" baseline="30000" dirty="0">
                <a:solidFill>
                  <a:srgbClr val="FF0000"/>
                </a:solidFill>
                <a:latin typeface="Times New Roman"/>
                <a:ea typeface="Times New Roman"/>
                <a:cs typeface="Times New Roman"/>
                <a:sym typeface="Times New Roman"/>
              </a:rPr>
              <a:t>2</a:t>
            </a:r>
            <a:endParaRPr lang="ru-RU" sz="1800" baseline="30000" dirty="0">
              <a:solidFill>
                <a:srgbClr val="FF0000"/>
              </a:solidFill>
            </a:endParaRPr>
          </a:p>
        </p:txBody>
      </p:sp>
      <p:graphicFrame>
        <p:nvGraphicFramePr>
          <p:cNvPr id="15" name="Таблица 14">
            <a:extLst>
              <a:ext uri="{FF2B5EF4-FFF2-40B4-BE49-F238E27FC236}">
                <a16:creationId xmlns:a16="http://schemas.microsoft.com/office/drawing/2014/main" id="{7088C13C-1B02-440F-93B7-1757D68623CE}"/>
              </a:ext>
            </a:extLst>
          </p:cNvPr>
          <p:cNvGraphicFramePr>
            <a:graphicFrameLocks noGrp="1"/>
          </p:cNvGraphicFramePr>
          <p:nvPr>
            <p:extLst>
              <p:ext uri="{D42A27DB-BD31-4B8C-83A1-F6EECF244321}">
                <p14:modId xmlns:p14="http://schemas.microsoft.com/office/powerpoint/2010/main" val="76958720"/>
              </p:ext>
            </p:extLst>
          </p:nvPr>
        </p:nvGraphicFramePr>
        <p:xfrm>
          <a:off x="309068" y="2663855"/>
          <a:ext cx="11263144" cy="3790745"/>
        </p:xfrm>
        <a:graphic>
          <a:graphicData uri="http://schemas.openxmlformats.org/drawingml/2006/table">
            <a:tbl>
              <a:tblPr firstRow="1" bandRow="1">
                <a:tableStyleId>{5C22544A-7EE6-4342-B048-85BDC9FD1C3A}</a:tableStyleId>
              </a:tblPr>
              <a:tblGrid>
                <a:gridCol w="2769412">
                  <a:extLst>
                    <a:ext uri="{9D8B030D-6E8A-4147-A177-3AD203B41FA5}">
                      <a16:colId xmlns:a16="http://schemas.microsoft.com/office/drawing/2014/main" val="20000"/>
                    </a:ext>
                  </a:extLst>
                </a:gridCol>
                <a:gridCol w="3007360">
                  <a:extLst>
                    <a:ext uri="{9D8B030D-6E8A-4147-A177-3AD203B41FA5}">
                      <a16:colId xmlns:a16="http://schemas.microsoft.com/office/drawing/2014/main" val="20001"/>
                    </a:ext>
                  </a:extLst>
                </a:gridCol>
                <a:gridCol w="2221805">
                  <a:extLst>
                    <a:ext uri="{9D8B030D-6E8A-4147-A177-3AD203B41FA5}">
                      <a16:colId xmlns:a16="http://schemas.microsoft.com/office/drawing/2014/main" val="20002"/>
                    </a:ext>
                  </a:extLst>
                </a:gridCol>
                <a:gridCol w="3264567">
                  <a:extLst>
                    <a:ext uri="{9D8B030D-6E8A-4147-A177-3AD203B41FA5}">
                      <a16:colId xmlns:a16="http://schemas.microsoft.com/office/drawing/2014/main" val="20003"/>
                    </a:ext>
                  </a:extLst>
                </a:gridCol>
              </a:tblGrid>
              <a:tr h="412593">
                <a:tc>
                  <a:txBody>
                    <a:bodyPr/>
                    <a:lstStyle/>
                    <a:p>
                      <a:pPr algn="ctr"/>
                      <a:r>
                        <a:rPr lang="ru-RU" sz="1800" b="1" u="sng" dirty="0">
                          <a:solidFill>
                            <a:schemeClr val="tx1"/>
                          </a:solidFill>
                          <a:latin typeface="Times New Roman" panose="02020603050405020304" pitchFamily="18" charset="0"/>
                          <a:cs typeface="Times New Roman" panose="02020603050405020304" pitchFamily="18" charset="0"/>
                        </a:rPr>
                        <a:t>Типы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Относительные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dirty="0">
                          <a:solidFill>
                            <a:schemeClr val="tx1"/>
                          </a:solidFill>
                          <a:latin typeface="Times New Roman" panose="02020603050405020304" pitchFamily="18" charset="0"/>
                          <a:cs typeface="Times New Roman" panose="02020603050405020304" pitchFamily="18" charset="0"/>
                        </a:rPr>
                        <a:t>Абсолютные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609">
                <a:tc>
                  <a:txBody>
                    <a:bodyPr/>
                    <a:lstStyle/>
                    <a:p>
                      <a:pPr algn="ctr"/>
                      <a:r>
                        <a:rPr lang="ru-RU" sz="1600" b="1" i="1" u="sng" dirty="0">
                          <a:solidFill>
                            <a:schemeClr val="tx1"/>
                          </a:solidFill>
                          <a:latin typeface="Times New Roman" panose="02020603050405020304" pitchFamily="18" charset="0"/>
                          <a:cs typeface="Times New Roman" panose="02020603050405020304" pitchFamily="18" charset="0"/>
                        </a:rPr>
                        <a:t>Виды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i="1" dirty="0">
                          <a:solidFill>
                            <a:schemeClr val="tx1"/>
                          </a:solidFill>
                          <a:latin typeface="Times New Roman" panose="02020603050405020304" pitchFamily="18" charset="0"/>
                          <a:cs typeface="Times New Roman" panose="02020603050405020304" pitchFamily="18" charset="0"/>
                        </a:rPr>
                        <a:t>Сверхпроводниковые</a:t>
                      </a:r>
                      <a:r>
                        <a:rPr lang="en-US" sz="1600" b="1" i="1" dirty="0">
                          <a:solidFill>
                            <a:schemeClr val="tx1"/>
                          </a:solidFill>
                          <a:latin typeface="Times New Roman" panose="02020603050405020304" pitchFamily="18" charset="0"/>
                          <a:cs typeface="Times New Roman" panose="02020603050405020304" pitchFamily="18" charset="0"/>
                        </a:rPr>
                        <a:t>(GWR)</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Баллистические</a:t>
                      </a:r>
                      <a:r>
                        <a:rPr lang="en-US" sz="1600" b="1" i="1" dirty="0">
                          <a:solidFill>
                            <a:schemeClr val="tx1"/>
                          </a:solidFill>
                          <a:latin typeface="Times New Roman" panose="02020603050405020304" pitchFamily="18" charset="0"/>
                          <a:cs typeface="Times New Roman" panose="02020603050405020304" pitchFamily="18" charset="0"/>
                        </a:rPr>
                        <a:t>(FG5)</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Квантовые(</a:t>
                      </a:r>
                      <a:r>
                        <a:rPr lang="en-US" sz="1600" b="1" i="1" dirty="0">
                          <a:solidFill>
                            <a:schemeClr val="tx1"/>
                          </a:solidFill>
                          <a:latin typeface="Times New Roman" panose="02020603050405020304" pitchFamily="18" charset="0"/>
                          <a:cs typeface="Times New Roman" panose="02020603050405020304" pitchFamily="18" charset="0"/>
                        </a:rPr>
                        <a:t>Tao Zhang, Wuhan</a:t>
                      </a:r>
                      <a:r>
                        <a:rPr lang="ru-RU" sz="1600" b="1" i="1"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Чувствительность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1</a:t>
                      </a:r>
                      <a:r>
                        <a:rPr lang="en-US" b="0" dirty="0">
                          <a:solidFill>
                            <a:schemeClr val="tx1"/>
                          </a:solidFill>
                          <a:latin typeface="Times New Roman" panose="02020603050405020304" pitchFamily="18" charset="0"/>
                          <a:cs typeface="Times New Roman" panose="02020603050405020304" pitchFamily="18" charset="0"/>
                        </a:rPr>
                        <a:t>0</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нГал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15</a:t>
                      </a:r>
                      <a:r>
                        <a:rPr lang="ru-RU" b="0" dirty="0">
                          <a:solidFill>
                            <a:schemeClr val="tx1"/>
                          </a:solidFill>
                          <a:latin typeface="Times New Roman" panose="02020603050405020304" pitchFamily="18" charset="0"/>
                          <a:cs typeface="Times New Roman" panose="02020603050405020304" pitchFamily="18" charset="0"/>
                        </a:rPr>
                        <a:t>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r>
                        <a:rPr lang="ru-RU" b="0" baseline="0" dirty="0">
                          <a:solidFill>
                            <a:schemeClr val="tx1"/>
                          </a:solidFill>
                          <a:latin typeface="Times New Roman" panose="02020603050405020304" pitchFamily="18" charset="0"/>
                          <a:cs typeface="Times New Roman" panose="02020603050405020304" pitchFamily="18" charset="0"/>
                        </a:rPr>
                        <a:t> </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Стабильность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0599">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Точность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0096">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r>
                        <a:rPr lang="en-US" b="0" dirty="0">
                          <a:solidFill>
                            <a:schemeClr val="tx1"/>
                          </a:solidFill>
                          <a:latin typeface="Times New Roman" panose="02020603050405020304" pitchFamily="18" charset="0"/>
                          <a:cs typeface="Times New Roman" panose="02020603050405020304" pitchFamily="18" charset="0"/>
                        </a:rPr>
                        <a:t>/</a:t>
                      </a:r>
                      <a:r>
                        <a:rPr lang="ru-RU" b="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05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Необходимость калибровки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Есть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Частота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a:t>
                      </a: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ea typeface="Times New Roman"/>
                          <a:cs typeface="Times New Roman" panose="02020603050405020304" pitchFamily="18" charset="0"/>
                          <a:sym typeface="Times New Roman"/>
                        </a:rPr>
                        <a:t>2</a:t>
                      </a:r>
                      <a:r>
                        <a:rPr lang="ru-RU" sz="1400" dirty="0">
                          <a:latin typeface="Times New Roman" panose="02020603050405020304" pitchFamily="18" charset="0"/>
                          <a:ea typeface="Times New Roman"/>
                          <a:cs typeface="Times New Roman" panose="02020603050405020304" pitchFamily="18" charset="0"/>
                          <a:sym typeface="Times New Roman"/>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Подвижные элементы в конструкции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не являются проблемой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ограничивают частоту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Отсутствуют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2304434"/>
                  </a:ext>
                </a:extLst>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3725695167"/>
              </p:ext>
            </p:extLst>
          </p:nvPr>
        </p:nvGraphicFramePr>
        <p:xfrm>
          <a:off x="771063" y="535053"/>
          <a:ext cx="10649874" cy="949960"/>
        </p:xfrm>
        <a:graphic>
          <a:graphicData uri="http://schemas.openxmlformats.org/drawingml/2006/table">
            <a:tbl>
              <a:tblPr firstRow="1" bandRow="1">
                <a:tableStyleId>{5C22544A-7EE6-4342-B048-85BDC9FD1C3A}</a:tableStyleId>
              </a:tblPr>
              <a:tblGrid>
                <a:gridCol w="1774979">
                  <a:extLst>
                    <a:ext uri="{9D8B030D-6E8A-4147-A177-3AD203B41FA5}">
                      <a16:colId xmlns:a16="http://schemas.microsoft.com/office/drawing/2014/main" val="20000"/>
                    </a:ext>
                  </a:extLst>
                </a:gridCol>
                <a:gridCol w="1774979">
                  <a:extLst>
                    <a:ext uri="{9D8B030D-6E8A-4147-A177-3AD203B41FA5}">
                      <a16:colId xmlns:a16="http://schemas.microsoft.com/office/drawing/2014/main" val="20001"/>
                    </a:ext>
                  </a:extLst>
                </a:gridCol>
                <a:gridCol w="1774979">
                  <a:extLst>
                    <a:ext uri="{9D8B030D-6E8A-4147-A177-3AD203B41FA5}">
                      <a16:colId xmlns:a16="http://schemas.microsoft.com/office/drawing/2014/main" val="20002"/>
                    </a:ext>
                  </a:extLst>
                </a:gridCol>
                <a:gridCol w="1774979">
                  <a:extLst>
                    <a:ext uri="{9D8B030D-6E8A-4147-A177-3AD203B41FA5}">
                      <a16:colId xmlns:a16="http://schemas.microsoft.com/office/drawing/2014/main" val="20003"/>
                    </a:ext>
                  </a:extLst>
                </a:gridCol>
                <a:gridCol w="1774979">
                  <a:extLst>
                    <a:ext uri="{9D8B030D-6E8A-4147-A177-3AD203B41FA5}">
                      <a16:colId xmlns:a16="http://schemas.microsoft.com/office/drawing/2014/main" val="20004"/>
                    </a:ext>
                  </a:extLst>
                </a:gridCol>
                <a:gridCol w="1774979">
                  <a:extLst>
                    <a:ext uri="{9D8B030D-6E8A-4147-A177-3AD203B41FA5}">
                      <a16:colId xmlns:a16="http://schemas.microsoft.com/office/drawing/2014/main" val="20005"/>
                    </a:ext>
                  </a:extLst>
                </a:gridCol>
              </a:tblGrid>
              <a:tr h="565703">
                <a:tc>
                  <a:txBody>
                    <a:bodyPr/>
                    <a:lstStyle/>
                    <a:p>
                      <a:pPr algn="ctr"/>
                      <a:r>
                        <a:rPr lang="ru-RU" sz="1600" dirty="0">
                          <a:solidFill>
                            <a:schemeClr val="tx1"/>
                          </a:solidFill>
                          <a:latin typeface="Times New Roman" panose="02020603050405020304" pitchFamily="18" charset="0"/>
                          <a:cs typeface="Times New Roman" panose="02020603050405020304" pitchFamily="18" charset="0"/>
                        </a:rPr>
                        <a:t>Факторы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Локальные</a:t>
                      </a:r>
                      <a:r>
                        <a:rPr lang="ru-RU" sz="1600" b="0" baseline="0" dirty="0">
                          <a:solidFill>
                            <a:schemeClr val="tx1"/>
                          </a:solidFill>
                          <a:latin typeface="Times New Roman" panose="02020603050405020304" pitchFamily="18" charset="0"/>
                          <a:cs typeface="Times New Roman" panose="02020603050405020304" pitchFamily="18" charset="0"/>
                        </a:rPr>
                        <a:t> аномалии</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Давление</a:t>
                      </a:r>
                      <a:r>
                        <a:rPr lang="ru-RU" sz="1600" b="0" baseline="0" dirty="0">
                          <a:solidFill>
                            <a:schemeClr val="tx1"/>
                          </a:solidFill>
                          <a:latin typeface="Times New Roman" panose="02020603050405020304" pitchFamily="18" charset="0"/>
                          <a:cs typeface="Times New Roman" panose="02020603050405020304" pitchFamily="18" charset="0"/>
                        </a:rPr>
                        <a:t> воздуха</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Приливы</a:t>
                      </a:r>
                      <a:r>
                        <a:rPr lang="ru-RU" sz="1600" b="0" baseline="0" dirty="0">
                          <a:solidFill>
                            <a:schemeClr val="tx1"/>
                          </a:solidFill>
                          <a:latin typeface="Times New Roman" panose="02020603050405020304" pitchFamily="18" charset="0"/>
                          <a:cs typeface="Times New Roman" panose="02020603050405020304" pitchFamily="18" charset="0"/>
                        </a:rPr>
                        <a:t> и отливы</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Сезонные</a:t>
                      </a:r>
                      <a:r>
                        <a:rPr lang="ru-RU" sz="1600" b="0" baseline="0" dirty="0">
                          <a:solidFill>
                            <a:schemeClr val="tx1"/>
                          </a:solidFill>
                          <a:latin typeface="Times New Roman" panose="02020603050405020304" pitchFamily="18" charset="0"/>
                          <a:cs typeface="Times New Roman" panose="02020603050405020304" pitchFamily="18" charset="0"/>
                        </a:rPr>
                        <a:t> изменения</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Влияние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100 мГал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0</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3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торр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r>
                        <a:rPr lang="en-US" sz="1600" baseline="0" dirty="0">
                          <a:solidFill>
                            <a:schemeClr val="tx1"/>
                          </a:solidFill>
                          <a:latin typeface="Times New Roman" panose="02020603050405020304" pitchFamily="18" charset="0"/>
                          <a:cs typeface="Times New Roman" panose="02020603050405020304" pitchFamily="18" charset="0"/>
                        </a:rPr>
                        <a:t> 250</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300 </a:t>
                      </a:r>
                      <a:r>
                        <a:rPr lang="ru-RU" sz="1600" baseline="0" dirty="0">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aseline="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30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40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5" name="Google Shape;96;p16">
            <a:extLst>
              <a:ext uri="{FF2B5EF4-FFF2-40B4-BE49-F238E27FC236}">
                <a16:creationId xmlns:a16="http://schemas.microsoft.com/office/drawing/2014/main" id="{423EA0ED-41B0-045E-C05E-55922F62F740}"/>
              </a:ext>
            </a:extLst>
          </p:cNvPr>
          <p:cNvSpPr txBox="1"/>
          <p:nvPr/>
        </p:nvSpPr>
        <p:spPr>
          <a:xfrm>
            <a:off x="2042617" y="1898138"/>
            <a:ext cx="4530904" cy="661679"/>
          </a:xfrm>
          <a:prstGeom prst="rect">
            <a:avLst/>
          </a:prstGeom>
          <a:noFill/>
          <a:ln>
            <a:noFill/>
          </a:ln>
        </p:spPr>
        <p:txBody>
          <a:bodyPr spcFirstLastPara="1" wrap="square" lIns="91425" tIns="45700" rIns="91425" bIns="45700" anchor="t" anchorCtr="0">
            <a:spAutoFit/>
          </a:bodyPr>
          <a:lstStyle/>
          <a:p>
            <a:pPr marL="285750" lvl="0" indent="-285750">
              <a:spcBef>
                <a:spcPts val="300"/>
              </a:spcBef>
              <a:buSzPts val="1600"/>
              <a:buFont typeface="Arial"/>
              <a:buChar char="•"/>
            </a:pPr>
            <a:r>
              <a:rPr lang="ru-RU" sz="1600" dirty="0">
                <a:latin typeface="Times New Roman"/>
                <a:ea typeface="Times New Roman"/>
                <a:cs typeface="Times New Roman"/>
                <a:sym typeface="Times New Roman"/>
              </a:rPr>
              <a:t>Фундаментальные физические исследования</a:t>
            </a:r>
          </a:p>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Геофизика</a:t>
            </a:r>
            <a:endParaRPr sz="1600" b="0" i="0" u="none" strike="noStrike" cap="none" dirty="0">
              <a:solidFill>
                <a:srgbClr val="000000"/>
              </a:solidFill>
              <a:latin typeface="Times New Roman"/>
              <a:ea typeface="Times New Roman"/>
              <a:cs typeface="Times New Roman"/>
              <a:sym typeface="Times New Roman"/>
            </a:endParaRPr>
          </a:p>
        </p:txBody>
      </p:sp>
      <p:sp>
        <p:nvSpPr>
          <p:cNvPr id="6" name="Google Shape;98;p16">
            <a:extLst>
              <a:ext uri="{FF2B5EF4-FFF2-40B4-BE49-F238E27FC236}">
                <a16:creationId xmlns:a16="http://schemas.microsoft.com/office/drawing/2014/main" id="{E4243556-E438-CFBC-29D6-4D8BF0F905CD}"/>
              </a:ext>
            </a:extLst>
          </p:cNvPr>
          <p:cNvSpPr txBox="1"/>
          <p:nvPr/>
        </p:nvSpPr>
        <p:spPr>
          <a:xfrm>
            <a:off x="2292713" y="1559624"/>
            <a:ext cx="788837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ru-RU" sz="1600" b="1" i="0" u="none" strike="noStrike" cap="none" dirty="0">
                <a:solidFill>
                  <a:srgbClr val="000000"/>
                </a:solidFill>
                <a:latin typeface="Times New Roman"/>
                <a:ea typeface="Times New Roman"/>
                <a:cs typeface="Times New Roman"/>
                <a:sym typeface="Times New Roman"/>
              </a:rPr>
              <a:t>Сферы</a:t>
            </a:r>
            <a:r>
              <a:rPr lang="en-US" sz="1600" b="1" i="0" u="none" strike="noStrike" cap="none" dirty="0">
                <a:solidFill>
                  <a:srgbClr val="000000"/>
                </a:solidFill>
                <a:latin typeface="Times New Roman"/>
                <a:ea typeface="Times New Roman"/>
                <a:cs typeface="Times New Roman"/>
                <a:sym typeface="Times New Roman"/>
              </a:rPr>
              <a:t> </a:t>
            </a:r>
            <a:r>
              <a:rPr lang="ru-RU" sz="1600" b="1" i="0" u="none" strike="noStrike" cap="none" dirty="0">
                <a:solidFill>
                  <a:srgbClr val="000000"/>
                </a:solidFill>
                <a:latin typeface="Times New Roman"/>
                <a:ea typeface="Times New Roman"/>
                <a:cs typeface="Times New Roman"/>
                <a:sym typeface="Times New Roman"/>
              </a:rPr>
              <a:t>деятельности, требующие прецизионных измерений гравитации</a:t>
            </a:r>
          </a:p>
        </p:txBody>
      </p:sp>
      <p:sp>
        <p:nvSpPr>
          <p:cNvPr id="10" name="TextBox 9">
            <a:extLst>
              <a:ext uri="{FF2B5EF4-FFF2-40B4-BE49-F238E27FC236}">
                <a16:creationId xmlns:a16="http://schemas.microsoft.com/office/drawing/2014/main" id="{D4F37B3D-67F2-43BC-66AA-BE525757435E}"/>
              </a:ext>
            </a:extLst>
          </p:cNvPr>
          <p:cNvSpPr txBox="1"/>
          <p:nvPr/>
        </p:nvSpPr>
        <p:spPr>
          <a:xfrm>
            <a:off x="6674510" y="1898138"/>
            <a:ext cx="3709010" cy="623248"/>
          </a:xfrm>
          <a:prstGeom prst="rect">
            <a:avLst/>
          </a:prstGeom>
          <a:noFill/>
        </p:spPr>
        <p:txBody>
          <a:bodyPr wrap="square">
            <a:spAutoFit/>
          </a:bodyPr>
          <a:lstStyle/>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Навигация</a:t>
            </a:r>
            <a:endParaRPr lang="ru-RU" sz="16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300"/>
              </a:spcBef>
              <a:spcAft>
                <a:spcPts val="0"/>
              </a:spcAft>
              <a:buClr>
                <a:srgbClr val="000000"/>
              </a:buClr>
              <a:buSzPts val="1600"/>
              <a:buFont typeface="Arial"/>
              <a:buChar char="•"/>
            </a:pPr>
            <a:r>
              <a:rPr lang="ru-RU" sz="1600" b="0" i="0" u="none" strike="noStrike" cap="none" dirty="0">
                <a:solidFill>
                  <a:srgbClr val="000000"/>
                </a:solidFill>
                <a:latin typeface="Times New Roman"/>
                <a:ea typeface="Times New Roman"/>
                <a:cs typeface="Times New Roman"/>
                <a:sym typeface="Times New Roman"/>
              </a:rPr>
              <a:t>Оценка подземной инфраструктуры</a:t>
            </a:r>
          </a:p>
        </p:txBody>
      </p:sp>
    </p:spTree>
    <p:extLst>
      <p:ext uri="{BB962C8B-B14F-4D97-AF65-F5344CB8AC3E}">
        <p14:creationId xmlns:p14="http://schemas.microsoft.com/office/powerpoint/2010/main" val="261017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8FEF79-600B-4971-DE56-02B116CFFC07}"/>
              </a:ext>
            </a:extLst>
          </p:cNvPr>
          <p:cNvSpPr txBox="1"/>
          <p:nvPr/>
        </p:nvSpPr>
        <p:spPr>
          <a:xfrm>
            <a:off x="2103966" y="889000"/>
            <a:ext cx="7984067" cy="4401205"/>
          </a:xfrm>
          <a:prstGeom prst="rect">
            <a:avLst/>
          </a:prstGeom>
          <a:noFill/>
        </p:spPr>
        <p:txBody>
          <a:bodyPr wrap="square" rtlCol="0">
            <a:spAutoFit/>
          </a:bodyPr>
          <a:lstStyle/>
          <a:p>
            <a:r>
              <a:rPr lang="ru-RU" dirty="0"/>
              <a:t>На </a:t>
            </a:r>
            <a:r>
              <a:rPr lang="ru-RU" dirty="0" err="1"/>
              <a:t>гравитационноге</a:t>
            </a:r>
            <a:r>
              <a:rPr lang="ru-RU" dirty="0"/>
              <a:t> ускорение влияют различные факторы, среди них …., которые могут менять величину </a:t>
            </a:r>
            <a:r>
              <a:rPr lang="en-US" dirty="0"/>
              <a:t>g </a:t>
            </a:r>
            <a:r>
              <a:rPr lang="ru-RU" dirty="0"/>
              <a:t>от десятых </a:t>
            </a:r>
            <a:r>
              <a:rPr lang="ru-RU" dirty="0" err="1"/>
              <a:t>мкГал</a:t>
            </a:r>
            <a:r>
              <a:rPr lang="ru-RU" dirty="0"/>
              <a:t> до сотен </a:t>
            </a:r>
            <a:r>
              <a:rPr lang="ru-RU" dirty="0" err="1"/>
              <a:t>мкГал</a:t>
            </a:r>
            <a:r>
              <a:rPr lang="ru-RU" dirty="0"/>
              <a:t>.</a:t>
            </a:r>
          </a:p>
          <a:p>
            <a:endParaRPr lang="ru-RU" dirty="0"/>
          </a:p>
          <a:p>
            <a:r>
              <a:rPr lang="ru-RU" dirty="0"/>
              <a:t>Существует множество областей, требующих точного измерения гравитационного ускорения …. и т.д.</a:t>
            </a:r>
          </a:p>
          <a:p>
            <a:endParaRPr lang="ru-RU" dirty="0"/>
          </a:p>
          <a:p>
            <a:r>
              <a:rPr lang="ru-RU" dirty="0"/>
              <a:t>Гравиметр подразделяются на абсолютные, измеряющие гравитационное ускорение напрямую, и относительные, измеряющие изменение гравитационного поля, и поэтому для измерение гравитационного ускорения требуют калибровки по абсолютным, а также данные гравиметры испытывают дрейф, и поэтому их снова нужно калибровать. Несмотря на приведённый недостаток, данный тип гравиметров обладает отличными метрологическими характеристиками. Среди же абсолютных гравиметров наиболее распространены баллистические классические, конкуренцию которым начинают составлять квантовые атомные гравиметры. Существующие квантовые гравиметры обладают метрологическими характеристиками сходными с классическими, а лабораторные образцы обладают превосходящими показателями, что говорит о больших перспективах квантовых гравиметров. </a:t>
            </a:r>
          </a:p>
          <a:p>
            <a:endParaRPr lang="ru-RU" dirty="0"/>
          </a:p>
          <a:p>
            <a:r>
              <a:rPr lang="ru-RU" dirty="0"/>
              <a:t>Данное исследование направлено на улучшение метрологических характеристик разрабатываемого в ИЛФ СО РАН квантового атомного интерферометра-гравиметра.</a:t>
            </a:r>
          </a:p>
        </p:txBody>
      </p:sp>
    </p:spTree>
    <p:extLst>
      <p:ext uri="{BB962C8B-B14F-4D97-AF65-F5344CB8AC3E}">
        <p14:creationId xmlns:p14="http://schemas.microsoft.com/office/powerpoint/2010/main" val="207743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4" name="Google Shape;134;p3"/>
          <p:cNvSpPr txBox="1"/>
          <p:nvPr/>
        </p:nvSpPr>
        <p:spPr>
          <a:xfrm>
            <a:off x="1187629" y="5980125"/>
            <a:ext cx="403819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Times New Roman"/>
                <a:ea typeface="Times New Roman"/>
                <a:cs typeface="Times New Roman"/>
                <a:sym typeface="Times New Roman"/>
              </a:rPr>
              <a:t>Рис. 1. Принципиальная схема работы абсолютного атомного гравиметра.</a:t>
            </a:r>
            <a:endParaRPr sz="1600" b="0" i="0" u="none" strike="noStrike" cap="none" dirty="0">
              <a:solidFill>
                <a:srgbClr val="000000"/>
              </a:solidFill>
              <a:latin typeface="Times New Roman"/>
              <a:ea typeface="Times New Roman"/>
              <a:cs typeface="Times New Roman"/>
              <a:sym typeface="Times New Roman"/>
            </a:endParaRPr>
          </a:p>
        </p:txBody>
      </p:sp>
      <p:sp>
        <p:nvSpPr>
          <p:cNvPr id="135" name="Google Shape;135;p3"/>
          <p:cNvSpPr/>
          <p:nvPr/>
        </p:nvSpPr>
        <p:spPr>
          <a:xfrm>
            <a:off x="2504131" y="94718"/>
            <a:ext cx="6910755" cy="47118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гравиметра</a:t>
            </a:r>
            <a:endParaRPr sz="1400" b="0" i="0" u="none" strike="noStrike" cap="none" dirty="0">
              <a:solidFill>
                <a:srgbClr val="000000"/>
              </a:solidFill>
              <a:latin typeface="Arial"/>
              <a:ea typeface="Arial"/>
              <a:cs typeface="Arial"/>
              <a:sym typeface="Arial"/>
            </a:endParaRPr>
          </a:p>
        </p:txBody>
      </p:sp>
      <p:sp>
        <p:nvSpPr>
          <p:cNvPr id="136" name="Google Shape;136;p3"/>
          <p:cNvSpPr txBox="1"/>
          <p:nvPr/>
        </p:nvSpPr>
        <p:spPr>
          <a:xfrm>
            <a:off x="6096000" y="1658031"/>
            <a:ext cx="580151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000" b="1" i="0" u="none" strike="noStrike" cap="none" dirty="0">
                <a:solidFill>
                  <a:schemeClr val="dk1"/>
                </a:solidFill>
                <a:latin typeface="Times New Roman"/>
                <a:ea typeface="Times New Roman"/>
                <a:cs typeface="Times New Roman"/>
                <a:sym typeface="Times New Roman"/>
              </a:rPr>
              <a:t>П</a:t>
            </a:r>
            <a:r>
              <a:rPr lang="ru-RU" sz="2000" b="1" dirty="0">
                <a:solidFill>
                  <a:schemeClr val="dk1"/>
                </a:solidFill>
                <a:latin typeface="Times New Roman"/>
                <a:ea typeface="Times New Roman"/>
                <a:cs typeface="Times New Roman"/>
                <a:sym typeface="Times New Roman"/>
              </a:rPr>
              <a:t>оследовательность</a:t>
            </a:r>
            <a:r>
              <a:rPr lang="ru-RU" sz="2000" b="1" i="0" u="none" strike="noStrike" cap="none" dirty="0">
                <a:solidFill>
                  <a:schemeClr val="dk1"/>
                </a:solidFill>
                <a:latin typeface="Times New Roman"/>
                <a:ea typeface="Times New Roman"/>
                <a:cs typeface="Times New Roman"/>
                <a:sym typeface="Times New Roman"/>
              </a:rPr>
              <a:t> работы гравиметра:</a:t>
            </a:r>
            <a:endParaRPr sz="20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Магнито-оптическая ловушка (МОЛ)</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Субдоплеровское охлаждение</a:t>
            </a:r>
            <a:endParaRPr lang="ru-RU" sz="18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rgbClr val="000000"/>
                </a:solidFill>
                <a:effectLst/>
                <a:latin typeface="Times New Roman" panose="02020603050405020304" pitchFamily="18" charset="0"/>
                <a:ea typeface="Times New Roman" panose="02020603050405020304" pitchFamily="18" charset="0"/>
              </a:rPr>
              <a:t>Подготовка начального атомного волнового пакета</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А</a:t>
            </a:r>
            <a:r>
              <a:rPr lang="ru-RU" sz="1800" b="0" i="0" u="none" strike="noStrike" cap="none" dirty="0">
                <a:solidFill>
                  <a:schemeClr val="dk1"/>
                </a:solidFill>
                <a:latin typeface="Times New Roman"/>
                <a:ea typeface="Times New Roman"/>
                <a:cs typeface="Times New Roman"/>
                <a:sym typeface="Times New Roman"/>
              </a:rPr>
              <a:t>томная интерференция</a:t>
            </a:r>
            <a:endParaRPr sz="18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Детектирование</a:t>
            </a:r>
            <a:endParaRPr sz="1800" b="0" i="0" u="none" strike="noStrike" cap="none"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12768A1C-0EF5-462D-9F3E-871D6D7DCD89}"/>
              </a:ext>
            </a:extLst>
          </p:cNvPr>
          <p:cNvSpPr txBox="1"/>
          <p:nvPr/>
        </p:nvSpPr>
        <p:spPr>
          <a:xfrm>
            <a:off x="11681926" y="6408575"/>
            <a:ext cx="360784" cy="312570"/>
          </a:xfrm>
          <a:prstGeom prst="rect">
            <a:avLst/>
          </a:prstGeom>
          <a:noFill/>
        </p:spPr>
        <p:txBody>
          <a:bodyPr wrap="square" rtlCol="0">
            <a:spAutoFit/>
          </a:bodyPr>
          <a:lstStyle/>
          <a:p>
            <a:r>
              <a:rPr lang="en-US" dirty="0"/>
              <a:t>2</a:t>
            </a:r>
            <a:endParaRPr lang="ru-RU" dirty="0"/>
          </a:p>
        </p:txBody>
      </p:sp>
      <p:pic>
        <p:nvPicPr>
          <p:cNvPr id="4" name="Рисунок 3">
            <a:extLst>
              <a:ext uri="{FF2B5EF4-FFF2-40B4-BE49-F238E27FC236}">
                <a16:creationId xmlns:a16="http://schemas.microsoft.com/office/drawing/2014/main" id="{0104CFAB-661A-70B1-D4BF-84D4505FC109}"/>
              </a:ext>
            </a:extLst>
          </p:cNvPr>
          <p:cNvPicPr>
            <a:picLocks noChangeAspect="1"/>
          </p:cNvPicPr>
          <p:nvPr/>
        </p:nvPicPr>
        <p:blipFill>
          <a:blip r:embed="rId3"/>
          <a:srcRect l="2435" t="3324" r="2549" b="371"/>
          <a:stretch/>
        </p:blipFill>
        <p:spPr>
          <a:xfrm>
            <a:off x="1500895" y="690154"/>
            <a:ext cx="4353963" cy="5165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B3CA08-AA9B-07D1-D95A-50CB5F4B13AC}"/>
              </a:ext>
            </a:extLst>
          </p:cNvPr>
          <p:cNvSpPr txBox="1"/>
          <p:nvPr/>
        </p:nvSpPr>
        <p:spPr>
          <a:xfrm>
            <a:off x="3031067" y="905933"/>
            <a:ext cx="4555066" cy="3539430"/>
          </a:xfrm>
          <a:prstGeom prst="rect">
            <a:avLst/>
          </a:prstGeom>
          <a:noFill/>
        </p:spPr>
        <p:txBody>
          <a:bodyPr wrap="square" rtlCol="0">
            <a:spAutoFit/>
          </a:bodyPr>
          <a:lstStyle/>
          <a:p>
            <a:r>
              <a:rPr lang="ru-RU" dirty="0"/>
              <a:t>Сперва об общих принципах работы квантового гравиметра.</a:t>
            </a:r>
          </a:p>
          <a:p>
            <a:endParaRPr lang="ru-RU" dirty="0"/>
          </a:p>
          <a:p>
            <a:r>
              <a:rPr lang="ru-RU" dirty="0"/>
              <a:t>Первый этап – лазерное охлаждение и пленение атомов, позволяет накопить порядка </a:t>
            </a:r>
            <a:r>
              <a:rPr lang="en-US" dirty="0"/>
              <a:t>10</a:t>
            </a:r>
            <a:r>
              <a:rPr lang="en-US" baseline="30000" dirty="0"/>
              <a:t>7</a:t>
            </a:r>
            <a:r>
              <a:rPr lang="en-US" dirty="0"/>
              <a:t>-10</a:t>
            </a:r>
            <a:r>
              <a:rPr lang="en-US" baseline="30000" dirty="0"/>
              <a:t>8</a:t>
            </a:r>
            <a:r>
              <a:rPr lang="en-US" dirty="0"/>
              <a:t> </a:t>
            </a:r>
            <a:r>
              <a:rPr lang="ru-RU" dirty="0"/>
              <a:t>атомов и охладить их до температуры нескольких </a:t>
            </a:r>
            <a:r>
              <a:rPr lang="ru-RU" dirty="0" err="1"/>
              <a:t>мкК</a:t>
            </a:r>
            <a:r>
              <a:rPr lang="ru-RU" dirty="0"/>
              <a:t>.</a:t>
            </a:r>
          </a:p>
          <a:p>
            <a:endParaRPr lang="ru-RU" dirty="0"/>
          </a:p>
          <a:p>
            <a:r>
              <a:rPr lang="ru-RU" dirty="0"/>
              <a:t>Далее идёт подготовка начального атомного волнового пакета в немагнитном квантовом состоянии для минимизация влияния магнитного поля на результаты измерения </a:t>
            </a:r>
            <a:r>
              <a:rPr lang="en-US" dirty="0"/>
              <a:t>g.</a:t>
            </a:r>
            <a:endParaRPr lang="ru-RU" dirty="0"/>
          </a:p>
          <a:p>
            <a:endParaRPr lang="en-US" dirty="0"/>
          </a:p>
          <a:p>
            <a:r>
              <a:rPr lang="ru-RU" dirty="0"/>
              <a:t>После следует завершающий этап – атомная интерференция и детектирование населённостей атомных состояний. Данные процедуры</a:t>
            </a:r>
            <a:r>
              <a:rPr lang="en-US" dirty="0"/>
              <a:t> </a:t>
            </a:r>
            <a:r>
              <a:rPr lang="ru-RU" dirty="0"/>
              <a:t>и позволяют измерить </a:t>
            </a:r>
            <a:r>
              <a:rPr lang="en-US" dirty="0"/>
              <a:t>g.</a:t>
            </a:r>
            <a:endParaRPr lang="ru-RU" dirty="0"/>
          </a:p>
        </p:txBody>
      </p:sp>
    </p:spTree>
    <p:extLst>
      <p:ext uri="{BB962C8B-B14F-4D97-AF65-F5344CB8AC3E}">
        <p14:creationId xmlns:p14="http://schemas.microsoft.com/office/powerpoint/2010/main" val="131011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517E7CE-C80C-57B9-6CD2-509946F43843}"/>
              </a:ext>
            </a:extLst>
          </p:cNvPr>
          <p:cNvPicPr>
            <a:picLocks noChangeAspect="1"/>
          </p:cNvPicPr>
          <p:nvPr/>
        </p:nvPicPr>
        <p:blipFill>
          <a:blip r:embed="rId2"/>
          <a:srcRect l="3329" t="3914" r="2226" b="2619"/>
          <a:stretch/>
        </p:blipFill>
        <p:spPr>
          <a:xfrm>
            <a:off x="3758669" y="776576"/>
            <a:ext cx="4178620" cy="2931639"/>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атомного интерферометра</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3263753" y="3692162"/>
            <a:ext cx="5862830"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3"/>
          <a:stretch>
            <a:fillRect/>
          </a:stretch>
        </p:blipFill>
        <p:spPr>
          <a:xfrm>
            <a:off x="8364472" y="776576"/>
            <a:ext cx="3545100" cy="3013772"/>
          </a:xfrm>
          <a:prstGeom prst="rect">
            <a:avLst/>
          </a:prstGeom>
        </p:spPr>
      </p:pic>
      <p:sp>
        <p:nvSpPr>
          <p:cNvPr id="12" name="TextBox 11">
            <a:extLst>
              <a:ext uri="{FF2B5EF4-FFF2-40B4-BE49-F238E27FC236}">
                <a16:creationId xmlns:a16="http://schemas.microsoft.com/office/drawing/2014/main" id="{5B363D8B-4970-43DE-BCF6-8B91DEC4358D}"/>
              </a:ext>
            </a:extLst>
          </p:cNvPr>
          <p:cNvSpPr txBox="1"/>
          <p:nvPr/>
        </p:nvSpPr>
        <p:spPr>
          <a:xfrm>
            <a:off x="522248"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C228A56-F53C-4040-AA74-A750668FC7D9}"/>
              </a:ext>
            </a:extLst>
          </p:cNvPr>
          <p:cNvSpPr txBox="1"/>
          <p:nvPr/>
        </p:nvSpPr>
        <p:spPr>
          <a:xfrm>
            <a:off x="3209143"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8178782"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4290609" y="4239173"/>
                <a:ext cx="2647969" cy="397096"/>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290609" y="4239173"/>
                <a:ext cx="2647969" cy="397096"/>
              </a:xfrm>
              <a:prstGeom prst="rect">
                <a:avLst/>
              </a:prstGeom>
              <a:blipFill rotWithShape="0">
                <a:blip r:embed="rId5"/>
                <a:stretch>
                  <a:fillRect b="-4225"/>
                </a:stretch>
              </a:blipFill>
              <a:ln w="28575">
                <a:solidFill>
                  <a:srgbClr val="FF0000"/>
                </a:solidFill>
              </a:ln>
            </p:spPr>
            <p:txBody>
              <a:bodyPr/>
              <a:lstStyle/>
              <a:p>
                <a:r>
                  <a:rPr lang="ru-RU">
                    <a:noFill/>
                  </a:rPr>
                  <a:t> </a:t>
                </a:r>
              </a:p>
            </p:txBody>
          </p:sp>
        </mc:Fallback>
      </mc:AlternateContent>
      <p:sp>
        <p:nvSpPr>
          <p:cNvPr id="16" name="TextBox 15"/>
          <p:cNvSpPr txBox="1"/>
          <p:nvPr/>
        </p:nvSpPr>
        <p:spPr>
          <a:xfrm>
            <a:off x="4178555" y="4742630"/>
            <a:ext cx="4481868" cy="338554"/>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a:t>
            </a:r>
            <a:r>
              <a:rPr lang="en-US" sz="1600" baseline="-25000" dirty="0" err="1">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a:t>
            </a:r>
            <a:r>
              <a:rPr lang="en-US" sz="1600"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3A8042C-E52E-4288-B49A-5DABBD83A1A0}"/>
              </a:ext>
            </a:extLst>
          </p:cNvPr>
          <p:cNvSpPr txBox="1"/>
          <p:nvPr/>
        </p:nvSpPr>
        <p:spPr>
          <a:xfrm>
            <a:off x="8258681" y="3692162"/>
            <a:ext cx="361972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5F76187-A348-4512-AFBD-6EA014B794F8}"/>
                  </a:ext>
                </a:extLst>
              </p:cNvPr>
              <p:cNvSpPr txBox="1"/>
              <p:nvPr/>
            </p:nvSpPr>
            <p:spPr>
              <a:xfrm>
                <a:off x="8574804" y="4151302"/>
                <a:ext cx="3181768" cy="1180003"/>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r>
                        <a:rPr lang="ru-RU" sz="1800" b="0" i="1" smtClean="0">
                          <a:latin typeface="Cambria Math" panose="02040503050406030204" pitchFamily="18" charset="0"/>
                        </a:rPr>
                        <m:t>=</m:t>
                      </m:r>
                    </m:oMath>
                  </m:oMathPara>
                </a14:m>
                <a:endParaRPr lang="ru-RU" sz="1800" b="0" dirty="0"/>
              </a:p>
              <a:p>
                <a:pPr/>
                <a14:m>
                  <m:oMathPara xmlns:m="http://schemas.openxmlformats.org/officeDocument/2006/math">
                    <m:oMathParaPr>
                      <m:jc m:val="centerGroup"/>
                    </m:oMathParaPr>
                    <m:oMath xmlns:m="http://schemas.openxmlformats.org/officeDocument/2006/math">
                      <m:r>
                        <a:rPr lang="ru-RU"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i="1" dirty="0">
                                  <a:latin typeface="Cambria Math" panose="02040503050406030204" pitchFamily="18" charset="0"/>
                                </a:rPr>
                                <m:t>−</m:t>
                              </m:r>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r>
                            <a:rPr lang="en-US" sz="1800" i="1" dirty="0">
                              <a:latin typeface="Cambria Math" panose="02040503050406030204" pitchFamily="18" charset="0"/>
                            </a:rPr>
                            <m:t>𝑔</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9" name="TextBox 18">
                <a:extLst>
                  <a:ext uri="{FF2B5EF4-FFF2-40B4-BE49-F238E27FC236}">
                    <a16:creationId xmlns:a16="http://schemas.microsoft.com/office/drawing/2014/main" id="{A5F76187-A348-4512-AFBD-6EA014B794F8}"/>
                  </a:ext>
                </a:extLst>
              </p:cNvPr>
              <p:cNvSpPr txBox="1">
                <a:spLocks noRot="1" noChangeAspect="1" noMove="1" noResize="1" noEditPoints="1" noAdjustHandles="1" noChangeArrowheads="1" noChangeShapeType="1" noTextEdit="1"/>
              </p:cNvSpPr>
              <p:nvPr/>
            </p:nvSpPr>
            <p:spPr>
              <a:xfrm>
                <a:off x="8574804" y="4151302"/>
                <a:ext cx="3181768" cy="1180003"/>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p:sp>
        <p:nvSpPr>
          <p:cNvPr id="20" name="Google Shape;139;p21">
            <a:extLst>
              <a:ext uri="{FF2B5EF4-FFF2-40B4-BE49-F238E27FC236}">
                <a16:creationId xmlns:a16="http://schemas.microsoft.com/office/drawing/2014/main" id="{B7A8C424-1497-4145-B7C5-C8EA445193E9}"/>
              </a:ext>
            </a:extLst>
          </p:cNvPr>
          <p:cNvSpPr txBox="1"/>
          <p:nvPr/>
        </p:nvSpPr>
        <p:spPr>
          <a:xfrm>
            <a:off x="608506" y="5888947"/>
            <a:ext cx="10790908"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2. </a:t>
            </a:r>
            <a:r>
              <a:rPr lang="ru-RU" sz="1600" dirty="0">
                <a:latin typeface="Times New Roman"/>
                <a:ea typeface="Times New Roman"/>
                <a:cs typeface="Times New Roman"/>
                <a:sym typeface="Times New Roman"/>
              </a:rPr>
              <a:t>Схема переходов в </a:t>
            </a:r>
            <a:r>
              <a:rPr lang="en-US" sz="1600" baseline="30000" dirty="0">
                <a:latin typeface="Times New Roman"/>
                <a:ea typeface="Times New Roman"/>
                <a:cs typeface="Times New Roman"/>
                <a:sym typeface="Times New Roman"/>
              </a:rPr>
              <a:t>87</a:t>
            </a:r>
            <a:r>
              <a:rPr lang="en-US" sz="1600" dirty="0">
                <a:latin typeface="Times New Roman"/>
                <a:ea typeface="Times New Roman"/>
                <a:cs typeface="Times New Roman"/>
                <a:sym typeface="Times New Roman"/>
              </a:rPr>
              <a:t>Rb, </a:t>
            </a:r>
            <a:r>
              <a:rPr lang="ru-RU" sz="1600" dirty="0">
                <a:latin typeface="Times New Roman"/>
                <a:ea typeface="Times New Roman"/>
                <a:cs typeface="Times New Roman"/>
                <a:sym typeface="Times New Roman"/>
              </a:rPr>
              <a:t>используемых для атомной интерференции </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а</a:t>
            </a:r>
            <a:r>
              <a:rPr lang="en-US" sz="1600" b="0" i="0" u="none" strike="noStrike" cap="none" dirty="0">
                <a:solidFill>
                  <a:srgbClr val="000000"/>
                </a:solidFill>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зависимость величины интерференционного сигнала от скорости чирпирования </a:t>
            </a:r>
            <a:r>
              <a:rPr lang="el-GR" sz="1600" dirty="0">
                <a:latin typeface="Times New Roman"/>
                <a:ea typeface="Times New Roman"/>
                <a:cs typeface="Times New Roman"/>
                <a:sym typeface="Times New Roman"/>
              </a:rPr>
              <a:t>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1" name="Прямоугольник 20"/>
          <p:cNvSpPr/>
          <p:nvPr/>
        </p:nvSpPr>
        <p:spPr>
          <a:xfrm>
            <a:off x="182296" y="3692162"/>
            <a:ext cx="2675732" cy="338554"/>
          </a:xfrm>
          <a:prstGeom prst="rect">
            <a:avLst/>
          </a:prstGeom>
        </p:spPr>
        <p:txBody>
          <a:bodyPr wrap="none">
            <a:spAutoFit/>
          </a:bodyPr>
          <a:lstStyle/>
          <a:p>
            <a:pPr indent="216000"/>
            <a:r>
              <a:rPr lang="ru-RU" sz="1600" b="1" dirty="0">
                <a:latin typeface="Times New Roman" panose="02020603050405020304" pitchFamily="18" charset="0"/>
                <a:cs typeface="Times New Roman" panose="02020603050405020304" pitchFamily="18" charset="0"/>
              </a:rPr>
              <a:t>Чирпирование частоты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5F76187-A348-4512-AFBD-6EA014B794F8}"/>
                  </a:ext>
                </a:extLst>
              </p:cNvPr>
              <p:cNvSpPr txBox="1"/>
              <p:nvPr/>
            </p:nvSpPr>
            <p:spPr>
              <a:xfrm>
                <a:off x="723472" y="4162817"/>
                <a:ext cx="1791196" cy="369332"/>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ru-RU" sz="1800" i="1" dirty="0" smtClean="0">
                              <a:latin typeface="Cambria Math" panose="02040503050406030204" pitchFamily="18" charset="0"/>
                              <a:sym typeface="Symbol"/>
                            </a:rPr>
                          </m:ctrlPr>
                        </m:sSubPr>
                        <m:e>
                          <m:r>
                            <a:rPr lang="ru-RU" sz="1800" i="1" dirty="0" smtClean="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sym typeface="Symbol"/>
                            </a:rPr>
                            <m:t>𝑅</m:t>
                          </m:r>
                        </m:sub>
                      </m:sSub>
                      <m:r>
                        <a:rPr lang="en-US" sz="1800" b="0" i="1" dirty="0" smtClean="0">
                          <a:latin typeface="Cambria Math" panose="02040503050406030204" pitchFamily="18" charset="0"/>
                          <a:sym typeface="Symbol"/>
                        </a:rPr>
                        <m:t>=</m:t>
                      </m:r>
                      <m:sSub>
                        <m:sSubPr>
                          <m:ctrlPr>
                            <a:rPr lang="ru-RU" sz="1800" i="1" dirty="0">
                              <a:latin typeface="Cambria Math" panose="02040503050406030204" pitchFamily="18" charset="0"/>
                              <a:sym typeface="Symbol"/>
                            </a:rPr>
                          </m:ctrlPr>
                        </m:sSubPr>
                        <m:e>
                          <m:r>
                            <a:rPr lang="ru-RU" sz="1800" i="1" dirty="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ea typeface="Cambria Math" panose="02040503050406030204" pitchFamily="18" charset="0"/>
                              <a:sym typeface="Symbol"/>
                            </a:rPr>
                            <m:t>0</m:t>
                          </m:r>
                        </m:sub>
                      </m:sSub>
                      <m:r>
                        <a:rPr lang="en-US" sz="1800" b="0" i="1" dirty="0" smtClean="0">
                          <a:latin typeface="Cambria Math" panose="02040503050406030204" pitchFamily="18" charset="0"/>
                          <a:sym typeface="Symbol"/>
                        </a:rPr>
                        <m:t>+2</m:t>
                      </m:r>
                      <m:r>
                        <a:rPr lang="en-US" sz="1800" b="0" i="1" dirty="0" smtClean="0">
                          <a:latin typeface="Cambria Math" panose="02040503050406030204" pitchFamily="18" charset="0"/>
                          <a:ea typeface="Cambria Math" panose="02040503050406030204" pitchFamily="18" charset="0"/>
                          <a:sym typeface="Symbol"/>
                        </a:rPr>
                        <m:t>𝜋𝛼</m:t>
                      </m:r>
                      <m:r>
                        <a:rPr lang="en-US" sz="1800" b="0" i="1" dirty="0" smtClean="0">
                          <a:latin typeface="Cambria Math" panose="02040503050406030204" pitchFamily="18" charset="0"/>
                          <a:ea typeface="Cambria Math" panose="02040503050406030204" pitchFamily="18" charset="0"/>
                          <a:sym typeface="Symbol"/>
                        </a:rPr>
                        <m:t>𝑡</m:t>
                      </m:r>
                    </m:oMath>
                  </m:oMathPara>
                </a14:m>
                <a:endParaRPr lang="ru-RU" sz="1800" dirty="0"/>
              </a:p>
            </p:txBody>
          </p:sp>
        </mc:Choice>
        <mc:Fallback xmlns="">
          <p:sp>
            <p:nvSpPr>
              <p:cNvPr id="23" name="TextBox 22">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723472" y="4162817"/>
                <a:ext cx="1791196" cy="369332"/>
              </a:xfrm>
              <a:prstGeom prst="rect">
                <a:avLst/>
              </a:prstGeom>
              <a:blipFill rotWithShape="0">
                <a:blip r:embed="rId7"/>
                <a:stretch>
                  <a:fillRect/>
                </a:stretch>
              </a:blipFill>
              <a:ln w="28575">
                <a:solidFill>
                  <a:srgbClr val="FF0000"/>
                </a:solidFill>
              </a:ln>
            </p:spPr>
            <p:txBody>
              <a:bodyPr/>
              <a:lstStyle/>
              <a:p>
                <a:r>
                  <a:rPr lang="ru-RU">
                    <a:noFill/>
                  </a:rPr>
                  <a:t> </a:t>
                </a:r>
              </a:p>
            </p:txBody>
          </p:sp>
        </mc:Fallback>
      </mc:AlternateContent>
      <p:sp>
        <p:nvSpPr>
          <p:cNvPr id="24" name="TextBox 23"/>
          <p:cNvSpPr txBox="1"/>
          <p:nvPr/>
        </p:nvSpPr>
        <p:spPr>
          <a:xfrm>
            <a:off x="466405" y="4742630"/>
            <a:ext cx="3047387" cy="338554"/>
          </a:xfrm>
          <a:prstGeom prst="rect">
            <a:avLst/>
          </a:prstGeom>
          <a:noFill/>
        </p:spPr>
        <p:txBody>
          <a:bodyPr wrap="square" rtlCol="0">
            <a:spAutoFit/>
          </a:bodyPr>
          <a:lstStyle/>
          <a:p>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681926" y="6408575"/>
            <a:ext cx="360784" cy="312570"/>
          </a:xfrm>
          <a:prstGeom prst="rect">
            <a:avLst/>
          </a:prstGeom>
          <a:noFill/>
        </p:spPr>
        <p:txBody>
          <a:bodyPr wrap="square" rtlCol="0">
            <a:spAutoFit/>
          </a:bodyPr>
          <a:lstStyle/>
          <a:p>
            <a:r>
              <a:rPr lang="en-US" dirty="0"/>
              <a:t>3</a:t>
            </a:r>
            <a:endParaRPr lang="ru-RU" dirty="0"/>
          </a:p>
        </p:txBody>
      </p:sp>
      <p:pic>
        <p:nvPicPr>
          <p:cNvPr id="4" name="Рисунок 3"/>
          <p:cNvPicPr>
            <a:picLocks noChangeAspect="1"/>
          </p:cNvPicPr>
          <p:nvPr/>
        </p:nvPicPr>
        <p:blipFill>
          <a:blip r:embed="rId8"/>
          <a:stretch>
            <a:fillRect/>
          </a:stretch>
        </p:blipFill>
        <p:spPr>
          <a:xfrm>
            <a:off x="282428" y="1431362"/>
            <a:ext cx="2981325" cy="191452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0D59FF-3EFC-AE6F-C462-671EC06C19B7}"/>
                  </a:ext>
                </a:extLst>
              </p:cNvPr>
              <p:cNvSpPr txBox="1"/>
              <p:nvPr/>
            </p:nvSpPr>
            <p:spPr>
              <a:xfrm>
                <a:off x="5198036" y="5243717"/>
                <a:ext cx="997132" cy="549381"/>
              </a:xfrm>
              <a:prstGeom prst="rect">
                <a:avLst/>
              </a:prstGeom>
              <a:noFill/>
              <a:ln w="28575">
                <a:solidFill>
                  <a:srgbClr val="FF0000"/>
                </a:solidFill>
              </a:ln>
            </p:spPr>
            <p:txBody>
              <a:bodyPr wrap="none" rtlCol="0">
                <a:spAutoFit/>
              </a:bodyPr>
              <a:lstStyle/>
              <a:p>
                <a14:m>
                  <m:oMath xmlns:m="http://schemas.openxmlformats.org/officeDocument/2006/math">
                    <m:r>
                      <a:rPr lang="en-US" sz="1800" i="1" dirty="0" smtClean="0">
                        <a:latin typeface="Cambria Math" panose="02040503050406030204" pitchFamily="18" charset="0"/>
                      </a:rPr>
                      <m:t>𝑔</m:t>
                    </m:r>
                    <m:r>
                      <a:rPr lang="en-US" sz="1800" b="0" i="1" dirty="0" smtClean="0">
                        <a:latin typeface="Cambria Math" panose="02040503050406030204" pitchFamily="18" charset="0"/>
                      </a:rPr>
                      <m:t>=</m:t>
                    </m:r>
                  </m:oMath>
                </a14:m>
                <a:r>
                  <a:rPr lang="en-US" sz="1800" dirty="0"/>
                  <a:t> </a:t>
                </a:r>
                <a14:m>
                  <m:oMath xmlns:m="http://schemas.openxmlformats.org/officeDocument/2006/math">
                    <m:f>
                      <m:fPr>
                        <m:ctrlPr>
                          <a:rPr lang="en-US" sz="1800" i="1" dirty="0" smtClean="0">
                            <a:latin typeface="Cambria Math" panose="02040503050406030204" pitchFamily="18" charset="0"/>
                          </a:rPr>
                        </m:ctrlPr>
                      </m:fPr>
                      <m:num>
                        <m:r>
                          <a:rPr lang="en-US" sz="1800" i="1" dirty="0">
                            <a:latin typeface="Cambria Math" panose="02040503050406030204" pitchFamily="18" charset="0"/>
                          </a:rPr>
                          <m:t>2</m:t>
                        </m:r>
                        <m:r>
                          <a:rPr lang="en-US" sz="1800" i="1" dirty="0">
                            <a:latin typeface="Cambria Math" panose="02040503050406030204" pitchFamily="18" charset="0"/>
                          </a:rPr>
                          <m:t>𝜋𝛼</m:t>
                        </m:r>
                      </m:num>
                      <m:den>
                        <m:sSub>
                          <m:sSubPr>
                            <m:ctrlPr>
                              <a:rPr lang="en-US" sz="1800" i="1" dirty="0">
                                <a:latin typeface="Cambria Math" panose="02040503050406030204" pitchFamily="18" charset="0"/>
                              </a:rPr>
                            </m:ctrlPr>
                          </m:sSubPr>
                          <m:e>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den>
                    </m:f>
                  </m:oMath>
                </a14:m>
                <a:endParaRPr lang="ru-RU" sz="1800" dirty="0"/>
              </a:p>
            </p:txBody>
          </p:sp>
        </mc:Choice>
        <mc:Fallback xmlns="">
          <p:sp>
            <p:nvSpPr>
              <p:cNvPr id="3" name="TextBox 2">
                <a:extLst>
                  <a:ext uri="{FF2B5EF4-FFF2-40B4-BE49-F238E27FC236}">
                    <a16:creationId xmlns:a16="http://schemas.microsoft.com/office/drawing/2014/main" xmlns:a14="http://schemas.microsoft.com/office/drawing/2010/main" xmlns="" id="{970D59FF-3EFC-AE6F-C462-671EC06C19B7}"/>
                  </a:ext>
                </a:extLst>
              </p:cNvPr>
              <p:cNvSpPr txBox="1">
                <a:spLocks noRot="1" noChangeAspect="1" noMove="1" noResize="1" noEditPoints="1" noAdjustHandles="1" noChangeArrowheads="1" noChangeShapeType="1" noTextEdit="1"/>
              </p:cNvSpPr>
              <p:nvPr/>
            </p:nvSpPr>
            <p:spPr>
              <a:xfrm>
                <a:off x="5198036" y="5243717"/>
                <a:ext cx="997132" cy="549381"/>
              </a:xfrm>
              <a:prstGeom prst="rect">
                <a:avLst/>
              </a:prstGeom>
              <a:blipFill rotWithShape="0">
                <a:blip r:embed="rId9"/>
                <a:stretch>
                  <a:fillRect b="-1053"/>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161897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D42D4-EA53-4BF0-8F05-F9A6E85BE531}"/>
              </a:ext>
            </a:extLst>
          </p:cNvPr>
          <p:cNvSpPr txBox="1"/>
          <p:nvPr/>
        </p:nvSpPr>
        <p:spPr>
          <a:xfrm>
            <a:off x="479018" y="219156"/>
            <a:ext cx="11712982" cy="6340197"/>
          </a:xfrm>
          <a:prstGeom prst="rect">
            <a:avLst/>
          </a:prstGeom>
          <a:noFill/>
        </p:spPr>
        <p:txBody>
          <a:bodyPr wrap="square" rtlCol="0">
            <a:spAutoFit/>
          </a:bodyPr>
          <a:lstStyle/>
          <a:p>
            <a:r>
              <a:rPr lang="ru-RU" dirty="0"/>
              <a:t>На данном слайде более подробно описана атомная интерференция, основной измерительный этап.</a:t>
            </a:r>
          </a:p>
          <a:p>
            <a:endParaRPr lang="ru-RU" dirty="0"/>
          </a:p>
          <a:p>
            <a:r>
              <a:rPr lang="ru-RU" dirty="0"/>
              <a:t>Для атомной интерференции используются </a:t>
            </a:r>
            <a:r>
              <a:rPr lang="en-US" dirty="0"/>
              <a:t>F = 1 F = 2 </a:t>
            </a:r>
            <a:r>
              <a:rPr lang="ru-RU" dirty="0"/>
              <a:t>компоненты сверхтонкого расщепления основного состояния (а). Переходы между данными состояниями осуществляются с помощью </a:t>
            </a:r>
            <a:r>
              <a:rPr lang="ru-RU" dirty="0" err="1"/>
              <a:t>рамановских</a:t>
            </a:r>
            <a:r>
              <a:rPr lang="ru-RU" dirty="0"/>
              <a:t> пучков, поскольку это позволяет передать атомам значительно больший импульс, чем микроволновое излучение.</a:t>
            </a:r>
          </a:p>
          <a:p>
            <a:endParaRPr lang="ru-RU" dirty="0"/>
          </a:p>
          <a:p>
            <a:r>
              <a:rPr lang="ru-RU" dirty="0"/>
              <a:t>После этапов подготовки перед атомной интерференцией атомы находятся в состоянии </a:t>
            </a:r>
            <a:r>
              <a:rPr lang="en-US" dirty="0"/>
              <a:t>F =</a:t>
            </a:r>
            <a:r>
              <a:rPr lang="ru-RU" dirty="0"/>
              <a:t> </a:t>
            </a:r>
            <a:r>
              <a:rPr lang="en-US" dirty="0"/>
              <a:t>1</a:t>
            </a:r>
            <a:r>
              <a:rPr lang="ru-RU" dirty="0"/>
              <a:t>. Для осуществления атомной интерференции используется следующая схема (б)</a:t>
            </a:r>
            <a:r>
              <a:rPr lang="en-US" dirty="0"/>
              <a:t>:</a:t>
            </a:r>
            <a:endParaRPr lang="ru-RU" dirty="0"/>
          </a:p>
          <a:p>
            <a:endParaRPr lang="en-US" dirty="0"/>
          </a:p>
          <a:p>
            <a:pPr marL="342900" indent="-342900">
              <a:buAutoNum type="arabicPeriod"/>
            </a:pPr>
            <a:r>
              <a:rPr lang="ru-RU" dirty="0"/>
              <a:t>Первый импульс </a:t>
            </a:r>
            <a:r>
              <a:rPr lang="ru-RU" dirty="0" err="1"/>
              <a:t>рамановских</a:t>
            </a:r>
            <a:r>
              <a:rPr lang="ru-RU" dirty="0"/>
              <a:t> пучков – пи</a:t>
            </a:r>
            <a:r>
              <a:rPr lang="en-US" dirty="0"/>
              <a:t>/</a:t>
            </a:r>
            <a:r>
              <a:rPr lang="ru-RU" dirty="0"/>
              <a:t>2, переводит атомы в суперпозицию состояний </a:t>
            </a:r>
            <a:r>
              <a:rPr lang="en-US" dirty="0"/>
              <a:t>1 </a:t>
            </a:r>
            <a:r>
              <a:rPr lang="ru-RU" dirty="0"/>
              <a:t>и 2, также эти два состояния имеют значительно отличный импульс, и поэтому получившиеся волновые пакеты эволюционируют по различным </a:t>
            </a:r>
            <a:r>
              <a:rPr lang="ru-RU" dirty="0" err="1"/>
              <a:t>пространственно</a:t>
            </a:r>
            <a:r>
              <a:rPr lang="ru-RU" dirty="0"/>
              <a:t> временным траекториям. </a:t>
            </a:r>
          </a:p>
          <a:p>
            <a:pPr marL="342900" indent="-342900">
              <a:buAutoNum type="arabicPeriod"/>
            </a:pPr>
            <a:r>
              <a:rPr lang="ru-RU" dirty="0"/>
              <a:t>Далее атомы находятся в состоянии свободного падения на </a:t>
            </a:r>
            <a:r>
              <a:rPr lang="ru-RU" dirty="0" err="1"/>
              <a:t>протяжнии</a:t>
            </a:r>
            <a:r>
              <a:rPr lang="ru-RU" dirty="0"/>
              <a:t> времени </a:t>
            </a:r>
            <a:r>
              <a:rPr lang="en-US" dirty="0"/>
              <a:t>T</a:t>
            </a:r>
            <a:r>
              <a:rPr lang="ru-RU" dirty="0"/>
              <a:t>,</a:t>
            </a:r>
            <a:r>
              <a:rPr lang="en-US" dirty="0"/>
              <a:t> </a:t>
            </a:r>
            <a:r>
              <a:rPr lang="ru-RU" dirty="0"/>
              <a:t>после чего подаётся второй пи импульс, меняющий состояние 1 на 2, а 2 на 1.</a:t>
            </a:r>
          </a:p>
          <a:p>
            <a:pPr marL="342900" indent="-342900">
              <a:buAutoNum type="arabicPeriod"/>
            </a:pPr>
            <a:r>
              <a:rPr lang="ru-RU" dirty="0"/>
              <a:t>Снова после свободного падения на протяжении времени </a:t>
            </a:r>
            <a:r>
              <a:rPr lang="en-US" dirty="0"/>
              <a:t>T </a:t>
            </a:r>
            <a:r>
              <a:rPr lang="ru-RU" dirty="0"/>
              <a:t>подаётся третий пи</a:t>
            </a:r>
            <a:r>
              <a:rPr lang="en-US" dirty="0"/>
              <a:t>/2 </a:t>
            </a:r>
            <a:r>
              <a:rPr lang="ru-RU" dirty="0"/>
              <a:t>импульс,</a:t>
            </a:r>
            <a:r>
              <a:rPr lang="en-US" dirty="0"/>
              <a:t> </a:t>
            </a:r>
            <a:r>
              <a:rPr lang="ru-RU" dirty="0"/>
              <a:t>переводящий состояния волновых пакетов в суперпозицию состояний 1 и 2.</a:t>
            </a:r>
          </a:p>
          <a:p>
            <a:endParaRPr lang="ru-RU" dirty="0"/>
          </a:p>
          <a:p>
            <a:r>
              <a:rPr lang="ru-RU" dirty="0"/>
              <a:t>Также поскольку атомы находятся в состоянии свободного падения, для компенсации доплеровского сдвига необходимо </a:t>
            </a:r>
            <a:r>
              <a:rPr lang="ru-RU" dirty="0" err="1"/>
              <a:t>чирпировать</a:t>
            </a:r>
            <a:r>
              <a:rPr lang="ru-RU" dirty="0"/>
              <a:t> отстройку частоты </a:t>
            </a:r>
            <a:r>
              <a:rPr lang="ru-RU" dirty="0" err="1"/>
              <a:t>рамановского</a:t>
            </a:r>
            <a:r>
              <a:rPr lang="ru-RU" dirty="0"/>
              <a:t> излучения от частоты перехода, как написано снизу под (а), скорость </a:t>
            </a:r>
            <a:r>
              <a:rPr lang="ru-RU" dirty="0" err="1"/>
              <a:t>чирпа</a:t>
            </a:r>
            <a:r>
              <a:rPr lang="ru-RU" dirty="0"/>
              <a:t> –</a:t>
            </a:r>
            <a:r>
              <a:rPr lang="en-US" dirty="0"/>
              <a:t> </a:t>
            </a:r>
            <a:r>
              <a:rPr lang="ru-RU" dirty="0"/>
              <a:t>альфа. </a:t>
            </a:r>
          </a:p>
          <a:p>
            <a:r>
              <a:rPr lang="ru-RU" dirty="0"/>
              <a:t>По итогу на выходе атомного интерферометра получается два волновых пакета с состояниями 1 и 2. Населённость данных состояний зависит от разности фаз между двумя имеющимися пространственно-временными траекториями – плечами интерферометра. Данная разность фаз определяется следующим выражением</a:t>
            </a:r>
            <a:r>
              <a:rPr lang="en-US" dirty="0"/>
              <a:t>: </a:t>
            </a:r>
            <a:r>
              <a:rPr lang="ru-RU" dirty="0"/>
              <a:t>она зависит от скорости </a:t>
            </a:r>
            <a:r>
              <a:rPr lang="ru-RU" dirty="0" err="1"/>
              <a:t>чирпа</a:t>
            </a:r>
            <a:r>
              <a:rPr lang="ru-RU" dirty="0"/>
              <a:t> альфа, времени между импульсами </a:t>
            </a:r>
            <a:r>
              <a:rPr lang="en-US" dirty="0"/>
              <a:t>T, </a:t>
            </a:r>
            <a:r>
              <a:rPr lang="ru-RU" dirty="0"/>
              <a:t>эффективного волнового вектора и искомого гравитационного ускорения. </a:t>
            </a:r>
            <a:r>
              <a:rPr lang="en-US" dirty="0"/>
              <a:t>g </a:t>
            </a:r>
            <a:r>
              <a:rPr lang="ru-RU" dirty="0"/>
              <a:t>можно легко определить по точке зануления дельта Ф.</a:t>
            </a:r>
            <a:r>
              <a:rPr lang="en-US" dirty="0"/>
              <a:t> </a:t>
            </a:r>
          </a:p>
          <a:p>
            <a:endParaRPr lang="en-US" dirty="0"/>
          </a:p>
          <a:p>
            <a:r>
              <a:rPr lang="ru-RU" dirty="0"/>
              <a:t>Для того, чтобы отыскать эту точку, посмотрим на выражением для населённости состояний после интерференции, она зависит от дельта Ф, и если подставить дельта Ф получится следующее выражение. Данное выражение позволяет построить зависимость населённости от альфа для разных </a:t>
            </a:r>
            <a:r>
              <a:rPr lang="en-US" dirty="0"/>
              <a:t>T </a:t>
            </a:r>
            <a:r>
              <a:rPr lang="ru-RU" dirty="0"/>
              <a:t>больших времён между импульсами, получатся синусоиды. В точке с нулевой разностью фаз </a:t>
            </a:r>
            <a:r>
              <a:rPr lang="ru-RU" dirty="0" err="1"/>
              <a:t>чирп</a:t>
            </a:r>
            <a:r>
              <a:rPr lang="ru-RU" dirty="0"/>
              <a:t> полностью скомпенсирует доплеровский сдвиг, это точка пика для всех </a:t>
            </a:r>
            <a:r>
              <a:rPr lang="en-US" dirty="0"/>
              <a:t>T </a:t>
            </a:r>
            <a:r>
              <a:rPr lang="ru-RU" dirty="0"/>
              <a:t>будет одинакова. Теперь зная положение данной точке легко найти </a:t>
            </a:r>
            <a:r>
              <a:rPr lang="en-US" dirty="0"/>
              <a:t>g.</a:t>
            </a:r>
            <a:endParaRPr lang="ru-RU" dirty="0"/>
          </a:p>
        </p:txBody>
      </p:sp>
    </p:spTree>
    <p:extLst>
      <p:ext uri="{BB962C8B-B14F-4D97-AF65-F5344CB8AC3E}">
        <p14:creationId xmlns:p14="http://schemas.microsoft.com/office/powerpoint/2010/main" val="128680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72" name="Google Shape;172;p6"/>
          <p:cNvSpPr/>
          <p:nvPr/>
        </p:nvSpPr>
        <p:spPr>
          <a:xfrm>
            <a:off x="2572555" y="80840"/>
            <a:ext cx="6910755" cy="5536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Используемые переходы атома </a:t>
            </a:r>
            <a:r>
              <a:rPr lang="ru-RU" sz="2400" b="1" i="0" u="none" strike="noStrike" cap="none" baseline="30000" dirty="0">
                <a:solidFill>
                  <a:schemeClr val="lt1"/>
                </a:solidFill>
                <a:latin typeface="Times New Roman"/>
                <a:ea typeface="Times New Roman"/>
                <a:cs typeface="Times New Roman"/>
                <a:sym typeface="Times New Roman"/>
              </a:rPr>
              <a:t>87</a:t>
            </a:r>
            <a:r>
              <a:rPr lang="en-US" sz="2400" b="1" i="0" u="none" strike="noStrike" cap="none" dirty="0">
                <a:solidFill>
                  <a:schemeClr val="lt1"/>
                </a:solidFill>
                <a:latin typeface="Times New Roman"/>
                <a:ea typeface="Times New Roman"/>
                <a:cs typeface="Times New Roman"/>
                <a:sym typeface="Times New Roman"/>
              </a:rPr>
              <a:t>Rb</a:t>
            </a:r>
            <a:endParaRPr lang="en-US" sz="1400" b="0" i="0" u="none" strike="noStrike" cap="none" dirty="0">
              <a:solidFill>
                <a:srgbClr val="000000"/>
              </a:solidFill>
              <a:latin typeface="Arial"/>
              <a:ea typeface="Arial"/>
              <a:cs typeface="Arial"/>
              <a:sym typeface="Arial"/>
            </a:endParaRPr>
          </a:p>
        </p:txBody>
      </p:sp>
      <p:sp>
        <p:nvSpPr>
          <p:cNvPr id="42" name="TextBox 41">
            <a:extLst>
              <a:ext uri="{FF2B5EF4-FFF2-40B4-BE49-F238E27FC236}">
                <a16:creationId xmlns:a16="http://schemas.microsoft.com/office/drawing/2014/main" id="{C0BC523E-C572-40EC-9063-421483B6825E}"/>
              </a:ext>
            </a:extLst>
          </p:cNvPr>
          <p:cNvSpPr txBox="1"/>
          <p:nvPr/>
        </p:nvSpPr>
        <p:spPr>
          <a:xfrm>
            <a:off x="-298579" y="5466515"/>
            <a:ext cx="12192000" cy="422167"/>
          </a:xfrm>
          <a:prstGeom prst="rect">
            <a:avLst/>
          </a:prstGeom>
          <a:noFill/>
        </p:spPr>
        <p:txBody>
          <a:bodyPr wrap="square">
            <a:spAutoFit/>
          </a:bodyPr>
          <a:lstStyle/>
          <a:p>
            <a:pPr algn="ctr">
              <a:lnSpc>
                <a:spcPct val="150000"/>
              </a:lnSpc>
              <a:spcAft>
                <a:spcPts val="800"/>
              </a:spcAft>
            </a:pPr>
            <a:r>
              <a:rPr lang="ru-RU" sz="1600" dirty="0">
                <a:effectLst/>
                <a:latin typeface="Times New Roman" panose="02020603050405020304" pitchFamily="18" charset="0"/>
                <a:ea typeface="Times New Roman" panose="02020603050405020304" pitchFamily="18" charset="0"/>
              </a:rPr>
              <a:t>Рис. 3. </a:t>
            </a:r>
            <a:r>
              <a:rPr lang="ru-RU" sz="1600" dirty="0">
                <a:solidFill>
                  <a:srgbClr val="000000"/>
                </a:solidFill>
                <a:effectLst/>
                <a:latin typeface="Times New Roman" panose="02020603050405020304" pitchFamily="18" charset="0"/>
                <a:ea typeface="Calibri" panose="020F0502020204030204" pitchFamily="34" charset="0"/>
              </a:rPr>
              <a:t>Схема уровней </a:t>
            </a:r>
            <a:r>
              <a:rPr lang="en-US" sz="1600" dirty="0">
                <a:solidFill>
                  <a:srgbClr val="000000"/>
                </a:solidFill>
                <a:effectLst/>
                <a:latin typeface="Times New Roman" panose="02020603050405020304" pitchFamily="18" charset="0"/>
                <a:ea typeface="Calibri" panose="020F0502020204030204" pitchFamily="34" charset="0"/>
              </a:rPr>
              <a:t>D</a:t>
            </a:r>
            <a:r>
              <a:rPr lang="ru-RU" sz="1600" baseline="-25000" dirty="0">
                <a:solidFill>
                  <a:srgbClr val="000000"/>
                </a:solidFill>
                <a:effectLst/>
                <a:latin typeface="Times New Roman" panose="02020603050405020304" pitchFamily="18" charset="0"/>
                <a:ea typeface="Calibri" panose="020F0502020204030204" pitchFamily="34" charset="0"/>
              </a:rPr>
              <a:t>2</a:t>
            </a:r>
            <a:r>
              <a:rPr lang="ru-RU" sz="1600" dirty="0">
                <a:solidFill>
                  <a:srgbClr val="000000"/>
                </a:solidFill>
                <a:effectLst/>
                <a:latin typeface="Times New Roman" panose="02020603050405020304" pitchFamily="18" charset="0"/>
                <a:ea typeface="Calibri" panose="020F0502020204030204" pitchFamily="34" charset="0"/>
              </a:rPr>
              <a:t> линии атома </a:t>
            </a:r>
            <a:r>
              <a:rPr lang="ru-RU" sz="1600" baseline="30000" dirty="0">
                <a:solidFill>
                  <a:srgbClr val="000000"/>
                </a:solidFill>
                <a:effectLst/>
                <a:latin typeface="Times New Roman" panose="02020603050405020304" pitchFamily="18" charset="0"/>
                <a:ea typeface="Calibri" panose="020F0502020204030204" pitchFamily="34" charset="0"/>
              </a:rPr>
              <a:t>87</a:t>
            </a:r>
            <a:r>
              <a:rPr lang="en-US" sz="1600" dirty="0">
                <a:solidFill>
                  <a:srgbClr val="000000"/>
                </a:solidFill>
                <a:effectLst/>
                <a:latin typeface="Times New Roman" panose="02020603050405020304" pitchFamily="18" charset="0"/>
                <a:ea typeface="Calibri" panose="020F0502020204030204" pitchFamily="34" charset="0"/>
              </a:rPr>
              <a:t>Rb</a:t>
            </a:r>
            <a:r>
              <a:rPr lang="ru-RU" sz="16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a:t>
            </a:r>
            <a:endParaRPr lang="ru-RU" dirty="0">
              <a:effectLst/>
              <a:latin typeface="Calibri" panose="020F0502020204030204" pitchFamily="34" charset="0"/>
              <a:ea typeface="Calibri" panose="020F0502020204030204" pitchFamily="34" charset="0"/>
            </a:endParaRPr>
          </a:p>
        </p:txBody>
      </p:sp>
      <p:pic>
        <p:nvPicPr>
          <p:cNvPr id="3" name="Рисунок 2">
            <a:extLst>
              <a:ext uri="{FF2B5EF4-FFF2-40B4-BE49-F238E27FC236}">
                <a16:creationId xmlns:a16="http://schemas.microsoft.com/office/drawing/2014/main" id="{25C80F64-1A92-4CBB-A332-7F48B7C3644C}"/>
              </a:ext>
            </a:extLst>
          </p:cNvPr>
          <p:cNvPicPr>
            <a:picLocks noChangeAspect="1"/>
          </p:cNvPicPr>
          <p:nvPr/>
        </p:nvPicPr>
        <p:blipFill>
          <a:blip r:embed="rId3"/>
          <a:stretch>
            <a:fillRect/>
          </a:stretch>
        </p:blipFill>
        <p:spPr>
          <a:xfrm>
            <a:off x="2359385" y="923119"/>
            <a:ext cx="6876071" cy="42547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4F5585-7BC7-48D8-991F-EE7FB391AB59}"/>
              </a:ext>
            </a:extLst>
          </p:cNvPr>
          <p:cNvSpPr txBox="1"/>
          <p:nvPr/>
        </p:nvSpPr>
        <p:spPr>
          <a:xfrm>
            <a:off x="665725" y="5070942"/>
            <a:ext cx="10587134" cy="1384995"/>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4. </a:t>
            </a:r>
            <a:r>
              <a:rPr lang="ru-RU" dirty="0">
                <a:effectLst/>
                <a:latin typeface="Times New Roman" panose="02020603050405020304" pitchFamily="18" charset="0"/>
                <a:ea typeface="Times New Roman" panose="02020603050405020304" pitchFamily="18" charset="0"/>
              </a:rPr>
              <a:t>Оптическая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рамановских переходов в атомном интерферометре. АОМ – акустооптический модулятор, ЭОМ – электрооптический модулятор, ДЛВР – диодный лазер с внешним резонатором, λ/2 – полуволновая пластинка, λ/4 – четвертьволновая пластинка, З – плоское зеркало, СЗ – сферическое зеркало, Линза – собирающая линза, ОИ – оптический изолятор Фарадея, ПДК – поляризационный делительный кубик, СЧБ – стабилизация частоты с помощью биений, СНС – установка для спектроскопии насыщенного поглощения, ДК – делительный кубик, λ-метр – измеритель длины волны, ФД -фотодиод.</a:t>
            </a:r>
            <a:endParaRPr lang="ru-RU" dirty="0"/>
          </a:p>
        </p:txBody>
      </p:sp>
      <p:sp>
        <p:nvSpPr>
          <p:cNvPr id="5" name="Google Shape;178;p5">
            <a:extLst>
              <a:ext uri="{FF2B5EF4-FFF2-40B4-BE49-F238E27FC236}">
                <a16:creationId xmlns:a16="http://schemas.microsoft.com/office/drawing/2014/main" id="{685FAB7F-096C-4160-8A8F-AF21AFC9F4E2}"/>
              </a:ext>
            </a:extLst>
          </p:cNvPr>
          <p:cNvSpPr/>
          <p:nvPr/>
        </p:nvSpPr>
        <p:spPr>
          <a:xfrm>
            <a:off x="2367282" y="12035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Оптическая схема гравиметра </a:t>
            </a:r>
            <a:endParaRPr sz="1400" b="0" i="0" u="none" strike="noStrike" cap="none">
              <a:solidFill>
                <a:srgbClr val="000000"/>
              </a:solidFill>
              <a:latin typeface="Arial"/>
              <a:ea typeface="Arial"/>
              <a:cs typeface="Arial"/>
              <a:sym typeface="Arial"/>
            </a:endParaRPr>
          </a:p>
        </p:txBody>
      </p:sp>
      <p:pic>
        <p:nvPicPr>
          <p:cNvPr id="3" name="Рисунок 2">
            <a:extLst>
              <a:ext uri="{FF2B5EF4-FFF2-40B4-BE49-F238E27FC236}">
                <a16:creationId xmlns:a16="http://schemas.microsoft.com/office/drawing/2014/main" id="{4D30DFEF-8F23-4151-9AAE-358E840F02AC}"/>
              </a:ext>
            </a:extLst>
          </p:cNvPr>
          <p:cNvPicPr>
            <a:picLocks noChangeAspect="1"/>
          </p:cNvPicPr>
          <p:nvPr/>
        </p:nvPicPr>
        <p:blipFill>
          <a:blip r:embed="rId2"/>
          <a:stretch>
            <a:fillRect/>
          </a:stretch>
        </p:blipFill>
        <p:spPr>
          <a:xfrm>
            <a:off x="2232289" y="791016"/>
            <a:ext cx="7727421" cy="4294331"/>
          </a:xfrm>
          <a:prstGeom prst="rect">
            <a:avLst/>
          </a:prstGeom>
        </p:spPr>
      </p:pic>
    </p:spTree>
    <p:extLst>
      <p:ext uri="{BB962C8B-B14F-4D97-AF65-F5344CB8AC3E}">
        <p14:creationId xmlns:p14="http://schemas.microsoft.com/office/powerpoint/2010/main" val="2898375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1DC97405-FC6B-4DED-9A25-2DB3771810FF}"/>
              </a:ext>
            </a:extLst>
          </p:cNvPr>
          <p:cNvPicPr>
            <a:picLocks noChangeAspect="1"/>
          </p:cNvPicPr>
          <p:nvPr/>
        </p:nvPicPr>
        <p:blipFill>
          <a:blip r:embed="rId2"/>
          <a:stretch>
            <a:fillRect/>
          </a:stretch>
        </p:blipFill>
        <p:spPr>
          <a:xfrm>
            <a:off x="295379" y="1179408"/>
            <a:ext cx="5615229" cy="3474578"/>
          </a:xfrm>
          <a:prstGeom prst="rect">
            <a:avLst/>
          </a:prstGeom>
        </p:spPr>
      </p:pic>
      <p:pic>
        <p:nvPicPr>
          <p:cNvPr id="3" name="Рисунок 2">
            <a:extLst>
              <a:ext uri="{FF2B5EF4-FFF2-40B4-BE49-F238E27FC236}">
                <a16:creationId xmlns:a16="http://schemas.microsoft.com/office/drawing/2014/main" id="{B5E0CD9E-6E28-AA2D-6EAD-7D917ADD400A}"/>
              </a:ext>
            </a:extLst>
          </p:cNvPr>
          <p:cNvPicPr>
            <a:picLocks noChangeAspect="1"/>
          </p:cNvPicPr>
          <p:nvPr/>
        </p:nvPicPr>
        <p:blipFill>
          <a:blip r:embed="rId3"/>
          <a:srcRect l="1409" t="3793" r="231"/>
          <a:stretch/>
        </p:blipFill>
        <p:spPr>
          <a:xfrm>
            <a:off x="5910608" y="1687201"/>
            <a:ext cx="6226111" cy="2458992"/>
          </a:xfrm>
          <a:prstGeom prst="rect">
            <a:avLst/>
          </a:prstGeom>
        </p:spPr>
      </p:pic>
      <p:sp>
        <p:nvSpPr>
          <p:cNvPr id="4" name="Google Shape;178;p5">
            <a:extLst>
              <a:ext uri="{FF2B5EF4-FFF2-40B4-BE49-F238E27FC236}">
                <a16:creationId xmlns:a16="http://schemas.microsoft.com/office/drawing/2014/main" id="{0C300431-2A84-42F9-AC7F-37BC35CDB8A9}"/>
              </a:ext>
            </a:extLst>
          </p:cNvPr>
          <p:cNvSpPr/>
          <p:nvPr/>
        </p:nvSpPr>
        <p:spPr>
          <a:xfrm>
            <a:off x="2272032" y="15210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Оптическая схема гравиметра </a:t>
            </a:r>
            <a:endParaRPr sz="1400" b="0" i="0" u="none" strike="noStrike" cap="none" dirty="0">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7D2686F3-13E8-45ED-A8AD-5CE2C3BD8A29}"/>
              </a:ext>
            </a:extLst>
          </p:cNvPr>
          <p:cNvSpPr txBox="1"/>
          <p:nvPr/>
        </p:nvSpPr>
        <p:spPr>
          <a:xfrm>
            <a:off x="684775" y="5010629"/>
            <a:ext cx="10587134" cy="738664"/>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 С</a:t>
            </a:r>
            <a:r>
              <a:rPr lang="ru-RU" sz="1400" dirty="0">
                <a:solidFill>
                  <a:srgbClr val="000000"/>
                </a:solidFill>
                <a:effectLst/>
                <a:latin typeface="Times New Roman" panose="02020603050405020304" pitchFamily="18" charset="0"/>
                <a:ea typeface="Calibri" panose="020F0502020204030204" pitchFamily="34" charset="0"/>
              </a:rPr>
              <a:t>хема уровней </a:t>
            </a:r>
            <a:r>
              <a:rPr lang="en-US" sz="1400" dirty="0">
                <a:solidFill>
                  <a:srgbClr val="000000"/>
                </a:solidFill>
                <a:effectLst/>
                <a:latin typeface="Times New Roman" panose="02020603050405020304" pitchFamily="18" charset="0"/>
                <a:ea typeface="Calibri" panose="020F0502020204030204" pitchFamily="34" charset="0"/>
              </a:rPr>
              <a:t>D</a:t>
            </a:r>
            <a:r>
              <a:rPr lang="ru-RU" sz="1400" baseline="-25000" dirty="0">
                <a:solidFill>
                  <a:srgbClr val="000000"/>
                </a:solidFill>
                <a:effectLst/>
                <a:latin typeface="Times New Roman" panose="02020603050405020304" pitchFamily="18" charset="0"/>
                <a:ea typeface="Calibri" panose="020F0502020204030204" pitchFamily="34" charset="0"/>
              </a:rPr>
              <a:t>2</a:t>
            </a:r>
            <a:r>
              <a:rPr lang="ru-RU" sz="1400" dirty="0">
                <a:solidFill>
                  <a:srgbClr val="000000"/>
                </a:solidFill>
                <a:effectLst/>
                <a:latin typeface="Times New Roman" panose="02020603050405020304" pitchFamily="18" charset="0"/>
                <a:ea typeface="Calibri" panose="020F0502020204030204" pitchFamily="34" charset="0"/>
              </a:rPr>
              <a:t> линии атома </a:t>
            </a:r>
            <a:r>
              <a:rPr lang="ru-RU" sz="1400" baseline="30000" dirty="0">
                <a:solidFill>
                  <a:srgbClr val="000000"/>
                </a:solidFill>
                <a:effectLst/>
                <a:latin typeface="Times New Roman" panose="02020603050405020304" pitchFamily="18" charset="0"/>
                <a:ea typeface="Calibri" panose="020F0502020204030204" pitchFamily="34" charset="0"/>
              </a:rPr>
              <a:t>87</a:t>
            </a:r>
            <a:r>
              <a:rPr lang="en-US" sz="1400" dirty="0">
                <a:solidFill>
                  <a:srgbClr val="000000"/>
                </a:solidFill>
                <a:effectLst/>
                <a:latin typeface="Times New Roman" panose="02020603050405020304" pitchFamily="18" charset="0"/>
                <a:ea typeface="Calibri" panose="020F0502020204030204" pitchFamily="34" charset="0"/>
              </a:rPr>
              <a:t>Rb</a:t>
            </a:r>
            <a:r>
              <a:rPr lang="ru-RU" sz="14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(слева)</a:t>
            </a:r>
            <a:r>
              <a:rPr lang="en-US" dirty="0">
                <a:latin typeface="Times New Roman" panose="02020603050405020304" pitchFamily="18" charset="0"/>
                <a:ea typeface="Calibri" panose="020F0502020204030204" pitchFamily="34" charset="0"/>
              </a:rPr>
              <a:t>, </a:t>
            </a:r>
            <a:r>
              <a:rPr lang="ru-RU" dirty="0">
                <a:latin typeface="Times New Roman" panose="02020603050405020304" pitchFamily="18" charset="0"/>
                <a:ea typeface="Calibri" panose="020F0502020204030204" pitchFamily="34" charset="0"/>
              </a:rPr>
              <a:t>о</a:t>
            </a:r>
            <a:r>
              <a:rPr lang="ru-RU" dirty="0">
                <a:effectLst/>
                <a:latin typeface="Times New Roman" panose="02020603050405020304" pitchFamily="18" charset="0"/>
                <a:ea typeface="Times New Roman" panose="02020603050405020304" pitchFamily="18" charset="0"/>
              </a:rPr>
              <a:t>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a:t>
            </a:r>
            <a:r>
              <a:rPr lang="ru-RU" dirty="0" err="1">
                <a:effectLst/>
                <a:latin typeface="Times New Roman" panose="02020603050405020304" pitchFamily="18" charset="0"/>
                <a:ea typeface="Times New Roman" panose="02020603050405020304" pitchFamily="18" charset="0"/>
              </a:rPr>
              <a:t>рамановских</a:t>
            </a:r>
            <a:r>
              <a:rPr lang="ru-RU" dirty="0">
                <a:effectLst/>
                <a:latin typeface="Times New Roman" panose="02020603050405020304" pitchFamily="18" charset="0"/>
                <a:ea typeface="Times New Roman" panose="02020603050405020304" pitchFamily="18" charset="0"/>
              </a:rPr>
              <a:t> переходов в атомном интерферометре</a:t>
            </a:r>
            <a:r>
              <a:rPr lang="en-US"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справа</a:t>
            </a:r>
            <a:r>
              <a:rPr lang="en-US" dirty="0">
                <a:latin typeface="Times New Roman" panose="02020603050405020304" pitchFamily="18" charset="0"/>
                <a:ea typeface="Times New Roman" panose="02020603050405020304" pitchFamily="18" charset="0"/>
              </a:rPr>
              <a:t>)</a:t>
            </a:r>
            <a:r>
              <a:rPr lang="ru-RU" sz="1400" dirty="0">
                <a:solidFill>
                  <a:srgbClr val="000000"/>
                </a:solidFill>
                <a:effectLst/>
                <a:latin typeface="Times New Roman" panose="02020603050405020304" pitchFamily="18" charset="0"/>
                <a:ea typeface="Calibri" panose="020F0502020204030204" pitchFamily="34" charset="0"/>
              </a:rPr>
              <a:t> </a:t>
            </a:r>
            <a:endParaRPr lang="ru-RU" dirty="0"/>
          </a:p>
        </p:txBody>
      </p:sp>
      <p:sp>
        <p:nvSpPr>
          <p:cNvPr id="9" name="TextBox 8">
            <a:extLst>
              <a:ext uri="{FF2B5EF4-FFF2-40B4-BE49-F238E27FC236}">
                <a16:creationId xmlns:a16="http://schemas.microsoft.com/office/drawing/2014/main" id="{2AF96418-F43F-49D3-8F8E-E2651F57759E}"/>
              </a:ext>
            </a:extLst>
          </p:cNvPr>
          <p:cNvSpPr txBox="1"/>
          <p:nvPr/>
        </p:nvSpPr>
        <p:spPr>
          <a:xfrm>
            <a:off x="11681926" y="6408575"/>
            <a:ext cx="360784" cy="312570"/>
          </a:xfrm>
          <a:prstGeom prst="rect">
            <a:avLst/>
          </a:prstGeom>
          <a:noFill/>
        </p:spPr>
        <p:txBody>
          <a:bodyPr wrap="square" rtlCol="0">
            <a:spAutoFit/>
          </a:bodyPr>
          <a:lstStyle/>
          <a:p>
            <a:r>
              <a:rPr lang="ru-RU" dirty="0"/>
              <a:t>4</a:t>
            </a:r>
          </a:p>
        </p:txBody>
      </p:sp>
    </p:spTree>
    <p:extLst>
      <p:ext uri="{BB962C8B-B14F-4D97-AF65-F5344CB8AC3E}">
        <p14:creationId xmlns:p14="http://schemas.microsoft.com/office/powerpoint/2010/main" val="82878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CDA365-E3B3-01BE-C12D-5555B4A36A5D}"/>
              </a:ext>
            </a:extLst>
          </p:cNvPr>
          <p:cNvSpPr txBox="1"/>
          <p:nvPr/>
        </p:nvSpPr>
        <p:spPr>
          <a:xfrm>
            <a:off x="2937933" y="516467"/>
            <a:ext cx="6316133" cy="4401205"/>
          </a:xfrm>
          <a:prstGeom prst="rect">
            <a:avLst/>
          </a:prstGeom>
          <a:noFill/>
        </p:spPr>
        <p:txBody>
          <a:bodyPr wrap="square" rtlCol="0">
            <a:spAutoFit/>
          </a:bodyPr>
          <a:lstStyle/>
          <a:p>
            <a:r>
              <a:rPr lang="ru-RU" dirty="0"/>
              <a:t>Теперь что касается самой экспериментальной установки гравиметра.</a:t>
            </a:r>
          </a:p>
          <a:p>
            <a:endParaRPr lang="ru-RU" dirty="0"/>
          </a:p>
          <a:p>
            <a:r>
              <a:rPr lang="ru-RU" dirty="0"/>
              <a:t>На данном слайде слева представлена схема уровней </a:t>
            </a:r>
            <a:r>
              <a:rPr lang="en-US" dirty="0"/>
              <a:t>D2  </a:t>
            </a:r>
            <a:r>
              <a:rPr lang="ru-RU" dirty="0"/>
              <a:t>линии 87</a:t>
            </a:r>
            <a:r>
              <a:rPr lang="en-US" dirty="0"/>
              <a:t>Rb </a:t>
            </a:r>
            <a:r>
              <a:rPr lang="ru-RU" dirty="0"/>
              <a:t>и используемые лазерные частоты. Для лазерного охлаждения и пленения используется излучения 2-3</a:t>
            </a:r>
            <a:r>
              <a:rPr lang="en-US" dirty="0"/>
              <a:t>’ c </a:t>
            </a:r>
            <a:r>
              <a:rPr lang="ru-RU" dirty="0"/>
              <a:t>отстройкой от 3</a:t>
            </a:r>
            <a:r>
              <a:rPr lang="en-US" dirty="0"/>
              <a:t>’, </a:t>
            </a:r>
            <a:r>
              <a:rPr lang="ru-RU" dirty="0"/>
              <a:t>для поддержания атомов в цикле охлаждения и излучения используется перекачивающее излучение 1-2</a:t>
            </a:r>
            <a:r>
              <a:rPr lang="en-US" dirty="0"/>
              <a:t>’, </a:t>
            </a:r>
            <a:r>
              <a:rPr lang="ru-RU" dirty="0"/>
              <a:t>для оптической накачки используются излучения 2-2</a:t>
            </a:r>
            <a:r>
              <a:rPr lang="en-US" dirty="0"/>
              <a:t>’ </a:t>
            </a:r>
            <a:r>
              <a:rPr lang="ru-RU" dirty="0"/>
              <a:t>и 1-0</a:t>
            </a:r>
            <a:r>
              <a:rPr lang="en-US" dirty="0"/>
              <a:t>’, </a:t>
            </a:r>
            <a:r>
              <a:rPr lang="ru-RU" dirty="0"/>
              <a:t>для подсветки Резонансное излучения 2-3</a:t>
            </a:r>
            <a:r>
              <a:rPr lang="en-US" dirty="0"/>
              <a:t>’, </a:t>
            </a:r>
            <a:r>
              <a:rPr lang="ru-RU" dirty="0"/>
              <a:t>и для переходов между состояниями </a:t>
            </a:r>
            <a:r>
              <a:rPr lang="en-US" dirty="0"/>
              <a:t>F=1 </a:t>
            </a:r>
            <a:r>
              <a:rPr lang="ru-RU" dirty="0"/>
              <a:t>и </a:t>
            </a:r>
            <a:r>
              <a:rPr lang="en-US" dirty="0"/>
              <a:t>F=2 </a:t>
            </a:r>
            <a:r>
              <a:rPr lang="ru-RU" dirty="0" err="1"/>
              <a:t>рамановские</a:t>
            </a:r>
            <a:r>
              <a:rPr lang="ru-RU" dirty="0"/>
              <a:t> пучки.</a:t>
            </a:r>
          </a:p>
          <a:p>
            <a:endParaRPr lang="ru-RU" dirty="0"/>
          </a:p>
          <a:p>
            <a:r>
              <a:rPr lang="ru-RU" dirty="0"/>
              <a:t>А справа показана оптическая схема </a:t>
            </a:r>
            <a:r>
              <a:rPr lang="ru-RU" dirty="0" err="1"/>
              <a:t>гравимерта</a:t>
            </a:r>
            <a:r>
              <a:rPr lang="ru-RU" dirty="0"/>
              <a:t>. Излучение для охлаждения и части оптической накачки формируется лазерной волоконной системой Эльза. Ее частота стабилизируется по биениям с излучением диодного лазера </a:t>
            </a:r>
            <a:r>
              <a:rPr lang="ru-RU" dirty="0" err="1"/>
              <a:t>Топтика</a:t>
            </a:r>
            <a:r>
              <a:rPr lang="ru-RU" dirty="0"/>
              <a:t> благодаря частотной привязке. Частота </a:t>
            </a:r>
            <a:r>
              <a:rPr lang="ru-RU" dirty="0" err="1"/>
              <a:t>Топтики</a:t>
            </a:r>
            <a:r>
              <a:rPr lang="ru-RU" dirty="0"/>
              <a:t> стабилизируется по резонансам насыщенного поглощения. Также излучение </a:t>
            </a:r>
            <a:r>
              <a:rPr lang="ru-RU" dirty="0" err="1"/>
              <a:t>Топтики</a:t>
            </a:r>
            <a:r>
              <a:rPr lang="ru-RU" dirty="0"/>
              <a:t> используется для формирования части излучения оптической накачки и перекачивающего излучения. Для формирования нужных частот используются </a:t>
            </a:r>
            <a:r>
              <a:rPr lang="ru-RU" dirty="0" err="1"/>
              <a:t>акусто</a:t>
            </a:r>
            <a:r>
              <a:rPr lang="ru-RU" dirty="0"/>
              <a:t> и электрооптика. Для доставки излучения к вакуумной камере применяются коллиматоры и волокно с сохранением поляризации. </a:t>
            </a:r>
          </a:p>
        </p:txBody>
      </p:sp>
    </p:spTree>
    <p:extLst>
      <p:ext uri="{BB962C8B-B14F-4D97-AF65-F5344CB8AC3E}">
        <p14:creationId xmlns:p14="http://schemas.microsoft.com/office/powerpoint/2010/main" val="713215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2"/>
          <p:cNvSpPr txBox="1"/>
          <p:nvPr/>
        </p:nvSpPr>
        <p:spPr>
          <a:xfrm>
            <a:off x="1789922" y="5162073"/>
            <a:ext cx="8192278"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dirty="0">
                <a:solidFill>
                  <a:srgbClr val="000000"/>
                </a:solidFill>
                <a:latin typeface="Times New Roman"/>
                <a:ea typeface="Times New Roman"/>
                <a:cs typeface="Times New Roman"/>
                <a:sym typeface="Times New Roman"/>
              </a:rPr>
              <a:t>Рис. 5. Трехмерная модель экспериментальной установки. На рисунке представлены: вакуумная камера, три пары компенсационных магнитных катушек, охлаждающие лазерные пучки (розовые), рамановские пучки (фиолетовые), пробный пучок (жёлтый), оптика (коллиматоры, зеркала, линзы) и видеокамера. На рисунке не показаны четвертьволновые пластинки и катушка анти-Гельмгольца(фронтальная сторона)</a:t>
            </a:r>
            <a:endParaRPr sz="1800" b="0" i="0" u="none" strike="noStrike" cap="none" dirty="0">
              <a:solidFill>
                <a:srgbClr val="000000"/>
              </a:solidFill>
              <a:latin typeface="Arial"/>
              <a:ea typeface="Arial"/>
              <a:cs typeface="Arial"/>
              <a:sym typeface="Arial"/>
            </a:endParaRPr>
          </a:p>
        </p:txBody>
      </p:sp>
      <p:sp>
        <p:nvSpPr>
          <p:cNvPr id="188" name="Google Shape;188;p22"/>
          <p:cNvSpPr/>
          <p:nvPr/>
        </p:nvSpPr>
        <p:spPr>
          <a:xfrm>
            <a:off x="2465349" y="10012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Экспериментальная установка</a:t>
            </a: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5</a:t>
            </a:r>
          </a:p>
        </p:txBody>
      </p:sp>
      <p:pic>
        <p:nvPicPr>
          <p:cNvPr id="4" name="Рисунок 3">
            <a:extLst>
              <a:ext uri="{FF2B5EF4-FFF2-40B4-BE49-F238E27FC236}">
                <a16:creationId xmlns:a16="http://schemas.microsoft.com/office/drawing/2014/main" id="{E8DBF2D1-7100-5EC3-B82B-FE54E4636A53}"/>
              </a:ext>
            </a:extLst>
          </p:cNvPr>
          <p:cNvPicPr>
            <a:picLocks noChangeAspect="1"/>
          </p:cNvPicPr>
          <p:nvPr/>
        </p:nvPicPr>
        <p:blipFill>
          <a:blip r:embed="rId3"/>
          <a:stretch>
            <a:fillRect/>
          </a:stretch>
        </p:blipFill>
        <p:spPr>
          <a:xfrm>
            <a:off x="2287480" y="1184995"/>
            <a:ext cx="7401958" cy="37152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391A7E6-5806-3DFD-08A6-FB1401E2440E}"/>
              </a:ext>
            </a:extLst>
          </p:cNvPr>
          <p:cNvSpPr/>
          <p:nvPr/>
        </p:nvSpPr>
        <p:spPr>
          <a:xfrm>
            <a:off x="1558832" y="1371526"/>
            <a:ext cx="7193282" cy="1384995"/>
          </a:xfrm>
          <a:prstGeom prst="rect">
            <a:avLst/>
          </a:prstGeom>
        </p:spPr>
        <p:txBody>
          <a:bodyPr wrap="square">
            <a:spAutoFit/>
          </a:bodyPr>
          <a:lstStyle/>
          <a:p>
            <a:pPr lvl="0">
              <a:buSzPts val="1400"/>
            </a:pPr>
            <a:r>
              <a:rPr lang="ru-RU" dirty="0">
                <a:latin typeface="Times New Roman" panose="02020603050405020304" pitchFamily="18" charset="0"/>
                <a:cs typeface="Times New Roman" panose="02020603050405020304" pitchFamily="18" charset="0"/>
              </a:rPr>
              <a:t>На данном слайде изображена 3д модель гравиметра. Показаны 3 пары взаимно ортогональных пучков сфокусированы в центр вакуумной камеры, они используются для пленения и охлаждения атомов, Сверху заводятся Рамановские пучки для атомной интерференции, также есть три пары компенсирующих остаточной магнитное поле катушек, и две катушки в конфигурации анти-</a:t>
            </a:r>
            <a:r>
              <a:rPr lang="ru-RU" dirty="0" err="1">
                <a:latin typeface="Times New Roman" panose="02020603050405020304" pitchFamily="18" charset="0"/>
                <a:cs typeface="Times New Roman" panose="02020603050405020304" pitchFamily="18" charset="0"/>
              </a:rPr>
              <a:t>гельмгольц</a:t>
            </a:r>
            <a:r>
              <a:rPr lang="ru-RU" dirty="0">
                <a:latin typeface="Times New Roman" panose="02020603050405020304" pitchFamily="18" charset="0"/>
                <a:cs typeface="Times New Roman" panose="02020603050405020304" pitchFamily="18" charset="0"/>
              </a:rPr>
              <a:t> для создания квадрупольного потенциала, нужного для МОЛ.  </a:t>
            </a:r>
          </a:p>
        </p:txBody>
      </p:sp>
    </p:spTree>
    <p:extLst>
      <p:ext uri="{BB962C8B-B14F-4D97-AF65-F5344CB8AC3E}">
        <p14:creationId xmlns:p14="http://schemas.microsoft.com/office/powerpoint/2010/main" val="582492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354608" y="464018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640413" y="431285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330992" y="228814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93989" y="430558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86053" y="430956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352165" y="430971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80988" y="360937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419387" y="397775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100732" y="326211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4042468" y="230827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4042469" y="200155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Прямоугольник 50"/>
          <p:cNvSpPr/>
          <p:nvPr/>
        </p:nvSpPr>
        <p:spPr>
          <a:xfrm>
            <a:off x="4043396" y="1665997"/>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739355" y="1990956"/>
            <a:ext cx="1179282"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p:nvPr/>
        </p:nvSpPr>
        <p:spPr>
          <a:xfrm>
            <a:off x="2739356" y="1665998"/>
            <a:ext cx="1172436" cy="1869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739356" y="1336699"/>
            <a:ext cx="1172436"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731310" y="228957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79793" y="12203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77528" y="143687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216698" y="1573621"/>
            <a:ext cx="235593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Мощность Охлаждения</a:t>
            </a:r>
          </a:p>
        </p:txBody>
      </p:sp>
      <p:cxnSp>
        <p:nvCxnSpPr>
          <p:cNvPr id="7" name="Прямая соединительная линия 6"/>
          <p:cNvCxnSpPr/>
          <p:nvPr/>
        </p:nvCxnSpPr>
        <p:spPr>
          <a:xfrm>
            <a:off x="2477528" y="176617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342942" y="1905043"/>
            <a:ext cx="235593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Частота Охлаждения</a:t>
            </a:r>
          </a:p>
        </p:txBody>
      </p:sp>
      <p:cxnSp>
        <p:nvCxnSpPr>
          <p:cNvPr id="9" name="Прямая соединительная линия 8"/>
          <p:cNvCxnSpPr/>
          <p:nvPr/>
        </p:nvCxnSpPr>
        <p:spPr>
          <a:xfrm>
            <a:off x="2477528" y="209547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401427" y="21877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77528" y="239531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509656" y="253603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503505" y="285105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237157" y="319508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77528" y="338588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66255" y="387269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77528" y="371400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225610" y="351915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741643" y="421212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73247" y="453423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82029" y="473634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723266"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911999"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264B975-A8B3-4554-9188-E48F759EEE32}"/>
              </a:ext>
            </a:extLst>
          </p:cNvPr>
          <p:cNvSpPr txBox="1"/>
          <p:nvPr/>
        </p:nvSpPr>
        <p:spPr>
          <a:xfrm>
            <a:off x="2571095" y="505845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D264B975-A8B3-4554-9188-E48F759EEE32}"/>
              </a:ext>
            </a:extLst>
          </p:cNvPr>
          <p:cNvSpPr txBox="1"/>
          <p:nvPr/>
        </p:nvSpPr>
        <p:spPr>
          <a:xfrm>
            <a:off x="3667880" y="505669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80593" y="85051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cxnSp>
        <p:nvCxnSpPr>
          <p:cNvPr id="55" name="Прямая соединительная линия 54"/>
          <p:cNvCxnSpPr/>
          <p:nvPr/>
        </p:nvCxnSpPr>
        <p:spPr>
          <a:xfrm>
            <a:off x="5037400" y="998514"/>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264B975-A8B3-4554-9188-E48F759EEE32}"/>
              </a:ext>
            </a:extLst>
          </p:cNvPr>
          <p:cNvSpPr txBox="1"/>
          <p:nvPr/>
        </p:nvSpPr>
        <p:spPr>
          <a:xfrm>
            <a:off x="4741150" y="505234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68867" y="83619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948827" y="79751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161344"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264B975-A8B3-4554-9188-E48F759EEE32}"/>
              </a:ext>
            </a:extLst>
          </p:cNvPr>
          <p:cNvSpPr txBox="1"/>
          <p:nvPr/>
        </p:nvSpPr>
        <p:spPr>
          <a:xfrm>
            <a:off x="6905837" y="504691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85856"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D264B975-A8B3-4554-9188-E48F759EEE32}"/>
              </a:ext>
            </a:extLst>
          </p:cNvPr>
          <p:cNvSpPr txBox="1"/>
          <p:nvPr/>
        </p:nvSpPr>
        <p:spPr>
          <a:xfrm>
            <a:off x="9543622" y="504407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66794" y="575546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6.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142660" y="976125"/>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264B975-A8B3-4554-9188-E48F759EEE32}"/>
              </a:ext>
            </a:extLst>
          </p:cNvPr>
          <p:cNvSpPr txBox="1"/>
          <p:nvPr/>
        </p:nvSpPr>
        <p:spPr>
          <a:xfrm>
            <a:off x="10992984" y="505413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610935" y="85343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820985" y="85343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a16="http://schemas.microsoft.com/office/drawing/2014/main" id="{752E87BA-AE03-4575-BC6E-FFA836941546}"/>
              </a:ext>
            </a:extLst>
          </p:cNvPr>
          <p:cNvSpPr txBox="1"/>
          <p:nvPr/>
        </p:nvSpPr>
        <p:spPr>
          <a:xfrm>
            <a:off x="3041395" y="538617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a16="http://schemas.microsoft.com/office/drawing/2014/main" id="{248B8D68-1797-4905-AC45-2C0793BDA79A}"/>
              </a:ext>
            </a:extLst>
          </p:cNvPr>
          <p:cNvCxnSpPr/>
          <p:nvPr/>
        </p:nvCxnSpPr>
        <p:spPr>
          <a:xfrm flipH="1">
            <a:off x="3102357" y="459360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E08F3811-E9DD-466E-B562-EDC2724496C2}"/>
              </a:ext>
            </a:extLst>
          </p:cNvPr>
          <p:cNvCxnSpPr/>
          <p:nvPr/>
        </p:nvCxnSpPr>
        <p:spPr>
          <a:xfrm flipH="1">
            <a:off x="3404452" y="459092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a16="http://schemas.microsoft.com/office/drawing/2014/main" id="{D95B086B-20F1-4FB8-973C-18B9F97E541F}"/>
              </a:ext>
            </a:extLst>
          </p:cNvPr>
          <p:cNvSpPr/>
          <p:nvPr/>
        </p:nvSpPr>
        <p:spPr>
          <a:xfrm rot="1536041">
            <a:off x="3204757" y="456716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EE466986-E0AF-4394-9D4C-BEFEDC65AD31}"/>
              </a:ext>
            </a:extLst>
          </p:cNvPr>
          <p:cNvSpPr/>
          <p:nvPr/>
        </p:nvSpPr>
        <p:spPr>
          <a:xfrm>
            <a:off x="9901862" y="431971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883A6D51-BD10-4CB1-9C2A-1746D6D82718}"/>
              </a:ext>
            </a:extLst>
          </p:cNvPr>
          <p:cNvSpPr/>
          <p:nvPr/>
        </p:nvSpPr>
        <p:spPr>
          <a:xfrm>
            <a:off x="9901863" y="262942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71D83A6E-C16E-4F2B-83C6-29C70DD39534}"/>
              </a:ext>
            </a:extLst>
          </p:cNvPr>
          <p:cNvSpPr/>
          <p:nvPr/>
        </p:nvSpPr>
        <p:spPr>
          <a:xfrm>
            <a:off x="10640413" y="294708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77528" y="272519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77528" y="406412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77528" y="44142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77528" y="304084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933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293648" y="445730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579453" y="412997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270032" y="210526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33029" y="412270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25093" y="412668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291205" y="412683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20028" y="342649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358427" y="379487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039772" y="307923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3981508" y="212539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3981509" y="181867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670350" y="1808076"/>
            <a:ext cx="1187327"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660002" y="1498979"/>
            <a:ext cx="119901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670350" y="210669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27016" y="13825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24751" y="159915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716" y="1706864"/>
            <a:ext cx="258660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Охлаждающее излучение</a:t>
            </a:r>
          </a:p>
        </p:txBody>
      </p:sp>
      <p:cxnSp>
        <p:nvCxnSpPr>
          <p:cNvPr id="9" name="Прямая соединительная линия 8"/>
          <p:cNvCxnSpPr/>
          <p:nvPr/>
        </p:nvCxnSpPr>
        <p:spPr>
          <a:xfrm>
            <a:off x="2416568" y="191259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340467" y="20049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16568" y="22124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448696" y="23531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442545" y="266817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176197" y="301220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16568" y="320300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05295" y="368981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16568" y="353112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164650" y="333627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680683" y="402924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12287" y="43513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21069" y="45534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657749" y="1261745"/>
            <a:ext cx="20647"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851039"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264B975-A8B3-4554-9188-E48F759EEE32}"/>
              </a:ext>
            </a:extLst>
          </p:cNvPr>
          <p:cNvSpPr txBox="1"/>
          <p:nvPr/>
        </p:nvSpPr>
        <p:spPr>
          <a:xfrm>
            <a:off x="2510135" y="487557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D264B975-A8B3-4554-9188-E48F759EEE32}"/>
              </a:ext>
            </a:extLst>
          </p:cNvPr>
          <p:cNvSpPr txBox="1"/>
          <p:nvPr/>
        </p:nvSpPr>
        <p:spPr>
          <a:xfrm>
            <a:off x="3606920" y="487381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19577" y="92119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sp>
        <p:nvSpPr>
          <p:cNvPr id="56" name="TextBox 55">
            <a:extLst>
              <a:ext uri="{FF2B5EF4-FFF2-40B4-BE49-F238E27FC236}">
                <a16:creationId xmlns:a16="http://schemas.microsoft.com/office/drawing/2014/main" id="{D264B975-A8B3-4554-9188-E48F759EEE32}"/>
              </a:ext>
            </a:extLst>
          </p:cNvPr>
          <p:cNvSpPr txBox="1"/>
          <p:nvPr/>
        </p:nvSpPr>
        <p:spPr>
          <a:xfrm>
            <a:off x="4680190" y="486946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07851" y="90687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887811" y="86819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094658" y="1261745"/>
            <a:ext cx="21816"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264B975-A8B3-4554-9188-E48F759EEE32}"/>
              </a:ext>
            </a:extLst>
          </p:cNvPr>
          <p:cNvSpPr txBox="1"/>
          <p:nvPr/>
        </p:nvSpPr>
        <p:spPr>
          <a:xfrm>
            <a:off x="6844877" y="486403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23937" y="1261745"/>
            <a:ext cx="17049"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D264B975-A8B3-4554-9188-E48F759EEE32}"/>
              </a:ext>
            </a:extLst>
          </p:cNvPr>
          <p:cNvSpPr txBox="1"/>
          <p:nvPr/>
        </p:nvSpPr>
        <p:spPr>
          <a:xfrm>
            <a:off x="9482662" y="486119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05834" y="557258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6.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092199" y="1261745"/>
            <a:ext cx="5591" cy="36432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264B975-A8B3-4554-9188-E48F759EEE32}"/>
              </a:ext>
            </a:extLst>
          </p:cNvPr>
          <p:cNvSpPr txBox="1"/>
          <p:nvPr/>
        </p:nvSpPr>
        <p:spPr>
          <a:xfrm>
            <a:off x="10932024" y="487125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54991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75996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a16="http://schemas.microsoft.com/office/drawing/2014/main" id="{752E87BA-AE03-4575-BC6E-FFA836941546}"/>
              </a:ext>
            </a:extLst>
          </p:cNvPr>
          <p:cNvSpPr txBox="1"/>
          <p:nvPr/>
        </p:nvSpPr>
        <p:spPr>
          <a:xfrm>
            <a:off x="2980435" y="520329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a16="http://schemas.microsoft.com/office/drawing/2014/main" id="{248B8D68-1797-4905-AC45-2C0793BDA79A}"/>
              </a:ext>
            </a:extLst>
          </p:cNvPr>
          <p:cNvCxnSpPr/>
          <p:nvPr/>
        </p:nvCxnSpPr>
        <p:spPr>
          <a:xfrm flipH="1">
            <a:off x="3041397" y="441072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E08F3811-E9DD-466E-B562-EDC2724496C2}"/>
              </a:ext>
            </a:extLst>
          </p:cNvPr>
          <p:cNvCxnSpPr/>
          <p:nvPr/>
        </p:nvCxnSpPr>
        <p:spPr>
          <a:xfrm flipH="1">
            <a:off x="3343492" y="440804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a16="http://schemas.microsoft.com/office/drawing/2014/main" id="{D95B086B-20F1-4FB8-973C-18B9F97E541F}"/>
              </a:ext>
            </a:extLst>
          </p:cNvPr>
          <p:cNvSpPr/>
          <p:nvPr/>
        </p:nvSpPr>
        <p:spPr>
          <a:xfrm rot="1536041">
            <a:off x="3143797" y="438428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EE466986-E0AF-4394-9D4C-BEFEDC65AD31}"/>
              </a:ext>
            </a:extLst>
          </p:cNvPr>
          <p:cNvSpPr/>
          <p:nvPr/>
        </p:nvSpPr>
        <p:spPr>
          <a:xfrm>
            <a:off x="9840902" y="413683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883A6D51-BD10-4CB1-9C2A-1746D6D82718}"/>
              </a:ext>
            </a:extLst>
          </p:cNvPr>
          <p:cNvSpPr/>
          <p:nvPr/>
        </p:nvSpPr>
        <p:spPr>
          <a:xfrm>
            <a:off x="9840903" y="244654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71D83A6E-C16E-4F2B-83C6-29C70DD39534}"/>
              </a:ext>
            </a:extLst>
          </p:cNvPr>
          <p:cNvSpPr/>
          <p:nvPr/>
        </p:nvSpPr>
        <p:spPr>
          <a:xfrm>
            <a:off x="10579453" y="276420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16568" y="254231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16568" y="388124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16568" y="423135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16568" y="28579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6</a:t>
            </a:r>
          </a:p>
        </p:txBody>
      </p:sp>
      <p:cxnSp>
        <p:nvCxnSpPr>
          <p:cNvPr id="117" name="Прямая соединительная линия 116"/>
          <p:cNvCxnSpPr/>
          <p:nvPr/>
        </p:nvCxnSpPr>
        <p:spPr>
          <a:xfrm>
            <a:off x="4974321"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872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697A10-FD94-624C-4819-B6D157B1D080}"/>
              </a:ext>
            </a:extLst>
          </p:cNvPr>
          <p:cNvSpPr txBox="1"/>
          <p:nvPr/>
        </p:nvSpPr>
        <p:spPr>
          <a:xfrm>
            <a:off x="2099733" y="2091267"/>
            <a:ext cx="6680200" cy="1384995"/>
          </a:xfrm>
          <a:prstGeom prst="rect">
            <a:avLst/>
          </a:prstGeom>
          <a:noFill/>
        </p:spPr>
        <p:txBody>
          <a:bodyPr wrap="square" rtlCol="0">
            <a:spAutoFit/>
          </a:bodyPr>
          <a:lstStyle/>
          <a:p>
            <a:r>
              <a:rPr lang="ru-RU" dirty="0"/>
              <a:t>На данном слайде показана типичная экспериментальная последовательность работы гравиметра. Начинается цикл с лазерного охлаждение и пленения, что длится порядке 250 мс, после чего идёт оптическая накачка в немагнитное состояние, исследованию которой посвящена часть представляемого доклада, после чего идут процессы атомной интерференции и регистрации.</a:t>
            </a:r>
          </a:p>
        </p:txBody>
      </p:sp>
    </p:spTree>
    <p:extLst>
      <p:ext uri="{BB962C8B-B14F-4D97-AF65-F5344CB8AC3E}">
        <p14:creationId xmlns:p14="http://schemas.microsoft.com/office/powerpoint/2010/main" val="392748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3">
            <a:extLst>
              <a:ext uri="{FF2B5EF4-FFF2-40B4-BE49-F238E27FC236}">
                <a16:creationId xmlns:a16="http://schemas.microsoft.com/office/drawing/2014/main" id="{54FCBDA4-5566-47DB-88F3-11F7896C9614}"/>
              </a:ext>
            </a:extLst>
          </p:cNvPr>
          <p:cNvGraphicFramePr>
            <a:graphicFrameLocks noGrp="1"/>
          </p:cNvGraphicFramePr>
          <p:nvPr>
            <p:extLst>
              <p:ext uri="{D42A27DB-BD31-4B8C-83A1-F6EECF244321}">
                <p14:modId xmlns:p14="http://schemas.microsoft.com/office/powerpoint/2010/main" val="2633225694"/>
              </p:ext>
            </p:extLst>
          </p:nvPr>
        </p:nvGraphicFramePr>
        <p:xfrm>
          <a:off x="1790170" y="596900"/>
          <a:ext cx="8611660" cy="6044387"/>
        </p:xfrm>
        <a:graphic>
          <a:graphicData uri="http://schemas.openxmlformats.org/drawingml/2006/table">
            <a:tbl>
              <a:tblPr firstRow="1" bandRow="1">
                <a:tableStyleId>{5C22544A-7EE6-4342-B048-85BDC9FD1C3A}</a:tableStyleId>
              </a:tblPr>
              <a:tblGrid>
                <a:gridCol w="4305830">
                  <a:extLst>
                    <a:ext uri="{9D8B030D-6E8A-4147-A177-3AD203B41FA5}">
                      <a16:colId xmlns:a16="http://schemas.microsoft.com/office/drawing/2014/main" val="3217741643"/>
                    </a:ext>
                  </a:extLst>
                </a:gridCol>
                <a:gridCol w="4305830">
                  <a:extLst>
                    <a:ext uri="{9D8B030D-6E8A-4147-A177-3AD203B41FA5}">
                      <a16:colId xmlns:a16="http://schemas.microsoft.com/office/drawing/2014/main" val="3049118654"/>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из состояния ∣F = 2⟩ в состояние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в состояние ∣F = 1, m = 0⟩ из состояния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7233675"/>
                  </a:ext>
                </a:extLst>
              </a:tr>
              <a:tr h="2301240">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75067"/>
                  </a:ext>
                </a:extLst>
              </a:tr>
              <a:tr h="423952">
                <a:tc gridSpan="2">
                  <a:txBody>
                    <a:bodyPr/>
                    <a:lstStyle/>
                    <a:p>
                      <a:pPr algn="ctr"/>
                      <a:r>
                        <a:rPr lang="ru-RU" b="1" dirty="0">
                          <a:solidFill>
                            <a:schemeClr val="tx1"/>
                          </a:solidFill>
                          <a:latin typeface="Times New Roman" panose="02020603050405020304" pitchFamily="18" charset="0"/>
                          <a:cs typeface="Times New Roman" panose="02020603050405020304" pitchFamily="18" charset="0"/>
                        </a:rPr>
                        <a:t>Результаты моделирования оптической накачки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0096364"/>
                  </a:ext>
                </a:extLst>
              </a:tr>
              <a:tr h="2801035">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2659424"/>
                  </a:ext>
                </a:extLst>
              </a:tr>
            </a:tbl>
          </a:graphicData>
        </a:graphic>
      </p:graphicFrame>
      <p:pic>
        <p:nvPicPr>
          <p:cNvPr id="66" name="Рисунок 65">
            <a:extLst>
              <a:ext uri="{FF2B5EF4-FFF2-40B4-BE49-F238E27FC236}">
                <a16:creationId xmlns:a16="http://schemas.microsoft.com/office/drawing/2014/main" id="{E8E229DC-645D-4BF2-B2AD-A21DBE638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085" y="4031656"/>
            <a:ext cx="3344244" cy="2363523"/>
          </a:xfrm>
          <a:prstGeom prst="rect">
            <a:avLst/>
          </a:prstGeom>
        </p:spPr>
      </p:pic>
      <p:pic>
        <p:nvPicPr>
          <p:cNvPr id="65" name="Рисунок 64">
            <a:extLst>
              <a:ext uri="{FF2B5EF4-FFF2-40B4-BE49-F238E27FC236}">
                <a16:creationId xmlns:a16="http://schemas.microsoft.com/office/drawing/2014/main" id="{E92481A7-F519-4885-95E9-8AF365188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185" y="3957146"/>
            <a:ext cx="3449671" cy="2438033"/>
          </a:xfrm>
          <a:prstGeom prst="rect">
            <a:avLst/>
          </a:prstGeom>
        </p:spPr>
      </p:pic>
      <p:sp>
        <p:nvSpPr>
          <p:cNvPr id="2" name="Google Shape;246;p7">
            <a:extLst>
              <a:ext uri="{FF2B5EF4-FFF2-40B4-BE49-F238E27FC236}">
                <a16:creationId xmlns:a16="http://schemas.microsoft.com/office/drawing/2014/main" id="{ADBA48A0-643A-42AD-B040-E7A9A3323698}"/>
              </a:ext>
            </a:extLst>
          </p:cNvPr>
          <p:cNvSpPr/>
          <p:nvPr/>
        </p:nvSpPr>
        <p:spPr>
          <a:xfrm>
            <a:off x="2085240" y="83130"/>
            <a:ext cx="8611659" cy="41358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dirty="0">
                <a:solidFill>
                  <a:schemeClr val="lt1"/>
                </a:solidFill>
                <a:latin typeface="Times New Roman"/>
                <a:ea typeface="Times New Roman"/>
                <a:cs typeface="Times New Roman"/>
                <a:sym typeface="Times New Roman"/>
              </a:rPr>
              <a:t>Результаты моделирования оптической накачки</a:t>
            </a:r>
            <a:endParaRPr sz="1400" b="0" i="0" u="none" strike="noStrike" cap="none" dirty="0">
              <a:solidFill>
                <a:srgbClr val="000000"/>
              </a:solidFill>
              <a:latin typeface="Arial"/>
              <a:ea typeface="Arial"/>
              <a:cs typeface="Arial"/>
              <a:sym typeface="Arial"/>
            </a:endParaRPr>
          </a:p>
        </p:txBody>
      </p:sp>
      <p:cxnSp>
        <p:nvCxnSpPr>
          <p:cNvPr id="103" name="Google Shape;299;p7">
            <a:extLst>
              <a:ext uri="{FF2B5EF4-FFF2-40B4-BE49-F238E27FC236}">
                <a16:creationId xmlns:a16="http://schemas.microsoft.com/office/drawing/2014/main" id="{2E5A9624-18A1-400B-AF2C-0F07EC11EAFB}"/>
              </a:ext>
            </a:extLst>
          </p:cNvPr>
          <p:cNvCxnSpPr/>
          <p:nvPr/>
        </p:nvCxnSpPr>
        <p:spPr>
          <a:xfrm>
            <a:off x="3484945" y="1289692"/>
            <a:ext cx="180937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04" name="Google Shape;300;p7">
            <a:extLst>
              <a:ext uri="{FF2B5EF4-FFF2-40B4-BE49-F238E27FC236}">
                <a16:creationId xmlns:a16="http://schemas.microsoft.com/office/drawing/2014/main" id="{A5811CD6-B7D7-4A6E-97A8-B2E5FF831621}"/>
              </a:ext>
            </a:extLst>
          </p:cNvPr>
          <p:cNvSpPr txBox="1"/>
          <p:nvPr/>
        </p:nvSpPr>
        <p:spPr>
          <a:xfrm>
            <a:off x="2497990" y="1135803"/>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cxnSp>
        <p:nvCxnSpPr>
          <p:cNvPr id="105" name="Google Shape;302;p7">
            <a:extLst>
              <a:ext uri="{FF2B5EF4-FFF2-40B4-BE49-F238E27FC236}">
                <a16:creationId xmlns:a16="http://schemas.microsoft.com/office/drawing/2014/main" id="{9B2782CE-7759-4404-BDA1-E97051A2F3AA}"/>
              </a:ext>
            </a:extLst>
          </p:cNvPr>
          <p:cNvCxnSpPr>
            <a:cxnSpLocks/>
          </p:cNvCxnSpPr>
          <p:nvPr/>
        </p:nvCxnSpPr>
        <p:spPr>
          <a:xfrm flipH="1" flipV="1">
            <a:off x="4436901" y="1388163"/>
            <a:ext cx="1" cy="547550"/>
          </a:xfrm>
          <a:prstGeom prst="straightConnector1">
            <a:avLst/>
          </a:prstGeom>
          <a:noFill/>
          <a:ln w="19050" cap="flat" cmpd="sng">
            <a:solidFill>
              <a:schemeClr val="dk1"/>
            </a:solidFill>
            <a:prstDash val="solid"/>
            <a:round/>
            <a:headEnd type="none" w="sm" len="sm"/>
            <a:tailEnd type="triangle" w="med" len="med"/>
          </a:ln>
        </p:spPr>
      </p:cxnSp>
      <p:cxnSp>
        <p:nvCxnSpPr>
          <p:cNvPr id="106" name="Google Shape;303;p7">
            <a:extLst>
              <a:ext uri="{FF2B5EF4-FFF2-40B4-BE49-F238E27FC236}">
                <a16:creationId xmlns:a16="http://schemas.microsoft.com/office/drawing/2014/main" id="{46DA7C1D-A09F-40A2-B438-F879F9AEF3BF}"/>
              </a:ext>
            </a:extLst>
          </p:cNvPr>
          <p:cNvCxnSpPr>
            <a:cxnSpLocks/>
          </p:cNvCxnSpPr>
          <p:nvPr/>
        </p:nvCxnSpPr>
        <p:spPr>
          <a:xfrm>
            <a:off x="4705721" y="1388163"/>
            <a:ext cx="0" cy="1218048"/>
          </a:xfrm>
          <a:prstGeom prst="straightConnector1">
            <a:avLst/>
          </a:prstGeom>
          <a:noFill/>
          <a:ln w="19050" cap="flat" cmpd="sng">
            <a:solidFill>
              <a:schemeClr val="dk1"/>
            </a:solidFill>
            <a:prstDash val="dash"/>
            <a:round/>
            <a:headEnd type="none" w="sm" len="sm"/>
            <a:tailEnd type="triangle" w="med" len="med"/>
          </a:ln>
        </p:spPr>
      </p:cxnSp>
      <p:cxnSp>
        <p:nvCxnSpPr>
          <p:cNvPr id="107" name="Google Shape;305;p7">
            <a:extLst>
              <a:ext uri="{FF2B5EF4-FFF2-40B4-BE49-F238E27FC236}">
                <a16:creationId xmlns:a16="http://schemas.microsoft.com/office/drawing/2014/main" id="{78281A48-1C8E-4756-8AD5-13BE4DCF54D1}"/>
              </a:ext>
            </a:extLst>
          </p:cNvPr>
          <p:cNvCxnSpPr/>
          <p:nvPr/>
        </p:nvCxnSpPr>
        <p:spPr>
          <a:xfrm>
            <a:off x="3213242"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8" name="Google Shape;306;p7">
            <a:extLst>
              <a:ext uri="{FF2B5EF4-FFF2-40B4-BE49-F238E27FC236}">
                <a16:creationId xmlns:a16="http://schemas.microsoft.com/office/drawing/2014/main" id="{86C83C26-B327-4DAA-9909-D7AFD6E8B2FC}"/>
              </a:ext>
            </a:extLst>
          </p:cNvPr>
          <p:cNvCxnSpPr/>
          <p:nvPr/>
        </p:nvCxnSpPr>
        <p:spPr>
          <a:xfrm>
            <a:off x="3722693"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9" name="Google Shape;307;p7">
            <a:extLst>
              <a:ext uri="{FF2B5EF4-FFF2-40B4-BE49-F238E27FC236}">
                <a16:creationId xmlns:a16="http://schemas.microsoft.com/office/drawing/2014/main" id="{F0AF9A47-8BB9-429D-8469-BB18AF98FBCB}"/>
              </a:ext>
            </a:extLst>
          </p:cNvPr>
          <p:cNvCxnSpPr/>
          <p:nvPr/>
        </p:nvCxnSpPr>
        <p:spPr>
          <a:xfrm>
            <a:off x="425495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0" name="Google Shape;308;p7">
            <a:extLst>
              <a:ext uri="{FF2B5EF4-FFF2-40B4-BE49-F238E27FC236}">
                <a16:creationId xmlns:a16="http://schemas.microsoft.com/office/drawing/2014/main" id="{E375B3E5-5994-4344-9A91-0ED396A99478}"/>
              </a:ext>
            </a:extLst>
          </p:cNvPr>
          <p:cNvCxnSpPr/>
          <p:nvPr/>
        </p:nvCxnSpPr>
        <p:spPr>
          <a:xfrm>
            <a:off x="4776431"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1" name="Google Shape;309;p7">
            <a:extLst>
              <a:ext uri="{FF2B5EF4-FFF2-40B4-BE49-F238E27FC236}">
                <a16:creationId xmlns:a16="http://schemas.microsoft.com/office/drawing/2014/main" id="{50D2C602-EE44-4C8A-BF36-161ABD8AFC21}"/>
              </a:ext>
            </a:extLst>
          </p:cNvPr>
          <p:cNvCxnSpPr/>
          <p:nvPr/>
        </p:nvCxnSpPr>
        <p:spPr>
          <a:xfrm>
            <a:off x="529023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2" name="Google Shape;310;p7">
            <a:extLst>
              <a:ext uri="{FF2B5EF4-FFF2-40B4-BE49-F238E27FC236}">
                <a16:creationId xmlns:a16="http://schemas.microsoft.com/office/drawing/2014/main" id="{FCDCCEAE-71B2-4116-BEE3-F401B9723EC2}"/>
              </a:ext>
            </a:extLst>
          </p:cNvPr>
          <p:cNvCxnSpPr/>
          <p:nvPr/>
        </p:nvCxnSpPr>
        <p:spPr>
          <a:xfrm>
            <a:off x="3722693"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3" name="Google Shape;311;p7">
            <a:extLst>
              <a:ext uri="{FF2B5EF4-FFF2-40B4-BE49-F238E27FC236}">
                <a16:creationId xmlns:a16="http://schemas.microsoft.com/office/drawing/2014/main" id="{B993C26E-959A-4C2D-92AF-F9C0AAAB6D91}"/>
              </a:ext>
            </a:extLst>
          </p:cNvPr>
          <p:cNvCxnSpPr/>
          <p:nvPr/>
        </p:nvCxnSpPr>
        <p:spPr>
          <a:xfrm>
            <a:off x="4254956"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4" name="Google Shape;312;p7">
            <a:extLst>
              <a:ext uri="{FF2B5EF4-FFF2-40B4-BE49-F238E27FC236}">
                <a16:creationId xmlns:a16="http://schemas.microsoft.com/office/drawing/2014/main" id="{C2EF69D7-75C1-4C20-B345-8C9821CDDB97}"/>
              </a:ext>
            </a:extLst>
          </p:cNvPr>
          <p:cNvCxnSpPr/>
          <p:nvPr/>
        </p:nvCxnSpPr>
        <p:spPr>
          <a:xfrm>
            <a:off x="4772077"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15" name="Google Shape;313;p7">
            <a:extLst>
              <a:ext uri="{FF2B5EF4-FFF2-40B4-BE49-F238E27FC236}">
                <a16:creationId xmlns:a16="http://schemas.microsoft.com/office/drawing/2014/main" id="{89C8025C-74C2-46A1-B2BF-9DFCF11A979D}"/>
              </a:ext>
            </a:extLst>
          </p:cNvPr>
          <p:cNvSpPr txBox="1"/>
          <p:nvPr/>
        </p:nvSpPr>
        <p:spPr>
          <a:xfrm>
            <a:off x="2503493" y="1943033"/>
            <a:ext cx="1384663" cy="3069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sp>
        <p:nvSpPr>
          <p:cNvPr id="116" name="Google Shape;314;p7">
            <a:extLst>
              <a:ext uri="{FF2B5EF4-FFF2-40B4-BE49-F238E27FC236}">
                <a16:creationId xmlns:a16="http://schemas.microsoft.com/office/drawing/2014/main" id="{9492B3EB-7F3F-4A24-AF62-549E44472DFD}"/>
              </a:ext>
            </a:extLst>
          </p:cNvPr>
          <p:cNvSpPr txBox="1"/>
          <p:nvPr/>
        </p:nvSpPr>
        <p:spPr>
          <a:xfrm>
            <a:off x="2503493" y="2556588"/>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F = 1</a:t>
            </a:r>
            <a:endParaRPr sz="1400" b="0" i="0" u="none" strike="noStrike" cap="none">
              <a:solidFill>
                <a:srgbClr val="000000"/>
              </a:solidFill>
              <a:latin typeface="Times New Roman"/>
              <a:ea typeface="Times New Roman"/>
              <a:cs typeface="Times New Roman"/>
              <a:sym typeface="Times New Roman"/>
            </a:endParaRPr>
          </a:p>
        </p:txBody>
      </p:sp>
      <p:sp>
        <p:nvSpPr>
          <p:cNvPr id="117" name="Google Shape;315;p7">
            <a:extLst>
              <a:ext uri="{FF2B5EF4-FFF2-40B4-BE49-F238E27FC236}">
                <a16:creationId xmlns:a16="http://schemas.microsoft.com/office/drawing/2014/main" id="{28F9B385-9F4C-4F9B-BD30-7EB8D06697DF}"/>
              </a:ext>
            </a:extLst>
          </p:cNvPr>
          <p:cNvSpPr txBox="1"/>
          <p:nvPr/>
        </p:nvSpPr>
        <p:spPr>
          <a:xfrm>
            <a:off x="4164556"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8" name="Google Shape;316;p7">
            <a:extLst>
              <a:ext uri="{FF2B5EF4-FFF2-40B4-BE49-F238E27FC236}">
                <a16:creationId xmlns:a16="http://schemas.microsoft.com/office/drawing/2014/main" id="{F072E1E4-3562-4629-8097-9D0781860DED}"/>
              </a:ext>
            </a:extLst>
          </p:cNvPr>
          <p:cNvSpPr txBox="1"/>
          <p:nvPr/>
        </p:nvSpPr>
        <p:spPr>
          <a:xfrm>
            <a:off x="3581082" y="2777279"/>
            <a:ext cx="5980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9" name="Google Shape;317;p7">
            <a:extLst>
              <a:ext uri="{FF2B5EF4-FFF2-40B4-BE49-F238E27FC236}">
                <a16:creationId xmlns:a16="http://schemas.microsoft.com/office/drawing/2014/main" id="{3DD80756-09C9-4FCF-BB5F-F96A644B54F8}"/>
              </a:ext>
            </a:extLst>
          </p:cNvPr>
          <p:cNvSpPr txBox="1"/>
          <p:nvPr/>
        </p:nvSpPr>
        <p:spPr>
          <a:xfrm>
            <a:off x="4705722"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0" name="Google Shape;318;p7">
            <a:extLst>
              <a:ext uri="{FF2B5EF4-FFF2-40B4-BE49-F238E27FC236}">
                <a16:creationId xmlns:a16="http://schemas.microsoft.com/office/drawing/2014/main" id="{AE4AE603-6403-46A0-A55A-B2F23A170FC7}"/>
              </a:ext>
            </a:extLst>
          </p:cNvPr>
          <p:cNvSpPr txBox="1"/>
          <p:nvPr/>
        </p:nvSpPr>
        <p:spPr>
          <a:xfrm>
            <a:off x="4146898" y="2095977"/>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Arial"/>
                <a:ea typeface="Arial"/>
                <a:cs typeface="Arial"/>
                <a:sym typeface="Arial"/>
              </a:rPr>
              <a:t>m=0</a:t>
            </a:r>
            <a:endParaRPr sz="1400" b="0" i="0" u="none" strike="noStrike" cap="none">
              <a:solidFill>
                <a:srgbClr val="000000"/>
              </a:solidFill>
              <a:latin typeface="Arial"/>
              <a:ea typeface="Arial"/>
              <a:cs typeface="Arial"/>
              <a:sym typeface="Arial"/>
            </a:endParaRPr>
          </a:p>
        </p:txBody>
      </p:sp>
      <p:sp>
        <p:nvSpPr>
          <p:cNvPr id="121" name="Google Shape;319;p7">
            <a:extLst>
              <a:ext uri="{FF2B5EF4-FFF2-40B4-BE49-F238E27FC236}">
                <a16:creationId xmlns:a16="http://schemas.microsoft.com/office/drawing/2014/main" id="{3177D817-74B7-4764-9B36-8C7999C346B7}"/>
              </a:ext>
            </a:extLst>
          </p:cNvPr>
          <p:cNvSpPr txBox="1"/>
          <p:nvPr/>
        </p:nvSpPr>
        <p:spPr>
          <a:xfrm>
            <a:off x="4705721" y="16793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2" name="Google Shape;320;p7">
            <a:extLst>
              <a:ext uri="{FF2B5EF4-FFF2-40B4-BE49-F238E27FC236}">
                <a16:creationId xmlns:a16="http://schemas.microsoft.com/office/drawing/2014/main" id="{BBD09642-BA00-455B-A6C5-43B1C80FEB03}"/>
              </a:ext>
            </a:extLst>
          </p:cNvPr>
          <p:cNvSpPr txBox="1"/>
          <p:nvPr/>
        </p:nvSpPr>
        <p:spPr>
          <a:xfrm>
            <a:off x="3623391" y="1678800"/>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3" name="Google Shape;321;p7">
            <a:extLst>
              <a:ext uri="{FF2B5EF4-FFF2-40B4-BE49-F238E27FC236}">
                <a16:creationId xmlns:a16="http://schemas.microsoft.com/office/drawing/2014/main" id="{72930C02-8558-435C-B73F-668AC9196C5C}"/>
              </a:ext>
            </a:extLst>
          </p:cNvPr>
          <p:cNvSpPr txBox="1"/>
          <p:nvPr/>
        </p:nvSpPr>
        <p:spPr>
          <a:xfrm>
            <a:off x="5246886" y="1678799"/>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4" name="Google Shape;322;p7">
            <a:extLst>
              <a:ext uri="{FF2B5EF4-FFF2-40B4-BE49-F238E27FC236}">
                <a16:creationId xmlns:a16="http://schemas.microsoft.com/office/drawing/2014/main" id="{A856AB1E-7EAA-4252-9F9E-2D17D90A05C9}"/>
              </a:ext>
            </a:extLst>
          </p:cNvPr>
          <p:cNvSpPr txBox="1"/>
          <p:nvPr/>
        </p:nvSpPr>
        <p:spPr>
          <a:xfrm>
            <a:off x="3091937" y="1678798"/>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5" name="Google Shape;324;p7">
            <a:extLst>
              <a:ext uri="{FF2B5EF4-FFF2-40B4-BE49-F238E27FC236}">
                <a16:creationId xmlns:a16="http://schemas.microsoft.com/office/drawing/2014/main" id="{C7E2C7D4-6EB7-4199-AF71-1F752404AD37}"/>
              </a:ext>
            </a:extLst>
          </p:cNvPr>
          <p:cNvSpPr/>
          <p:nvPr/>
        </p:nvSpPr>
        <p:spPr>
          <a:xfrm>
            <a:off x="3801591"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6" name="Google Shape;325;p7">
            <a:extLst>
              <a:ext uri="{FF2B5EF4-FFF2-40B4-BE49-F238E27FC236}">
                <a16:creationId xmlns:a16="http://schemas.microsoft.com/office/drawing/2014/main" id="{7EF5AC33-F806-45AD-9355-C0C56E36D8E0}"/>
              </a:ext>
            </a:extLst>
          </p:cNvPr>
          <p:cNvSpPr/>
          <p:nvPr/>
        </p:nvSpPr>
        <p:spPr>
          <a:xfrm>
            <a:off x="4341421" y="2636739"/>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7" name="Google Shape;326;p7">
            <a:extLst>
              <a:ext uri="{FF2B5EF4-FFF2-40B4-BE49-F238E27FC236}">
                <a16:creationId xmlns:a16="http://schemas.microsoft.com/office/drawing/2014/main" id="{D487D161-CE2D-4505-B512-9F7EE8F4AF98}"/>
              </a:ext>
            </a:extLst>
          </p:cNvPr>
          <p:cNvSpPr/>
          <p:nvPr/>
        </p:nvSpPr>
        <p:spPr>
          <a:xfrm>
            <a:off x="4850076" y="2629294"/>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28" name="Google Shape;327;p7">
            <a:extLst>
              <a:ext uri="{FF2B5EF4-FFF2-40B4-BE49-F238E27FC236}">
                <a16:creationId xmlns:a16="http://schemas.microsoft.com/office/drawing/2014/main" id="{B2AE25D9-ABE4-4DA0-8BC1-2769C7E58598}"/>
              </a:ext>
            </a:extLst>
          </p:cNvPr>
          <p:cNvCxnSpPr/>
          <p:nvPr/>
        </p:nvCxnSpPr>
        <p:spPr>
          <a:xfrm>
            <a:off x="8117130" y="1344070"/>
            <a:ext cx="358998" cy="11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29" name="Google Shape;328;p7">
            <a:extLst>
              <a:ext uri="{FF2B5EF4-FFF2-40B4-BE49-F238E27FC236}">
                <a16:creationId xmlns:a16="http://schemas.microsoft.com/office/drawing/2014/main" id="{759DCDE9-0FE5-47F3-A4B3-F7579EB31A17}"/>
              </a:ext>
            </a:extLst>
          </p:cNvPr>
          <p:cNvSpPr txBox="1"/>
          <p:nvPr/>
        </p:nvSpPr>
        <p:spPr>
          <a:xfrm>
            <a:off x="7426972" y="1182868"/>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0</a:t>
            </a:r>
            <a:endParaRPr sz="1400" b="0" i="0" u="none" strike="noStrike" cap="none" dirty="0">
              <a:solidFill>
                <a:srgbClr val="000000"/>
              </a:solidFill>
              <a:latin typeface="Times New Roman"/>
              <a:ea typeface="Times New Roman"/>
              <a:cs typeface="Times New Roman"/>
              <a:sym typeface="Times New Roman"/>
            </a:endParaRPr>
          </a:p>
        </p:txBody>
      </p:sp>
      <p:cxnSp>
        <p:nvCxnSpPr>
          <p:cNvPr id="130" name="Google Shape;329;p7">
            <a:extLst>
              <a:ext uri="{FF2B5EF4-FFF2-40B4-BE49-F238E27FC236}">
                <a16:creationId xmlns:a16="http://schemas.microsoft.com/office/drawing/2014/main" id="{7FB0B97D-86CE-4837-A249-CF2BB06DC8BC}"/>
              </a:ext>
            </a:extLst>
          </p:cNvPr>
          <p:cNvCxnSpPr/>
          <p:nvPr/>
        </p:nvCxnSpPr>
        <p:spPr>
          <a:xfrm>
            <a:off x="7594786" y="2639398"/>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1" name="Google Shape;330;p7">
            <a:extLst>
              <a:ext uri="{FF2B5EF4-FFF2-40B4-BE49-F238E27FC236}">
                <a16:creationId xmlns:a16="http://schemas.microsoft.com/office/drawing/2014/main" id="{17F9E9EB-B791-478A-8720-BEF74803123B}"/>
              </a:ext>
            </a:extLst>
          </p:cNvPr>
          <p:cNvCxnSpPr/>
          <p:nvPr/>
        </p:nvCxnSpPr>
        <p:spPr>
          <a:xfrm>
            <a:off x="8120734" y="270927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2" name="Google Shape;331;p7">
            <a:extLst>
              <a:ext uri="{FF2B5EF4-FFF2-40B4-BE49-F238E27FC236}">
                <a16:creationId xmlns:a16="http://schemas.microsoft.com/office/drawing/2014/main" id="{DA5E6E9C-B693-4905-AF03-2DADF2992FAC}"/>
              </a:ext>
            </a:extLst>
          </p:cNvPr>
          <p:cNvCxnSpPr/>
          <p:nvPr/>
        </p:nvCxnSpPr>
        <p:spPr>
          <a:xfrm>
            <a:off x="8642747" y="279517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33" name="Google Shape;332;p7">
            <a:extLst>
              <a:ext uri="{FF2B5EF4-FFF2-40B4-BE49-F238E27FC236}">
                <a16:creationId xmlns:a16="http://schemas.microsoft.com/office/drawing/2014/main" id="{C881895D-327E-4DA1-B6B5-EDF9B15CF510}"/>
              </a:ext>
            </a:extLst>
          </p:cNvPr>
          <p:cNvSpPr txBox="1"/>
          <p:nvPr/>
        </p:nvSpPr>
        <p:spPr>
          <a:xfrm>
            <a:off x="6614068" y="2564022"/>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1</a:t>
            </a:r>
            <a:endParaRPr sz="1400" b="0" i="0" u="none" strike="noStrike" cap="none" dirty="0">
              <a:solidFill>
                <a:srgbClr val="000000"/>
              </a:solidFill>
              <a:latin typeface="Times New Roman"/>
              <a:ea typeface="Times New Roman"/>
              <a:cs typeface="Times New Roman"/>
              <a:sym typeface="Times New Roman"/>
            </a:endParaRPr>
          </a:p>
        </p:txBody>
      </p:sp>
      <p:sp>
        <p:nvSpPr>
          <p:cNvPr id="134" name="Google Shape;333;p7">
            <a:extLst>
              <a:ext uri="{FF2B5EF4-FFF2-40B4-BE49-F238E27FC236}">
                <a16:creationId xmlns:a16="http://schemas.microsoft.com/office/drawing/2014/main" id="{ECD6A746-0D5B-4E93-8BA9-B883FF63CFBE}"/>
              </a:ext>
            </a:extLst>
          </p:cNvPr>
          <p:cNvSpPr txBox="1"/>
          <p:nvPr/>
        </p:nvSpPr>
        <p:spPr>
          <a:xfrm>
            <a:off x="8030334" y="2776074"/>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5" name="Google Shape;334;p7">
            <a:extLst>
              <a:ext uri="{FF2B5EF4-FFF2-40B4-BE49-F238E27FC236}">
                <a16:creationId xmlns:a16="http://schemas.microsoft.com/office/drawing/2014/main" id="{B58DD3D3-AA6B-4314-BF84-2078711C8530}"/>
              </a:ext>
            </a:extLst>
          </p:cNvPr>
          <p:cNvSpPr txBox="1"/>
          <p:nvPr/>
        </p:nvSpPr>
        <p:spPr>
          <a:xfrm>
            <a:off x="7453174" y="2706200"/>
            <a:ext cx="6124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6" name="Google Shape;335;p7">
            <a:extLst>
              <a:ext uri="{FF2B5EF4-FFF2-40B4-BE49-F238E27FC236}">
                <a16:creationId xmlns:a16="http://schemas.microsoft.com/office/drawing/2014/main" id="{1083B4B1-55E8-4208-95C6-60AE75E49B8B}"/>
              </a:ext>
            </a:extLst>
          </p:cNvPr>
          <p:cNvSpPr txBox="1"/>
          <p:nvPr/>
        </p:nvSpPr>
        <p:spPr>
          <a:xfrm>
            <a:off x="8576393" y="2861972"/>
            <a:ext cx="54009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7" name="Google Shape;336;p7">
            <a:extLst>
              <a:ext uri="{FF2B5EF4-FFF2-40B4-BE49-F238E27FC236}">
                <a16:creationId xmlns:a16="http://schemas.microsoft.com/office/drawing/2014/main" id="{59868BE4-E23F-4B46-AC6B-6FB8F481ACE2}"/>
              </a:ext>
            </a:extLst>
          </p:cNvPr>
          <p:cNvSpPr/>
          <p:nvPr/>
        </p:nvSpPr>
        <p:spPr>
          <a:xfrm>
            <a:off x="8208032"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38" name="Google Shape;337;p7">
            <a:extLst>
              <a:ext uri="{FF2B5EF4-FFF2-40B4-BE49-F238E27FC236}">
                <a16:creationId xmlns:a16="http://schemas.microsoft.com/office/drawing/2014/main" id="{116226FF-8C6F-479C-8EA1-9576E5EC9DDA}"/>
              </a:ext>
            </a:extLst>
          </p:cNvPr>
          <p:cNvCxnSpPr/>
          <p:nvPr/>
        </p:nvCxnSpPr>
        <p:spPr>
          <a:xfrm rot="10800000" flipH="1">
            <a:off x="7782842" y="1485448"/>
            <a:ext cx="391188" cy="1077250"/>
          </a:xfrm>
          <a:prstGeom prst="straightConnector1">
            <a:avLst/>
          </a:prstGeom>
          <a:noFill/>
          <a:ln w="19050" cap="flat" cmpd="sng">
            <a:solidFill>
              <a:schemeClr val="tx1"/>
            </a:solidFill>
            <a:prstDash val="solid"/>
            <a:round/>
            <a:headEnd type="none" w="sm" len="sm"/>
            <a:tailEnd type="triangle" w="med" len="med"/>
          </a:ln>
        </p:spPr>
      </p:cxnSp>
      <p:cxnSp>
        <p:nvCxnSpPr>
          <p:cNvPr id="139" name="Google Shape;338;p7">
            <a:extLst>
              <a:ext uri="{FF2B5EF4-FFF2-40B4-BE49-F238E27FC236}">
                <a16:creationId xmlns:a16="http://schemas.microsoft.com/office/drawing/2014/main" id="{06F1CA81-846C-43DA-863B-EABCF861BD6A}"/>
              </a:ext>
            </a:extLst>
          </p:cNvPr>
          <p:cNvCxnSpPr>
            <a:cxnSpLocks/>
          </p:cNvCxnSpPr>
          <p:nvPr/>
        </p:nvCxnSpPr>
        <p:spPr>
          <a:xfrm flipH="1" flipV="1">
            <a:off x="8436177" y="1485448"/>
            <a:ext cx="358310" cy="1230099"/>
          </a:xfrm>
          <a:prstGeom prst="straightConnector1">
            <a:avLst/>
          </a:prstGeom>
          <a:noFill/>
          <a:ln w="19050" cap="flat" cmpd="sng">
            <a:solidFill>
              <a:schemeClr val="tx1"/>
            </a:solidFill>
            <a:prstDash val="solid"/>
            <a:round/>
            <a:headEnd type="none" w="sm" len="sm"/>
            <a:tailEnd type="triangle" w="med" len="med"/>
          </a:ln>
        </p:spPr>
      </p:cxnSp>
      <p:cxnSp>
        <p:nvCxnSpPr>
          <p:cNvPr id="140" name="Google Shape;339;p7">
            <a:extLst>
              <a:ext uri="{FF2B5EF4-FFF2-40B4-BE49-F238E27FC236}">
                <a16:creationId xmlns:a16="http://schemas.microsoft.com/office/drawing/2014/main" id="{9A162B01-25C6-41BB-92A1-4360229920F2}"/>
              </a:ext>
            </a:extLst>
          </p:cNvPr>
          <p:cNvCxnSpPr/>
          <p:nvPr/>
        </p:nvCxnSpPr>
        <p:spPr>
          <a:xfrm>
            <a:off x="8295101" y="1485447"/>
            <a:ext cx="20004" cy="1077249"/>
          </a:xfrm>
          <a:prstGeom prst="straightConnector1">
            <a:avLst/>
          </a:prstGeom>
          <a:noFill/>
          <a:ln w="19050" cap="flat" cmpd="sng">
            <a:solidFill>
              <a:schemeClr val="tx1"/>
            </a:solidFill>
            <a:prstDash val="dash"/>
            <a:round/>
            <a:headEnd type="none" w="sm" len="sm"/>
            <a:tailEnd type="triangle" w="med" len="med"/>
          </a:ln>
        </p:spPr>
      </p:cxnSp>
      <p:sp>
        <p:nvSpPr>
          <p:cNvPr id="141" name="Google Shape;340;p7">
            <a:extLst>
              <a:ext uri="{FF2B5EF4-FFF2-40B4-BE49-F238E27FC236}">
                <a16:creationId xmlns:a16="http://schemas.microsoft.com/office/drawing/2014/main" id="{1699AABE-ACD0-4B3A-8A06-D24C5EB4EB20}"/>
              </a:ext>
            </a:extLst>
          </p:cNvPr>
          <p:cNvSpPr txBox="1"/>
          <p:nvPr/>
        </p:nvSpPr>
        <p:spPr>
          <a:xfrm>
            <a:off x="8523458" y="11596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42" name="Google Shape;373;p7">
            <a:extLst>
              <a:ext uri="{FF2B5EF4-FFF2-40B4-BE49-F238E27FC236}">
                <a16:creationId xmlns:a16="http://schemas.microsoft.com/office/drawing/2014/main" id="{EB38CCD1-B7F0-44DE-9AA5-6FD12D922F1A}"/>
              </a:ext>
            </a:extLst>
          </p:cNvPr>
          <p:cNvCxnSpPr/>
          <p:nvPr/>
        </p:nvCxnSpPr>
        <p:spPr>
          <a:xfrm>
            <a:off x="7083536" y="228868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3" name="Google Shape;374;p7">
            <a:extLst>
              <a:ext uri="{FF2B5EF4-FFF2-40B4-BE49-F238E27FC236}">
                <a16:creationId xmlns:a16="http://schemas.microsoft.com/office/drawing/2014/main" id="{25AA9A3C-5B8B-4227-B9AC-7E86AED6BD6A}"/>
              </a:ext>
            </a:extLst>
          </p:cNvPr>
          <p:cNvCxnSpPr/>
          <p:nvPr/>
        </p:nvCxnSpPr>
        <p:spPr>
          <a:xfrm>
            <a:off x="7581410" y="220056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4" name="Google Shape;375;p7">
            <a:extLst>
              <a:ext uri="{FF2B5EF4-FFF2-40B4-BE49-F238E27FC236}">
                <a16:creationId xmlns:a16="http://schemas.microsoft.com/office/drawing/2014/main" id="{E83ADE1F-B8D9-48B4-A5AD-AFCDD8B239CA}"/>
              </a:ext>
            </a:extLst>
          </p:cNvPr>
          <p:cNvCxnSpPr/>
          <p:nvPr/>
        </p:nvCxnSpPr>
        <p:spPr>
          <a:xfrm>
            <a:off x="8132014" y="211464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5" name="Google Shape;376;p7">
            <a:extLst>
              <a:ext uri="{FF2B5EF4-FFF2-40B4-BE49-F238E27FC236}">
                <a16:creationId xmlns:a16="http://schemas.microsoft.com/office/drawing/2014/main" id="{AFAE1C24-C6A6-4383-90A6-5A50058053F3}"/>
              </a:ext>
            </a:extLst>
          </p:cNvPr>
          <p:cNvCxnSpPr/>
          <p:nvPr/>
        </p:nvCxnSpPr>
        <p:spPr>
          <a:xfrm>
            <a:off x="8646652" y="204268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6" name="Google Shape;377;p7">
            <a:extLst>
              <a:ext uri="{FF2B5EF4-FFF2-40B4-BE49-F238E27FC236}">
                <a16:creationId xmlns:a16="http://schemas.microsoft.com/office/drawing/2014/main" id="{05D09583-3DCF-44D9-87CC-905A4A89AA37}"/>
              </a:ext>
            </a:extLst>
          </p:cNvPr>
          <p:cNvCxnSpPr/>
          <p:nvPr/>
        </p:nvCxnSpPr>
        <p:spPr>
          <a:xfrm>
            <a:off x="9170461" y="1933335"/>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47" name="Google Shape;378;p7">
            <a:extLst>
              <a:ext uri="{FF2B5EF4-FFF2-40B4-BE49-F238E27FC236}">
                <a16:creationId xmlns:a16="http://schemas.microsoft.com/office/drawing/2014/main" id="{BAEDA4E0-587A-4267-89FE-4FC711B0E1F7}"/>
              </a:ext>
            </a:extLst>
          </p:cNvPr>
          <p:cNvSpPr txBox="1"/>
          <p:nvPr/>
        </p:nvSpPr>
        <p:spPr>
          <a:xfrm>
            <a:off x="8059272" y="1696916"/>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8" name="Google Shape;379;p7">
            <a:extLst>
              <a:ext uri="{FF2B5EF4-FFF2-40B4-BE49-F238E27FC236}">
                <a16:creationId xmlns:a16="http://schemas.microsoft.com/office/drawing/2014/main" id="{8A94FCC0-D12B-4EB7-A1C3-A147A92512EB}"/>
              </a:ext>
            </a:extLst>
          </p:cNvPr>
          <p:cNvSpPr txBox="1"/>
          <p:nvPr/>
        </p:nvSpPr>
        <p:spPr>
          <a:xfrm>
            <a:off x="8575942" y="1625558"/>
            <a:ext cx="58451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9" name="Google Shape;380;p7">
            <a:extLst>
              <a:ext uri="{FF2B5EF4-FFF2-40B4-BE49-F238E27FC236}">
                <a16:creationId xmlns:a16="http://schemas.microsoft.com/office/drawing/2014/main" id="{462E83DB-0967-4C6C-91F2-42BD7ACB7BFB}"/>
              </a:ext>
            </a:extLst>
          </p:cNvPr>
          <p:cNvSpPr txBox="1"/>
          <p:nvPr/>
        </p:nvSpPr>
        <p:spPr>
          <a:xfrm>
            <a:off x="7482109" y="1782838"/>
            <a:ext cx="6934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0" name="Google Shape;381;p7">
            <a:extLst>
              <a:ext uri="{FF2B5EF4-FFF2-40B4-BE49-F238E27FC236}">
                <a16:creationId xmlns:a16="http://schemas.microsoft.com/office/drawing/2014/main" id="{B6BBE47B-96BD-46BD-8A90-B48B304BA76D}"/>
              </a:ext>
            </a:extLst>
          </p:cNvPr>
          <p:cNvSpPr txBox="1"/>
          <p:nvPr/>
        </p:nvSpPr>
        <p:spPr>
          <a:xfrm>
            <a:off x="9127111" y="1515612"/>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1" name="Google Shape;382;p7">
            <a:extLst>
              <a:ext uri="{FF2B5EF4-FFF2-40B4-BE49-F238E27FC236}">
                <a16:creationId xmlns:a16="http://schemas.microsoft.com/office/drawing/2014/main" id="{9EE52862-1DA1-4CD5-A4E4-497D8182FDC8}"/>
              </a:ext>
            </a:extLst>
          </p:cNvPr>
          <p:cNvSpPr txBox="1"/>
          <p:nvPr/>
        </p:nvSpPr>
        <p:spPr>
          <a:xfrm>
            <a:off x="6962232" y="1870963"/>
            <a:ext cx="6124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2" name="TextBox 151">
            <a:extLst>
              <a:ext uri="{FF2B5EF4-FFF2-40B4-BE49-F238E27FC236}">
                <a16:creationId xmlns:a16="http://schemas.microsoft.com/office/drawing/2014/main" id="{4690278A-6D62-485B-8146-211394838776}"/>
              </a:ext>
            </a:extLst>
          </p:cNvPr>
          <p:cNvSpPr txBox="1"/>
          <p:nvPr/>
        </p:nvSpPr>
        <p:spPr>
          <a:xfrm>
            <a:off x="6123869" y="3099931"/>
            <a:ext cx="14468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
            </a:r>
            <a:r>
              <a:rPr lang="en-US" baseline="-25000" dirty="0">
                <a:latin typeface="Times New Roman" panose="02020603050405020304" pitchFamily="18" charset="0"/>
                <a:cs typeface="Times New Roman" panose="02020603050405020304" pitchFamily="18" charset="0"/>
              </a:rPr>
              <a:t>0ffset</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0.5</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mG</a:t>
            </a:r>
            <a:endParaRPr lang="ru-RU" dirty="0">
              <a:latin typeface="Times New Roman" panose="02020603050405020304" pitchFamily="18" charset="0"/>
              <a:cs typeface="Times New Roman" panose="02020603050405020304" pitchFamily="18" charset="0"/>
            </a:endParaRPr>
          </a:p>
        </p:txBody>
      </p:sp>
      <p:sp>
        <p:nvSpPr>
          <p:cNvPr id="162" name="TextBox 161">
            <a:extLst>
              <a:ext uri="{FF2B5EF4-FFF2-40B4-BE49-F238E27FC236}">
                <a16:creationId xmlns:a16="http://schemas.microsoft.com/office/drawing/2014/main" id="{A2139D55-AFC1-4115-B3BE-5F5EE8D9B4B1}"/>
              </a:ext>
            </a:extLst>
          </p:cNvPr>
          <p:cNvSpPr txBox="1"/>
          <p:nvPr/>
        </p:nvSpPr>
        <p:spPr>
          <a:xfrm>
            <a:off x="8431469" y="4454479"/>
            <a:ext cx="1281346"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163" name="TextBox 162">
            <a:extLst>
              <a:ext uri="{FF2B5EF4-FFF2-40B4-BE49-F238E27FC236}">
                <a16:creationId xmlns:a16="http://schemas.microsoft.com/office/drawing/2014/main" id="{A3553470-9FC6-45ED-AFC0-2FB15617DAFE}"/>
              </a:ext>
            </a:extLst>
          </p:cNvPr>
          <p:cNvSpPr txBox="1"/>
          <p:nvPr/>
        </p:nvSpPr>
        <p:spPr>
          <a:xfrm>
            <a:off x="8552207" y="5288531"/>
            <a:ext cx="1604809"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1/3</a:t>
            </a:r>
            <a:endParaRPr lang="ru-RU"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69BAC13F-972B-4520-8F42-178EA2560BFB}"/>
              </a:ext>
            </a:extLst>
          </p:cNvPr>
          <p:cNvSpPr txBox="1"/>
          <p:nvPr/>
        </p:nvSpPr>
        <p:spPr>
          <a:xfrm>
            <a:off x="11681926" y="6408575"/>
            <a:ext cx="510074" cy="307777"/>
          </a:xfrm>
          <a:prstGeom prst="rect">
            <a:avLst/>
          </a:prstGeom>
          <a:noFill/>
        </p:spPr>
        <p:txBody>
          <a:bodyPr wrap="square" rtlCol="0">
            <a:spAutoFit/>
          </a:bodyPr>
          <a:lstStyle/>
          <a:p>
            <a:r>
              <a:rPr lang="ru-RU" dirty="0"/>
              <a:t>7</a:t>
            </a:r>
          </a:p>
        </p:txBody>
      </p:sp>
      <p:sp>
        <p:nvSpPr>
          <p:cNvPr id="62" name="TextBox 61">
            <a:extLst>
              <a:ext uri="{FF2B5EF4-FFF2-40B4-BE49-F238E27FC236}">
                <a16:creationId xmlns:a16="http://schemas.microsoft.com/office/drawing/2014/main" id="{11A813CB-9917-465E-A632-9D569239EDC9}"/>
              </a:ext>
            </a:extLst>
          </p:cNvPr>
          <p:cNvSpPr txBox="1"/>
          <p:nvPr/>
        </p:nvSpPr>
        <p:spPr>
          <a:xfrm>
            <a:off x="4145750" y="4206975"/>
            <a:ext cx="1523917"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91C9B38F-757E-4A17-96B5-0217DB266AA6}"/>
              </a:ext>
            </a:extLst>
          </p:cNvPr>
          <p:cNvSpPr txBox="1"/>
          <p:nvPr/>
        </p:nvSpPr>
        <p:spPr>
          <a:xfrm>
            <a:off x="4145750" y="5194585"/>
            <a:ext cx="1381406"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1/5</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97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DA7276-A2D5-0EF0-04AD-EF2A74C7C749}"/>
              </a:ext>
            </a:extLst>
          </p:cNvPr>
          <p:cNvSpPr txBox="1"/>
          <p:nvPr/>
        </p:nvSpPr>
        <p:spPr>
          <a:xfrm>
            <a:off x="2878667" y="922866"/>
            <a:ext cx="5892800" cy="3108543"/>
          </a:xfrm>
          <a:prstGeom prst="rect">
            <a:avLst/>
          </a:prstGeom>
          <a:noFill/>
        </p:spPr>
        <p:txBody>
          <a:bodyPr wrap="square" rtlCol="0">
            <a:spAutoFit/>
          </a:bodyPr>
          <a:lstStyle/>
          <a:p>
            <a:r>
              <a:rPr lang="ru-RU" dirty="0"/>
              <a:t>Как было сказано ранее, было выполнено исследование оптической накачки в немагнитное состояние. Изначально было проведено моделирование выбранной схемы, что вы можете видеть на данном слайде. </a:t>
            </a:r>
          </a:p>
          <a:p>
            <a:r>
              <a:rPr lang="ru-RU" dirty="0"/>
              <a:t>Для исследование была выбранная следующая схема</a:t>
            </a:r>
            <a:r>
              <a:rPr lang="en-US" dirty="0"/>
              <a:t>: </a:t>
            </a:r>
            <a:r>
              <a:rPr lang="ru-RU" dirty="0"/>
              <a:t>изначально после лазерного охлаждения и пленения атомы находятся в состояния </a:t>
            </a:r>
            <a:r>
              <a:rPr lang="en-US" dirty="0"/>
              <a:t>F=2, </a:t>
            </a:r>
            <a:r>
              <a:rPr lang="ru-RU" dirty="0"/>
              <a:t>на первом этапе оптической накачки атомы перекачиваются в состояние </a:t>
            </a:r>
            <a:r>
              <a:rPr lang="en-US" dirty="0"/>
              <a:t>F = 1 </a:t>
            </a:r>
            <a:r>
              <a:rPr lang="ru-RU" dirty="0"/>
              <a:t>резонансным излучением 2-2</a:t>
            </a:r>
            <a:r>
              <a:rPr lang="en-US" dirty="0"/>
              <a:t>’</a:t>
            </a:r>
            <a:r>
              <a:rPr lang="ru-RU" dirty="0"/>
              <a:t>. На данном этапе моделирование демонстрирует нагрев около 0.7 </a:t>
            </a:r>
            <a:r>
              <a:rPr lang="ru-RU" dirty="0" err="1"/>
              <a:t>мкК</a:t>
            </a:r>
            <a:r>
              <a:rPr lang="ru-RU" dirty="0"/>
              <a:t>. На следующем этапе включается небольшое магнитное поле для задания оси квантования и с помощью излучения с круговой поляризацией атомы из магнитных состояний перекачиваются в немагнитное. На данном этапе нагрев атомного облака показанный моделированием составил также около 0.7 </a:t>
            </a:r>
            <a:r>
              <a:rPr lang="ru-RU" dirty="0" err="1"/>
              <a:t>мкК</a:t>
            </a:r>
            <a:endParaRPr lang="ru-RU" dirty="0"/>
          </a:p>
        </p:txBody>
      </p:sp>
    </p:spTree>
    <p:extLst>
      <p:ext uri="{BB962C8B-B14F-4D97-AF65-F5344CB8AC3E}">
        <p14:creationId xmlns:p14="http://schemas.microsoft.com/office/powerpoint/2010/main" val="1776479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p41"/>
          <p:cNvSpPr/>
          <p:nvPr/>
        </p:nvSpPr>
        <p:spPr>
          <a:xfrm>
            <a:off x="3258776" y="136525"/>
            <a:ext cx="5855293" cy="76501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Экспериментальные результаты</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440" name="Google Shape;440;p41"/>
          <p:cNvSpPr txBox="1"/>
          <p:nvPr/>
        </p:nvSpPr>
        <p:spPr>
          <a:xfrm>
            <a:off x="1574196" y="5246411"/>
            <a:ext cx="9596724" cy="523180"/>
          </a:xfrm>
          <a:prstGeom prst="rect">
            <a:avLst/>
          </a:prstGeom>
          <a:noFill/>
          <a:ln>
            <a:noFill/>
          </a:ln>
        </p:spPr>
        <p:txBody>
          <a:bodyPr spcFirstLastPara="1" wrap="square" lIns="91425" tIns="45700" rIns="91425" bIns="45700" anchor="t" anchorCtr="0">
            <a:spAutoFit/>
          </a:bodyPr>
          <a:lstStyle/>
          <a:p>
            <a:pPr lvl="0" algn="ctr"/>
            <a:r>
              <a:rPr lang="ru-RU" sz="1400" b="0" i="0" u="none" strike="noStrike" cap="none" dirty="0">
                <a:solidFill>
                  <a:srgbClr val="000000"/>
                </a:solidFill>
                <a:latin typeface="Times New Roman"/>
                <a:ea typeface="Times New Roman"/>
                <a:cs typeface="Times New Roman"/>
                <a:sym typeface="Times New Roman"/>
              </a:rPr>
              <a:t>Рис. </a:t>
            </a:r>
            <a:r>
              <a:rPr lang="ru-RU" dirty="0">
                <a:latin typeface="Times New Roman"/>
                <a:ea typeface="Times New Roman"/>
                <a:cs typeface="Times New Roman"/>
                <a:sym typeface="Times New Roman"/>
              </a:rPr>
              <a:t>8</a:t>
            </a:r>
            <a:r>
              <a:rPr lang="ru-RU" sz="1400" b="0" i="0" u="none" strike="noStrike" cap="none" dirty="0">
                <a:solidFill>
                  <a:srgbClr val="000000"/>
                </a:solidFill>
                <a:latin typeface="Times New Roman"/>
                <a:ea typeface="Times New Roman"/>
                <a:cs typeface="Times New Roman"/>
                <a:sym typeface="Times New Roman"/>
              </a:rPr>
              <a:t> </a:t>
            </a:r>
            <a:r>
              <a:rPr lang="ru-RU" dirty="0">
                <a:latin typeface="Times New Roman" panose="02020603050405020304" pitchFamily="18" charset="0"/>
                <a:cs typeface="Times New Roman" panose="02020603050405020304" pitchFamily="18" charset="0"/>
              </a:rPr>
              <a:t>Временная последовательность оптической накачки (а) , и </a:t>
            </a:r>
            <a:r>
              <a:rPr lang="ru-RU" dirty="0">
                <a:latin typeface="Times New Roman"/>
                <a:cs typeface="Times New Roman"/>
                <a:sym typeface="Times New Roman"/>
              </a:rPr>
              <a:t>э</a:t>
            </a:r>
            <a:r>
              <a:rPr lang="ru-RU" dirty="0">
                <a:latin typeface="Times New Roman"/>
                <a:ea typeface="Times New Roman"/>
                <a:cs typeface="Times New Roman"/>
                <a:sym typeface="Times New Roman"/>
              </a:rPr>
              <a:t>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ависимость населенности атомов до и после оптической накачки от отстройки рамановского излучения относительно часового перехода.</a:t>
            </a:r>
            <a:endParaRPr sz="1400" b="0" i="0" u="none" strike="noStrike" cap="none" dirty="0">
              <a:solidFill>
                <a:srgbClr val="000000"/>
              </a:solidFill>
              <a:latin typeface="Times New Roman"/>
              <a:ea typeface="Times New Roman"/>
              <a:cs typeface="Times New Roman"/>
              <a:sym typeface="Times New Roman"/>
            </a:endParaRPr>
          </a:p>
        </p:txBody>
      </p:sp>
      <p:pic>
        <p:nvPicPr>
          <p:cNvPr id="13" name="Рисунок 12">
            <a:extLst>
              <a:ext uri="{FF2B5EF4-FFF2-40B4-BE49-F238E27FC236}">
                <a16:creationId xmlns:a16="http://schemas.microsoft.com/office/drawing/2014/main" id="{E5FBF466-A86A-4FC6-9496-0D1B6DBCC09E}"/>
              </a:ext>
            </a:extLst>
          </p:cNvPr>
          <p:cNvPicPr>
            <a:picLocks noChangeAspect="1"/>
          </p:cNvPicPr>
          <p:nvPr/>
        </p:nvPicPr>
        <p:blipFill rotWithShape="1">
          <a:blip r:embed="rId3"/>
          <a:srcRect b="7198"/>
          <a:stretch/>
        </p:blipFill>
        <p:spPr>
          <a:xfrm>
            <a:off x="7160309" y="1148376"/>
            <a:ext cx="3945690" cy="3203965"/>
          </a:xfrm>
          <a:prstGeom prst="rect">
            <a:avLst/>
          </a:prstGeom>
        </p:spPr>
      </p:pic>
      <p:sp>
        <p:nvSpPr>
          <p:cNvPr id="14" name="Прямоугольник 13"/>
          <p:cNvSpPr/>
          <p:nvPr/>
        </p:nvSpPr>
        <p:spPr>
          <a:xfrm>
            <a:off x="4803766" y="3972182"/>
            <a:ext cx="430759" cy="13079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4426824" y="3598494"/>
            <a:ext cx="1246987" cy="17034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2464630" y="3249171"/>
            <a:ext cx="551888" cy="17380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121765" y="3169036"/>
            <a:ext cx="1325350"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18" name="Прямая соединительная линия 17"/>
          <p:cNvCxnSpPr>
            <a:cxnSpLocks/>
          </p:cNvCxnSpPr>
          <p:nvPr/>
        </p:nvCxnSpPr>
        <p:spPr>
          <a:xfrm>
            <a:off x="1454056" y="3341653"/>
            <a:ext cx="4918502" cy="82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261640" y="3480527"/>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20" name="Прямая соединительная линия 19"/>
          <p:cNvCxnSpPr>
            <a:cxnSpLocks/>
          </p:cNvCxnSpPr>
          <p:nvPr/>
        </p:nvCxnSpPr>
        <p:spPr>
          <a:xfrm flipV="1">
            <a:off x="1454056" y="3676251"/>
            <a:ext cx="4918502" cy="12182"/>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21765" y="3870161"/>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cxnSp>
        <p:nvCxnSpPr>
          <p:cNvPr id="22" name="Прямая соединительная линия 21"/>
          <p:cNvCxnSpPr>
            <a:cxnSpLocks/>
          </p:cNvCxnSpPr>
          <p:nvPr/>
        </p:nvCxnSpPr>
        <p:spPr>
          <a:xfrm>
            <a:off x="1454056" y="4038549"/>
            <a:ext cx="4918502"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2446666" y="2995692"/>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70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4" name="TextBox 23"/>
          <p:cNvSpPr txBox="1"/>
          <p:nvPr/>
        </p:nvSpPr>
        <p:spPr>
          <a:xfrm>
            <a:off x="4688529" y="3724991"/>
            <a:ext cx="807720" cy="276999"/>
          </a:xfrm>
          <a:prstGeom prst="rect">
            <a:avLst/>
          </a:prstGeom>
          <a:noFill/>
        </p:spPr>
        <p:txBody>
          <a:bodyPr wrap="square" rtlCol="0">
            <a:spAutoFit/>
          </a:bodyPr>
          <a:lstStyle/>
          <a:p>
            <a:r>
              <a:rPr lang="en-US" sz="1200" dirty="0">
                <a:latin typeface="Times New Roman" panose="02020603050405020304" pitchFamily="18" charset="0"/>
                <a:ea typeface="Tahoma" panose="020B0604030504040204" pitchFamily="34" charset="0"/>
                <a:cs typeface="Times New Roman" panose="02020603050405020304" pitchFamily="18" charset="0"/>
              </a:rPr>
              <a:t>25</a:t>
            </a:r>
            <a:r>
              <a:rPr lang="ru-RU" sz="1200" dirty="0">
                <a:latin typeface="Times New Roman" panose="02020603050405020304" pitchFamily="18" charset="0"/>
                <a:ea typeface="Tahoma" panose="020B0604030504040204" pitchFamily="34" charset="0"/>
                <a:cs typeface="Times New Roman" panose="02020603050405020304" pitchFamily="18" charset="0"/>
              </a:rPr>
              <a:t>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cxnSp>
        <p:nvCxnSpPr>
          <p:cNvPr id="25" name="Прямая соединительная линия 24"/>
          <p:cNvCxnSpPr/>
          <p:nvPr/>
        </p:nvCxnSpPr>
        <p:spPr>
          <a:xfrm flipH="1">
            <a:off x="3954356"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H="1">
            <a:off x="6022276" y="3068455"/>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H="1">
            <a:off x="1522547"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D479D87-544A-4FA4-BA06-D7B01FAB3C76}"/>
              </a:ext>
            </a:extLst>
          </p:cNvPr>
          <p:cNvSpPr txBox="1"/>
          <p:nvPr/>
        </p:nvSpPr>
        <p:spPr>
          <a:xfrm>
            <a:off x="1034178" y="1046632"/>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4651251" y="3356914"/>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0.5 </a:t>
            </a:r>
            <a:r>
              <a:rPr lang="ru-RU" sz="1200" dirty="0" err="1">
                <a:latin typeface="Times New Roman" panose="02020603050405020304" pitchFamily="18" charset="0"/>
                <a:ea typeface="Tahoma" panose="020B0604030504040204" pitchFamily="34" charset="0"/>
                <a:cs typeface="Times New Roman" panose="02020603050405020304" pitchFamily="18" charset="0"/>
              </a:rPr>
              <a:t>Гс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7D479D87-544A-4FA4-BA06-D7B01FAB3C76}"/>
              </a:ext>
            </a:extLst>
          </p:cNvPr>
          <p:cNvSpPr txBox="1"/>
          <p:nvPr/>
        </p:nvSpPr>
        <p:spPr>
          <a:xfrm>
            <a:off x="6794727" y="1084738"/>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E2B4286C-1033-4ED6-8922-95C7C36C5C82}"/>
              </a:ext>
            </a:extLst>
          </p:cNvPr>
          <p:cNvPicPr>
            <a:picLocks noChangeAspect="1"/>
          </p:cNvPicPr>
          <p:nvPr/>
        </p:nvPicPr>
        <p:blipFill>
          <a:blip r:embed="rId4"/>
          <a:stretch>
            <a:fillRect/>
          </a:stretch>
        </p:blipFill>
        <p:spPr>
          <a:xfrm>
            <a:off x="1574196" y="1431361"/>
            <a:ext cx="2212161" cy="1287988"/>
          </a:xfrm>
          <a:prstGeom prst="rect">
            <a:avLst/>
          </a:prstGeom>
        </p:spPr>
      </p:pic>
      <p:pic>
        <p:nvPicPr>
          <p:cNvPr id="11" name="Рисунок 10">
            <a:extLst>
              <a:ext uri="{FF2B5EF4-FFF2-40B4-BE49-F238E27FC236}">
                <a16:creationId xmlns:a16="http://schemas.microsoft.com/office/drawing/2014/main" id="{65C9107F-86E2-4F78-B853-DF8620913330}"/>
              </a:ext>
            </a:extLst>
          </p:cNvPr>
          <p:cNvPicPr>
            <a:picLocks noChangeAspect="1"/>
          </p:cNvPicPr>
          <p:nvPr/>
        </p:nvPicPr>
        <p:blipFill>
          <a:blip r:embed="rId5"/>
          <a:stretch>
            <a:fillRect/>
          </a:stretch>
        </p:blipFill>
        <p:spPr>
          <a:xfrm>
            <a:off x="4063132" y="1424455"/>
            <a:ext cx="2163487" cy="1347746"/>
          </a:xfrm>
          <a:prstGeom prst="rect">
            <a:avLst/>
          </a:prstGeom>
        </p:spPr>
      </p:pic>
      <p:sp>
        <p:nvSpPr>
          <p:cNvPr id="37" name="TextBox 36">
            <a:extLst>
              <a:ext uri="{FF2B5EF4-FFF2-40B4-BE49-F238E27FC236}">
                <a16:creationId xmlns:a16="http://schemas.microsoft.com/office/drawing/2014/main" id="{ACDD460A-11BF-4D35-82B4-53CC6CCB63DD}"/>
              </a:ext>
            </a:extLst>
          </p:cNvPr>
          <p:cNvSpPr txBox="1"/>
          <p:nvPr/>
        </p:nvSpPr>
        <p:spPr>
          <a:xfrm>
            <a:off x="11681926" y="6391158"/>
            <a:ext cx="510074" cy="307777"/>
          </a:xfrm>
          <a:prstGeom prst="rect">
            <a:avLst/>
          </a:prstGeom>
          <a:noFill/>
        </p:spPr>
        <p:txBody>
          <a:bodyPr wrap="square" rtlCol="0">
            <a:spAutoFit/>
          </a:bodyPr>
          <a:lstStyle/>
          <a:p>
            <a:r>
              <a:rPr lang="ru-RU" dirty="0"/>
              <a:t>8</a:t>
            </a:r>
          </a:p>
        </p:txBody>
      </p:sp>
      <p:sp>
        <p:nvSpPr>
          <p:cNvPr id="38" name="TextBox 37">
            <a:extLst>
              <a:ext uri="{FF2B5EF4-FFF2-40B4-BE49-F238E27FC236}">
                <a16:creationId xmlns:a16="http://schemas.microsoft.com/office/drawing/2014/main" id="{EC5D26EC-C1DB-444B-8ECC-DCAEF9CF4396}"/>
              </a:ext>
            </a:extLst>
          </p:cNvPr>
          <p:cNvSpPr txBox="1"/>
          <p:nvPr/>
        </p:nvSpPr>
        <p:spPr>
          <a:xfrm>
            <a:off x="7511091" y="4336498"/>
            <a:ext cx="5144071" cy="246221"/>
          </a:xfrm>
          <a:prstGeom prst="rect">
            <a:avLst/>
          </a:prstGeom>
          <a:noFill/>
        </p:spPr>
        <p:txBody>
          <a:bodyPr wrap="square" rtlCol="0">
            <a:spAutoFit/>
          </a:bodyPr>
          <a:lstStyle/>
          <a:p>
            <a:r>
              <a:rPr lang="ru-RU" sz="1000" dirty="0">
                <a:latin typeface="Century Gothic" panose="020B0502020202020204" pitchFamily="34" charset="0"/>
              </a:rPr>
              <a:t>Отстройка частоты рамановского излучения, </a:t>
            </a:r>
            <a:r>
              <a:rPr lang="en-US" sz="1000" dirty="0">
                <a:latin typeface="Century Gothic" panose="020B0502020202020204" pitchFamily="34" charset="0"/>
              </a:rPr>
              <a:t>[</a:t>
            </a:r>
            <a:r>
              <a:rPr lang="ru-RU" sz="1000" dirty="0">
                <a:latin typeface="Century Gothic" panose="020B0502020202020204" pitchFamily="34" charset="0"/>
              </a:rPr>
              <a:t>МГц</a:t>
            </a:r>
            <a:r>
              <a:rPr lang="en-US" sz="1000" dirty="0">
                <a:latin typeface="Century Gothic" panose="020B0502020202020204" pitchFamily="34" charset="0"/>
              </a:rPr>
              <a:t>]</a:t>
            </a:r>
            <a:r>
              <a:rPr lang="ru-RU" sz="1000" dirty="0">
                <a:latin typeface="Century Gothic" panose="020B0502020202020204" pitchFamily="34"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35EA3E-F613-FF7C-94F7-910FE459E0E9}"/>
              </a:ext>
            </a:extLst>
          </p:cNvPr>
          <p:cNvSpPr txBox="1"/>
          <p:nvPr/>
        </p:nvSpPr>
        <p:spPr>
          <a:xfrm>
            <a:off x="2895600" y="863600"/>
            <a:ext cx="5376333" cy="2031325"/>
          </a:xfrm>
          <a:prstGeom prst="rect">
            <a:avLst/>
          </a:prstGeom>
          <a:noFill/>
        </p:spPr>
        <p:txBody>
          <a:bodyPr wrap="square" rtlCol="0">
            <a:spAutoFit/>
          </a:bodyPr>
          <a:lstStyle/>
          <a:p>
            <a:r>
              <a:rPr lang="ru-RU" dirty="0"/>
              <a:t>Также была выполнена экспериментальная реализация данное схемы накачки. Экспериментальная последовательность оптической накачки показана на слайде слева. Справа же показан результат измерения населённостей (пики) магнитных подуровней до (красная кривая) и после (</a:t>
            </a:r>
            <a:r>
              <a:rPr lang="ru-RU" dirty="0" err="1"/>
              <a:t>синия</a:t>
            </a:r>
            <a:r>
              <a:rPr lang="ru-RU" dirty="0"/>
              <a:t> кривая) оптической накачки. После оптической накачки населённость немагнитного состояния выросла с 0.3 до более чем 0.95, а населённость магнитных состояний упала практически до 0.</a:t>
            </a:r>
          </a:p>
        </p:txBody>
      </p:sp>
    </p:spTree>
    <p:extLst>
      <p:ext uri="{BB962C8B-B14F-4D97-AF65-F5344CB8AC3E}">
        <p14:creationId xmlns:p14="http://schemas.microsoft.com/office/powerpoint/2010/main" val="324817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441;p41">
            <a:extLst>
              <a:ext uri="{FF2B5EF4-FFF2-40B4-BE49-F238E27FC236}">
                <a16:creationId xmlns:a16="http://schemas.microsoft.com/office/drawing/2014/main" id="{EBD5BC16-2C05-4F48-9860-17E97A3AC0B9}"/>
              </a:ext>
            </a:extLst>
          </p:cNvPr>
          <p:cNvPicPr preferRelativeResize="0"/>
          <p:nvPr/>
        </p:nvPicPr>
        <p:blipFill rotWithShape="1">
          <a:blip r:embed="rId2">
            <a:alphaModFix/>
          </a:blip>
          <a:srcRect t="7649"/>
          <a:stretch/>
        </p:blipFill>
        <p:spPr>
          <a:xfrm>
            <a:off x="6524767" y="1765465"/>
            <a:ext cx="3832083" cy="3008340"/>
          </a:xfrm>
          <a:prstGeom prst="rect">
            <a:avLst/>
          </a:prstGeom>
          <a:noFill/>
          <a:ln>
            <a:noFill/>
          </a:ln>
        </p:spPr>
      </p:pic>
      <p:sp>
        <p:nvSpPr>
          <p:cNvPr id="4" name="Google Shape;442;p41">
            <a:extLst>
              <a:ext uri="{FF2B5EF4-FFF2-40B4-BE49-F238E27FC236}">
                <a16:creationId xmlns:a16="http://schemas.microsoft.com/office/drawing/2014/main" id="{F153B16B-206B-47E6-91BB-9ABCF38CB307}"/>
              </a:ext>
            </a:extLst>
          </p:cNvPr>
          <p:cNvSpPr txBox="1"/>
          <p:nvPr/>
        </p:nvSpPr>
        <p:spPr>
          <a:xfrm>
            <a:off x="2304966" y="4870390"/>
            <a:ext cx="6793216"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Рис. 9. </a:t>
            </a:r>
            <a:r>
              <a:rPr lang="ru-RU" dirty="0">
                <a:latin typeface="Times New Roman"/>
                <a:ea typeface="Times New Roman"/>
                <a:cs typeface="Times New Roman"/>
                <a:sym typeface="Times New Roman"/>
              </a:rPr>
              <a:t>Изображение временной эволюции облака атомов  (а), и экспериментальная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ависимости квадрата размера облака холодных атомов (1/e) от квадрата времени свободного падения до и после оптической накачки в магнито-нечувствительное состояние (б).</a:t>
            </a:r>
            <a:endParaRPr dirty="0"/>
          </a:p>
        </p:txBody>
      </p:sp>
      <p:pic>
        <p:nvPicPr>
          <p:cNvPr id="5" name="Google Shape;127;p1" descr="https://lh7-rt.googleusercontent.com/slidesz/AGV_vUfQFYLtY2FjTQr7IFHzlkKBCHeyujkayVscmvM_ZtWrphAdXKCaLY60ZbpfLZg12jZAsRqQl4iqGW0lWkIEBozY5KtHbVxjFwlR49-6HQN-dGVIqjq8HAfU-aO2zNamebJymnukrX72YDnhLmvRxTU=s2048?key=P4lD9V1SCTzNB_8IaOOg0ZNi">
            <a:extLst>
              <a:ext uri="{FF2B5EF4-FFF2-40B4-BE49-F238E27FC236}">
                <a16:creationId xmlns:a16="http://schemas.microsoft.com/office/drawing/2014/main" id="{BC71BF39-5AEA-4F19-9B32-F7B8C639F700}"/>
              </a:ext>
            </a:extLst>
          </p:cNvPr>
          <p:cNvPicPr preferRelativeResize="0"/>
          <p:nvPr/>
        </p:nvPicPr>
        <p:blipFill rotWithShape="1">
          <a:blip r:embed="rId3">
            <a:alphaModFix/>
          </a:blip>
          <a:srcRect r="21099" b="5356"/>
          <a:stretch/>
        </p:blipFill>
        <p:spPr>
          <a:xfrm>
            <a:off x="1220392" y="1765465"/>
            <a:ext cx="4673599" cy="2166841"/>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1711A6-1744-407B-8346-FEF2A684FBF3}"/>
                  </a:ext>
                </a:extLst>
              </p:cNvPr>
              <p:cNvSpPr txBox="1"/>
              <p:nvPr/>
            </p:nvSpPr>
            <p:spPr>
              <a:xfrm>
                <a:off x="8284545" y="3733800"/>
                <a:ext cx="2185237" cy="310278"/>
              </a:xfrm>
              <a:prstGeom prst="rect">
                <a:avLst/>
              </a:prstGeom>
              <a:noFill/>
            </p:spPr>
            <p:txBody>
              <a:bodyPr wrap="square" lIns="0" tIns="0" rIns="0" bIns="0" rtlCol="0">
                <a:spAutoFit/>
              </a:bodyPr>
              <a:lstStyle/>
              <a:p>
                <a14:m>
                  <m:oMath xmlns:m="http://schemas.openxmlformats.org/officeDocument/2006/math">
                    <m:sSup>
                      <m:sSupPr>
                        <m:ctrlPr>
                          <a:rPr lang="ru-RU" b="0" i="1" smtClean="0">
                            <a:latin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𝜎</m:t>
                        </m:r>
                      </m:e>
                      <m:sup>
                        <m:r>
                          <a:rPr lang="ru-RU" b="0" i="1" smtClean="0">
                            <a:latin typeface="Cambria Math" panose="02040503050406030204" pitchFamily="18" charset="0"/>
                          </a:rPr>
                          <m:t>2</m:t>
                        </m:r>
                      </m:sup>
                    </m:sSup>
                    <m:r>
                      <a:rPr lang="ru-RU" b="0" i="1" smtClean="0">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ea typeface="Cambria Math" panose="02040503050406030204" pitchFamily="18" charset="0"/>
                          </a:rPr>
                          <m:t>𝜎</m:t>
                        </m:r>
                      </m:e>
                      <m:sup>
                        <m:r>
                          <a:rPr lang="ru-RU" i="1">
                            <a:latin typeface="Cambria Math" panose="02040503050406030204" pitchFamily="18" charset="0"/>
                          </a:rPr>
                          <m:t>2</m:t>
                        </m:r>
                      </m:sup>
                    </m:sSup>
                    <m:d>
                      <m:dPr>
                        <m:ctrlPr>
                          <a:rPr lang="ru-RU" b="0" i="1" smtClean="0">
                            <a:latin typeface="Cambria Math" panose="02040503050406030204" pitchFamily="18" charset="0"/>
                          </a:rPr>
                        </m:ctrlPr>
                      </m:dPr>
                      <m:e>
                        <m:r>
                          <a:rPr lang="ru-RU" b="0" i="1" smtClean="0">
                            <a:latin typeface="Cambria Math" panose="02040503050406030204" pitchFamily="18" charset="0"/>
                          </a:rPr>
                          <m:t>0</m:t>
                        </m:r>
                      </m:e>
                    </m:d>
                    <m:r>
                      <a:rPr lang="ru-RU" b="0" i="1" smtClean="0">
                        <a:latin typeface="Cambria Math" panose="02040503050406030204" pitchFamily="18" charset="0"/>
                      </a:rPr>
                      <m:t>+</m:t>
                    </m:r>
                    <m:f>
                      <m:fPr>
                        <m:ctrlPr>
                          <a:rPr lang="ru-RU" b="0" i="1" smtClean="0">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𝑏</m:t>
                            </m:r>
                          </m:sub>
                        </m:sSub>
                        <m:r>
                          <a:rPr lang="en-US" i="1">
                            <a:latin typeface="Cambria Math" panose="02040503050406030204" pitchFamily="18" charset="0"/>
                          </a:rPr>
                          <m:t>𝑇</m:t>
                        </m:r>
                      </m:num>
                      <m:den>
                        <m:r>
                          <a:rPr lang="en-US" b="0" i="1" smtClean="0">
                            <a:latin typeface="Cambria Math" panose="02040503050406030204" pitchFamily="18" charset="0"/>
                          </a:rPr>
                          <m:t>𝑚</m:t>
                        </m:r>
                      </m:den>
                    </m:f>
                  </m:oMath>
                </a14:m>
                <a:r>
                  <a:rPr lang="ru-RU" dirty="0"/>
                  <a:t> </a:t>
                </a:r>
                <a14:m>
                  <m:oMath xmlns:m="http://schemas.openxmlformats.org/officeDocument/2006/math">
                    <m:sSup>
                      <m:sSupPr>
                        <m:ctrlPr>
                          <a:rPr lang="ru-RU"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ru-RU" dirty="0"/>
              </a:p>
            </p:txBody>
          </p:sp>
        </mc:Choice>
        <mc:Fallback xmlns="">
          <p:sp>
            <p:nvSpPr>
              <p:cNvPr id="6" name="TextBox 5">
                <a:extLst>
                  <a:ext uri="{FF2B5EF4-FFF2-40B4-BE49-F238E27FC236}">
                    <a16:creationId xmlns:a16="http://schemas.microsoft.com/office/drawing/2014/main" id="{971711A6-1744-407B-8346-FEF2A684FBF3}"/>
                  </a:ext>
                </a:extLst>
              </p:cNvPr>
              <p:cNvSpPr txBox="1">
                <a:spLocks noRot="1" noChangeAspect="1" noMove="1" noResize="1" noEditPoints="1" noAdjustHandles="1" noChangeArrowheads="1" noChangeShapeType="1" noTextEdit="1"/>
              </p:cNvSpPr>
              <p:nvPr/>
            </p:nvSpPr>
            <p:spPr>
              <a:xfrm>
                <a:off x="8284545" y="3733800"/>
                <a:ext cx="2185237" cy="310278"/>
              </a:xfrm>
              <a:prstGeom prst="rect">
                <a:avLst/>
              </a:prstGeom>
              <a:blipFill>
                <a:blip r:embed="rId4"/>
                <a:stretch>
                  <a:fillRect l="-1955" b="-12000"/>
                </a:stretch>
              </a:blipFill>
            </p:spPr>
            <p:txBody>
              <a:bodyPr/>
              <a:lstStyle/>
              <a:p>
                <a:r>
                  <a:rPr lang="ru-RU">
                    <a:noFill/>
                  </a:rPr>
                  <a:t> </a:t>
                </a:r>
              </a:p>
            </p:txBody>
          </p:sp>
        </mc:Fallback>
      </mc:AlternateContent>
      <p:sp>
        <p:nvSpPr>
          <p:cNvPr id="7" name="Google Shape;233;p24">
            <a:extLst>
              <a:ext uri="{FF2B5EF4-FFF2-40B4-BE49-F238E27FC236}">
                <a16:creationId xmlns:a16="http://schemas.microsoft.com/office/drawing/2014/main" id="{8E6AD891-851D-4A07-A31D-5F7A366E551C}"/>
              </a:ext>
            </a:extLst>
          </p:cNvPr>
          <p:cNvSpPr txBox="1"/>
          <p:nvPr/>
        </p:nvSpPr>
        <p:spPr>
          <a:xfrm>
            <a:off x="4933354" y="802731"/>
            <a:ext cx="242689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2400" b="1" i="0" u="none" strike="noStrike" cap="none" dirty="0">
                <a:solidFill>
                  <a:srgbClr val="000000"/>
                </a:solidFill>
                <a:latin typeface="Times New Roman"/>
                <a:ea typeface="Times New Roman"/>
                <a:cs typeface="Times New Roman"/>
                <a:sym typeface="Times New Roman"/>
              </a:rPr>
              <a:t>Time-</a:t>
            </a:r>
            <a:r>
              <a:rPr lang="ru-RU" sz="2400" b="1" i="0" u="none" strike="noStrike" cap="none" dirty="0" err="1">
                <a:solidFill>
                  <a:srgbClr val="000000"/>
                </a:solidFill>
                <a:latin typeface="Times New Roman"/>
                <a:ea typeface="Times New Roman"/>
                <a:cs typeface="Times New Roman"/>
                <a:sym typeface="Times New Roman"/>
              </a:rPr>
              <a:t>of</a:t>
            </a:r>
            <a:r>
              <a:rPr lang="ru-RU" sz="2400" b="1" i="0" u="none" strike="noStrike" cap="none" dirty="0">
                <a:solidFill>
                  <a:srgbClr val="000000"/>
                </a:solidFill>
                <a:latin typeface="Times New Roman"/>
                <a:ea typeface="Times New Roman"/>
                <a:cs typeface="Times New Roman"/>
                <a:sym typeface="Times New Roman"/>
              </a:rPr>
              <a:t>-</a:t>
            </a:r>
            <a:r>
              <a:rPr lang="ru-RU" sz="2400" b="1" i="0" u="none" strike="noStrike" cap="none" dirty="0" err="1">
                <a:solidFill>
                  <a:srgbClr val="000000"/>
                </a:solidFill>
                <a:latin typeface="Times New Roman"/>
                <a:ea typeface="Times New Roman"/>
                <a:cs typeface="Times New Roman"/>
                <a:sym typeface="Times New Roman"/>
              </a:rPr>
              <a:t>flight</a:t>
            </a:r>
            <a:r>
              <a:rPr lang="ru-RU" sz="2400" b="1" i="0" u="none" strike="noStrike" cap="none" dirty="0">
                <a:solidFill>
                  <a:srgbClr val="000000"/>
                </a:solidFill>
                <a:latin typeface="Times New Roman"/>
                <a:ea typeface="Times New Roman"/>
                <a:cs typeface="Times New Roman"/>
                <a:sym typeface="Times New Roman"/>
              </a:rPr>
              <a:t>:</a:t>
            </a:r>
            <a:endParaRPr sz="2400" b="1" i="0" u="none" strike="noStrike" cap="none" dirty="0">
              <a:solidFill>
                <a:srgbClr val="000000"/>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id="{7D479D87-544A-4FA4-BA06-D7B01FAB3C76}"/>
              </a:ext>
            </a:extLst>
          </p:cNvPr>
          <p:cNvSpPr txBox="1"/>
          <p:nvPr/>
        </p:nvSpPr>
        <p:spPr>
          <a:xfrm>
            <a:off x="1063699"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75955D3-509D-4D02-B799-756F1560F9D5}"/>
              </a:ext>
            </a:extLst>
          </p:cNvPr>
          <p:cNvSpPr txBox="1"/>
          <p:nvPr/>
        </p:nvSpPr>
        <p:spPr>
          <a:xfrm>
            <a:off x="6354685"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0" name="Google Shape;438;p41">
            <a:extLst>
              <a:ext uri="{FF2B5EF4-FFF2-40B4-BE49-F238E27FC236}">
                <a16:creationId xmlns:a16="http://schemas.microsoft.com/office/drawing/2014/main" id="{9F6DF20E-0EBF-46A5-BE99-0FBFFA90B945}"/>
              </a:ext>
            </a:extLst>
          </p:cNvPr>
          <p:cNvSpPr/>
          <p:nvPr/>
        </p:nvSpPr>
        <p:spPr>
          <a:xfrm>
            <a:off x="1903454" y="122102"/>
            <a:ext cx="7585131" cy="39511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Нагрев вследствие</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2D3CF238-36AA-4DCF-8C45-8041EC38BEF3}"/>
              </a:ext>
            </a:extLst>
          </p:cNvPr>
          <p:cNvSpPr txBox="1"/>
          <p:nvPr/>
        </p:nvSpPr>
        <p:spPr>
          <a:xfrm>
            <a:off x="11681926" y="6408575"/>
            <a:ext cx="510074" cy="307777"/>
          </a:xfrm>
          <a:prstGeom prst="rect">
            <a:avLst/>
          </a:prstGeom>
          <a:noFill/>
        </p:spPr>
        <p:txBody>
          <a:bodyPr wrap="square" rtlCol="0">
            <a:spAutoFit/>
          </a:bodyPr>
          <a:lstStyle/>
          <a:p>
            <a:r>
              <a:rPr lang="ru-RU" dirty="0"/>
              <a:t>9</a:t>
            </a:r>
            <a:endParaRPr lang="en-US" dirty="0"/>
          </a:p>
        </p:txBody>
      </p:sp>
    </p:spTree>
    <p:extLst>
      <p:ext uri="{BB962C8B-B14F-4D97-AF65-F5344CB8AC3E}">
        <p14:creationId xmlns:p14="http://schemas.microsoft.com/office/powerpoint/2010/main" val="3960691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2D304F-8DDB-E611-688F-42B739FA1EC1}"/>
              </a:ext>
            </a:extLst>
          </p:cNvPr>
          <p:cNvSpPr txBox="1"/>
          <p:nvPr/>
        </p:nvSpPr>
        <p:spPr>
          <a:xfrm>
            <a:off x="2980267" y="948267"/>
            <a:ext cx="5283200" cy="1169551"/>
          </a:xfrm>
          <a:prstGeom prst="rect">
            <a:avLst/>
          </a:prstGeom>
          <a:noFill/>
        </p:spPr>
        <p:txBody>
          <a:bodyPr wrap="square" rtlCol="0">
            <a:spAutoFit/>
          </a:bodyPr>
          <a:lstStyle/>
          <a:p>
            <a:r>
              <a:rPr lang="ru-RU" dirty="0"/>
              <a:t>С помощью </a:t>
            </a:r>
            <a:r>
              <a:rPr lang="en-US" dirty="0"/>
              <a:t>time-of-flight </a:t>
            </a:r>
            <a:r>
              <a:rPr lang="ru-RU" dirty="0"/>
              <a:t>методики была измерения температура облака атомов до и после оптической накачки. Температура из-за оптической накачка выросла на 1 </a:t>
            </a:r>
            <a:r>
              <a:rPr lang="ru-RU" dirty="0" err="1"/>
              <a:t>мкК</a:t>
            </a:r>
            <a:r>
              <a:rPr lang="ru-RU" dirty="0"/>
              <a:t>, как показано на рисунке справа, что согласуется с результатами моделирования.</a:t>
            </a:r>
          </a:p>
        </p:txBody>
      </p:sp>
    </p:spTree>
    <p:extLst>
      <p:ext uri="{BB962C8B-B14F-4D97-AF65-F5344CB8AC3E}">
        <p14:creationId xmlns:p14="http://schemas.microsoft.com/office/powerpoint/2010/main" val="3642175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Рисунок 42">
            <a:extLst>
              <a:ext uri="{FF2B5EF4-FFF2-40B4-BE49-F238E27FC236}">
                <a16:creationId xmlns:a16="http://schemas.microsoft.com/office/drawing/2014/main" id="{669106B0-9619-2660-610E-CC37F6EF9735}"/>
              </a:ext>
            </a:extLst>
          </p:cNvPr>
          <p:cNvPicPr>
            <a:picLocks noChangeAspect="1"/>
          </p:cNvPicPr>
          <p:nvPr/>
        </p:nvPicPr>
        <p:blipFill>
          <a:blip r:embed="rId2"/>
          <a:stretch>
            <a:fillRect/>
          </a:stretch>
        </p:blipFill>
        <p:spPr>
          <a:xfrm>
            <a:off x="85805" y="1258091"/>
            <a:ext cx="5633530" cy="4229563"/>
          </a:xfrm>
          <a:prstGeom prst="rect">
            <a:avLst/>
          </a:prstGeom>
        </p:spPr>
      </p:pic>
      <p:sp>
        <p:nvSpPr>
          <p:cNvPr id="2" name="Google Shape;438;p41">
            <a:extLst>
              <a:ext uri="{FF2B5EF4-FFF2-40B4-BE49-F238E27FC236}">
                <a16:creationId xmlns:a16="http://schemas.microsoft.com/office/drawing/2014/main" id="{52BC617F-5E2D-4580-9506-94A652B0244A}"/>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49" name="Прямоугольник 48"/>
          <p:cNvSpPr/>
          <p:nvPr/>
        </p:nvSpPr>
        <p:spPr>
          <a:xfrm>
            <a:off x="3048000" y="5972475"/>
            <a:ext cx="6096000" cy="738664"/>
          </a:xfrm>
          <a:prstGeom prst="rect">
            <a:avLst/>
          </a:prstGeom>
        </p:spPr>
        <p:txBody>
          <a:bodyPr>
            <a:spAutoFit/>
          </a:bodyPr>
          <a:lstStyle/>
          <a:p>
            <a:pPr algn="ctr"/>
            <a:r>
              <a:rPr lang="ru-RU" dirty="0">
                <a:latin typeface="Times New Roman" panose="02020603050405020304" pitchFamily="18" charset="0"/>
                <a:cs typeface="Times New Roman" panose="02020603050405020304" pitchFamily="18" charset="0"/>
              </a:rPr>
              <a:t>Рис. . Экспериментальная последовательность рамановских импульсов и схема чирпирования частоты рамановского излучения (а), схема детектирования атомов (б).</a:t>
            </a:r>
          </a:p>
        </p:txBody>
      </p:sp>
      <p:sp>
        <p:nvSpPr>
          <p:cNvPr id="51" name="TextBox 50">
            <a:extLst>
              <a:ext uri="{FF2B5EF4-FFF2-40B4-BE49-F238E27FC236}">
                <a16:creationId xmlns:a16="http://schemas.microsoft.com/office/drawing/2014/main" id="{7D479D87-544A-4FA4-BA06-D7B01FAB3C76}"/>
              </a:ext>
            </a:extLst>
          </p:cNvPr>
          <p:cNvSpPr txBox="1"/>
          <p:nvPr/>
        </p:nvSpPr>
        <p:spPr>
          <a:xfrm>
            <a:off x="673366"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4AF22725-24E1-4D71-A1C2-667222AA1559}"/>
              </a:ext>
            </a:extLst>
          </p:cNvPr>
          <p:cNvSpPr txBox="1"/>
          <p:nvPr/>
        </p:nvSpPr>
        <p:spPr>
          <a:xfrm>
            <a:off x="11681926" y="6408575"/>
            <a:ext cx="510074" cy="307777"/>
          </a:xfrm>
          <a:prstGeom prst="rect">
            <a:avLst/>
          </a:prstGeom>
          <a:noFill/>
        </p:spPr>
        <p:txBody>
          <a:bodyPr wrap="square" rtlCol="0">
            <a:spAutoFit/>
          </a:bodyPr>
          <a:lstStyle/>
          <a:p>
            <a:r>
              <a:rPr lang="ru-RU" dirty="0"/>
              <a:t>10</a:t>
            </a:r>
            <a:endParaRPr lang="en-US" dirty="0"/>
          </a:p>
        </p:txBody>
      </p:sp>
      <p:sp>
        <p:nvSpPr>
          <p:cNvPr id="14" name="TextBox 13">
            <a:extLst>
              <a:ext uri="{FF2B5EF4-FFF2-40B4-BE49-F238E27FC236}">
                <a16:creationId xmlns:a16="http://schemas.microsoft.com/office/drawing/2014/main" id="{F621DB70-2DE0-B84B-4885-33F99F2FE7AC}"/>
              </a:ext>
            </a:extLst>
          </p:cNvPr>
          <p:cNvSpPr txBox="1"/>
          <p:nvPr/>
        </p:nvSpPr>
        <p:spPr>
          <a:xfrm>
            <a:off x="6483633"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rotWithShape="1">
          <a:blip r:embed="rId3"/>
          <a:srcRect t="2021" b="1272"/>
          <a:stretch/>
        </p:blipFill>
        <p:spPr>
          <a:xfrm>
            <a:off x="7323388" y="852599"/>
            <a:ext cx="3956539" cy="4877465"/>
          </a:xfrm>
          <a:prstGeom prst="rect">
            <a:avLst/>
          </a:prstGeom>
        </p:spPr>
      </p:pic>
    </p:spTree>
    <p:extLst>
      <p:ext uri="{BB962C8B-B14F-4D97-AF65-F5344CB8AC3E}">
        <p14:creationId xmlns:p14="http://schemas.microsoft.com/office/powerpoint/2010/main" val="3957117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C3C23-5484-E6C2-C496-D1AEE14CC72F}"/>
              </a:ext>
            </a:extLst>
          </p:cNvPr>
          <p:cNvSpPr txBox="1"/>
          <p:nvPr/>
        </p:nvSpPr>
        <p:spPr>
          <a:xfrm>
            <a:off x="2607733" y="863600"/>
            <a:ext cx="5808134" cy="2893100"/>
          </a:xfrm>
          <a:prstGeom prst="rect">
            <a:avLst/>
          </a:prstGeom>
          <a:noFill/>
        </p:spPr>
        <p:txBody>
          <a:bodyPr wrap="square" rtlCol="0">
            <a:spAutoFit/>
          </a:bodyPr>
          <a:lstStyle/>
          <a:p>
            <a:r>
              <a:rPr lang="ru-RU" dirty="0"/>
              <a:t>Также в работе была выполнено регистрация сигнала атомного интерферометра по приведённой на данной слайде схеме. Слева показана временная экспериментальная последовательность регистрация, а справа схема детектирования атомов.</a:t>
            </a:r>
          </a:p>
          <a:p>
            <a:endParaRPr lang="ru-RU" dirty="0"/>
          </a:p>
          <a:p>
            <a:r>
              <a:rPr lang="ru-RU" dirty="0"/>
              <a:t>После атомной интерференции атомы в светлом состоянии </a:t>
            </a:r>
            <a:r>
              <a:rPr lang="en-US" dirty="0"/>
              <a:t>F = 2</a:t>
            </a:r>
            <a:r>
              <a:rPr lang="ru-RU" dirty="0"/>
              <a:t> подсвечиваются и регистрируется их сигнал с помощью первой камеры, после этого все атомы оказываются в тёмном состоянии </a:t>
            </a:r>
            <a:r>
              <a:rPr lang="en-US" dirty="0"/>
              <a:t>F = 1, </a:t>
            </a:r>
            <a:r>
              <a:rPr lang="ru-RU" dirty="0"/>
              <a:t>далее из этого тёмного состояния атомы перекачиваются в светлое с помощью перекачивающего излучения, и после чего вновь подсвечиваются резонансным излучением 2-3</a:t>
            </a:r>
            <a:r>
              <a:rPr lang="en-US" dirty="0"/>
              <a:t>’, </a:t>
            </a:r>
            <a:r>
              <a:rPr lang="ru-RU" dirty="0"/>
              <a:t>что позволяет получить полное количество атомов и произвести нормировку сигнала.</a:t>
            </a:r>
          </a:p>
        </p:txBody>
      </p:sp>
    </p:spTree>
    <p:extLst>
      <p:ext uri="{BB962C8B-B14F-4D97-AF65-F5344CB8AC3E}">
        <p14:creationId xmlns:p14="http://schemas.microsoft.com/office/powerpoint/2010/main" val="1629323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C0795E4E-07A3-0C68-A2F4-A4D330BBC3DD}"/>
              </a:ext>
            </a:extLst>
          </p:cNvPr>
          <p:cNvPicPr>
            <a:picLocks noChangeAspect="1"/>
          </p:cNvPicPr>
          <p:nvPr/>
        </p:nvPicPr>
        <p:blipFill>
          <a:blip r:embed="rId2"/>
          <a:srcRect l="6602" t="9063" r="5275" b="3240"/>
          <a:stretch/>
        </p:blipFill>
        <p:spPr>
          <a:xfrm>
            <a:off x="3742267" y="1326378"/>
            <a:ext cx="3562871" cy="3262555"/>
          </a:xfrm>
          <a:prstGeom prst="rect">
            <a:avLst/>
          </a:prstGeom>
        </p:spPr>
      </p:pic>
      <p:pic>
        <p:nvPicPr>
          <p:cNvPr id="5" name="Рисунок 4">
            <a:extLst>
              <a:ext uri="{FF2B5EF4-FFF2-40B4-BE49-F238E27FC236}">
                <a16:creationId xmlns:a16="http://schemas.microsoft.com/office/drawing/2014/main" id="{DE49EA7A-594C-4C5E-A996-39C565AC1A5B}"/>
              </a:ext>
            </a:extLst>
          </p:cNvPr>
          <p:cNvPicPr>
            <a:picLocks noChangeAspect="1"/>
          </p:cNvPicPr>
          <p:nvPr/>
        </p:nvPicPr>
        <p:blipFill>
          <a:blip r:embed="rId3"/>
          <a:srcRect l="6783" t="7199" r="3691" b="4753"/>
          <a:stretch/>
        </p:blipFill>
        <p:spPr>
          <a:xfrm>
            <a:off x="7305139" y="1176867"/>
            <a:ext cx="3286662" cy="3327400"/>
          </a:xfrm>
          <a:prstGeom prst="rect">
            <a:avLst/>
          </a:prstGeom>
        </p:spPr>
      </p:pic>
      <p:sp>
        <p:nvSpPr>
          <p:cNvPr id="2" name="Google Shape;438;p41">
            <a:extLst>
              <a:ext uri="{FF2B5EF4-FFF2-40B4-BE49-F238E27FC236}">
                <a16:creationId xmlns:a16="http://schemas.microsoft.com/office/drawing/2014/main" id="{3000FCD4-85EE-457A-83FB-C6C8399B520D}"/>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345B9989-4C10-432B-8594-3E58550995F7}"/>
              </a:ext>
            </a:extLst>
          </p:cNvPr>
          <p:cNvSpPr txBox="1"/>
          <p:nvPr/>
        </p:nvSpPr>
        <p:spPr>
          <a:xfrm>
            <a:off x="11681926" y="6408575"/>
            <a:ext cx="510074" cy="307777"/>
          </a:xfrm>
          <a:prstGeom prst="rect">
            <a:avLst/>
          </a:prstGeom>
          <a:noFill/>
        </p:spPr>
        <p:txBody>
          <a:bodyPr wrap="square" rtlCol="0">
            <a:spAutoFit/>
          </a:bodyPr>
          <a:lstStyle/>
          <a:p>
            <a:r>
              <a:rPr lang="ru-RU" dirty="0"/>
              <a:t>11</a:t>
            </a:r>
            <a:endParaRPr lang="en-US" dirty="0"/>
          </a:p>
        </p:txBody>
      </p:sp>
      <p:sp>
        <p:nvSpPr>
          <p:cNvPr id="19" name="TextBox 18">
            <a:extLst>
              <a:ext uri="{FF2B5EF4-FFF2-40B4-BE49-F238E27FC236}">
                <a16:creationId xmlns:a16="http://schemas.microsoft.com/office/drawing/2014/main" id="{E9968B14-1908-46A4-93D4-2D88AF236BC1}"/>
              </a:ext>
            </a:extLst>
          </p:cNvPr>
          <p:cNvSpPr txBox="1"/>
          <p:nvPr/>
        </p:nvSpPr>
        <p:spPr>
          <a:xfrm>
            <a:off x="2679108" y="4738444"/>
            <a:ext cx="8486149" cy="738664"/>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Сигнал атомной интерференции, полученный при сканировании скорости чирпирования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слева</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и зависимость стандартного отклонения </a:t>
            </a:r>
            <a:r>
              <a:rPr lang="ru-RU" dirty="0" err="1">
                <a:latin typeface="Times New Roman" panose="02020603050405020304" pitchFamily="18" charset="0"/>
                <a:cs typeface="Times New Roman" panose="02020603050405020304" pitchFamily="18" charset="0"/>
              </a:rPr>
              <a:t>σ</a:t>
            </a:r>
            <a:r>
              <a:rPr lang="ru-RU" baseline="-25000" dirty="0" err="1">
                <a:latin typeface="Times New Roman" panose="02020603050405020304" pitchFamily="18" charset="0"/>
                <a:cs typeface="Times New Roman" panose="02020603050405020304" pitchFamily="18" charset="0"/>
              </a:rPr>
              <a:t>g</a:t>
            </a:r>
            <a:r>
              <a:rPr lang="ru-RU" dirty="0">
                <a:latin typeface="Times New Roman" panose="02020603050405020304" pitchFamily="18" charset="0"/>
                <a:cs typeface="Times New Roman" panose="02020603050405020304" pitchFamily="18" charset="0"/>
              </a:rPr>
              <a:t> измерений</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гравитационного ускорения от времени усреднения (справа).</a:t>
            </a:r>
            <a:endParaRPr 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842DF5-87AF-4AFA-A45C-0EC2908FA86D}"/>
                  </a:ext>
                </a:extLst>
              </p:cNvPr>
              <p:cNvSpPr txBox="1"/>
              <p:nvPr/>
            </p:nvSpPr>
            <p:spPr>
              <a:xfrm>
                <a:off x="1132724" y="2969700"/>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0" name="TextBox 19">
                <a:extLst>
                  <a:ext uri="{FF2B5EF4-FFF2-40B4-BE49-F238E27FC236}">
                    <a16:creationId xmlns:a16="http://schemas.microsoft.com/office/drawing/2014/main" id="{21842DF5-87AF-4AFA-A45C-0EC2908FA86D}"/>
                  </a:ext>
                </a:extLst>
              </p:cNvPr>
              <p:cNvSpPr txBox="1">
                <a:spLocks noRot="1" noChangeAspect="1" noMove="1" noResize="1" noEditPoints="1" noAdjustHandles="1" noChangeArrowheads="1" noChangeShapeType="1" noTextEdit="1"/>
              </p:cNvSpPr>
              <p:nvPr/>
            </p:nvSpPr>
            <p:spPr>
              <a:xfrm>
                <a:off x="1132724" y="2969700"/>
                <a:ext cx="2050754" cy="626325"/>
              </a:xfrm>
              <a:prstGeom prst="rect">
                <a:avLst/>
              </a:prstGeom>
              <a:blipFill>
                <a:blip r:embed="rId4"/>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E1332E-B1D6-4008-82C1-20AC426FB8D6}"/>
                  </a:ext>
                </a:extLst>
              </p:cNvPr>
              <p:cNvSpPr txBox="1"/>
              <p:nvPr/>
            </p:nvSpPr>
            <p:spPr>
              <a:xfrm>
                <a:off x="784513" y="2094241"/>
                <a:ext cx="2647969" cy="397096"/>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21" name="TextBox 20">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784513" y="2094241"/>
                <a:ext cx="2647969" cy="397096"/>
              </a:xfrm>
              <a:prstGeom prst="rect">
                <a:avLst/>
              </a:prstGeom>
              <a:blipFill>
                <a:blip r:embed="rId5"/>
                <a:stretch>
                  <a:fillRect b="-4286"/>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341804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B5F04-FCBC-5209-434E-27F2C7DED54B}"/>
              </a:ext>
            </a:extLst>
          </p:cNvPr>
          <p:cNvSpPr txBox="1"/>
          <p:nvPr/>
        </p:nvSpPr>
        <p:spPr>
          <a:xfrm>
            <a:off x="3564467" y="1193800"/>
            <a:ext cx="5808133" cy="1169551"/>
          </a:xfrm>
          <a:prstGeom prst="rect">
            <a:avLst/>
          </a:prstGeom>
          <a:noFill/>
        </p:spPr>
        <p:txBody>
          <a:bodyPr wrap="square" rtlCol="0">
            <a:spAutoFit/>
          </a:bodyPr>
          <a:lstStyle/>
          <a:p>
            <a:r>
              <a:rPr lang="ru-RU" dirty="0"/>
              <a:t>На данном же слайде представлены результате регистрации сигнала атомного </a:t>
            </a:r>
            <a:r>
              <a:rPr lang="ru-RU" dirty="0" err="1"/>
              <a:t>интерферомтера</a:t>
            </a:r>
            <a:r>
              <a:rPr lang="ru-RU" dirty="0"/>
              <a:t>. Ранее чувствительность гравиметра составляла 38.5 </a:t>
            </a:r>
            <a:r>
              <a:rPr lang="ru-RU" dirty="0" err="1"/>
              <a:t>мГал</a:t>
            </a:r>
            <a:r>
              <a:rPr lang="en-US" dirty="0"/>
              <a:t>/</a:t>
            </a:r>
            <a:r>
              <a:rPr lang="ru-RU" dirty="0"/>
              <a:t>Гц</a:t>
            </a:r>
            <a:r>
              <a:rPr lang="en-US" dirty="0"/>
              <a:t>^1/2, </a:t>
            </a:r>
            <a:r>
              <a:rPr lang="ru-RU" dirty="0"/>
              <a:t>сейчас же, после внедрения в цикл оптической накачки и других процедур чувствительность выросла до 5.2 </a:t>
            </a:r>
            <a:r>
              <a:rPr lang="ru-RU" dirty="0" err="1"/>
              <a:t>мГал</a:t>
            </a:r>
            <a:r>
              <a:rPr lang="en-US" dirty="0"/>
              <a:t>/</a:t>
            </a:r>
            <a:r>
              <a:rPr lang="ru-RU" dirty="0"/>
              <a:t>Гц</a:t>
            </a:r>
            <a:r>
              <a:rPr lang="en-US" dirty="0"/>
              <a:t>^1/2</a:t>
            </a:r>
            <a:r>
              <a:rPr lang="ru-RU" dirty="0"/>
              <a:t> (правый рисунок).</a:t>
            </a:r>
          </a:p>
        </p:txBody>
      </p:sp>
    </p:spTree>
    <p:extLst>
      <p:ext uri="{BB962C8B-B14F-4D97-AF65-F5344CB8AC3E}">
        <p14:creationId xmlns:p14="http://schemas.microsoft.com/office/powerpoint/2010/main" val="1512807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3"/>
          <a:srcRect t="4191"/>
          <a:stretch/>
        </p:blipFill>
        <p:spPr>
          <a:xfrm>
            <a:off x="2313708" y="915605"/>
            <a:ext cx="911540" cy="2203764"/>
          </a:xfrm>
          <a:prstGeom prst="rect">
            <a:avLst/>
          </a:prstGeom>
        </p:spPr>
      </p:pic>
      <p:pic>
        <p:nvPicPr>
          <p:cNvPr id="58" name="Рисунок 57">
            <a:extLst>
              <a:ext uri="{FF2B5EF4-FFF2-40B4-BE49-F238E27FC236}">
                <a16:creationId xmlns:a16="http://schemas.microsoft.com/office/drawing/2014/main" id="{D6D133B6-FCC8-4C58-A203-3759379D37EE}"/>
              </a:ext>
            </a:extLst>
          </p:cNvPr>
          <p:cNvPicPr>
            <a:picLocks noChangeAspect="1"/>
          </p:cNvPicPr>
          <p:nvPr/>
        </p:nvPicPr>
        <p:blipFill rotWithShape="1">
          <a:blip r:embed="rId4"/>
          <a:srcRect l="9363" t="10044" r="6469" b="9599"/>
          <a:stretch/>
        </p:blipFill>
        <p:spPr>
          <a:xfrm>
            <a:off x="8345660" y="1143528"/>
            <a:ext cx="3263240" cy="2355310"/>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Влияние вибрационных возмущений</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1633025" y="4793634"/>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7971039" y="75798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2361163" y="5213896"/>
                <a:ext cx="3198953" cy="363241"/>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600" i="1" dirty="0" smtClean="0">
                          <a:latin typeface="Cambria Math" panose="02040503050406030204" pitchFamily="18" charset="0"/>
                          <a:sym typeface="Symbol"/>
                        </a:rPr>
                        <m:t></m:t>
                      </m:r>
                      <m:r>
                        <a:rPr lang="ru-RU" sz="1600" i="1" dirty="0" smtClean="0">
                          <a:latin typeface="Cambria Math" panose="02040503050406030204" pitchFamily="18" charset="0"/>
                        </a:rPr>
                        <m:t>Ф=</m:t>
                      </m:r>
                      <m:sSub>
                        <m:sSubPr>
                          <m:ctrlPr>
                            <a:rPr lang="en-US" sz="1600" b="0" i="1" dirty="0" smtClean="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b="0" i="1" dirty="0" smtClean="0">
                              <a:latin typeface="Cambria Math" panose="02040503050406030204" pitchFamily="18" charset="0"/>
                            </a:rPr>
                            <m:t>−</m:t>
                          </m:r>
                          <m:r>
                            <a:rPr lang="en-US" sz="1600" b="0" i="1" dirty="0" smtClean="0">
                              <a:latin typeface="Cambria Math" panose="02040503050406030204" pitchFamily="18" charset="0"/>
                            </a:rPr>
                            <m:t>𝑘</m:t>
                          </m:r>
                        </m:e>
                        <m:sub>
                          <m:r>
                            <a:rPr lang="en-US" sz="1600" b="0" i="1" dirty="0" smtClean="0">
                              <a:latin typeface="Cambria Math" panose="02040503050406030204" pitchFamily="18" charset="0"/>
                            </a:rPr>
                            <m:t>𝑒𝑓𝑓</m:t>
                          </m:r>
                        </m:sub>
                      </m:sSub>
                      <m:r>
                        <a:rPr lang="en-US" sz="1600" i="1" dirty="0" smtClean="0">
                          <a:latin typeface="Cambria Math" panose="02040503050406030204" pitchFamily="18" charset="0"/>
                        </a:rPr>
                        <m:t>𝑔</m:t>
                      </m:r>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𝑇</m:t>
                          </m:r>
                        </m:e>
                        <m:sup>
                          <m:r>
                            <a:rPr lang="en-US" sz="1600" b="0" i="1" dirty="0" smtClean="0">
                              <a:latin typeface="Cambria Math" panose="02040503050406030204" pitchFamily="18" charset="0"/>
                            </a:rPr>
                            <m:t>2</m:t>
                          </m:r>
                        </m:sup>
                      </m:sSup>
                      <m:r>
                        <a:rPr lang="ru-RU" sz="1600" b="0" i="1" dirty="0" smtClean="0">
                          <a:latin typeface="Cambria Math" panose="02040503050406030204" pitchFamily="18" charset="0"/>
                        </a:rPr>
                        <m:t>+ </m:t>
                      </m:r>
                      <m:sSub>
                        <m:sSubPr>
                          <m:ctrlPr>
                            <a:rPr lang="ru-RU" sz="1600" b="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b="0" i="1" dirty="0" smtClean="0">
                              <a:solidFill>
                                <a:schemeClr val="tx1"/>
                              </a:solidFill>
                              <a:latin typeface="Cambria Math" panose="02040503050406030204" pitchFamily="18" charset="0"/>
                            </a:rPr>
                            <m:t>виб</m:t>
                          </m:r>
                        </m:sub>
                      </m:sSub>
                      <m:r>
                        <a:rPr lang="ru-RU" sz="1600" b="0" i="1" dirty="0" smtClean="0">
                          <a:solidFill>
                            <a:schemeClr val="tx1"/>
                          </a:solidFill>
                          <a:latin typeface="Cambria Math" panose="02040503050406030204" pitchFamily="18" charset="0"/>
                        </a:rPr>
                        <m:t>,</m:t>
                      </m:r>
                    </m:oMath>
                  </m:oMathPara>
                </a14:m>
                <a:endParaRPr lang="ru-RU" sz="1600" dirty="0"/>
              </a:p>
            </p:txBody>
          </p:sp>
        </mc:Choice>
        <mc:Fallback xmlns="">
          <p:sp>
            <p:nvSpPr>
              <p:cNvPr id="15" name="TextBox 14">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2361163" y="5213896"/>
                <a:ext cx="3198953" cy="363241"/>
              </a:xfrm>
              <a:prstGeom prst="rect">
                <a:avLst/>
              </a:prstGeom>
              <a:blipFill rotWithShape="0">
                <a:blip r:embed="rId5"/>
                <a:stretch>
                  <a:fillRect b="-5000"/>
                </a:stretch>
              </a:blipFill>
              <a:ln w="28575">
                <a:noFill/>
              </a:ln>
            </p:spPr>
            <p:txBody>
              <a:bodyPr/>
              <a:lstStyle/>
              <a:p>
                <a:r>
                  <a:rPr lang="ru-RU">
                    <a:noFill/>
                  </a:rPr>
                  <a:t> </a:t>
                </a:r>
              </a:p>
            </p:txBody>
          </p:sp>
        </mc:Fallback>
      </mc:AlternateContent>
      <p:sp>
        <p:nvSpPr>
          <p:cNvPr id="16" name="TextBox 15"/>
          <p:cNvSpPr txBox="1"/>
          <p:nvPr/>
        </p:nvSpPr>
        <p:spPr>
          <a:xfrm>
            <a:off x="2232454" y="5630107"/>
            <a:ext cx="4185346"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 </a:t>
            </a:r>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 </a:t>
            </a:r>
            <a:r>
              <a:rPr lang="ru-RU" sz="1600" dirty="0" err="1">
                <a:latin typeface="Times New Roman" panose="02020603050405020304" pitchFamily="18" charset="0"/>
                <a:cs typeface="Times New Roman" panose="02020603050405020304" pitchFamily="18" charset="0"/>
              </a:rPr>
              <a:t>Ф</a:t>
            </a:r>
            <a:r>
              <a:rPr lang="ru-RU" sz="1600" baseline="-25000" dirty="0" err="1">
                <a:latin typeface="Times New Roman" panose="02020603050405020304" pitchFamily="18" charset="0"/>
                <a:cs typeface="Times New Roman" panose="02020603050405020304" pitchFamily="18" charset="0"/>
              </a:rPr>
              <a:t>виб</a:t>
            </a:r>
            <a:r>
              <a:rPr lang="ru-RU" sz="1600" dirty="0">
                <a:latin typeface="Times New Roman" panose="02020603050405020304" pitchFamily="18" charset="0"/>
                <a:cs typeface="Times New Roman" panose="02020603050405020304" pitchFamily="18" charset="0"/>
              </a:rPr>
              <a:t> – вибрационная фаза</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20" name="Google Shape;139;p21">
            <a:extLst>
              <a:ext uri="{FF2B5EF4-FFF2-40B4-BE49-F238E27FC236}">
                <a16:creationId xmlns:a16="http://schemas.microsoft.com/office/drawing/2014/main" id="{B7A8C424-1497-4145-B7C5-C8EA445193E9}"/>
              </a:ext>
            </a:extLst>
          </p:cNvPr>
          <p:cNvSpPr txBox="1"/>
          <p:nvPr/>
        </p:nvSpPr>
        <p:spPr>
          <a:xfrm>
            <a:off x="901476" y="4182229"/>
            <a:ext cx="10790908"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 Демонстрация влияни</a:t>
            </a:r>
            <a:r>
              <a:rPr lang="ru-RU" sz="1600" dirty="0">
                <a:latin typeface="Times New Roman"/>
                <a:ea typeface="Times New Roman"/>
                <a:cs typeface="Times New Roman"/>
                <a:sym typeface="Times New Roman"/>
              </a:rPr>
              <a:t>я вибраций зеркала на фазу лазерного излучения</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демонстрация смешения интерференционной картины из-за вибрация</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12</a:t>
            </a:r>
          </a:p>
        </p:txBody>
      </p:sp>
      <p:pic>
        <p:nvPicPr>
          <p:cNvPr id="6" name="Рисунок 5">
            <a:extLst>
              <a:ext uri="{FF2B5EF4-FFF2-40B4-BE49-F238E27FC236}">
                <a16:creationId xmlns:a16="http://schemas.microsoft.com/office/drawing/2014/main" id="{A6D079D9-E0B6-4B34-9A4C-E1FEA0DE6010}"/>
              </a:ext>
            </a:extLst>
          </p:cNvPr>
          <p:cNvPicPr>
            <a:picLocks noChangeAspect="1"/>
          </p:cNvPicPr>
          <p:nvPr/>
        </p:nvPicPr>
        <p:blipFill rotWithShape="1">
          <a:blip r:embed="rId6"/>
          <a:srcRect l="5614" t="4947" r="2762" b="4591"/>
          <a:stretch/>
        </p:blipFill>
        <p:spPr>
          <a:xfrm>
            <a:off x="4180898" y="1022063"/>
            <a:ext cx="3602192" cy="2503445"/>
          </a:xfrm>
          <a:prstGeom prst="rect">
            <a:avLst/>
          </a:prstGeom>
        </p:spPr>
      </p:pic>
      <p:sp>
        <p:nvSpPr>
          <p:cNvPr id="13" name="TextBox 12">
            <a:extLst>
              <a:ext uri="{FF2B5EF4-FFF2-40B4-BE49-F238E27FC236}">
                <a16:creationId xmlns:a16="http://schemas.microsoft.com/office/drawing/2014/main" id="{FC228A56-F53C-4040-AA74-A750668FC7D9}"/>
              </a:ext>
            </a:extLst>
          </p:cNvPr>
          <p:cNvSpPr txBox="1"/>
          <p:nvPr/>
        </p:nvSpPr>
        <p:spPr>
          <a:xfrm>
            <a:off x="1392699"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084374-756E-4C7D-93D4-4F9875A29030}"/>
                  </a:ext>
                </a:extLst>
              </p:cNvPr>
              <p:cNvSpPr txBox="1"/>
              <p:nvPr/>
            </p:nvSpPr>
            <p:spPr>
              <a:xfrm>
                <a:off x="2421985" y="2540296"/>
                <a:ext cx="27122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b="0" i="1" smtClean="0">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8" name="TextBox 7">
                <a:extLst>
                  <a:ext uri="{FF2B5EF4-FFF2-40B4-BE49-F238E27FC236}">
                    <a16:creationId xmlns="" xmlns:a16="http://schemas.microsoft.com/office/drawing/2014/main" xmlns:a14="http://schemas.microsoft.com/office/drawing/2010/main" id="{1F084374-756E-4C7D-93D4-4F9875A29030}"/>
                  </a:ext>
                </a:extLst>
              </p:cNvPr>
              <p:cNvSpPr txBox="1">
                <a:spLocks noRot="1" noChangeAspect="1" noMove="1" noResize="1" noEditPoints="1" noAdjustHandles="1" noChangeArrowheads="1" noChangeShapeType="1" noTextEdit="1"/>
              </p:cNvSpPr>
              <p:nvPr/>
            </p:nvSpPr>
            <p:spPr>
              <a:xfrm>
                <a:off x="2421985" y="2540296"/>
                <a:ext cx="271228" cy="246221"/>
              </a:xfrm>
              <a:prstGeom prst="rect">
                <a:avLst/>
              </a:prstGeom>
              <a:blipFill rotWithShape="0">
                <a:blip r:embed="rId7"/>
                <a:stretch>
                  <a:fillRect l="-15556" r="-6667" b="-1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5AB15FA-B823-45BE-9719-060BB92C4C75}"/>
                  </a:ext>
                </a:extLst>
              </p:cNvPr>
              <p:cNvSpPr txBox="1"/>
              <p:nvPr/>
            </p:nvSpPr>
            <p:spPr>
              <a:xfrm>
                <a:off x="2156394" y="3445722"/>
                <a:ext cx="1226168" cy="2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i="1" smtClean="0">
                          <a:latin typeface="Cambria Math" panose="02040503050406030204" pitchFamily="18" charset="0"/>
                          <a:ea typeface="Cambria Math" panose="02040503050406030204" pitchFamily="18" charset="0"/>
                        </a:rPr>
                        <m:t>𝜑</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r>
                        <a:rPr lang="ru-RU" sz="1600" i="1">
                          <a:latin typeface="Cambria Math" panose="02040503050406030204" pitchFamily="18" charset="0"/>
                          <a:ea typeface="Cambria Math" panose="02040503050406030204" pitchFamily="18" charset="0"/>
                        </a:rPr>
                        <m:t>𝛿</m:t>
                      </m:r>
                      <m:r>
                        <a:rPr lang="en-US" sz="1600" i="1">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39" name="TextBox 38">
                <a:extLst>
                  <a:ext uri="{FF2B5EF4-FFF2-40B4-BE49-F238E27FC236}">
                    <a16:creationId xmlns:a16="http://schemas.microsoft.com/office/drawing/2014/main" xmlns:a14="http://schemas.microsoft.com/office/drawing/2010/main" xmlns="" id="{75AB15FA-B823-45BE-9719-060BB92C4C75}"/>
                  </a:ext>
                </a:extLst>
              </p:cNvPr>
              <p:cNvSpPr txBox="1">
                <a:spLocks noRot="1" noChangeAspect="1" noMove="1" noResize="1" noEditPoints="1" noAdjustHandles="1" noChangeArrowheads="1" noChangeShapeType="1" noTextEdit="1"/>
              </p:cNvSpPr>
              <p:nvPr/>
            </p:nvSpPr>
            <p:spPr>
              <a:xfrm>
                <a:off x="2156394" y="3445722"/>
                <a:ext cx="1226168" cy="265970"/>
              </a:xfrm>
              <a:prstGeom prst="rect">
                <a:avLst/>
              </a:prstGeom>
              <a:blipFill rotWithShape="0">
                <a:blip r:embed="rId8"/>
                <a:stretch>
                  <a:fillRect l="-2985" r="-995" b="-25000"/>
                </a:stretch>
              </a:blipFill>
            </p:spPr>
            <p:txBody>
              <a:bodyPr/>
              <a:lstStyle/>
              <a:p>
                <a:r>
                  <a:rPr lang="ru-RU">
                    <a:noFill/>
                  </a:rPr>
                  <a:t> </a:t>
                </a:r>
              </a:p>
            </p:txBody>
          </p:sp>
        </mc:Fallback>
      </mc:AlternateContent>
      <p:sp>
        <p:nvSpPr>
          <p:cNvPr id="40" name="TextBox 39">
            <a:extLst>
              <a:ext uri="{FF2B5EF4-FFF2-40B4-BE49-F238E27FC236}">
                <a16:creationId xmlns:a16="http://schemas.microsoft.com/office/drawing/2014/main" id="{3DE66B3E-91DE-4731-B98D-DD8CA74B0925}"/>
              </a:ext>
            </a:extLst>
          </p:cNvPr>
          <p:cNvSpPr txBox="1"/>
          <p:nvPr/>
        </p:nvSpPr>
        <p:spPr>
          <a:xfrm>
            <a:off x="1920629" y="3097228"/>
            <a:ext cx="169769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Набег фазы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05B47A22-8C1F-491D-8F65-97B9F142E382}"/>
              </a:ext>
            </a:extLst>
          </p:cNvPr>
          <p:cNvSpPr txBox="1"/>
          <p:nvPr/>
        </p:nvSpPr>
        <p:spPr>
          <a:xfrm>
            <a:off x="3990271"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1842DF5-87AF-4AFA-A45C-0EC2908FA86D}"/>
                  </a:ext>
                </a:extLst>
              </p:cNvPr>
              <p:cNvSpPr txBox="1"/>
              <p:nvPr/>
            </p:nvSpPr>
            <p:spPr>
              <a:xfrm>
                <a:off x="9024213" y="3532336"/>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2" name="TextBox 21">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9024213" y="3532336"/>
                <a:ext cx="2050754" cy="626325"/>
              </a:xfrm>
              <a:prstGeom prst="rect">
                <a:avLst/>
              </a:prstGeom>
              <a:blipFill rotWithShape="0">
                <a:blip r:embed="rId9"/>
                <a:stretch>
                  <a:fillRect/>
                </a:stretch>
              </a:blipFill>
              <a:ln w="28575">
                <a:solidFill>
                  <a:srgbClr val="FF0000"/>
                </a:solidFill>
              </a:ln>
            </p:spPr>
            <p:txBody>
              <a:bodyPr/>
              <a:lstStyle/>
              <a:p>
                <a:r>
                  <a:rPr lang="ru-RU">
                    <a:noFill/>
                  </a:rPr>
                  <a:t> </a:t>
                </a:r>
              </a:p>
            </p:txBody>
          </p:sp>
        </mc:Fallback>
      </mc:AlternateContent>
      <p:sp>
        <p:nvSpPr>
          <p:cNvPr id="18" name="TextBox 17">
            <a:extLst>
              <a:ext uri="{FF2B5EF4-FFF2-40B4-BE49-F238E27FC236}">
                <a16:creationId xmlns:a16="http://schemas.microsoft.com/office/drawing/2014/main" id="{53A8042C-E52E-4288-B49A-5DABBD83A1A0}"/>
              </a:ext>
            </a:extLst>
          </p:cNvPr>
          <p:cNvSpPr txBox="1"/>
          <p:nvPr/>
        </p:nvSpPr>
        <p:spPr>
          <a:xfrm>
            <a:off x="8198288" y="4793634"/>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Нахождение </a:t>
            </a:r>
            <a:r>
              <a:rPr lang="ru-RU" sz="1600" b="1" dirty="0" err="1">
                <a:latin typeface="Times New Roman" panose="02020603050405020304" pitchFamily="18" charset="0"/>
                <a:cs typeface="Times New Roman" panose="02020603050405020304" pitchFamily="18" charset="0"/>
              </a:rPr>
              <a:t>Ф</a:t>
            </a:r>
            <a:r>
              <a:rPr lang="ru-RU" sz="1600" b="1" baseline="-25000" dirty="0" err="1">
                <a:latin typeface="Times New Roman" panose="02020603050405020304" pitchFamily="18" charset="0"/>
                <a:cs typeface="Times New Roman" panose="02020603050405020304" pitchFamily="18" charset="0"/>
              </a:rPr>
              <a:t>виб</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56B4533-F1DA-4E4E-8C53-BCC6CEFB8E14}"/>
                  </a:ext>
                </a:extLst>
              </p:cNvPr>
              <p:cNvSpPr txBox="1"/>
              <p:nvPr/>
            </p:nvSpPr>
            <p:spPr>
              <a:xfrm>
                <a:off x="8090657" y="5158858"/>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19" name="TextBox 18">
                <a:extLst>
                  <a:ext uri="{FF2B5EF4-FFF2-40B4-BE49-F238E27FC236}">
                    <a16:creationId xmlns="" xmlns:a16="http://schemas.microsoft.com/office/drawing/2014/main" xmlns:a14="http://schemas.microsoft.com/office/drawing/2010/main" id="{656B4533-F1DA-4E4E-8C53-BCC6CEFB8E14}"/>
                  </a:ext>
                </a:extLst>
              </p:cNvPr>
              <p:cNvSpPr txBox="1">
                <a:spLocks noRot="1" noChangeAspect="1" noMove="1" noResize="1" noEditPoints="1" noAdjustHandles="1" noChangeArrowheads="1" noChangeShapeType="1" noTextEdit="1"/>
              </p:cNvSpPr>
              <p:nvPr/>
            </p:nvSpPr>
            <p:spPr>
              <a:xfrm>
                <a:off x="8090657" y="5158858"/>
                <a:ext cx="3269005" cy="334515"/>
              </a:xfrm>
              <a:prstGeom prst="rect">
                <a:avLst/>
              </a:prstGeom>
              <a:blipFill rotWithShape="0">
                <a:blip r:embed="rId10"/>
                <a:stretch>
                  <a:fillRect l="-2239" t="-140000" b="-220000"/>
                </a:stretch>
              </a:blipFill>
              <a:ln w="19050">
                <a:noFill/>
              </a:ln>
            </p:spPr>
            <p:txBody>
              <a:bodyPr/>
              <a:lstStyle/>
              <a:p>
                <a:r>
                  <a:rPr lang="ru-RU">
                    <a:noFill/>
                  </a:rPr>
                  <a:t> </a:t>
                </a:r>
              </a:p>
            </p:txBody>
          </p:sp>
        </mc:Fallback>
      </mc:AlternateContent>
      <p:sp>
        <p:nvSpPr>
          <p:cNvPr id="21" name="TextBox 20">
            <a:extLst>
              <a:ext uri="{FF2B5EF4-FFF2-40B4-BE49-F238E27FC236}">
                <a16:creationId xmlns:a16="http://schemas.microsoft.com/office/drawing/2014/main" id="{E0F4C38C-6509-4CBE-B2EB-9C3DBDE6CBCF}"/>
              </a:ext>
            </a:extLst>
          </p:cNvPr>
          <p:cNvSpPr txBox="1"/>
          <p:nvPr/>
        </p:nvSpPr>
        <p:spPr>
          <a:xfrm>
            <a:off x="7375737" y="5630107"/>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3660272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47AD4A-9428-117F-629B-822110272D8B}"/>
              </a:ext>
            </a:extLst>
          </p:cNvPr>
          <p:cNvSpPr txBox="1"/>
          <p:nvPr/>
        </p:nvSpPr>
        <p:spPr>
          <a:xfrm>
            <a:off x="2540000" y="677333"/>
            <a:ext cx="6409267" cy="4616648"/>
          </a:xfrm>
          <a:prstGeom prst="rect">
            <a:avLst/>
          </a:prstGeom>
          <a:noFill/>
        </p:spPr>
        <p:txBody>
          <a:bodyPr wrap="square" rtlCol="0">
            <a:spAutoFit/>
          </a:bodyPr>
          <a:lstStyle/>
          <a:p>
            <a:r>
              <a:rPr lang="ru-RU" dirty="0"/>
              <a:t>Также в работе было проведено исследование по компенсации вибрационных шумов. </a:t>
            </a:r>
          </a:p>
          <a:p>
            <a:endParaRPr lang="ru-RU" dirty="0"/>
          </a:p>
          <a:p>
            <a:r>
              <a:rPr lang="ru-RU" dirty="0"/>
              <a:t>Во время интерферометрической последовательности вибрации зеркала приводят к набегу фазы рамановского излучения. Это в свою очередь приводит к паразитному фазовому сдвигу в интерференционной картине. </a:t>
            </a:r>
          </a:p>
          <a:p>
            <a:endParaRPr lang="ru-RU" dirty="0"/>
          </a:p>
          <a:p>
            <a:r>
              <a:rPr lang="ru-RU" dirty="0"/>
              <a:t>Данный сдвиг может быть скорректирован благодаря применению алгоритма, основанного на измерении ускорения зеркала на протяжении всего этапа атомной интерференции.</a:t>
            </a:r>
          </a:p>
          <a:p>
            <a:endParaRPr lang="ru-RU" dirty="0"/>
          </a:p>
          <a:p>
            <a:endParaRPr lang="ru-RU" dirty="0"/>
          </a:p>
          <a:p>
            <a:endParaRPr lang="ru-RU" dirty="0"/>
          </a:p>
          <a:p>
            <a:endParaRPr lang="ru-RU" dirty="0"/>
          </a:p>
          <a:p>
            <a:endParaRPr lang="ru-RU" dirty="0"/>
          </a:p>
          <a:p>
            <a:endParaRPr lang="ru-RU" dirty="0"/>
          </a:p>
          <a:p>
            <a:endParaRPr lang="ru-RU" dirty="0"/>
          </a:p>
          <a:p>
            <a:r>
              <a:rPr lang="ru-RU" dirty="0"/>
              <a:t>Один из способов компенсации данного сдвига основан на – по информации об ускорении зеркала на протяжении всей атомной интерференции, нужно вычислить следующий интеграл, в нём также присутствует известная функция чувствительности гравиметра </a:t>
            </a:r>
            <a:r>
              <a:rPr lang="en-US" dirty="0" err="1"/>
              <a:t>ga</a:t>
            </a:r>
            <a:r>
              <a:rPr lang="en-US" dirty="0"/>
              <a:t>(t).</a:t>
            </a:r>
            <a:endParaRPr lang="ru-RU" dirty="0"/>
          </a:p>
        </p:txBody>
      </p:sp>
    </p:spTree>
    <p:extLst>
      <p:ext uri="{BB962C8B-B14F-4D97-AF65-F5344CB8AC3E}">
        <p14:creationId xmlns:p14="http://schemas.microsoft.com/office/powerpoint/2010/main" val="3662371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6;p21">
            <a:extLst>
              <a:ext uri="{FF2B5EF4-FFF2-40B4-BE49-F238E27FC236}">
                <a16:creationId xmlns:a16="http://schemas.microsoft.com/office/drawing/2014/main" id="{C92AC4AA-0032-4615-96ED-9EC44976FD96}"/>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Нахождение вибрационной фазы</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56B4533-F1DA-4E4E-8C53-BCC6CEFB8E14}"/>
                  </a:ext>
                </a:extLst>
              </p:cNvPr>
              <p:cNvSpPr txBox="1"/>
              <p:nvPr/>
            </p:nvSpPr>
            <p:spPr>
              <a:xfrm>
                <a:off x="4652865" y="1764277"/>
                <a:ext cx="2886269"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𝑇</m:t>
                        </m:r>
                        <m:r>
                          <a:rPr lang="en-US" sz="1600" b="0" i="1" smtClean="0">
                            <a:latin typeface="Cambria Math" panose="02040503050406030204" pitchFamily="18" charset="0"/>
                            <a:ea typeface="Cambria Math" panose="02040503050406030204" pitchFamily="18" charset="0"/>
                          </a:rPr>
                          <m:t>+4</m:t>
                        </m:r>
                        <m:r>
                          <a:rPr lang="en-US" sz="1600" b="0" i="1" smtClean="0">
                            <a:latin typeface="Cambria Math" panose="02040503050406030204" pitchFamily="18" charset="0"/>
                            <a:ea typeface="Cambria Math" panose="02040503050406030204" pitchFamily="18" charset="0"/>
                          </a:rPr>
                          <m:t>𝜏</m:t>
                        </m:r>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3" name="TextBox 2">
                <a:extLst>
                  <a:ext uri="{FF2B5EF4-FFF2-40B4-BE49-F238E27FC236}">
                    <a16:creationId xmlns:a16="http://schemas.microsoft.com/office/drawing/2014/main" xmlns:a14="http://schemas.microsoft.com/office/drawing/2010/main" xmlns="" id="{656B4533-F1DA-4E4E-8C53-BCC6CEFB8E14}"/>
                  </a:ext>
                </a:extLst>
              </p:cNvPr>
              <p:cNvSpPr txBox="1">
                <a:spLocks noRot="1" noChangeAspect="1" noMove="1" noResize="1" noEditPoints="1" noAdjustHandles="1" noChangeArrowheads="1" noChangeShapeType="1" noTextEdit="1"/>
              </p:cNvSpPr>
              <p:nvPr/>
            </p:nvSpPr>
            <p:spPr>
              <a:xfrm>
                <a:off x="4652865" y="1764277"/>
                <a:ext cx="2886269" cy="334515"/>
              </a:xfrm>
              <a:prstGeom prst="rect">
                <a:avLst/>
              </a:prstGeom>
              <a:blipFill rotWithShape="0">
                <a:blip r:embed="rId2"/>
                <a:stretch>
                  <a:fillRect l="-2532" t="-140000" b="-220000"/>
                </a:stretch>
              </a:blipFill>
              <a:ln w="19050">
                <a:noFill/>
              </a:ln>
            </p:spPr>
            <p:txBody>
              <a:bodyPr/>
              <a:lstStyle/>
              <a:p>
                <a:r>
                  <a:rPr lang="ru-RU">
                    <a:noFill/>
                  </a:rPr>
                  <a:t> </a:t>
                </a:r>
              </a:p>
            </p:txBody>
          </p:sp>
        </mc:Fallback>
      </mc:AlternateContent>
      <p:sp>
        <p:nvSpPr>
          <p:cNvPr id="4" name="TextBox 3">
            <a:extLst>
              <a:ext uri="{FF2B5EF4-FFF2-40B4-BE49-F238E27FC236}">
                <a16:creationId xmlns:a16="http://schemas.microsoft.com/office/drawing/2014/main" id="{E0F4C38C-6509-4CBE-B2EB-9C3DBDE6CBCF}"/>
              </a:ext>
            </a:extLst>
          </p:cNvPr>
          <p:cNvSpPr txBox="1"/>
          <p:nvPr/>
        </p:nvSpPr>
        <p:spPr>
          <a:xfrm>
            <a:off x="3882829" y="2376082"/>
            <a:ext cx="5319787"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
        <p:nvSpPr>
          <p:cNvPr id="9" name="TextBox 8">
            <a:extLst>
              <a:ext uri="{FF2B5EF4-FFF2-40B4-BE49-F238E27FC236}">
                <a16:creationId xmlns:a16="http://schemas.microsoft.com/office/drawing/2014/main" id="{83934DD6-F1BA-4777-9BC3-0D3C76795A93}"/>
              </a:ext>
            </a:extLst>
          </p:cNvPr>
          <p:cNvSpPr txBox="1"/>
          <p:nvPr/>
        </p:nvSpPr>
        <p:spPr>
          <a:xfrm>
            <a:off x="11571298" y="6440400"/>
            <a:ext cx="510074" cy="307777"/>
          </a:xfrm>
          <a:prstGeom prst="rect">
            <a:avLst/>
          </a:prstGeom>
          <a:noFill/>
        </p:spPr>
        <p:txBody>
          <a:bodyPr wrap="square" rtlCol="0">
            <a:spAutoFit/>
          </a:bodyPr>
          <a:lstStyle/>
          <a:p>
            <a:r>
              <a:rPr lang="ru-RU" dirty="0"/>
              <a:t>13</a:t>
            </a:r>
          </a:p>
        </p:txBody>
      </p:sp>
    </p:spTree>
    <p:extLst>
      <p:ext uri="{BB962C8B-B14F-4D97-AF65-F5344CB8AC3E}">
        <p14:creationId xmlns:p14="http://schemas.microsoft.com/office/powerpoint/2010/main" val="1130015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E9181-8F73-0A66-6CA7-88A4257DDACC}"/>
              </a:ext>
            </a:extLst>
          </p:cNvPr>
          <p:cNvSpPr txBox="1"/>
          <p:nvPr/>
        </p:nvSpPr>
        <p:spPr>
          <a:xfrm>
            <a:off x="3666067" y="956733"/>
            <a:ext cx="4885266" cy="1169551"/>
          </a:xfrm>
          <a:prstGeom prst="rect">
            <a:avLst/>
          </a:prstGeom>
          <a:noFill/>
        </p:spPr>
        <p:txBody>
          <a:bodyPr wrap="square" rtlCol="0">
            <a:spAutoFit/>
          </a:bodyPr>
          <a:lstStyle/>
          <a:p>
            <a:r>
              <a:rPr lang="ru-RU" dirty="0"/>
              <a:t>Существую различные способы подсчёта величины вибрационный фазы. В данной работе для этого используется ускорение. Необходимо найти следующий интеграл. В нём содержится функция чувствительности квантового гравиметра, изображённая снизу.</a:t>
            </a:r>
          </a:p>
        </p:txBody>
      </p:sp>
    </p:spTree>
    <p:extLst>
      <p:ext uri="{BB962C8B-B14F-4D97-AF65-F5344CB8AC3E}">
        <p14:creationId xmlns:p14="http://schemas.microsoft.com/office/powerpoint/2010/main" val="3861522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3"/>
          <a:stretch>
            <a:fillRect/>
          </a:stretch>
        </p:blipFill>
        <p:spPr>
          <a:xfrm>
            <a:off x="82020" y="841777"/>
            <a:ext cx="3106388" cy="2634532"/>
          </a:xfrm>
          <a:prstGeom prst="rect">
            <a:avLst/>
          </a:prstGeom>
        </p:spPr>
      </p:pic>
      <p:sp>
        <p:nvSpPr>
          <p:cNvPr id="2" name="Google Shape;136;p21">
            <a:extLst>
              <a:ext uri="{FF2B5EF4-FFF2-40B4-BE49-F238E27FC236}">
                <a16:creationId xmlns:a16="http://schemas.microsoft.com/office/drawing/2014/main" id="{535A5357-A41F-4385-8B97-66DA938677B8}"/>
              </a:ext>
            </a:extLst>
          </p:cNvPr>
          <p:cNvSpPr/>
          <p:nvPr/>
        </p:nvSpPr>
        <p:spPr>
          <a:xfrm>
            <a:off x="729552" y="100772"/>
            <a:ext cx="10324114" cy="48394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Экспериментальная схема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9932C695-49B8-4572-9706-EB584FF3B2F0}"/>
              </a:ext>
            </a:extLst>
          </p:cNvPr>
          <p:cNvSpPr txBox="1"/>
          <p:nvPr/>
        </p:nvSpPr>
        <p:spPr>
          <a:xfrm>
            <a:off x="11591156" y="6446706"/>
            <a:ext cx="510074" cy="307777"/>
          </a:xfrm>
          <a:prstGeom prst="rect">
            <a:avLst/>
          </a:prstGeom>
          <a:noFill/>
        </p:spPr>
        <p:txBody>
          <a:bodyPr wrap="square" rtlCol="0">
            <a:spAutoFit/>
          </a:bodyPr>
          <a:lstStyle/>
          <a:p>
            <a:r>
              <a:rPr lang="ru-RU" dirty="0"/>
              <a:t>14</a:t>
            </a:r>
          </a:p>
        </p:txBody>
      </p:sp>
      <p:pic>
        <p:nvPicPr>
          <p:cNvPr id="50" name="Рисунок 49">
            <a:extLst>
              <a:ext uri="{FF2B5EF4-FFF2-40B4-BE49-F238E27FC236}">
                <a16:creationId xmlns:a16="http://schemas.microsoft.com/office/drawing/2014/main" id="{1B86CB88-0BFE-4864-B2EE-834FABF0D643}"/>
              </a:ext>
            </a:extLst>
          </p:cNvPr>
          <p:cNvPicPr>
            <a:picLocks noChangeAspect="1"/>
          </p:cNvPicPr>
          <p:nvPr/>
        </p:nvPicPr>
        <p:blipFill rotWithShape="1">
          <a:blip r:embed="rId4"/>
          <a:srcRect l="1367" t="2852" r="3812" b="3862"/>
          <a:stretch/>
        </p:blipFill>
        <p:spPr>
          <a:xfrm>
            <a:off x="3301392" y="841777"/>
            <a:ext cx="4076117" cy="2870818"/>
          </a:xfrm>
          <a:prstGeom prst="rect">
            <a:avLst/>
          </a:prstGeom>
        </p:spPr>
      </p:pic>
      <p:sp>
        <p:nvSpPr>
          <p:cNvPr id="51" name="Google Shape;139;p21">
            <a:extLst>
              <a:ext uri="{FF2B5EF4-FFF2-40B4-BE49-F238E27FC236}">
                <a16:creationId xmlns:a16="http://schemas.microsoft.com/office/drawing/2014/main" id="{DB31045B-64E8-4C95-921F-4E6125B3101B}"/>
              </a:ext>
            </a:extLst>
          </p:cNvPr>
          <p:cNvSpPr txBox="1"/>
          <p:nvPr/>
        </p:nvSpPr>
        <p:spPr>
          <a:xfrm>
            <a:off x="569997" y="3969653"/>
            <a:ext cx="11137700"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 Экспериментальная установка для измерения ускорения</a:t>
            </a:r>
            <a:r>
              <a:rPr lang="ru-RU" sz="1600" dirty="0">
                <a:latin typeface="Times New Roman"/>
                <a:ea typeface="Times New Roman"/>
                <a:cs typeface="Times New Roman"/>
                <a:sym typeface="Times New Roman"/>
              </a:rPr>
              <a:t> зеркала</a:t>
            </a:r>
            <a:r>
              <a:rPr lang="ru-RU" sz="1600" b="0" i="0" u="none" strike="noStrike" cap="none" dirty="0">
                <a:solidFill>
                  <a:srgbClr val="000000"/>
                </a:solidFill>
                <a:latin typeface="Times New Roman"/>
                <a:ea typeface="Times New Roman"/>
                <a:cs typeface="Times New Roman"/>
                <a:sym typeface="Times New Roman"/>
              </a:rPr>
              <a:t> (а)</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Окно программы для управления сбора данных с акселерометра с помощью </a:t>
            </a:r>
            <a:r>
              <a:rPr lang="en-US" sz="1600" dirty="0">
                <a:latin typeface="Times New Roman"/>
                <a:ea typeface="Times New Roman"/>
                <a:cs typeface="Times New Roman"/>
                <a:sym typeface="Times New Roman"/>
              </a:rPr>
              <a:t>Red pitaya (</a:t>
            </a:r>
            <a:r>
              <a:rPr lang="ru-RU" sz="1600" dirty="0">
                <a:latin typeface="Times New Roman"/>
                <a:ea typeface="Times New Roman"/>
                <a:cs typeface="Times New Roman"/>
                <a:sym typeface="Times New Roman"/>
              </a:rPr>
              <a:t>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сигнал акселерометра – синий, триггерный сигнал– красный</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Демонстрация подбора коэффициентов передаточной функции и демонстрация пост-коррекции интерференционного сигнала (в).</a:t>
            </a:r>
            <a:r>
              <a:rPr lang="en-US" sz="1600" dirty="0">
                <a:latin typeface="Times New Roman"/>
                <a:ea typeface="Times New Roman"/>
                <a:cs typeface="Times New Roman"/>
                <a:sym typeface="Times New Roman"/>
              </a:rPr>
              <a:t> </a:t>
            </a:r>
            <a:endParaRPr sz="1600" b="0" i="0" u="none" strike="noStrike" cap="none" dirty="0">
              <a:solidFill>
                <a:srgbClr val="000000"/>
              </a:solidFill>
              <a:latin typeface="Times New Roman"/>
              <a:ea typeface="Times New Roman"/>
              <a:cs typeface="Times New Roman"/>
              <a:sym typeface="Times New Roman"/>
            </a:endParaRPr>
          </a:p>
        </p:txBody>
      </p:sp>
      <p:sp>
        <p:nvSpPr>
          <p:cNvPr id="52" name="TextBox 51">
            <a:extLst>
              <a:ext uri="{FF2B5EF4-FFF2-40B4-BE49-F238E27FC236}">
                <a16:creationId xmlns:a16="http://schemas.microsoft.com/office/drawing/2014/main" id="{C123148B-D47B-4EE9-816D-57391A88CB09}"/>
              </a:ext>
            </a:extLst>
          </p:cNvPr>
          <p:cNvSpPr txBox="1"/>
          <p:nvPr/>
        </p:nvSpPr>
        <p:spPr>
          <a:xfrm>
            <a:off x="4972471" y="4799180"/>
            <a:ext cx="2468235"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Передаточная функция</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4F217A7-8A53-4051-B61A-46EE6B6E7593}"/>
                  </a:ext>
                </a:extLst>
              </p:cNvPr>
              <p:cNvSpPr txBox="1"/>
              <p:nvPr/>
            </p:nvSpPr>
            <p:spPr>
              <a:xfrm>
                <a:off x="5323286" y="5227086"/>
                <a:ext cx="192514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𝐾</m:t>
                      </m:r>
                      <m:r>
                        <a:rPr lang="en-US" sz="1600" b="0" i="1" smtClean="0">
                          <a:latin typeface="Cambria Math" panose="02040503050406030204" pitchFamily="18" charset="0"/>
                        </a:rPr>
                        <m:t>∗</m:t>
                      </m:r>
                      <m:r>
                        <a:rPr lang="en-US" sz="1600" b="0" i="1" smtClean="0">
                          <a:latin typeface="Cambria Math" panose="02040503050406030204" pitchFamily="18" charset="0"/>
                        </a:rPr>
                        <m:t>𝐴</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rPr>
                        <m:t>,</m:t>
                      </m:r>
                    </m:oMath>
                  </m:oMathPara>
                </a14:m>
                <a:endParaRPr lang="ru-RU" sz="1600" dirty="0"/>
              </a:p>
            </p:txBody>
          </p:sp>
        </mc:Choice>
        <mc:Fallback xmlns="">
          <p:sp>
            <p:nvSpPr>
              <p:cNvPr id="53" name="TextBox 52">
                <a:extLst>
                  <a:ext uri="{FF2B5EF4-FFF2-40B4-BE49-F238E27FC236}">
                    <a16:creationId xmlns:a16="http://schemas.microsoft.com/office/drawing/2014/main" xmlns:a14="http://schemas.microsoft.com/office/drawing/2010/main" xmlns="" id="{54F217A7-8A53-4051-B61A-46EE6B6E7593}"/>
                  </a:ext>
                </a:extLst>
              </p:cNvPr>
              <p:cNvSpPr txBox="1">
                <a:spLocks noRot="1" noChangeAspect="1" noMove="1" noResize="1" noEditPoints="1" noAdjustHandles="1" noChangeArrowheads="1" noChangeShapeType="1" noTextEdit="1"/>
              </p:cNvSpPr>
              <p:nvPr/>
            </p:nvSpPr>
            <p:spPr>
              <a:xfrm>
                <a:off x="5323286" y="5227086"/>
                <a:ext cx="1925142" cy="246221"/>
              </a:xfrm>
              <a:prstGeom prst="rect">
                <a:avLst/>
              </a:prstGeom>
              <a:blipFill rotWithShape="0">
                <a:blip r:embed="rId5"/>
                <a:stretch>
                  <a:fillRect l="-633" b="-7317"/>
                </a:stretch>
              </a:blipFill>
            </p:spPr>
            <p:txBody>
              <a:bodyPr/>
              <a:lstStyle/>
              <a:p>
                <a:r>
                  <a:rPr lang="ru-RU">
                    <a:noFill/>
                  </a:rPr>
                  <a:t> </a:t>
                </a:r>
              </a:p>
            </p:txBody>
          </p:sp>
        </mc:Fallback>
      </mc:AlternateContent>
      <p:sp>
        <p:nvSpPr>
          <p:cNvPr id="54" name="TextBox 53">
            <a:extLst>
              <a:ext uri="{FF2B5EF4-FFF2-40B4-BE49-F238E27FC236}">
                <a16:creationId xmlns:a16="http://schemas.microsoft.com/office/drawing/2014/main" id="{74EEC305-5116-49C6-A223-32088B9EBA3B}"/>
              </a:ext>
            </a:extLst>
          </p:cNvPr>
          <p:cNvSpPr txBox="1"/>
          <p:nvPr/>
        </p:nvSpPr>
        <p:spPr>
          <a:xfrm>
            <a:off x="4335977" y="5565733"/>
            <a:ext cx="4551914"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зеркала,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акселерометра,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временная задержка сигнала, </a:t>
            </a:r>
            <a:r>
              <a:rPr lang="en-US" sz="1600" dirty="0">
                <a:latin typeface="Times New Roman" panose="02020603050405020304" pitchFamily="18" charset="0"/>
                <a:cs typeface="Times New Roman" panose="02020603050405020304" pitchFamily="18" charset="0"/>
              </a:rPr>
              <a:t>K – </a:t>
            </a:r>
            <a:r>
              <a:rPr lang="ru-RU" sz="1600" dirty="0">
                <a:latin typeface="Times New Roman" panose="02020603050405020304" pitchFamily="18" charset="0"/>
                <a:cs typeface="Times New Roman" panose="02020603050405020304" pitchFamily="18" charset="0"/>
              </a:rPr>
              <a:t>амплитудный коэффициент.</a:t>
            </a:r>
            <a:endParaRPr lang="en-US" sz="1600" dirty="0">
              <a:latin typeface="Times New Roman" panose="02020603050405020304" pitchFamily="18" charset="0"/>
              <a:cs typeface="Times New Roman" panose="02020603050405020304" pitchFamily="18" charset="0"/>
            </a:endParaRPr>
          </a:p>
        </p:txBody>
      </p:sp>
      <p:pic>
        <p:nvPicPr>
          <p:cNvPr id="65" name="Рисунок 64">
            <a:extLst>
              <a:ext uri="{FF2B5EF4-FFF2-40B4-BE49-F238E27FC236}">
                <a16:creationId xmlns:a16="http://schemas.microsoft.com/office/drawing/2014/main" id="{03EAB47F-A127-4F36-9FC1-BDC6A329A7DF}"/>
              </a:ext>
            </a:extLst>
          </p:cNvPr>
          <p:cNvPicPr>
            <a:picLocks noChangeAspect="1"/>
          </p:cNvPicPr>
          <p:nvPr/>
        </p:nvPicPr>
        <p:blipFill rotWithShape="1">
          <a:blip r:embed="rId6"/>
          <a:srcRect l="1167" t="5015" r="1585" b="4990"/>
          <a:stretch/>
        </p:blipFill>
        <p:spPr>
          <a:xfrm>
            <a:off x="7402858" y="1389413"/>
            <a:ext cx="4788569" cy="1439260"/>
          </a:xfrm>
          <a:prstGeom prst="rect">
            <a:avLst/>
          </a:prstGeom>
        </p:spPr>
      </p:pic>
      <p:cxnSp>
        <p:nvCxnSpPr>
          <p:cNvPr id="67" name="Прямая со стрелкой 66">
            <a:extLst>
              <a:ext uri="{FF2B5EF4-FFF2-40B4-BE49-F238E27FC236}">
                <a16:creationId xmlns:a16="http://schemas.microsoft.com/office/drawing/2014/main" id="{95661207-FD7C-4B8C-81F6-BA9919077A58}"/>
              </a:ext>
            </a:extLst>
          </p:cNvPr>
          <p:cNvCxnSpPr>
            <a:cxnSpLocks/>
          </p:cNvCxnSpPr>
          <p:nvPr/>
        </p:nvCxnSpPr>
        <p:spPr>
          <a:xfrm>
            <a:off x="8540620" y="1376142"/>
            <a:ext cx="25130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59144724-DE99-40F5-98CF-EB3900FD24E4}"/>
              </a:ext>
            </a:extLst>
          </p:cNvPr>
          <p:cNvSpPr txBox="1"/>
          <p:nvPr/>
        </p:nvSpPr>
        <p:spPr>
          <a:xfrm>
            <a:off x="7490493" y="997996"/>
            <a:ext cx="6574971"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Демонстрация подбора (</a:t>
            </a:r>
            <a:r>
              <a:rPr lang="en-US" sz="1600" b="1" dirty="0">
                <a:latin typeface="Times New Roman" panose="02020603050405020304" pitchFamily="18" charset="0"/>
                <a:cs typeface="Times New Roman" panose="02020603050405020304" pitchFamily="18" charset="0"/>
              </a:rPr>
              <a:t>K, </a:t>
            </a:r>
            <a:r>
              <a:rPr lang="el-GR" sz="1600" b="1" dirty="0">
                <a:latin typeface="Times New Roman" panose="02020603050405020304" pitchFamily="18" charset="0"/>
                <a:cs typeface="Times New Roman" panose="02020603050405020304" pitchFamily="18" charset="0"/>
              </a:rPr>
              <a:t>Δ</a:t>
            </a:r>
            <a:r>
              <a:rPr lang="en-US" sz="1600" b="1" dirty="0">
                <a:latin typeface="Times New Roman" panose="02020603050405020304" pitchFamily="18" charset="0"/>
                <a:cs typeface="Times New Roman" panose="02020603050405020304" pitchFamily="18" charset="0"/>
              </a:rPr>
              <a:t>t</a:t>
            </a:r>
            <a:r>
              <a:rPr lang="ru-RU" sz="1600" b="1" dirty="0">
                <a:latin typeface="Times New Roman" panose="02020603050405020304" pitchFamily="18" charset="0"/>
                <a:cs typeface="Times New Roman" panose="02020603050405020304" pitchFamily="18" charset="0"/>
              </a:rPr>
              <a:t>) и пост-коррекции</a:t>
            </a:r>
            <a:endParaRPr lang="en-US" sz="1600" b="1" dirty="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C7485A22-BF4D-48AC-895F-DF74FD27014A}"/>
              </a:ext>
            </a:extLst>
          </p:cNvPr>
          <p:cNvSpPr txBox="1"/>
          <p:nvPr/>
        </p:nvSpPr>
        <p:spPr>
          <a:xfrm>
            <a:off x="2873322" y="544419"/>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3ADBD3C2-D191-4F54-98DB-3146E94F5266}"/>
              </a:ext>
            </a:extLst>
          </p:cNvPr>
          <p:cNvSpPr txBox="1"/>
          <p:nvPr/>
        </p:nvSpPr>
        <p:spPr>
          <a:xfrm>
            <a:off x="52086" y="54075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D4BEB926-DBF2-4E58-9E83-99A4A921468F}"/>
              </a:ext>
            </a:extLst>
          </p:cNvPr>
          <p:cNvSpPr txBox="1"/>
          <p:nvPr/>
        </p:nvSpPr>
        <p:spPr>
          <a:xfrm>
            <a:off x="7377509" y="53800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370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89BD2-E7D3-251F-A842-50EA3344BB1D}"/>
              </a:ext>
            </a:extLst>
          </p:cNvPr>
          <p:cNvSpPr txBox="1"/>
          <p:nvPr/>
        </p:nvSpPr>
        <p:spPr>
          <a:xfrm>
            <a:off x="2840566" y="203200"/>
            <a:ext cx="6510867" cy="6340197"/>
          </a:xfrm>
          <a:prstGeom prst="rect">
            <a:avLst/>
          </a:prstGeom>
          <a:noFill/>
        </p:spPr>
        <p:txBody>
          <a:bodyPr wrap="square" rtlCol="0">
            <a:spAutoFit/>
          </a:bodyPr>
          <a:lstStyle/>
          <a:p>
            <a:r>
              <a:rPr lang="ru-RU" dirty="0"/>
              <a:t>На данном слайде изображена схема экспериментальной системы измерения ускорения зеркала (а). На платформе вместе с зеркалом находится акселерометр,</a:t>
            </a:r>
            <a:r>
              <a:rPr lang="en-US" dirty="0"/>
              <a:t> </a:t>
            </a:r>
            <a:r>
              <a:rPr lang="ru-RU" dirty="0"/>
              <a:t>аналоговый выход которого подключен к аналоговому входу платы сбора данных </a:t>
            </a:r>
            <a:r>
              <a:rPr lang="en-US" dirty="0"/>
              <a:t>red pitaya</a:t>
            </a:r>
            <a:r>
              <a:rPr lang="ru-RU" dirty="0"/>
              <a:t>, второй аналоговый вход </a:t>
            </a:r>
            <a:r>
              <a:rPr lang="en-US" dirty="0"/>
              <a:t>red pitaya </a:t>
            </a:r>
            <a:r>
              <a:rPr lang="ru-RU" dirty="0"/>
              <a:t>подключен к таймеру, который посылает триггерный сигнал для начала сбора данных, триггерный сигнал совпадает с триггерным сигналом для первого </a:t>
            </a:r>
            <a:r>
              <a:rPr lang="ru-RU" dirty="0" err="1"/>
              <a:t>рамановского</a:t>
            </a:r>
            <a:r>
              <a:rPr lang="ru-RU" dirty="0"/>
              <a:t> импульса. Управление экспериментальной системой осуществляется с помощью ПК, подключенного к </a:t>
            </a:r>
            <a:r>
              <a:rPr lang="en-US" dirty="0" err="1"/>
              <a:t>redpitaya</a:t>
            </a:r>
            <a:r>
              <a:rPr lang="ru-RU" dirty="0"/>
              <a:t>. Для управлением </a:t>
            </a:r>
            <a:r>
              <a:rPr lang="en-US" dirty="0"/>
              <a:t>red pitaya </a:t>
            </a:r>
            <a:r>
              <a:rPr lang="ru-RU" dirty="0"/>
              <a:t>была написана программа, интерфейс которой показана на рисунке (б). Синий сигнал – сигнал с акселерометра, красный сигнал – вспомогательный триггерный сигнал. Сигнал с акселерометра начинает записываться в момент прихода триггерного сигнала, который также является триггером запуска атомной интерференции. Сигнал акселерометра записывается во время атомной интерференции для использования при пост-коррекции.</a:t>
            </a:r>
          </a:p>
          <a:p>
            <a:endParaRPr lang="ru-RU" dirty="0"/>
          </a:p>
          <a:p>
            <a:r>
              <a:rPr lang="ru-RU" dirty="0"/>
              <a:t>Зеркало и акселерометр стоят на одной платформе, поэтому для нахождения ускорения зеркала используется следующая передаточная функция, которая содержит амплитудный коэффициент и временную задержу. Коэффициенты передаточной функции определяются на этапе пост-коррекции сигнала атомной интерференции.</a:t>
            </a:r>
          </a:p>
          <a:p>
            <a:endParaRPr lang="ru-RU" dirty="0"/>
          </a:p>
          <a:p>
            <a:r>
              <a:rPr lang="ru-RU" dirty="0"/>
              <a:t>Теперь что касается пост-коррекции, она осуществляется согласно ранее приведённому выражению</a:t>
            </a:r>
            <a:r>
              <a:rPr lang="en-US" dirty="0"/>
              <a:t>: </a:t>
            </a:r>
            <a:r>
              <a:rPr lang="ru-RU" dirty="0"/>
              <a:t>При этом вибрационная фаза зависит от коэффициентов передаточной функции. Программа написанная для пост-коррекции осуществляет подбор коэффициентов таким образом, чтобы скорректированные данные ложились на аппроксимацию оптимальный образом, как это показано на рисунке в</a:t>
            </a:r>
            <a:r>
              <a:rPr lang="en-US" dirty="0"/>
              <a:t>: </a:t>
            </a:r>
            <a:r>
              <a:rPr lang="ru-RU" dirty="0"/>
              <a:t>слева – до пост-коррекции, справа – после.</a:t>
            </a:r>
          </a:p>
        </p:txBody>
      </p:sp>
    </p:spTree>
    <p:extLst>
      <p:ext uri="{BB962C8B-B14F-4D97-AF65-F5344CB8AC3E}">
        <p14:creationId xmlns:p14="http://schemas.microsoft.com/office/powerpoint/2010/main" val="3963014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2"/>
          <a:srcRect l="2362" t="3902" r="217"/>
          <a:stretch/>
        </p:blipFill>
        <p:spPr>
          <a:xfrm>
            <a:off x="1011116" y="493976"/>
            <a:ext cx="9715500" cy="4018341"/>
          </a:xfrm>
          <a:prstGeom prst="rect">
            <a:avLst/>
          </a:prstGeom>
        </p:spPr>
      </p:pic>
      <p:sp>
        <p:nvSpPr>
          <p:cNvPr id="2" name="Google Shape;438;p41">
            <a:extLst>
              <a:ext uri="{FF2B5EF4-FFF2-40B4-BE49-F238E27FC236}">
                <a16:creationId xmlns:a16="http://schemas.microsoft.com/office/drawing/2014/main" id="{FD46C5F4-A971-4CA4-8EA1-62B295AC1E02}"/>
              </a:ext>
            </a:extLst>
          </p:cNvPr>
          <p:cNvSpPr/>
          <p:nvPr/>
        </p:nvSpPr>
        <p:spPr>
          <a:xfrm>
            <a:off x="1742753" y="74058"/>
            <a:ext cx="9169087"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Результаты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7CFBBB85-1DFE-4038-BF35-8451EAA57176}"/>
              </a:ext>
            </a:extLst>
          </p:cNvPr>
          <p:cNvSpPr txBox="1"/>
          <p:nvPr/>
        </p:nvSpPr>
        <p:spPr>
          <a:xfrm>
            <a:off x="394898" y="4553232"/>
            <a:ext cx="11370995" cy="338554"/>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 Интерференционная картина до</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после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компенсации вибрационных шумов.</a:t>
            </a:r>
            <a:r>
              <a:rPr lang="en-US" sz="16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a:t>15</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9714C1-0278-418E-9C5E-8C01C702F211}"/>
                  </a:ext>
                </a:extLst>
              </p:cNvPr>
              <p:cNvSpPr txBox="1"/>
              <p:nvPr/>
            </p:nvSpPr>
            <p:spPr>
              <a:xfrm>
                <a:off x="7994239" y="5336377"/>
                <a:ext cx="1832425"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𝑔𝑒</m:t>
                          </m:r>
                        </m:sub>
                      </m:sSub>
                      <m:r>
                        <a:rPr lang="en-US" sz="1600" b="0" i="1" smtClean="0">
                          <a:latin typeface="Cambria Math" panose="02040503050406030204" pitchFamily="18" charset="0"/>
                        </a:rPr>
                        <m:t>=21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7" name="TextBox 6">
                <a:extLst>
                  <a:ext uri="{FF2B5EF4-FFF2-40B4-BE49-F238E27FC236}">
                    <a16:creationId xmlns:a16="http://schemas.microsoft.com/office/drawing/2014/main" xmlns:a14="http://schemas.microsoft.com/office/drawing/2010/main" xmlns="" id="{7F9714C1-0278-418E-9C5E-8C01C702F211}"/>
                  </a:ext>
                </a:extLst>
              </p:cNvPr>
              <p:cNvSpPr txBox="1">
                <a:spLocks noRot="1" noChangeAspect="1" noMove="1" noResize="1" noEditPoints="1" noAdjustHandles="1" noChangeArrowheads="1" noChangeShapeType="1" noTextEdit="1"/>
              </p:cNvSpPr>
              <p:nvPr/>
            </p:nvSpPr>
            <p:spPr>
              <a:xfrm>
                <a:off x="7994239" y="5336377"/>
                <a:ext cx="1832425" cy="307585"/>
              </a:xfrm>
              <a:prstGeom prst="rect">
                <a:avLst/>
              </a:prstGeom>
              <a:blipFill rotWithShape="0">
                <a:blip r:embed="rId3"/>
                <a:stretch>
                  <a:fillRect l="-332" r="-299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F027379-30AF-49FA-9C6A-2DC113651CF2}"/>
                  </a:ext>
                </a:extLst>
              </p:cNvPr>
              <p:cNvSpPr txBox="1"/>
              <p:nvPr/>
            </p:nvSpPr>
            <p:spPr>
              <a:xfrm>
                <a:off x="7994238" y="5707035"/>
                <a:ext cx="1842492"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𝑔𝑝</m:t>
                          </m:r>
                        </m:sub>
                      </m:sSub>
                      <m:r>
                        <a:rPr lang="en-US" sz="1600" b="0" i="1" smtClean="0">
                          <a:latin typeface="Cambria Math" panose="02040503050406030204" pitchFamily="18" charset="0"/>
                        </a:rPr>
                        <m:t>=10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8" name="TextBox 7">
                <a:extLst>
                  <a:ext uri="{FF2B5EF4-FFF2-40B4-BE49-F238E27FC236}">
                    <a16:creationId xmlns:a16="http://schemas.microsoft.com/office/drawing/2014/main" xmlns:a14="http://schemas.microsoft.com/office/drawing/2010/main" xmlns="" id="{AF027379-30AF-49FA-9C6A-2DC113651CF2}"/>
                  </a:ext>
                </a:extLst>
              </p:cNvPr>
              <p:cNvSpPr txBox="1">
                <a:spLocks noRot="1" noChangeAspect="1" noMove="1" noResize="1" noEditPoints="1" noAdjustHandles="1" noChangeArrowheads="1" noChangeShapeType="1" noTextEdit="1"/>
              </p:cNvSpPr>
              <p:nvPr/>
            </p:nvSpPr>
            <p:spPr>
              <a:xfrm>
                <a:off x="7994238" y="5707035"/>
                <a:ext cx="1842492" cy="307585"/>
              </a:xfrm>
              <a:prstGeom prst="rect">
                <a:avLst/>
              </a:prstGeom>
              <a:blipFill rotWithShape="0">
                <a:blip r:embed="rId4"/>
                <a:stretch>
                  <a:fillRect l="-330" r="-264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067F7B2-4F17-4FA1-9BF5-0D4932780402}"/>
                  </a:ext>
                </a:extLst>
              </p:cNvPr>
              <p:cNvSpPr txBox="1"/>
              <p:nvPr/>
            </p:nvSpPr>
            <p:spPr>
              <a:xfrm>
                <a:off x="8541504" y="6087857"/>
                <a:ext cx="737894" cy="496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𝑔𝑒</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m:t>
                              </m:r>
                              <m:r>
                                <a:rPr lang="en-US" sz="1600" b="0" i="1" smtClean="0">
                                  <a:latin typeface="Cambria Math" panose="02040503050406030204" pitchFamily="18" charset="0"/>
                                </a:rPr>
                                <m:t>𝑝</m:t>
                              </m:r>
                            </m:sub>
                          </m:sSub>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2</m:t>
                      </m:r>
                    </m:oMath>
                  </m:oMathPara>
                </a14:m>
                <a:endParaRPr lang="ru-RU" sz="1600" dirty="0"/>
              </a:p>
            </p:txBody>
          </p:sp>
        </mc:Choice>
        <mc:Fallback xmlns="">
          <p:sp>
            <p:nvSpPr>
              <p:cNvPr id="9" name="TextBox 8">
                <a:extLst>
                  <a:ext uri="{FF2B5EF4-FFF2-40B4-BE49-F238E27FC236}">
                    <a16:creationId xmlns:a16="http://schemas.microsoft.com/office/drawing/2014/main" xmlns:a14="http://schemas.microsoft.com/office/drawing/2010/main" xmlns="" id="{2067F7B2-4F17-4FA1-9BF5-0D4932780402}"/>
                  </a:ext>
                </a:extLst>
              </p:cNvPr>
              <p:cNvSpPr txBox="1">
                <a:spLocks noRot="1" noChangeAspect="1" noMove="1" noResize="1" noEditPoints="1" noAdjustHandles="1" noChangeArrowheads="1" noChangeShapeType="1" noTextEdit="1"/>
              </p:cNvSpPr>
              <p:nvPr/>
            </p:nvSpPr>
            <p:spPr>
              <a:xfrm>
                <a:off x="8541504" y="6087857"/>
                <a:ext cx="737894" cy="496931"/>
              </a:xfrm>
              <a:prstGeom prst="rect">
                <a:avLst/>
              </a:prstGeom>
              <a:blipFill rotWithShape="0">
                <a:blip r:embed="rId5"/>
                <a:stretch>
                  <a:fillRect l="-2479" r="-4959" b="-11111"/>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2137EB49-2938-48C8-976D-CD72A01DB3CB}"/>
              </a:ext>
            </a:extLst>
          </p:cNvPr>
          <p:cNvSpPr txBox="1"/>
          <p:nvPr/>
        </p:nvSpPr>
        <p:spPr>
          <a:xfrm>
            <a:off x="6327296" y="4965023"/>
            <a:ext cx="6392187"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Чувствительность гравиметра до и после пост-коррекции</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842DF5-87AF-4AFA-A45C-0EC2908FA86D}"/>
                  </a:ext>
                </a:extLst>
              </p:cNvPr>
              <p:cNvSpPr txBox="1"/>
              <p:nvPr/>
            </p:nvSpPr>
            <p:spPr>
              <a:xfrm>
                <a:off x="2547231" y="5643962"/>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1" name="TextBox 10">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2547231" y="5643962"/>
                <a:ext cx="2050754" cy="626325"/>
              </a:xfrm>
              <a:prstGeom prst="rect">
                <a:avLst/>
              </a:prstGeom>
              <a:blipFill rotWithShape="0">
                <a:blip r:embed="rId6"/>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5E1332E-B1D6-4008-82C1-20AC426FB8D6}"/>
                  </a:ext>
                </a:extLst>
              </p:cNvPr>
              <p:cNvSpPr txBox="1"/>
              <p:nvPr/>
            </p:nvSpPr>
            <p:spPr>
              <a:xfrm>
                <a:off x="2234519" y="5060114"/>
                <a:ext cx="3171301" cy="397096"/>
              </a:xfrm>
              <a:prstGeom prst="rect">
                <a:avLst/>
              </a:prstGeom>
              <a:noFill/>
              <a:ln w="28575">
                <a:solidFill>
                  <a:srgbClr val="FF0000"/>
                </a:solidFill>
              </a:ln>
            </p:spPr>
            <p:txBody>
              <a:bodyPr wrap="square" rtlCol="0">
                <a:spAutoFit/>
              </a:bodyPr>
              <a:lstStyle/>
              <a:p>
                <a14:m>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a14:m>
                <a:r>
                  <a:rPr lang="ru-RU" sz="1800" dirty="0"/>
                  <a:t>+</a:t>
                </a:r>
                <a14:m>
                  <m:oMath xmlns:m="http://schemas.openxmlformats.org/officeDocument/2006/math">
                    <m:sSub>
                      <m:sSubPr>
                        <m:ctrlPr>
                          <a:rPr lang="ru-RU" sz="1800" i="1" dirty="0">
                            <a:solidFill>
                              <a:schemeClr val="tx1"/>
                            </a:solidFill>
                            <a:latin typeface="Cambria Math" panose="02040503050406030204" pitchFamily="18" charset="0"/>
                          </a:rPr>
                        </m:ctrlPr>
                      </m:sSubPr>
                      <m:e>
                        <m:r>
                          <a:rPr lang="ru-RU" sz="1800" i="1" dirty="0">
                            <a:solidFill>
                              <a:schemeClr val="tx1"/>
                            </a:solidFill>
                            <a:latin typeface="Cambria Math" panose="02040503050406030204" pitchFamily="18" charset="0"/>
                          </a:rPr>
                          <m:t>Ф</m:t>
                        </m:r>
                      </m:e>
                      <m:sub>
                        <m:r>
                          <a:rPr lang="ru-RU" sz="1800" i="1" dirty="0">
                            <a:solidFill>
                              <a:schemeClr val="tx1"/>
                            </a:solidFill>
                            <a:latin typeface="Cambria Math" panose="02040503050406030204" pitchFamily="18" charset="0"/>
                          </a:rPr>
                          <m:t>виб</m:t>
                        </m:r>
                      </m:sub>
                    </m:sSub>
                  </m:oMath>
                </a14:m>
                <a:endParaRPr lang="ru-RU" sz="1800" dirty="0"/>
              </a:p>
            </p:txBody>
          </p:sp>
        </mc:Choice>
        <mc:Fallback xmlns="">
          <p:sp>
            <p:nvSpPr>
              <p:cNvPr id="12" name="TextBox 11">
                <a:extLst>
                  <a:ext uri="{FF2B5EF4-FFF2-40B4-BE49-F238E27FC236}">
                    <a16:creationId xmlns:a16="http://schemas.microsoft.com/office/drawing/2014/main" xmlns:a14="http://schemas.microsoft.com/office/drawing/2010/main" xmlns="" id="{65E1332E-B1D6-4008-82C1-20AC426FB8D6}"/>
                  </a:ext>
                </a:extLst>
              </p:cNvPr>
              <p:cNvSpPr txBox="1">
                <a:spLocks noRot="1" noChangeAspect="1" noMove="1" noResize="1" noEditPoints="1" noAdjustHandles="1" noChangeArrowheads="1" noChangeShapeType="1" noTextEdit="1"/>
              </p:cNvSpPr>
              <p:nvPr/>
            </p:nvSpPr>
            <p:spPr>
              <a:xfrm>
                <a:off x="2234519" y="5060114"/>
                <a:ext cx="3171301" cy="397096"/>
              </a:xfrm>
              <a:prstGeom prst="rect">
                <a:avLst/>
              </a:prstGeom>
              <a:blipFill rotWithShape="0">
                <a:blip r:embed="rId7"/>
                <a:stretch>
                  <a:fillRect t="-2857" b="-12857"/>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262087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B82D0-5C6A-372B-D636-A5E7643A4EDC}"/>
              </a:ext>
            </a:extLst>
          </p:cNvPr>
          <p:cNvSpPr txBox="1"/>
          <p:nvPr/>
        </p:nvSpPr>
        <p:spPr>
          <a:xfrm>
            <a:off x="2878667" y="1209244"/>
            <a:ext cx="5723466" cy="1815882"/>
          </a:xfrm>
          <a:prstGeom prst="rect">
            <a:avLst/>
          </a:prstGeom>
          <a:noFill/>
        </p:spPr>
        <p:txBody>
          <a:bodyPr wrap="square" rtlCol="0">
            <a:spAutoFit/>
          </a:bodyPr>
          <a:lstStyle/>
          <a:p>
            <a:r>
              <a:rPr lang="ru-RU" dirty="0"/>
              <a:t>На данном слайде показана результаты пост-коррекции сигнала атомной интерференции гравиметра работающего в условиях искусственно созданных сильных вибраций. Сигнал до пост-коррекции – зелёный, после пост-коррекции – красный, аппроксимация – синий. На данном рисунке наглядно виден эффект от пост-коррекции. В результате пост-коррекции чувствительность гравиметра повысилась с 21 </a:t>
            </a:r>
            <a:r>
              <a:rPr lang="ru-RU" dirty="0" err="1"/>
              <a:t>мГал</a:t>
            </a:r>
            <a:r>
              <a:rPr lang="en-US" dirty="0"/>
              <a:t>/</a:t>
            </a:r>
            <a:r>
              <a:rPr lang="ru-RU" dirty="0"/>
              <a:t>Гц</a:t>
            </a:r>
            <a:r>
              <a:rPr lang="en-US" dirty="0"/>
              <a:t>^</a:t>
            </a:r>
            <a:r>
              <a:rPr lang="ru-RU" dirty="0"/>
              <a:t>1</a:t>
            </a:r>
            <a:r>
              <a:rPr lang="en-US" dirty="0"/>
              <a:t>/2 </a:t>
            </a:r>
            <a:r>
              <a:rPr lang="ru-RU" dirty="0"/>
              <a:t>до 10 </a:t>
            </a:r>
            <a:r>
              <a:rPr lang="ru-RU" dirty="0" err="1"/>
              <a:t>мГал</a:t>
            </a:r>
            <a:r>
              <a:rPr lang="en-US" dirty="0"/>
              <a:t>/</a:t>
            </a:r>
            <a:r>
              <a:rPr lang="ru-RU" dirty="0"/>
              <a:t>Гц</a:t>
            </a:r>
            <a:r>
              <a:rPr lang="en-US" dirty="0"/>
              <a:t>^</a:t>
            </a:r>
            <a:r>
              <a:rPr lang="ru-RU" dirty="0"/>
              <a:t>1</a:t>
            </a:r>
            <a:r>
              <a:rPr lang="en-US" dirty="0"/>
              <a:t>/2, </a:t>
            </a:r>
            <a:r>
              <a:rPr lang="ru-RU" dirty="0" err="1"/>
              <a:t>т.е</a:t>
            </a:r>
            <a:r>
              <a:rPr lang="ru-RU" dirty="0"/>
              <a:t> выросла приблизительно в 2 раза.</a:t>
            </a:r>
          </a:p>
        </p:txBody>
      </p:sp>
    </p:spTree>
    <p:extLst>
      <p:ext uri="{BB962C8B-B14F-4D97-AF65-F5344CB8AC3E}">
        <p14:creationId xmlns:p14="http://schemas.microsoft.com/office/powerpoint/2010/main" val="3070771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a16="http://schemas.microsoft.com/office/drawing/2014/main" id="{2A8D5B80-DE45-CA24-8AEC-F7F4E8ABF326}"/>
            </a:ext>
          </a:extLst>
        </p:cNvPr>
        <p:cNvGrpSpPr/>
        <p:nvPr/>
      </p:nvGrpSpPr>
      <p:grpSpPr>
        <a:xfrm>
          <a:off x="0" y="0"/>
          <a:ext cx="0" cy="0"/>
          <a:chOff x="0" y="0"/>
          <a:chExt cx="0" cy="0"/>
        </a:xfrm>
      </p:grpSpPr>
      <p:sp>
        <p:nvSpPr>
          <p:cNvPr id="456" name="Google Shape;456;p43">
            <a:extLst>
              <a:ext uri="{FF2B5EF4-FFF2-40B4-BE49-F238E27FC236}">
                <a16:creationId xmlns:a16="http://schemas.microsoft.com/office/drawing/2014/main" id="{B766B388-3BEE-43F4-D3FB-320633F3096C}"/>
              </a:ext>
            </a:extLst>
          </p:cNvPr>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a:extLst>
              <a:ext uri="{FF2B5EF4-FFF2-40B4-BE49-F238E27FC236}">
                <a16:creationId xmlns:a16="http://schemas.microsoft.com/office/drawing/2014/main" id="{137E8DA9-8746-00A9-621F-685812E3E204}"/>
              </a:ext>
            </a:extLst>
          </p:cNvPr>
          <p:cNvSpPr txBox="1"/>
          <p:nvPr/>
        </p:nvSpPr>
        <p:spPr>
          <a:xfrm>
            <a:off x="1276347" y="887878"/>
            <a:ext cx="9239321" cy="403183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just" rtl="0">
              <a:lnSpc>
                <a:spcPct val="100000"/>
              </a:lnSpc>
              <a:spcBef>
                <a:spcPts val="0"/>
              </a:spcBef>
              <a:spcAft>
                <a:spcPts val="1200"/>
              </a:spcAft>
              <a:buClr>
                <a:schemeClr val="dk1"/>
              </a:buClr>
              <a:buSzPts val="2400"/>
            </a:pP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небольшой нагрев 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Проведено экспериментальное исследование по подготовке атомов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87Rb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в магнито-нечувствительное состояние. Достигнутая эффективность оптической накачки составила 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а нагрев всего лишь 1 мкК, что близко к результатам численного моделирования. Благодаря применению данного способа подготовки атомов в квантовом гравиметре продемонстрирована </a:t>
            </a:r>
            <a:r>
              <a:rPr lang="ru-RU" sz="1800" dirty="0">
                <a:solidFill>
                  <a:schemeClr val="dk1"/>
                </a:solidFill>
                <a:latin typeface="Times New Roman" panose="02020603050405020304" pitchFamily="18" charset="0"/>
                <a:cs typeface="Times New Roman" panose="02020603050405020304" pitchFamily="18" charset="0"/>
                <a:sym typeface="Times New Roman"/>
              </a:rPr>
              <a:t>чувствительность около 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вибрационного шума для сигнала атомного интерферометра. Экспериментальная проверка данной системы привела к увеличению чувствительности гравиметра в два раза в условиях повышенных </a:t>
            </a:r>
            <a:r>
              <a:rPr lang="ru-RU" sz="1800">
                <a:solidFill>
                  <a:schemeClr val="dk1"/>
                </a:solidFill>
                <a:latin typeface="Times New Roman" panose="02020603050405020304" pitchFamily="18" charset="0"/>
                <a:ea typeface="Times New Roman"/>
                <a:cs typeface="Times New Roman" panose="02020603050405020304" pitchFamily="18" charset="0"/>
                <a:sym typeface="Times New Roman"/>
              </a:rPr>
              <a:t>вибрационных возмущений.</a:t>
            </a: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5">
            <a:extLst>
              <a:ext uri="{FF2B5EF4-FFF2-40B4-BE49-F238E27FC236}">
                <a16:creationId xmlns:a16="http://schemas.microsoft.com/office/drawing/2014/main" id="{A6574AE1-2241-61BD-B020-065272383BFF}"/>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2564780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3"/>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p:cNvSpPr txBox="1"/>
          <p:nvPr/>
        </p:nvSpPr>
        <p:spPr>
          <a:xfrm>
            <a:off x="1339847" y="1485755"/>
            <a:ext cx="9239321" cy="430883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нагрев 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Проведена оптическая накачка в магнито-нечувствительное состояние с эффективность 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 и нагревом в 1 мкК, что близко к результатам численного моделирования.</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Применения оптической накачки на этапе подготовки атомов </a:t>
            </a:r>
            <a:r>
              <a:rPr lang="en-US" sz="1800" baseline="30000" dirty="0">
                <a:solidFill>
                  <a:schemeClr val="dk1"/>
                </a:solidFill>
                <a:latin typeface="Times New Roman" panose="02020603050405020304" pitchFamily="18" charset="0"/>
                <a:cs typeface="Times New Roman" panose="02020603050405020304" pitchFamily="18" charset="0"/>
                <a:sym typeface="Times New Roman"/>
              </a:rPr>
              <a:t>87</a:t>
            </a:r>
            <a:r>
              <a:rPr lang="en-US" sz="1800" dirty="0">
                <a:solidFill>
                  <a:schemeClr val="dk1"/>
                </a:solidFill>
                <a:latin typeface="Times New Roman" panose="02020603050405020304" pitchFamily="18" charset="0"/>
                <a:cs typeface="Times New Roman" panose="02020603050405020304" pitchFamily="18" charset="0"/>
                <a:sym typeface="Times New Roman"/>
              </a:rPr>
              <a:t>Rb</a:t>
            </a:r>
            <a:r>
              <a:rPr lang="ru-RU" sz="1800" dirty="0">
                <a:solidFill>
                  <a:schemeClr val="dk1"/>
                </a:solidFill>
                <a:latin typeface="Times New Roman" panose="02020603050405020304" pitchFamily="18" charset="0"/>
                <a:cs typeface="Times New Roman" panose="02020603050405020304" pitchFamily="18" charset="0"/>
                <a:sym typeface="Times New Roman"/>
              </a:rPr>
              <a:t> в немагнитном квантовом состоянии в сочетании с другими процедурами позволило достигнуть чувствительность 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измерений квантового гравиметра на основе измерений акселерометра и платы сбора данных</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Red Pitaya</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с целью компенсации фазового сдвига в сигнале атомной интерференции, вызванного вибрациями установки. Реализовано программное обеспечение для сбора и анализа данных для расчета и применения данной поправки. Использование данного алгоритма позволило увеличить чувствительности квантового гравиметра в два раза.</a:t>
            </a:r>
          </a:p>
        </p:txBody>
      </p:sp>
      <p:sp>
        <p:nvSpPr>
          <p:cNvPr id="6" name="TextBox 5">
            <a:extLst>
              <a:ext uri="{FF2B5EF4-FFF2-40B4-BE49-F238E27FC236}">
                <a16:creationId xmlns:a16="http://schemas.microsoft.com/office/drawing/2014/main" id="{A7EB3360-CB57-4ACC-9572-5FD9B50D06F8}"/>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p8">
            <a:extLst>
              <a:ext uri="{FF2B5EF4-FFF2-40B4-BE49-F238E27FC236}">
                <a16:creationId xmlns:a16="http://schemas.microsoft.com/office/drawing/2014/main" id="{29231A27-E450-41D8-A924-F74AF49F383D}"/>
              </a:ext>
            </a:extLst>
          </p:cNvPr>
          <p:cNvSpPr txBox="1"/>
          <p:nvPr/>
        </p:nvSpPr>
        <p:spPr>
          <a:xfrm>
            <a:off x="2108129" y="874495"/>
            <a:ext cx="8410322" cy="110795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Статьи:</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Интерференция ультрахолодных атомов 87 Rb в квантовом гравиметре / Д. Н. Капуста, А. 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 Н. Гончаров [и др.]. — Текст : непосредственный // ЖЭТФ. — 2025. — № 1. — С. 47-54.</a:t>
            </a:r>
          </a:p>
        </p:txBody>
      </p:sp>
      <p:sp>
        <p:nvSpPr>
          <p:cNvPr id="4" name="Google Shape;340;p8">
            <a:extLst>
              <a:ext uri="{FF2B5EF4-FFF2-40B4-BE49-F238E27FC236}">
                <a16:creationId xmlns:a16="http://schemas.microsoft.com/office/drawing/2014/main" id="{29231A27-E450-41D8-A924-F74AF49F383D}"/>
              </a:ext>
            </a:extLst>
          </p:cNvPr>
          <p:cNvSpPr txBox="1"/>
          <p:nvPr/>
        </p:nvSpPr>
        <p:spPr>
          <a:xfrm>
            <a:off x="3781678" y="147329"/>
            <a:ext cx="8410322" cy="61551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Апробация результатов</a:t>
            </a:r>
          </a:p>
        </p:txBody>
      </p:sp>
      <p:sp>
        <p:nvSpPr>
          <p:cNvPr id="5" name="Google Shape;340;p8">
            <a:extLst>
              <a:ext uri="{FF2B5EF4-FFF2-40B4-BE49-F238E27FC236}">
                <a16:creationId xmlns:a16="http://schemas.microsoft.com/office/drawing/2014/main" id="{29231A27-E450-41D8-A924-F74AF49F383D}"/>
              </a:ext>
            </a:extLst>
          </p:cNvPr>
          <p:cNvSpPr txBox="1"/>
          <p:nvPr/>
        </p:nvSpPr>
        <p:spPr>
          <a:xfrm>
            <a:off x="2108129" y="1982450"/>
            <a:ext cx="8410322" cy="29238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Конференции</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ФУХА-2024 (Новосибирск). – 2024 декабрь. – с. 29.</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КВНО-2025 (Санкт-Петербург). – 2025 апрель.</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Подготовка начального волнового пакета для квантового интерферометра-гравиметра</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МНСК-2025 (Новосибирск). – 2025 апрель.</a:t>
            </a:r>
          </a:p>
        </p:txBody>
      </p:sp>
      <p:sp>
        <p:nvSpPr>
          <p:cNvPr id="6" name="TextBox 5">
            <a:extLst>
              <a:ext uri="{FF2B5EF4-FFF2-40B4-BE49-F238E27FC236}">
                <a16:creationId xmlns:a16="http://schemas.microsoft.com/office/drawing/2014/main" id="{5836EB2D-2CF5-452C-9CE6-0A5E961FBED9}"/>
              </a:ext>
            </a:extLst>
          </p:cNvPr>
          <p:cNvSpPr txBox="1"/>
          <p:nvPr/>
        </p:nvSpPr>
        <p:spPr>
          <a:xfrm>
            <a:off x="11681925" y="6408575"/>
            <a:ext cx="553617"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878905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9" name="Google Shape;389;p39"/>
          <p:cNvSpPr/>
          <p:nvPr/>
        </p:nvSpPr>
        <p:spPr>
          <a:xfrm>
            <a:off x="2640622" y="83724"/>
            <a:ext cx="6910755" cy="5393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Моделирование оптической накачки</a:t>
            </a:r>
            <a:endParaRPr sz="1400" b="0" i="0" u="none" strike="noStrike" cap="none" dirty="0">
              <a:solidFill>
                <a:srgbClr val="000000"/>
              </a:solidFill>
              <a:latin typeface="Arial"/>
              <a:ea typeface="Arial"/>
              <a:cs typeface="Arial"/>
              <a:sym typeface="Arial"/>
            </a:endParaRPr>
          </a:p>
        </p:txBody>
      </p:sp>
      <p:sp>
        <p:nvSpPr>
          <p:cNvPr id="390" name="Google Shape;390;p39"/>
          <p:cNvSpPr txBox="1"/>
          <p:nvPr/>
        </p:nvSpPr>
        <p:spPr>
          <a:xfrm>
            <a:off x="5847081" y="817199"/>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(1)</a:t>
            </a:r>
            <a:endParaRPr dirty="0"/>
          </a:p>
        </p:txBody>
      </p:sp>
      <p:sp>
        <p:nvSpPr>
          <p:cNvPr id="391" name="Google Shape;391;p39"/>
          <p:cNvSpPr txBox="1"/>
          <p:nvPr/>
        </p:nvSpPr>
        <p:spPr>
          <a:xfrm>
            <a:off x="5855796" y="1528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(2)</a:t>
            </a:r>
            <a:endParaRPr dirty="0"/>
          </a:p>
        </p:txBody>
      </p:sp>
      <p:sp>
        <p:nvSpPr>
          <p:cNvPr id="392" name="Google Shape;392;p39"/>
          <p:cNvSpPr txBox="1"/>
          <p:nvPr/>
        </p:nvSpPr>
        <p:spPr>
          <a:xfrm>
            <a:off x="5821509" y="2133478"/>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(3)</a:t>
            </a:r>
            <a:endParaRPr dirty="0"/>
          </a:p>
        </p:txBody>
      </p:sp>
      <p:sp>
        <p:nvSpPr>
          <p:cNvPr id="394" name="Google Shape;394;p39"/>
          <p:cNvSpPr txBox="1"/>
          <p:nvPr/>
        </p:nvSpPr>
        <p:spPr>
          <a:xfrm>
            <a:off x="4204746" y="6517813"/>
            <a:ext cx="63416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a:t>
            </a:r>
            <a:r>
              <a:rPr lang="ru-RU" sz="1400" b="0" i="0" u="none" strike="noStrike" cap="none" dirty="0" err="1">
                <a:solidFill>
                  <a:srgbClr val="000000"/>
                </a:solidFill>
                <a:latin typeface="Times New Roman"/>
                <a:ea typeface="Times New Roman"/>
                <a:cs typeface="Times New Roman"/>
                <a:sym typeface="Times New Roman"/>
              </a:rPr>
              <a:t>Atoneche</a:t>
            </a:r>
            <a:r>
              <a:rPr lang="ru-RU" sz="1400" b="0" i="0" u="none" strike="noStrike" cap="none" dirty="0">
                <a:solidFill>
                  <a:srgbClr val="000000"/>
                </a:solidFill>
                <a:latin typeface="Times New Roman"/>
                <a:ea typeface="Times New Roman"/>
                <a:cs typeface="Times New Roman"/>
                <a:sym typeface="Times New Roman"/>
              </a:rPr>
              <a:t>, A. </a:t>
            </a:r>
            <a:r>
              <a:rPr lang="ru-RU" sz="1400" b="0" i="0" u="none" strike="noStrike" cap="none" dirty="0" err="1">
                <a:solidFill>
                  <a:srgbClr val="000000"/>
                </a:solidFill>
                <a:latin typeface="Times New Roman"/>
                <a:ea typeface="Times New Roman"/>
                <a:cs typeface="Times New Roman"/>
                <a:sym typeface="Times New Roman"/>
              </a:rPr>
              <a:t>Kastberg</a:t>
            </a:r>
            <a:r>
              <a:rPr lang="ru-RU" sz="1400" b="0" i="0" u="none" strike="noStrike" cap="none" dirty="0">
                <a:solidFill>
                  <a:srgbClr val="000000"/>
                </a:solidFill>
                <a:latin typeface="Times New Roman"/>
                <a:ea typeface="Times New Roman"/>
                <a:cs typeface="Times New Roman"/>
                <a:sym typeface="Times New Roman"/>
              </a:rPr>
              <a:t>, European Journal </a:t>
            </a:r>
            <a:r>
              <a:rPr lang="ru-RU" sz="1400" b="0" i="0" u="none" strike="noStrike" cap="none" dirty="0" err="1">
                <a:solidFill>
                  <a:srgbClr val="000000"/>
                </a:solidFill>
                <a:latin typeface="Times New Roman"/>
                <a:ea typeface="Times New Roman"/>
                <a:cs typeface="Times New Roman"/>
                <a:sym typeface="Times New Roman"/>
              </a:rPr>
              <a:t>of</a:t>
            </a:r>
            <a:r>
              <a:rPr lang="ru-RU" sz="1400" b="0" i="0" u="none" strike="noStrike" cap="none" dirty="0">
                <a:solidFill>
                  <a:srgbClr val="000000"/>
                </a:solidFill>
                <a:latin typeface="Times New Roman"/>
                <a:ea typeface="Times New Roman"/>
                <a:cs typeface="Times New Roman"/>
                <a:sym typeface="Times New Roman"/>
              </a:rPr>
              <a:t> </a:t>
            </a:r>
            <a:r>
              <a:rPr lang="ru-RU" sz="1400" b="0" i="0" u="none" strike="noStrike" cap="none" dirty="0" err="1">
                <a:solidFill>
                  <a:srgbClr val="000000"/>
                </a:solidFill>
                <a:latin typeface="Times New Roman"/>
                <a:ea typeface="Times New Roman"/>
                <a:cs typeface="Times New Roman"/>
                <a:sym typeface="Times New Roman"/>
              </a:rPr>
              <a:t>Physics</a:t>
            </a:r>
            <a:r>
              <a:rPr lang="ru-RU" sz="1400" b="0" i="0" u="none" strike="noStrike" cap="none" dirty="0">
                <a:solidFill>
                  <a:srgbClr val="000000"/>
                </a:solidFill>
                <a:latin typeface="Times New Roman"/>
                <a:ea typeface="Times New Roman"/>
                <a:cs typeface="Times New Roman"/>
                <a:sym typeface="Times New Roman"/>
              </a:rPr>
              <a:t> 38.4, 045703 (2017).</a:t>
            </a:r>
            <a:endParaRPr sz="1400" b="0" i="0" u="none" strike="noStrike" cap="none" dirty="0">
              <a:solidFill>
                <a:srgbClr val="000000"/>
              </a:solidFill>
              <a:latin typeface="Times New Roman"/>
              <a:ea typeface="Times New Roman"/>
              <a:cs typeface="Times New Roman"/>
              <a:sym typeface="Times New Roman"/>
            </a:endParaRPr>
          </a:p>
        </p:txBody>
      </p:sp>
      <p:grpSp>
        <p:nvGrpSpPr>
          <p:cNvPr id="398" name="Google Shape;398;p39"/>
          <p:cNvGrpSpPr/>
          <p:nvPr/>
        </p:nvGrpSpPr>
        <p:grpSpPr>
          <a:xfrm>
            <a:off x="8257414" y="1369553"/>
            <a:ext cx="2288943" cy="2386967"/>
            <a:chOff x="7675472" y="1286220"/>
            <a:chExt cx="2288943" cy="2386967"/>
          </a:xfrm>
        </p:grpSpPr>
        <p:cxnSp>
          <p:nvCxnSpPr>
            <p:cNvPr id="399" name="Google Shape;399;p39"/>
            <p:cNvCxnSpPr/>
            <p:nvPr/>
          </p:nvCxnSpPr>
          <p:spPr>
            <a:xfrm>
              <a:off x="7675472" y="3309245"/>
              <a:ext cx="927946" cy="1349"/>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0" name="Google Shape;400;p39"/>
            <p:cNvSpPr txBox="1"/>
            <p:nvPr/>
          </p:nvSpPr>
          <p:spPr>
            <a:xfrm>
              <a:off x="7973080" y="3365410"/>
              <a:ext cx="5418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cxnSp>
          <p:nvCxnSpPr>
            <p:cNvPr id="401" name="Google Shape;401;p39"/>
            <p:cNvCxnSpPr/>
            <p:nvPr/>
          </p:nvCxnSpPr>
          <p:spPr>
            <a:xfrm>
              <a:off x="9243498" y="2821794"/>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2" name="Google Shape;402;p39"/>
            <p:cNvSpPr txBox="1"/>
            <p:nvPr/>
          </p:nvSpPr>
          <p:spPr>
            <a:xfrm>
              <a:off x="9342103" y="2845792"/>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2</a:t>
              </a:r>
              <a:endParaRPr sz="1400" b="0" i="0" u="none" strike="noStrike" cap="none" baseline="-25000" dirty="0">
                <a:solidFill>
                  <a:srgbClr val="000000"/>
                </a:solidFill>
                <a:latin typeface="Arial"/>
                <a:ea typeface="Arial"/>
                <a:cs typeface="Arial"/>
                <a:sym typeface="Arial"/>
              </a:endParaRPr>
            </a:p>
          </p:txBody>
        </p:sp>
        <p:cxnSp>
          <p:nvCxnSpPr>
            <p:cNvPr id="403" name="Google Shape;403;p39"/>
            <p:cNvCxnSpPr/>
            <p:nvPr/>
          </p:nvCxnSpPr>
          <p:spPr>
            <a:xfrm>
              <a:off x="8447631" y="1620378"/>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4" name="Google Shape;404;p39"/>
            <p:cNvSpPr txBox="1"/>
            <p:nvPr/>
          </p:nvSpPr>
          <p:spPr>
            <a:xfrm>
              <a:off x="8560576" y="1286220"/>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e</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grpSp>
          <p:nvGrpSpPr>
            <p:cNvPr id="405" name="Google Shape;405;p39"/>
            <p:cNvGrpSpPr/>
            <p:nvPr/>
          </p:nvGrpSpPr>
          <p:grpSpPr>
            <a:xfrm rot="1429140">
              <a:off x="8146741" y="1652422"/>
              <a:ext cx="0" cy="1623907"/>
              <a:chOff x="10160000" y="3429000"/>
              <a:chExt cx="0" cy="1623907"/>
            </a:xfrm>
          </p:grpSpPr>
          <p:cxnSp>
            <p:nvCxnSpPr>
              <p:cNvPr id="406" name="Google Shape;406;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08" name="Google Shape;408;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09" name="Google Shape;409;p39"/>
            <p:cNvGrpSpPr/>
            <p:nvPr/>
          </p:nvGrpSpPr>
          <p:grpSpPr>
            <a:xfrm rot="-1879641">
              <a:off x="9249827" y="1651472"/>
              <a:ext cx="0" cy="1192945"/>
              <a:chOff x="10160000" y="3429000"/>
              <a:chExt cx="0" cy="1623907"/>
            </a:xfrm>
          </p:grpSpPr>
          <p:cxnSp>
            <p:nvCxnSpPr>
              <p:cNvPr id="410" name="Google Shape;410;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12" name="Google Shape;412;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13" name="Google Shape;413;p39"/>
            <p:cNvGrpSpPr/>
            <p:nvPr/>
          </p:nvGrpSpPr>
          <p:grpSpPr>
            <a:xfrm rot="-10320581">
              <a:off x="8599830" y="1691863"/>
              <a:ext cx="0" cy="1529262"/>
              <a:chOff x="10160000" y="3429000"/>
              <a:chExt cx="0" cy="1623907"/>
            </a:xfrm>
          </p:grpSpPr>
          <p:cxnSp>
            <p:nvCxnSpPr>
              <p:cNvPr id="414" name="Google Shape;414;p39"/>
              <p:cNvCxnSpPr/>
              <p:nvPr/>
            </p:nvCxnSpPr>
            <p:spPr>
              <a:xfrm>
                <a:off x="10160000" y="4416213"/>
                <a:ext cx="0" cy="636694"/>
              </a:xfrm>
              <a:prstGeom prst="straightConnector1">
                <a:avLst/>
              </a:prstGeom>
              <a:noFill/>
              <a:ln w="28575" cap="flat" cmpd="sng">
                <a:solidFill>
                  <a:srgbClr val="FF0000"/>
                </a:solidFill>
                <a:prstDash val="solid"/>
                <a:round/>
                <a:headEnd type="none" w="sm" len="sm"/>
                <a:tailEnd type="triangle" w="med" len="med"/>
              </a:ln>
            </p:spPr>
          </p:cxnSp>
          <p:cxnSp>
            <p:nvCxnSpPr>
              <p:cNvPr id="416" name="Google Shape;416;p39"/>
              <p:cNvCxnSpPr/>
              <p:nvPr/>
            </p:nvCxnSpPr>
            <p:spPr>
              <a:xfrm>
                <a:off x="10160000" y="3429000"/>
                <a:ext cx="0" cy="636694"/>
              </a:xfrm>
              <a:prstGeom prst="straightConnector1">
                <a:avLst/>
              </a:prstGeom>
              <a:noFill/>
              <a:ln w="28575" cap="flat" cmpd="sng">
                <a:solidFill>
                  <a:srgbClr val="FF0000"/>
                </a:solidFill>
                <a:prstDash val="solid"/>
                <a:round/>
                <a:headEnd type="stealth" w="med" len="med"/>
                <a:tailEnd type="none" w="sm" len="sm"/>
              </a:ln>
            </p:spPr>
          </p:cxnSp>
        </p:grpSp>
      </p:grpSp>
      <p:sp>
        <p:nvSpPr>
          <p:cNvPr id="417" name="Google Shape;417;p39"/>
          <p:cNvSpPr txBox="1"/>
          <p:nvPr/>
        </p:nvSpPr>
        <p:spPr>
          <a:xfrm>
            <a:off x="7000673" y="3741252"/>
            <a:ext cx="483831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b="0" i="0" u="none" strike="noStrike" cap="none" dirty="0">
                <a:solidFill>
                  <a:srgbClr val="000000"/>
                </a:solidFill>
                <a:latin typeface="Times New Roman"/>
                <a:ea typeface="Times New Roman"/>
                <a:cs typeface="Times New Roman"/>
                <a:sym typeface="Times New Roman"/>
              </a:rPr>
              <a:t>Рис. 7. Принципиальная схема оптической накачки в магнито-нечувствительное состояние.</a:t>
            </a:r>
            <a:endParaRPr b="0" i="0" u="none" strike="noStrike" cap="none" dirty="0">
              <a:solidFill>
                <a:srgbClr val="000000"/>
              </a:solidFill>
              <a:latin typeface="Arial"/>
              <a:ea typeface="Arial"/>
              <a:cs typeface="Arial"/>
              <a:sym typeface="Arial"/>
            </a:endParaRPr>
          </a:p>
        </p:txBody>
      </p:sp>
      <p:sp>
        <p:nvSpPr>
          <p:cNvPr id="418" name="Google Shape;418;p39"/>
          <p:cNvSpPr txBox="1"/>
          <p:nvPr/>
        </p:nvSpPr>
        <p:spPr>
          <a:xfrm>
            <a:off x="5807514" y="2815847"/>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(4)</a:t>
            </a:r>
            <a:endParaRPr sz="140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4F5967E-D4F9-4842-B0EB-39DB23D352F1}"/>
              </a:ext>
            </a:extLst>
          </p:cNvPr>
          <p:cNvSpPr txBox="1"/>
          <p:nvPr/>
        </p:nvSpPr>
        <p:spPr>
          <a:xfrm>
            <a:off x="8975152" y="2366927"/>
            <a:ext cx="1107233" cy="307777"/>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R</a:t>
            </a:r>
            <a:r>
              <a:rPr lang="en-US" baseline="-25000" dirty="0">
                <a:solidFill>
                  <a:srgbClr val="FF0000"/>
                </a:solidFill>
                <a:latin typeface="Times New Roman" panose="02020603050405020304" pitchFamily="18" charset="0"/>
                <a:cs typeface="Times New Roman" panose="02020603050405020304" pitchFamily="18" charset="0"/>
              </a:rPr>
              <a:t>11</a:t>
            </a:r>
            <a:endParaRPr lang="ru-RU" baseline="-25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5C2B33-9DCB-4AFD-A255-467C2A05B4AF}"/>
              </a:ext>
            </a:extLst>
          </p:cNvPr>
          <p:cNvSpPr txBox="1"/>
          <p:nvPr/>
        </p:nvSpPr>
        <p:spPr>
          <a:xfrm>
            <a:off x="8491886" y="2396931"/>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ru-RU" baseline="-25000" dirty="0">
                <a:solidFill>
                  <a:srgbClr val="00B050"/>
                </a:solidFill>
                <a:latin typeface="Times New Roman" panose="02020603050405020304" pitchFamily="18" charset="0"/>
                <a:cs typeface="Times New Roman" panose="02020603050405020304" pitchFamily="18" charset="0"/>
              </a:rPr>
              <a:t>11</a:t>
            </a:r>
          </a:p>
        </p:txBody>
      </p:sp>
      <p:sp>
        <p:nvSpPr>
          <p:cNvPr id="38" name="TextBox 37">
            <a:extLst>
              <a:ext uri="{FF2B5EF4-FFF2-40B4-BE49-F238E27FC236}">
                <a16:creationId xmlns:a16="http://schemas.microsoft.com/office/drawing/2014/main" id="{4531E132-C4B3-421F-ADA7-7C75D186F689}"/>
              </a:ext>
            </a:extLst>
          </p:cNvPr>
          <p:cNvSpPr txBox="1"/>
          <p:nvPr/>
        </p:nvSpPr>
        <p:spPr>
          <a:xfrm>
            <a:off x="9618412" y="2166485"/>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en-US" baseline="-25000" dirty="0">
                <a:solidFill>
                  <a:srgbClr val="00B050"/>
                </a:solidFill>
                <a:latin typeface="Times New Roman" panose="02020603050405020304" pitchFamily="18" charset="0"/>
                <a:cs typeface="Times New Roman" panose="02020603050405020304" pitchFamily="18" charset="0"/>
              </a:rPr>
              <a:t>2</a:t>
            </a:r>
            <a:r>
              <a:rPr lang="ru-RU" baseline="-25000" dirty="0">
                <a:solidFill>
                  <a:srgbClr val="00B050"/>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9BE1B8A-953A-40F9-8B17-DD9A0A91F65D}"/>
                  </a:ext>
                </a:extLst>
              </p:cNvPr>
              <p:cNvSpPr txBox="1"/>
              <p:nvPr/>
            </p:nvSpPr>
            <p:spPr>
              <a:xfrm>
                <a:off x="867197" y="631446"/>
                <a:ext cx="1683184" cy="722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a:latin typeface="Cambria Math" panose="02040503050406030204" pitchFamily="18" charset="0"/>
                            </a:rPr>
                            <m:t>Г</m:t>
                          </m:r>
                        </m:e>
                        <m:sub>
                          <m:r>
                            <a:rPr lang="ru-RU" i="1">
                              <a:latin typeface="Cambria Math" panose="02040503050406030204" pitchFamily="18" charset="0"/>
                            </a:rPr>
                            <m:t>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=1</m:t>
                          </m:r>
                        </m:sub>
                        <m:sup>
                          <m:r>
                            <a:rPr lang="ru-RU" i="1">
                              <a:latin typeface="Cambria Math" panose="02040503050406030204" pitchFamily="18" charset="0"/>
                            </a:rPr>
                            <m:t>𝑁</m:t>
                          </m:r>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e>
                      </m:nary>
                      <m:r>
                        <a:rPr lang="ru-RU" b="0" i="1" smtClean="0">
                          <a:latin typeface="Cambria Math" panose="02040503050406030204" pitchFamily="18" charset="0"/>
                        </a:rPr>
                        <m:t>,</m:t>
                      </m:r>
                    </m:oMath>
                  </m:oMathPara>
                </a14:m>
                <a:endParaRPr lang="ru-RU" dirty="0"/>
              </a:p>
            </p:txBody>
          </p:sp>
        </mc:Choice>
        <mc:Fallback xmlns="">
          <p:sp>
            <p:nvSpPr>
              <p:cNvPr id="35" name="TextBox 34">
                <a:extLst>
                  <a:ext uri="{FF2B5EF4-FFF2-40B4-BE49-F238E27FC236}">
                    <a16:creationId xmlns:a16="http://schemas.microsoft.com/office/drawing/2014/main" id="{29BE1B8A-953A-40F9-8B17-DD9A0A91F65D}"/>
                  </a:ext>
                </a:extLst>
              </p:cNvPr>
              <p:cNvSpPr txBox="1">
                <a:spLocks noRot="1" noChangeAspect="1" noMove="1" noResize="1" noEditPoints="1" noAdjustHandles="1" noChangeArrowheads="1" noChangeShapeType="1" noTextEdit="1"/>
              </p:cNvSpPr>
              <p:nvPr/>
            </p:nvSpPr>
            <p:spPr>
              <a:xfrm>
                <a:off x="867197" y="631446"/>
                <a:ext cx="1683184" cy="722505"/>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9B134FA-BCAE-424B-8058-92E1B494C264}"/>
                  </a:ext>
                </a:extLst>
              </p:cNvPr>
              <p:cNvSpPr txBox="1"/>
              <p:nvPr/>
            </p:nvSpPr>
            <p:spPr>
              <a:xfrm>
                <a:off x="913918" y="2624514"/>
                <a:ext cx="4613300" cy="690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i="1">
                              <a:latin typeface="Cambria Math" panose="02040503050406030204" pitchFamily="18" charset="0"/>
                            </a:rPr>
                            <m:t>𝑑</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um>
                        <m:den>
                          <m:r>
                            <a:rPr lang="ru-RU" i="1">
                              <a:latin typeface="Cambria Math" panose="02040503050406030204" pitchFamily="18" charset="0"/>
                            </a:rPr>
                            <m:t>𝑑𝑡</m:t>
                          </m:r>
                        </m:den>
                      </m:f>
                      <m:r>
                        <a:rPr lang="ru-RU" i="0">
                          <a:latin typeface="Cambria Math" panose="02040503050406030204" pitchFamily="18" charset="0"/>
                        </a:rPr>
                        <m:t>=</m:t>
                      </m:r>
                      <m:nary>
                        <m:naryPr>
                          <m:chr m:val="∑"/>
                          <m:limLoc m:val="undOvr"/>
                          <m:supHide m:val="on"/>
                          <m:ctrlPr>
                            <a:rPr lang="ru-RU" i="1" smtClean="0">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m:t>
                          </m:r>
                          <m:r>
                            <a:rPr lang="ru-RU" i="1">
                              <a:latin typeface="Cambria Math" panose="02040503050406030204" pitchFamily="18" charset="0"/>
                            </a:rPr>
                            <m:t>𝑛</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𝑗</m:t>
                              </m:r>
                            </m:sub>
                          </m:sSub>
                          <m:d>
                            <m:dPr>
                              <m:ctrlPr>
                                <a:rPr lang="ru-RU" i="1">
                                  <a:solidFill>
                                    <a:srgbClr val="836967"/>
                                  </a:solidFill>
                                  <a:latin typeface="Cambria Math" panose="02040503050406030204" pitchFamily="18" charset="0"/>
                                </a:rPr>
                              </m:ctrlPr>
                            </m:dPr>
                            <m:e>
                              <m:r>
                                <a:rPr lang="ru-RU" i="1">
                                  <a:latin typeface="Cambria Math" panose="02040503050406030204" pitchFamily="18" charset="0"/>
                                </a:rPr>
                                <m:t>𝑡</m:t>
                              </m:r>
                            </m:e>
                          </m:d>
                          <m:d>
                            <m:dPr>
                              <m:begChr m:val="["/>
                              <m:endChr m:val="]"/>
                              <m:ctrlPr>
                                <a:rPr lang="ru-RU" i="1">
                                  <a:solidFill>
                                    <a:srgbClr val="836967"/>
                                  </a:solidFill>
                                  <a:latin typeface="Cambria Math" panose="02040503050406030204" pitchFamily="18" charset="0"/>
                                </a:rPr>
                              </m:ctrlPr>
                            </m:dPr>
                            <m:e>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nary>
                            </m:e>
                          </m:d>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d>
                                <m:dPr>
                                  <m:ctrlPr>
                                    <a:rPr lang="ru-RU" i="1">
                                      <a:solidFill>
                                        <a:srgbClr val="836967"/>
                                      </a:solidFill>
                                      <a:latin typeface="Cambria Math" panose="02040503050406030204" pitchFamily="18" charset="0"/>
                                    </a:rPr>
                                  </m:ctrlPr>
                                </m:dPr>
                                <m:e>
                                  <m:r>
                                    <a:rPr lang="ru-RU" i="0">
                                      <a:latin typeface="Cambria Math" panose="02040503050406030204" pitchFamily="18" charset="0"/>
                                    </a:rPr>
                                    <m:t>1−</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d>
                            </m:e>
                          </m:nary>
                          <m:r>
                            <a:rPr lang="ru-RU" b="0" i="1" smtClean="0">
                              <a:latin typeface="Cambria Math" panose="02040503050406030204" pitchFamily="18" charset="0"/>
                            </a:rPr>
                            <m:t>,</m:t>
                          </m:r>
                        </m:e>
                      </m:nary>
                    </m:oMath>
                  </m:oMathPara>
                </a14:m>
                <a:endParaRPr lang="ru-RU" dirty="0"/>
              </a:p>
            </p:txBody>
          </p:sp>
        </mc:Choice>
        <mc:Fallback xmlns="">
          <p:sp>
            <p:nvSpPr>
              <p:cNvPr id="37" name="TextBox 36">
                <a:extLst>
                  <a:ext uri="{FF2B5EF4-FFF2-40B4-BE49-F238E27FC236}">
                    <a16:creationId xmlns:a16="http://schemas.microsoft.com/office/drawing/2014/main" id="{A9B134FA-BCAE-424B-8058-92E1B494C264}"/>
                  </a:ext>
                </a:extLst>
              </p:cNvPr>
              <p:cNvSpPr txBox="1">
                <a:spLocks noRot="1" noChangeAspect="1" noMove="1" noResize="1" noEditPoints="1" noAdjustHandles="1" noChangeArrowheads="1" noChangeShapeType="1" noTextEdit="1"/>
              </p:cNvSpPr>
              <p:nvPr/>
            </p:nvSpPr>
            <p:spPr>
              <a:xfrm>
                <a:off x="913918" y="2624514"/>
                <a:ext cx="4613300" cy="690445"/>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B3F2F19-6460-4369-BABA-AA6847BB5756}"/>
                  </a:ext>
                </a:extLst>
              </p:cNvPr>
              <p:cNvSpPr txBox="1"/>
              <p:nvPr/>
            </p:nvSpPr>
            <p:spPr>
              <a:xfrm>
                <a:off x="1021326" y="1391137"/>
                <a:ext cx="2450786" cy="774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num>
                        <m:den>
                          <m:r>
                            <a:rPr lang="ru-RU" i="0">
                              <a:latin typeface="Cambria Math" panose="02040503050406030204" pitchFamily="18" charset="0"/>
                            </a:rPr>
                            <m:t>2</m:t>
                          </m:r>
                        </m:den>
                      </m:f>
                      <m:f>
                        <m:fPr>
                          <m:ctrlPr>
                            <a:rPr lang="ru-RU" i="1">
                              <a:solidFill>
                                <a:srgbClr val="836967"/>
                              </a:solidFill>
                              <a:latin typeface="Cambria Math" panose="02040503050406030204" pitchFamily="18" charset="0"/>
                            </a:rPr>
                          </m:ctrlPr>
                        </m:fPr>
                        <m:num>
                          <m:r>
                            <a:rPr lang="ru-RU" i="1">
                              <a:latin typeface="Cambria Math" panose="02040503050406030204" pitchFamily="18" charset="0"/>
                            </a:rPr>
                            <m:t>𝑆</m:t>
                          </m:r>
                        </m:num>
                        <m:den>
                          <m:r>
                            <a:rPr lang="ru-RU" i="0">
                              <a:latin typeface="Cambria Math" panose="02040503050406030204" pitchFamily="18" charset="0"/>
                            </a:rPr>
                            <m:t>1+</m:t>
                          </m:r>
                          <m:r>
                            <a:rPr lang="ru-RU" i="1">
                              <a:latin typeface="Cambria Math" panose="02040503050406030204" pitchFamily="18" charset="0"/>
                            </a:rPr>
                            <m:t>𝑆</m:t>
                          </m:r>
                          <m:r>
                            <a:rPr lang="ru-RU" i="0">
                              <a:latin typeface="Cambria Math" panose="02040503050406030204" pitchFamily="18" charset="0"/>
                            </a:rPr>
                            <m:t>+</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2∆</m:t>
                                          </m:r>
                                        </m:e>
                                        <m:sub>
                                          <m:r>
                                            <a:rPr lang="ru-RU" i="1">
                                              <a:latin typeface="Cambria Math" panose="02040503050406030204" pitchFamily="18" charset="0"/>
                                            </a:rPr>
                                            <m:t>𝑗𝑘</m:t>
                                          </m:r>
                                        </m:sub>
                                      </m:sSub>
                                    </m:num>
                                    <m:den>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den>
                                  </m:f>
                                </m:e>
                              </m:d>
                            </m:e>
                            <m:sup>
                              <m:r>
                                <a:rPr lang="ru-RU" i="0">
                                  <a:latin typeface="Cambria Math" panose="02040503050406030204" pitchFamily="18" charset="0"/>
                                </a:rPr>
                                <m:t>2</m:t>
                              </m:r>
                            </m:sup>
                          </m:sSup>
                        </m:den>
                      </m:f>
                      <m:r>
                        <a:rPr lang="ru-RU" b="0" i="1" smtClean="0">
                          <a:latin typeface="Cambria Math" panose="02040503050406030204" pitchFamily="18" charset="0"/>
                        </a:rPr>
                        <m:t>,</m:t>
                      </m:r>
                    </m:oMath>
                  </m:oMathPara>
                </a14:m>
                <a:endParaRPr lang="ru-RU" dirty="0"/>
              </a:p>
            </p:txBody>
          </p:sp>
        </mc:Choice>
        <mc:Fallback xmlns="">
          <p:sp>
            <p:nvSpPr>
              <p:cNvPr id="39" name="TextBox 38">
                <a:extLst>
                  <a:ext uri="{FF2B5EF4-FFF2-40B4-BE49-F238E27FC236}">
                    <a16:creationId xmlns:a16="http://schemas.microsoft.com/office/drawing/2014/main" id="{9B3F2F19-6460-4369-BABA-AA6847BB5756}"/>
                  </a:ext>
                </a:extLst>
              </p:cNvPr>
              <p:cNvSpPr txBox="1">
                <a:spLocks noRot="1" noChangeAspect="1" noMove="1" noResize="1" noEditPoints="1" noAdjustHandles="1" noChangeArrowheads="1" noChangeShapeType="1" noTextEdit="1"/>
              </p:cNvSpPr>
              <p:nvPr/>
            </p:nvSpPr>
            <p:spPr>
              <a:xfrm>
                <a:off x="1021326" y="1391137"/>
                <a:ext cx="2450786" cy="774251"/>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2CB737A-7F63-452A-A4F0-ADB5F62E6118}"/>
                  </a:ext>
                </a:extLst>
              </p:cNvPr>
              <p:cNvSpPr txBox="1"/>
              <p:nvPr/>
            </p:nvSpPr>
            <p:spPr>
              <a:xfrm>
                <a:off x="689387" y="2135321"/>
                <a:ext cx="1557332"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r>
                        <a:rPr lang="ru-RU" b="0" i="1" smtClean="0">
                          <a:latin typeface="Cambria Math" panose="02040503050406030204" pitchFamily="18" charset="0"/>
                        </a:rPr>
                        <m:t>.</m:t>
                      </m:r>
                    </m:oMath>
                  </m:oMathPara>
                </a14:m>
                <a:endParaRPr lang="ru-RU" dirty="0"/>
              </a:p>
            </p:txBody>
          </p:sp>
        </mc:Choice>
        <mc:Fallback xmlns="">
          <p:sp>
            <p:nvSpPr>
              <p:cNvPr id="41" name="TextBox 40">
                <a:extLst>
                  <a:ext uri="{FF2B5EF4-FFF2-40B4-BE49-F238E27FC236}">
                    <a16:creationId xmlns:a16="http://schemas.microsoft.com/office/drawing/2014/main" id="{02CB737A-7F63-452A-A4F0-ADB5F62E6118}"/>
                  </a:ext>
                </a:extLst>
              </p:cNvPr>
              <p:cNvSpPr txBox="1">
                <a:spLocks noRot="1" noChangeAspect="1" noMove="1" noResize="1" noEditPoints="1" noAdjustHandles="1" noChangeArrowheads="1" noChangeShapeType="1" noTextEdit="1"/>
              </p:cNvSpPr>
              <p:nvPr/>
            </p:nvSpPr>
            <p:spPr>
              <a:xfrm>
                <a:off x="689387" y="2135321"/>
                <a:ext cx="1557332" cy="325089"/>
              </a:xfrm>
              <a:prstGeom prst="rect">
                <a:avLst/>
              </a:prstGeom>
              <a:blipFill>
                <a:blip r:embed="rId6"/>
                <a:stretch>
                  <a:fillRect b="-1852"/>
                </a:stretch>
              </a:blipFill>
            </p:spPr>
            <p:txBody>
              <a:bodyPr/>
              <a:lstStyle/>
              <a:p>
                <a:r>
                  <a:rPr lang="ru-RU">
                    <a:noFill/>
                  </a:rPr>
                  <a:t> </a:t>
                </a:r>
              </a:p>
            </p:txBody>
          </p:sp>
        </mc:Fallback>
      </mc:AlternateContent>
      <p:sp>
        <p:nvSpPr>
          <p:cNvPr id="9" name="TextBox 8">
            <a:extLst>
              <a:ext uri="{FF2B5EF4-FFF2-40B4-BE49-F238E27FC236}">
                <a16:creationId xmlns:a16="http://schemas.microsoft.com/office/drawing/2014/main" id="{CC1FFB71-6BBE-4169-8FB5-1E179654E9EC}"/>
              </a:ext>
            </a:extLst>
          </p:cNvPr>
          <p:cNvSpPr txBox="1"/>
          <p:nvPr/>
        </p:nvSpPr>
        <p:spPr>
          <a:xfrm>
            <a:off x="837021" y="4629134"/>
            <a:ext cx="4767094" cy="1815882"/>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где </a:t>
            </a:r>
            <a:r>
              <a:rPr lang="en-US" dirty="0" err="1">
                <a:latin typeface="Times New Roman" panose="02020603050405020304" pitchFamily="18" charset="0"/>
                <a:cs typeface="Times New Roman" panose="02020603050405020304" pitchFamily="18" charset="0"/>
              </a:rPr>
              <a:t>G</a:t>
            </a:r>
            <a:r>
              <a:rPr lang="en-US" baseline="-25000"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населённость нижнего </a:t>
            </a:r>
            <a:r>
              <a:rPr lang="en-US" dirty="0">
                <a:latin typeface="Times New Roman" panose="02020603050405020304" pitchFamily="18" charset="0"/>
                <a:cs typeface="Times New Roman" panose="02020603050405020304" pitchFamily="18" charset="0"/>
              </a:rPr>
              <a:t>n-</a:t>
            </a:r>
            <a:r>
              <a:rPr lang="ru-RU" dirty="0">
                <a:latin typeface="Times New Roman" panose="02020603050405020304" pitchFamily="18" charset="0"/>
                <a:cs typeface="Times New Roman" panose="02020603050405020304" pitchFamily="18" charset="0"/>
              </a:rPr>
              <a:t>го уровня,</a:t>
            </a:r>
          </a:p>
          <a:p>
            <a:r>
              <a:rPr lang="en-US"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скорость поглощения для</a:t>
            </a:r>
            <a:r>
              <a:rPr lang="en-US" dirty="0">
                <a:latin typeface="Times New Roman" panose="02020603050405020304" pitchFamily="18" charset="0"/>
                <a:cs typeface="Times New Roman" panose="02020603050405020304" pitchFamily="18" charset="0"/>
              </a:rPr>
              <a:t> jk-</a:t>
            </a:r>
            <a:r>
              <a:rPr lang="ru-RU" dirty="0">
                <a:latin typeface="Times New Roman" panose="02020603050405020304" pitchFamily="18" charset="0"/>
                <a:cs typeface="Times New Roman" panose="02020603050405020304" pitchFamily="18" charset="0"/>
              </a:rPr>
              <a:t>перехода,</a:t>
            </a:r>
          </a:p>
          <a:p>
            <a:r>
              <a:rPr lang="el-GR" dirty="0">
                <a:latin typeface="Times New Roman" panose="02020603050405020304" pitchFamily="18" charset="0"/>
                <a:cs typeface="Times New Roman" panose="02020603050405020304" pitchFamily="18" charset="0"/>
              </a:rPr>
              <a:t>β</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относительная скорость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ru-RU" dirty="0">
                <a:latin typeface="Times New Roman" panose="02020603050405020304" pitchFamily="18" charset="0"/>
                <a:cs typeface="Times New Roman" panose="02020603050405020304" pitchFamily="18" charset="0"/>
              </a:rPr>
              <a:t>Г</a:t>
            </a:r>
            <a:r>
              <a:rPr lang="en-US" baseline="-25000"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естественная ширина линии,</a:t>
            </a:r>
          </a:p>
          <a:p>
            <a:r>
              <a:rPr lang="en-US" dirty="0">
                <a:latin typeface="Times New Roman" panose="02020603050405020304" pitchFamily="18" charset="0"/>
                <a:cs typeface="Times New Roman" panose="02020603050405020304" pitchFamily="18" charset="0"/>
              </a:rPr>
              <a:t>S – </a:t>
            </a:r>
            <a:r>
              <a:rPr lang="ru-RU" dirty="0">
                <a:latin typeface="Times New Roman" panose="02020603050405020304" pitchFamily="18" charset="0"/>
                <a:cs typeface="Times New Roman" panose="02020603050405020304" pitchFamily="18" charset="0"/>
              </a:rPr>
              <a:t>показатель насыщения,</a:t>
            </a:r>
          </a:p>
          <a:p>
            <a:r>
              <a:rPr lang="ru-RU" dirty="0">
                <a:latin typeface="Times New Roman" panose="02020603050405020304" pitchFamily="18" charset="0"/>
                <a:cs typeface="Times New Roman" panose="02020603050405020304" pitchFamily="18" charset="0"/>
              </a:rPr>
              <a:t>Δ</a:t>
            </a:r>
            <a:r>
              <a:rPr lang="en-US" baseline="-25000"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 – отстройка частоты излучения от частоты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en-US" dirty="0">
                <a:latin typeface="Times New Roman" panose="02020603050405020304" pitchFamily="18" charset="0"/>
                <a:cs typeface="Times New Roman" panose="02020603050405020304" pitchFamily="18" charset="0"/>
              </a:rPr>
              <a:t>N – </a:t>
            </a:r>
            <a:r>
              <a:rPr lang="ru-RU" dirty="0">
                <a:latin typeface="Times New Roman" panose="02020603050405020304" pitchFamily="18" charset="0"/>
                <a:cs typeface="Times New Roman" panose="02020603050405020304" pitchFamily="18" charset="0"/>
              </a:rPr>
              <a:t>количество </a:t>
            </a:r>
            <a:r>
              <a:rPr lang="ru-RU" dirty="0" err="1">
                <a:latin typeface="Times New Roman" panose="02020603050405020304" pitchFamily="18" charset="0"/>
                <a:cs typeface="Times New Roman" panose="02020603050405020304" pitchFamily="18" charset="0"/>
              </a:rPr>
              <a:t>рассеяных</a:t>
            </a:r>
            <a:r>
              <a:rPr lang="ru-RU" dirty="0">
                <a:latin typeface="Times New Roman" panose="02020603050405020304" pitchFamily="18" charset="0"/>
                <a:cs typeface="Times New Roman" panose="02020603050405020304" pitchFamily="18" charset="0"/>
              </a:rPr>
              <a:t> атомом фотонов,</a:t>
            </a:r>
          </a:p>
          <a:p>
            <a:r>
              <a:rPr lang="en-US" dirty="0">
                <a:latin typeface="Times New Roman" panose="02020603050405020304" pitchFamily="18" charset="0"/>
                <a:cs typeface="Times New Roman" panose="02020603050405020304" pitchFamily="18" charset="0"/>
              </a:rPr>
              <a:t>ΔT – </a:t>
            </a:r>
            <a:r>
              <a:rPr lang="ru-RU" dirty="0">
                <a:latin typeface="Times New Roman" panose="02020603050405020304" pitchFamily="18" charset="0"/>
                <a:cs typeface="Times New Roman" panose="02020603050405020304" pitchFamily="18" charset="0"/>
              </a:rPr>
              <a:t>нагрев атома.</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AE0082C-540F-46FC-9C43-AFAC0234EA26}"/>
                  </a:ext>
                </a:extLst>
              </p:cNvPr>
              <p:cNvSpPr txBox="1"/>
              <p:nvPr/>
            </p:nvSpPr>
            <p:spPr>
              <a:xfrm>
                <a:off x="514935" y="3342816"/>
                <a:ext cx="3131740" cy="740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panose="02040503050406030204" pitchFamily="18" charset="0"/>
                        </a:rPr>
                        <m:t>𝑁</m:t>
                      </m:r>
                      <m:r>
                        <a:rPr lang="ru-RU" i="0">
                          <a:latin typeface="Cambria Math" panose="02040503050406030204" pitchFamily="18" charset="0"/>
                        </a:rPr>
                        <m:t>= </m:t>
                      </m:r>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𝑛</m:t>
                          </m:r>
                        </m:sub>
                        <m:sup/>
                        <m:e>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𝑘</m:t>
                              </m:r>
                            </m:sub>
                            <m:sup/>
                            <m:e>
                              <m:nary>
                                <m:naryPr>
                                  <m:limLoc m:val="subSup"/>
                                  <m:ctrlPr>
                                    <a:rPr lang="ru-RU" i="1">
                                      <a:latin typeface="Cambria Math" panose="02040503050406030204" pitchFamily="18" charset="0"/>
                                    </a:rPr>
                                  </m:ctrlPr>
                                </m:naryP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r>
                                    <a:rPr lang="ru-RU" i="1">
                                      <a:latin typeface="Cambria Math" panose="02040503050406030204" pitchFamily="18" charset="0"/>
                                    </a:rPr>
                                    <m:t>𝑑𝑡</m:t>
                                  </m:r>
                                </m:e>
                              </m:nary>
                            </m:e>
                          </m:nary>
                          <m:r>
                            <a:rPr lang="ru-RU" b="0" i="0" smtClean="0">
                              <a:latin typeface="Cambria Math" panose="02040503050406030204" pitchFamily="18" charset="0"/>
                            </a:rPr>
                            <m:t>,</m:t>
                          </m:r>
                        </m:e>
                      </m:nary>
                    </m:oMath>
                  </m:oMathPara>
                </a14:m>
                <a:endParaRPr lang="ru-RU" dirty="0"/>
              </a:p>
            </p:txBody>
          </p:sp>
        </mc:Choice>
        <mc:Fallback xmlns="">
          <p:sp>
            <p:nvSpPr>
              <p:cNvPr id="36" name="TextBox 35">
                <a:extLst>
                  <a:ext uri="{FF2B5EF4-FFF2-40B4-BE49-F238E27FC236}">
                    <a16:creationId xmlns:a16="http://schemas.microsoft.com/office/drawing/2014/main" id="{DAE0082C-540F-46FC-9C43-AFAC0234EA26}"/>
                  </a:ext>
                </a:extLst>
              </p:cNvPr>
              <p:cNvSpPr txBox="1">
                <a:spLocks noRot="1" noChangeAspect="1" noMove="1" noResize="1" noEditPoints="1" noAdjustHandles="1" noChangeArrowheads="1" noChangeShapeType="1" noTextEdit="1"/>
              </p:cNvSpPr>
              <p:nvPr/>
            </p:nvSpPr>
            <p:spPr>
              <a:xfrm>
                <a:off x="514935" y="3342816"/>
                <a:ext cx="3131740" cy="740331"/>
              </a:xfrm>
              <a:prstGeom prst="rect">
                <a:avLst/>
              </a:prstGeom>
              <a:blipFill>
                <a:blip r:embed="rId7"/>
                <a:stretch>
                  <a:fillRect/>
                </a:stretch>
              </a:blipFill>
            </p:spPr>
            <p:txBody>
              <a:bodyPr/>
              <a:lstStyle/>
              <a:p>
                <a:r>
                  <a:rPr lang="ru-RU">
                    <a:noFill/>
                  </a:rPr>
                  <a:t> </a:t>
                </a:r>
              </a:p>
            </p:txBody>
          </p:sp>
        </mc:Fallback>
      </mc:AlternateContent>
      <p:sp>
        <p:nvSpPr>
          <p:cNvPr id="40" name="Google Shape;418;p39">
            <a:extLst>
              <a:ext uri="{FF2B5EF4-FFF2-40B4-BE49-F238E27FC236}">
                <a16:creationId xmlns:a16="http://schemas.microsoft.com/office/drawing/2014/main" id="{D2A9A03C-6C0A-4874-A8D5-6C3DFEA81824}"/>
              </a:ext>
            </a:extLst>
          </p:cNvPr>
          <p:cNvSpPr txBox="1"/>
          <p:nvPr/>
        </p:nvSpPr>
        <p:spPr>
          <a:xfrm>
            <a:off x="5821509" y="3559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(5)</a:t>
            </a:r>
            <a:endParaRPr sz="1400" b="0" i="0" u="none" strike="noStrike" cap="none" dirty="0">
              <a:solidFill>
                <a:srgbClr val="000000"/>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56F8552-3D85-40B7-B09A-9E64C1933AB2}"/>
                  </a:ext>
                </a:extLst>
              </p:cNvPr>
              <p:cNvSpPr txBox="1"/>
              <p:nvPr/>
            </p:nvSpPr>
            <p:spPr>
              <a:xfrm>
                <a:off x="541902" y="4093857"/>
                <a:ext cx="2333774" cy="524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a:latin typeface="Cambria Math" panose="02040503050406030204" pitchFamily="18" charset="0"/>
                            </a:rPr>
                            <m:t>3</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𝑏</m:t>
                              </m:r>
                            </m:sub>
                          </m:sSub>
                          <m:r>
                            <a:rPr lang="ru-RU" i="0">
                              <a:latin typeface="Cambria Math" panose="02040503050406030204" pitchFamily="18" charset="0"/>
                            </a:rPr>
                            <m:t>∆</m:t>
                          </m:r>
                          <m:r>
                            <a:rPr lang="ru-RU" i="1">
                              <a:latin typeface="Cambria Math" panose="02040503050406030204" pitchFamily="18" charset="0"/>
                            </a:rPr>
                            <m:t>𝑇</m:t>
                          </m:r>
                        </m:num>
                        <m:den>
                          <m:r>
                            <a:rPr lang="ru-RU" i="1">
                              <a:latin typeface="Cambria Math" panose="02040503050406030204" pitchFamily="18" charset="0"/>
                            </a:rPr>
                            <m:t>𝑚</m:t>
                          </m:r>
                        </m:den>
                      </m:f>
                      <m:r>
                        <a:rPr lang="ru-RU" i="0">
                          <a:latin typeface="Cambria Math" panose="02040503050406030204" pitchFamily="18" charset="0"/>
                        </a:rPr>
                        <m:t>=</m:t>
                      </m:r>
                      <m:f>
                        <m:fPr>
                          <m:ctrlPr>
                            <a:rPr lang="ru-RU" i="1">
                              <a:solidFill>
                                <a:srgbClr val="836967"/>
                              </a:solidFill>
                              <a:latin typeface="Cambria Math" panose="02040503050406030204" pitchFamily="18" charset="0"/>
                            </a:rPr>
                          </m:ctrlPr>
                        </m:fPr>
                        <m:num>
                          <m:r>
                            <a:rPr lang="ru-RU" i="0">
                              <a:latin typeface="Cambria Math" panose="02040503050406030204" pitchFamily="18" charset="0"/>
                            </a:rPr>
                            <m:t>2</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r>
                                    <m:rPr>
                                      <m:sty m:val="p"/>
                                    </m:rPr>
                                    <a:rPr lang="ru-RU" i="0">
                                      <a:latin typeface="Cambria Math" panose="02040503050406030204" pitchFamily="18" charset="0"/>
                                    </a:rPr>
                                    <m:t>hk</m:t>
                                  </m:r>
                                </m:e>
                              </m:d>
                            </m:e>
                            <m:sup>
                              <m:r>
                                <a:rPr lang="ru-RU" i="0">
                                  <a:latin typeface="Cambria Math" panose="02040503050406030204" pitchFamily="18" charset="0"/>
                                </a:rPr>
                                <m:t>2</m:t>
                              </m:r>
                            </m:sup>
                          </m:sSup>
                        </m:num>
                        <m:den>
                          <m:r>
                            <a:rPr lang="ru-RU" i="0">
                              <a:latin typeface="Cambria Math" panose="02040503050406030204" pitchFamily="18" charset="0"/>
                            </a:rPr>
                            <m:t>2</m:t>
                          </m:r>
                          <m:r>
                            <m:rPr>
                              <m:sty m:val="p"/>
                            </m:rPr>
                            <a:rPr lang="ru-RU" i="0">
                              <a:latin typeface="Cambria Math" panose="02040503050406030204" pitchFamily="18" charset="0"/>
                            </a:rPr>
                            <m:t>m</m:t>
                          </m:r>
                        </m:den>
                      </m:f>
                      <m:r>
                        <m:rPr>
                          <m:sty m:val="p"/>
                        </m:rPr>
                        <a:rPr lang="ru-RU" i="0">
                          <a:latin typeface="Cambria Math" panose="02040503050406030204" pitchFamily="18" charset="0"/>
                        </a:rPr>
                        <m:t>N</m:t>
                      </m:r>
                      <m:r>
                        <a:rPr lang="ru-RU" b="0" i="0" smtClean="0">
                          <a:latin typeface="Cambria Math" panose="02040503050406030204" pitchFamily="18" charset="0"/>
                        </a:rPr>
                        <m:t>,</m:t>
                      </m:r>
                    </m:oMath>
                  </m:oMathPara>
                </a14:m>
                <a:endParaRPr lang="ru-RU" dirty="0"/>
              </a:p>
            </p:txBody>
          </p:sp>
        </mc:Choice>
        <mc:Fallback xmlns="">
          <p:sp>
            <p:nvSpPr>
              <p:cNvPr id="42" name="TextBox 41">
                <a:extLst>
                  <a:ext uri="{FF2B5EF4-FFF2-40B4-BE49-F238E27FC236}">
                    <a16:creationId xmlns:a16="http://schemas.microsoft.com/office/drawing/2014/main" id="{056F8552-3D85-40B7-B09A-9E64C1933AB2}"/>
                  </a:ext>
                </a:extLst>
              </p:cNvPr>
              <p:cNvSpPr txBox="1">
                <a:spLocks noRot="1" noChangeAspect="1" noMove="1" noResize="1" noEditPoints="1" noAdjustHandles="1" noChangeArrowheads="1" noChangeShapeType="1" noTextEdit="1"/>
              </p:cNvSpPr>
              <p:nvPr/>
            </p:nvSpPr>
            <p:spPr>
              <a:xfrm>
                <a:off x="541902" y="4093857"/>
                <a:ext cx="2333774" cy="524567"/>
              </a:xfrm>
              <a:prstGeom prst="rect">
                <a:avLst/>
              </a:prstGeom>
              <a:blipFill>
                <a:blip r:embed="rId8"/>
                <a:stretch>
                  <a:fillRect/>
                </a:stretch>
              </a:blipFill>
            </p:spPr>
            <p:txBody>
              <a:bodyPr/>
              <a:lstStyle/>
              <a:p>
                <a:r>
                  <a:rPr lang="ru-RU">
                    <a:noFill/>
                  </a:rPr>
                  <a:t> </a:t>
                </a:r>
              </a:p>
            </p:txBody>
          </p:sp>
        </mc:Fallback>
      </mc:AlternateContent>
      <p:sp>
        <p:nvSpPr>
          <p:cNvPr id="43" name="Google Shape;418;p39">
            <a:extLst>
              <a:ext uri="{FF2B5EF4-FFF2-40B4-BE49-F238E27FC236}">
                <a16:creationId xmlns:a16="http://schemas.microsoft.com/office/drawing/2014/main" id="{D9E07F0D-D8D6-4961-B75B-70C78DAB38E6}"/>
              </a:ext>
            </a:extLst>
          </p:cNvPr>
          <p:cNvSpPr txBox="1"/>
          <p:nvPr/>
        </p:nvSpPr>
        <p:spPr>
          <a:xfrm>
            <a:off x="5810691" y="4202251"/>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(6)</a:t>
            </a:r>
            <a:endParaRPr sz="1400" b="0" i="0" u="none" strike="noStrike" cap="none" dirty="0">
              <a:solidFill>
                <a:srgbClr val="000000"/>
              </a:solidFill>
              <a:latin typeface="Times New Roman"/>
              <a:ea typeface="Times New Roman"/>
              <a:cs typeface="Times New Roman"/>
              <a:sym typeface="Times New Roman"/>
            </a:endParaRPr>
          </a:p>
        </p:txBody>
      </p:sp>
      <p:sp>
        <p:nvSpPr>
          <p:cNvPr id="44" name="TextBox 43">
            <a:extLst>
              <a:ext uri="{FF2B5EF4-FFF2-40B4-BE49-F238E27FC236}">
                <a16:creationId xmlns:a16="http://schemas.microsoft.com/office/drawing/2014/main" id="{D1D74A28-7D6C-4CFE-ADD8-63365A444680}"/>
              </a:ext>
            </a:extLst>
          </p:cNvPr>
          <p:cNvSpPr txBox="1"/>
          <p:nvPr/>
        </p:nvSpPr>
        <p:spPr>
          <a:xfrm>
            <a:off x="11681926" y="6408575"/>
            <a:ext cx="360784" cy="312570"/>
          </a:xfrm>
          <a:prstGeom prst="rect">
            <a:avLst/>
          </a:prstGeom>
          <a:noFill/>
        </p:spPr>
        <p:txBody>
          <a:bodyPr wrap="square" rtlCol="0">
            <a:spAutoFit/>
          </a:bodyPr>
          <a:lstStyle/>
          <a:p>
            <a:r>
              <a:rPr lang="en-US" dirty="0"/>
              <a:t>8</a:t>
            </a:r>
            <a:endParaRPr lang="ru-RU"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a16="http://schemas.microsoft.com/office/drawing/2014/main" id="{52BC617F-5E2D-4580-9506-94A652B0244A}"/>
              </a:ext>
            </a:extLst>
          </p:cNvPr>
          <p:cNvSpPr/>
          <p:nvPr/>
        </p:nvSpPr>
        <p:spPr>
          <a:xfrm>
            <a:off x="2456856" y="56641"/>
            <a:ext cx="6910755"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Функция чувствительности гравиметра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4" name="TextBox 3"/>
              <p:cNvSpPr txBox="1"/>
              <p:nvPr/>
            </p:nvSpPr>
            <p:spPr>
              <a:xfrm>
                <a:off x="1917597" y="936610"/>
                <a:ext cx="3087897" cy="376321"/>
              </a:xfrm>
              <a:prstGeom prst="rect">
                <a:avLst/>
              </a:prstGeom>
              <a:noFill/>
            </p:spPr>
            <p:txBody>
              <a:bodyPr wrap="none" lIns="0" tIns="0" rIns="0" bIns="0" rtlCol="0">
                <a:spAutoFit/>
              </a:bodyPr>
              <a:lstStyle/>
              <a:p>
                <a14:m>
                  <m:oMath xmlns:m="http://schemas.openxmlformats.org/officeDocument/2006/math">
                    <m:r>
                      <a:rPr lang="ru-RU" sz="1800" i="1" smtClean="0">
                        <a:latin typeface="Cambria Math" panose="02040503050406030204" pitchFamily="18" charset="0"/>
                        <a:ea typeface="Cambria Math" panose="02040503050406030204" pitchFamily="18" charset="0"/>
                      </a:rPr>
                      <m:t>∆</m:t>
                    </m:r>
                    <m:r>
                      <m:rPr>
                        <m:sty m:val="p"/>
                      </m:rPr>
                      <a:rPr lang="el-GR" sz="1800" i="1" smtClean="0">
                        <a:latin typeface="Cambria Math" panose="02040503050406030204" pitchFamily="18" charset="0"/>
                        <a:ea typeface="Cambria Math" panose="02040503050406030204" pitchFamily="18" charset="0"/>
                      </a:rPr>
                      <m:t>Φ</m:t>
                    </m:r>
                    <m:r>
                      <a:rPr lang="ru-RU" sz="1800" b="0" i="1" smtClean="0">
                        <a:latin typeface="Cambria Math" panose="02040503050406030204" pitchFamily="18" charset="0"/>
                        <a:ea typeface="Cambria Math" panose="02040503050406030204" pitchFamily="18" charset="0"/>
                      </a:rPr>
                      <m:t>=</m:t>
                    </m:r>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𝑒𝑓𝑓</m:t>
                        </m:r>
                      </m:sub>
                    </m:sSub>
                    <m:nary>
                      <m:naryPr>
                        <m:ctrlPr>
                          <a:rPr lang="ru-RU"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+4</m:t>
                        </m:r>
                        <m:r>
                          <a:rPr lang="en-US" sz="1800" b="0" i="1" smtClean="0">
                            <a:latin typeface="Cambria Math" panose="02040503050406030204" pitchFamily="18" charset="0"/>
                            <a:ea typeface="Cambria Math" panose="02040503050406030204" pitchFamily="18" charset="0"/>
                          </a:rPr>
                          <m:t>𝜏</m:t>
                        </m:r>
                      </m:sup>
                      <m:e>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𝑔</m:t>
                            </m:r>
                          </m:e>
                          <m:sub>
                            <m:r>
                              <a:rPr lang="en-US" sz="1800" b="0" i="1" smtClean="0">
                                <a:latin typeface="Cambria Math" panose="02040503050406030204" pitchFamily="18" charset="0"/>
                                <a:ea typeface="Cambria Math" panose="02040503050406030204" pitchFamily="18" charset="0"/>
                              </a:rPr>
                              <m:t>𝑎</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𝑑𝑡</m:t>
                        </m:r>
                        <m:r>
                          <a:rPr lang="ru-RU" sz="1800" b="0" i="1" smtClean="0">
                            <a:latin typeface="Cambria Math" panose="02040503050406030204" pitchFamily="18" charset="0"/>
                            <a:ea typeface="Cambria Math" panose="02040503050406030204" pitchFamily="18" charset="0"/>
                          </a:rPr>
                          <m:t>,</m:t>
                        </m:r>
                      </m:e>
                    </m:nary>
                  </m:oMath>
                </a14:m>
                <a:r>
                  <a:rPr lang="ru-RU" sz="18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1917597" y="936610"/>
                <a:ext cx="3087897" cy="376321"/>
              </a:xfrm>
              <a:prstGeom prst="rect">
                <a:avLst/>
              </a:prstGeom>
              <a:blipFill>
                <a:blip r:embed="rId2"/>
                <a:stretch>
                  <a:fillRect l="-2767" t="-145902" b="-226230"/>
                </a:stretch>
              </a:blipFill>
            </p:spPr>
            <p:txBody>
              <a:bodyPr/>
              <a:lstStyle/>
              <a:p>
                <a:r>
                  <a:rPr lang="ru-RU">
                    <a:noFill/>
                  </a:rPr>
                  <a:t> </a:t>
                </a:r>
              </a:p>
            </p:txBody>
          </p:sp>
        </mc:Fallback>
      </mc:AlternateContent>
      <p:sp>
        <p:nvSpPr>
          <p:cNvPr id="10" name="TextBox 9"/>
          <p:cNvSpPr txBox="1"/>
          <p:nvPr/>
        </p:nvSpPr>
        <p:spPr>
          <a:xfrm>
            <a:off x="1487258" y="1288002"/>
            <a:ext cx="4406537"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для ускорения</a:t>
            </a:r>
            <a:r>
              <a:rPr lang="en-US" sz="1600" dirty="0">
                <a:latin typeface="Times New Roman" panose="02020603050405020304" pitchFamily="18" charset="0"/>
                <a:cs typeface="Times New Roman" panose="02020603050405020304" pitchFamily="18" charset="0"/>
              </a:rPr>
              <a:t>:</a:t>
            </a:r>
            <a:r>
              <a:rPr lang="ru-RU"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TextBox 12"/>
              <p:cNvSpPr txBox="1"/>
              <p:nvPr/>
            </p:nvSpPr>
            <p:spPr>
              <a:xfrm>
                <a:off x="5893795" y="2652468"/>
                <a:ext cx="6055889" cy="2943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80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𝑎</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f>
                                <m:fPr>
                                  <m:ctrlPr>
                                    <a:rPr lang="en-US" sz="1800" b="0" i="1" smtClean="0">
                                      <a:latin typeface="Cambria Math" panose="02040503050406030204" pitchFamily="18" charset="0"/>
                                    </a:rPr>
                                  </m:ctrlPr>
                                </m:fPr>
                                <m:num>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m:rPr>
                                      <m:sty m:val="p"/>
                                    </m:rPr>
                                    <a:rPr lang="el-GR" sz="1800" b="0" i="1" smtClean="0">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rPr>
                                <m:t> &lt;</m:t>
                              </m:r>
                              <m:r>
                                <a:rPr lang="en-US" sz="1800" i="1">
                                  <a:latin typeface="Cambria Math" panose="02040503050406030204" pitchFamily="18" charset="0"/>
                                  <a:ea typeface="Cambria Math" panose="02040503050406030204" pitchFamily="18" charset="0"/>
                                </a:rPr>
                                <m:t>𝜏</m:t>
                              </m:r>
                              <m:r>
                                <m:rPr>
                                  <m:nor/>
                                </m:rPr>
                                <a:rPr lang="ru-RU" sz="1800" dirty="0"/>
                                <m:t> </m:t>
                              </m:r>
                            </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d>
                                        </m:e>
                                      </m:d>
                                    </m:e>
                                  </m:func>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
                              <m:f>
                                <m:fPr>
                                  <m:ctrlPr>
                                    <a:rPr lang="en-US" sz="1800" i="1">
                                      <a:latin typeface="Cambria Math" panose="02040503050406030204" pitchFamily="18" charset="0"/>
                                      <a:ea typeface="Cambria Math" panose="02040503050406030204" pitchFamily="18" charset="0"/>
                                    </a:rPr>
                                  </m:ctrlPr>
                                </m:fPr>
                                <m:num>
                                  <m:func>
                                    <m:funcPr>
                                      <m:ctrlPr>
                                        <a:rPr lang="en-US" sz="1800" i="1">
                                          <a:latin typeface="Cambria Math" panose="02040503050406030204" pitchFamily="18" charset="0"/>
                                          <a:ea typeface="Cambria Math" panose="02040503050406030204" pitchFamily="18" charset="0"/>
                                        </a:rPr>
                                      </m:ctrlPr>
                                    </m:funcPr>
                                    <m:fName>
                                      <m:r>
                                        <m:rPr>
                                          <m:sty m:val="p"/>
                                        </m:rPr>
                                        <a:rPr lang="en-US" sz="1800">
                                          <a:latin typeface="Cambria Math" panose="02040503050406030204" pitchFamily="18" charset="0"/>
                                          <a:ea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d>
                                        </m:e>
                                      </m:d>
                                    </m:e>
                                  </m:func>
                                  <m:r>
                                    <a:rPr lang="en-US" sz="1800" i="1">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≤4</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qArr>
                        </m:e>
                      </m:d>
                    </m:oMath>
                  </m:oMathPara>
                </a14:m>
                <a:endParaRPr lang="ru-RU" dirty="0"/>
              </a:p>
            </p:txBody>
          </p:sp>
        </mc:Choice>
        <mc:Fallback xmlns="">
          <p:sp>
            <p:nvSpPr>
              <p:cNvPr id="13" name="TextBox 12"/>
              <p:cNvSpPr txBox="1">
                <a:spLocks noRot="1" noChangeAspect="1" noMove="1" noResize="1" noEditPoints="1" noAdjustHandles="1" noChangeArrowheads="1" noChangeShapeType="1" noTextEdit="1"/>
              </p:cNvSpPr>
              <p:nvPr/>
            </p:nvSpPr>
            <p:spPr>
              <a:xfrm>
                <a:off x="5893795" y="2652468"/>
                <a:ext cx="6055889" cy="2943498"/>
              </a:xfrm>
              <a:prstGeom prst="rect">
                <a:avLst/>
              </a:prstGeom>
              <a:blipFill rotWithShape="0">
                <a:blip r:embed="rId4"/>
                <a:stretch>
                  <a:fillRect/>
                </a:stretch>
              </a:blipFill>
            </p:spPr>
            <p:txBody>
              <a:bodyPr/>
              <a:lstStyle/>
              <a:p>
                <a:r>
                  <a:rPr lang="ru-RU">
                    <a:noFill/>
                  </a:rPr>
                  <a:t> </a:t>
                </a:r>
              </a:p>
            </p:txBody>
          </p:sp>
        </mc:Fallback>
      </mc:AlternateContent>
      <p:sp>
        <p:nvSpPr>
          <p:cNvPr id="14" name="TextBox 13"/>
          <p:cNvSpPr txBox="1"/>
          <p:nvPr/>
        </p:nvSpPr>
        <p:spPr>
          <a:xfrm>
            <a:off x="6985798" y="5713343"/>
            <a:ext cx="4406537" cy="338554"/>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частота </a:t>
            </a:r>
            <a:r>
              <a:rPr lang="ru-RU" sz="1600" dirty="0" err="1">
                <a:latin typeface="Times New Roman" panose="02020603050405020304" pitchFamily="18" charset="0"/>
                <a:cs typeface="Times New Roman" panose="02020603050405020304" pitchFamily="18" charset="0"/>
              </a:rPr>
              <a:t>раби</a:t>
            </a:r>
            <a:r>
              <a:rPr lang="ru-RU" sz="1600" dirty="0">
                <a:latin typeface="Times New Roman" panose="02020603050405020304" pitchFamily="18" charset="0"/>
                <a:cs typeface="Times New Roman" panose="02020603050405020304" pitchFamily="18" charset="0"/>
              </a:rPr>
              <a:t>.</a:t>
            </a:r>
          </a:p>
        </p:txBody>
      </p:sp>
      <p:sp>
        <p:nvSpPr>
          <p:cNvPr id="16" name="Прямоугольник 15"/>
          <p:cNvSpPr/>
          <p:nvPr/>
        </p:nvSpPr>
        <p:spPr>
          <a:xfrm>
            <a:off x="621739" y="4216252"/>
            <a:ext cx="587020" cy="369332"/>
          </a:xfrm>
          <a:prstGeom prst="rect">
            <a:avLst/>
          </a:prstGeom>
        </p:spPr>
        <p:txBody>
          <a:bodyPr wrap="none">
            <a:spAutoFit/>
          </a:bodyPr>
          <a:lstStyle/>
          <a:p>
            <a:r>
              <a:rPr lang="en-US" sz="1800" dirty="0" err="1">
                <a:latin typeface="Times New Roman" panose="02020603050405020304" pitchFamily="18" charset="0"/>
                <a:cs typeface="Times New Roman" panose="02020603050405020304" pitchFamily="18" charset="0"/>
              </a:rPr>
              <a:t>g</a:t>
            </a:r>
            <a:r>
              <a:rPr lang="en-US" sz="1800" baseline="-25000" dirty="0" err="1">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(t)</a:t>
            </a:r>
            <a:endParaRPr lang="ru-RU" sz="1800" dirty="0"/>
          </a:p>
        </p:txBody>
      </p:sp>
      <p:pic>
        <p:nvPicPr>
          <p:cNvPr id="17" name="Рисунок 16"/>
          <p:cNvPicPr>
            <a:picLocks noChangeAspect="1"/>
          </p:cNvPicPr>
          <p:nvPr/>
        </p:nvPicPr>
        <p:blipFill rotWithShape="1">
          <a:blip r:embed="rId5"/>
          <a:srcRect l="2261" t="6649" r="4618" b="8482"/>
          <a:stretch/>
        </p:blipFill>
        <p:spPr>
          <a:xfrm>
            <a:off x="1235273" y="3001964"/>
            <a:ext cx="4088730" cy="2797909"/>
          </a:xfrm>
          <a:prstGeom prst="rect">
            <a:avLst/>
          </a:prstGeom>
        </p:spPr>
      </p:pic>
      <p:sp>
        <p:nvSpPr>
          <p:cNvPr id="28" name="Прямоугольник 27"/>
          <p:cNvSpPr/>
          <p:nvPr/>
        </p:nvSpPr>
        <p:spPr>
          <a:xfrm>
            <a:off x="4767978" y="5882620"/>
            <a:ext cx="779381" cy="369332"/>
          </a:xfrm>
          <a:prstGeom prst="rect">
            <a:avLst/>
          </a:prstGeom>
        </p:spPr>
        <p:txBody>
          <a:bodyPr wrap="none">
            <a:spAutoFit/>
          </a:bodyPr>
          <a:lstStyle/>
          <a:p>
            <a:r>
              <a:rPr lang="en-US" sz="1800" dirty="0">
                <a:latin typeface="Times New Roman" panose="02020603050405020304" pitchFamily="18" charset="0"/>
                <a:cs typeface="Times New Roman" panose="02020603050405020304" pitchFamily="18" charset="0"/>
              </a:rPr>
              <a:t>2T+4</a:t>
            </a:r>
            <a:r>
              <a:rPr lang="el-GR" sz="1800" dirty="0">
                <a:latin typeface="Times New Roman" panose="02020603050405020304" pitchFamily="18" charset="0"/>
                <a:cs typeface="Times New Roman" panose="02020603050405020304" pitchFamily="18" charset="0"/>
              </a:rPr>
              <a:t>τ</a:t>
            </a:r>
            <a:endParaRPr lang="ru-RU" sz="1800" dirty="0"/>
          </a:p>
        </p:txBody>
      </p:sp>
      <p:sp>
        <p:nvSpPr>
          <p:cNvPr id="30" name="TextBox 29">
            <a:extLst>
              <a:ext uri="{FF2B5EF4-FFF2-40B4-BE49-F238E27FC236}">
                <a16:creationId xmlns:a16="http://schemas.microsoft.com/office/drawing/2014/main" id="{F2ADCC68-35D1-46EB-B0D8-184DCA14D90F}"/>
              </a:ext>
            </a:extLst>
          </p:cNvPr>
          <p:cNvSpPr txBox="1"/>
          <p:nvPr/>
        </p:nvSpPr>
        <p:spPr>
          <a:xfrm>
            <a:off x="-750937" y="6436617"/>
            <a:ext cx="8486149" cy="307777"/>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Функция чувствительности квантового гравиметра для ускорения.</a:t>
            </a:r>
            <a:r>
              <a:rPr lang="en-US"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022621"/>
      </p:ext>
    </p:extLst>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5816</TotalTime>
  <Words>3782</Words>
  <Application>Microsoft Office PowerPoint</Application>
  <PresentationFormat>Широкоэкранный</PresentationFormat>
  <Paragraphs>384</Paragraphs>
  <Slides>40</Slides>
  <Notes>11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40</vt:i4>
      </vt:variant>
    </vt:vector>
  </HeadingPairs>
  <TitlesOfParts>
    <vt:vector size="46" baseType="lpstr">
      <vt:lpstr>Arial</vt:lpstr>
      <vt:lpstr>Calibri</vt:lpstr>
      <vt:lpstr>Cambria Math</vt:lpstr>
      <vt:lpstr>Century Gothic</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kilrealladam@gmail.com</dc:creator>
  <cp:lastModifiedBy>Дмитрий Капуста</cp:lastModifiedBy>
  <cp:revision>305</cp:revision>
  <dcterms:created xsi:type="dcterms:W3CDTF">2023-12-21T05:49:20Z</dcterms:created>
  <dcterms:modified xsi:type="dcterms:W3CDTF">2025-11-11T13:17:31Z</dcterms:modified>
</cp:coreProperties>
</file>