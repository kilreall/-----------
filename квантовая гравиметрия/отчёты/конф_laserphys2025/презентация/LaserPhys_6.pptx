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2"/>
  </p:notesMasterIdLst>
  <p:handoutMasterIdLst>
    <p:handoutMasterId r:id="rId43"/>
  </p:handoutMasterIdLst>
  <p:sldIdLst>
    <p:sldId id="305" r:id="rId2"/>
    <p:sldId id="306" r:id="rId3"/>
    <p:sldId id="307" r:id="rId4"/>
    <p:sldId id="319" r:id="rId5"/>
    <p:sldId id="258" r:id="rId6"/>
    <p:sldId id="320" r:id="rId7"/>
    <p:sldId id="308" r:id="rId8"/>
    <p:sldId id="321" r:id="rId9"/>
    <p:sldId id="259" r:id="rId10"/>
    <p:sldId id="292" r:id="rId11"/>
    <p:sldId id="312" r:id="rId12"/>
    <p:sldId id="322" r:id="rId13"/>
    <p:sldId id="261" r:id="rId14"/>
    <p:sldId id="323" r:id="rId15"/>
    <p:sldId id="302" r:id="rId16"/>
    <p:sldId id="318" r:id="rId17"/>
    <p:sldId id="324" r:id="rId18"/>
    <p:sldId id="297" r:id="rId19"/>
    <p:sldId id="325" r:id="rId20"/>
    <p:sldId id="268" r:id="rId21"/>
    <p:sldId id="326" r:id="rId22"/>
    <p:sldId id="298" r:id="rId23"/>
    <p:sldId id="327" r:id="rId24"/>
    <p:sldId id="303" r:id="rId25"/>
    <p:sldId id="328" r:id="rId26"/>
    <p:sldId id="313" r:id="rId27"/>
    <p:sldId id="329" r:id="rId28"/>
    <p:sldId id="314" r:id="rId29"/>
    <p:sldId id="330" r:id="rId30"/>
    <p:sldId id="315" r:id="rId31"/>
    <p:sldId id="331" r:id="rId32"/>
    <p:sldId id="316" r:id="rId33"/>
    <p:sldId id="332" r:id="rId34"/>
    <p:sldId id="317" r:id="rId35"/>
    <p:sldId id="333" r:id="rId36"/>
    <p:sldId id="334" r:id="rId37"/>
    <p:sldId id="270" r:id="rId38"/>
    <p:sldId id="296" r:id="rId39"/>
    <p:sldId id="266" r:id="rId40"/>
    <p:sldId id="309"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5" autoAdjust="0"/>
    <p:restoredTop sz="94131" autoAdjust="0"/>
  </p:normalViewPr>
  <p:slideViewPr>
    <p:cSldViewPr snapToGrid="0">
      <p:cViewPr varScale="1">
        <p:scale>
          <a:sx n="109" d="100"/>
          <a:sy n="109" d="100"/>
        </p:scale>
        <p:origin x="828" y="114"/>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11.11.2025</a:t>
            </a:fld>
            <a:endParaRPr lang="ru-RU"/>
          </a:p>
        </p:txBody>
      </p:sp>
      <p:sp>
        <p:nvSpPr>
          <p:cNvPr id="4" name="Нижний колонтитул 3">
            <a:extLst>
              <a:ext uri="{FF2B5EF4-FFF2-40B4-BE49-F238E27FC236}">
                <a16:creationId xmlns=""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015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68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75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238829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12388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 xmlns:a16="http://schemas.microsoft.com/office/drawing/2014/main" id="{9E080679-B901-3206-F122-6DCA7B65A275}"/>
            </a:ext>
          </a:extLst>
        </p:cNvPr>
        <p:cNvGrpSpPr/>
        <p:nvPr/>
      </p:nvGrpSpPr>
      <p:grpSpPr>
        <a:xfrm>
          <a:off x="0" y="0"/>
          <a:ext cx="0" cy="0"/>
          <a:chOff x="0" y="0"/>
          <a:chExt cx="0" cy="0"/>
        </a:xfrm>
      </p:grpSpPr>
      <p:sp>
        <p:nvSpPr>
          <p:cNvPr id="453" name="Google Shape;453;p43:notes">
            <a:extLst>
              <a:ext uri="{FF2B5EF4-FFF2-40B4-BE49-F238E27FC236}">
                <a16:creationId xmlns="" xmlns:a16="http://schemas.microsoft.com/office/drawing/2014/main" id="{4F66D097-9293-AE91-865E-9D10F58235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a:extLst>
              <a:ext uri="{FF2B5EF4-FFF2-40B4-BE49-F238E27FC236}">
                <a16:creationId xmlns="" xmlns:a16="http://schemas.microsoft.com/office/drawing/2014/main" id="{A8AA3B59-9A9D-62AD-DBA4-729F5ACF9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870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601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86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2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880131" y="3185368"/>
            <a:ext cx="1036206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2400" b="0" i="0" u="sng" strike="noStrike" cap="none">
                <a:solidFill>
                  <a:schemeClr val="dk1"/>
                </a:solidFill>
                <a:latin typeface="Times New Roman"/>
                <a:ea typeface="Times New Roman"/>
                <a:cs typeface="Times New Roman"/>
                <a:sym typeface="Times New Roman"/>
              </a:rPr>
              <a:t>К.Н. Адамов</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Д.Н. Капуста</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А.Э.Бонерт</a:t>
            </a:r>
            <a:r>
              <a:rPr lang="ru-RU" sz="2400" b="0" i="0" u="none" strike="noStrike" cap="none" baseline="30000">
                <a:solidFill>
                  <a:schemeClr val="dk1"/>
                </a:solidFill>
                <a:latin typeface="Times New Roman"/>
                <a:ea typeface="Times New Roman"/>
                <a:cs typeface="Times New Roman"/>
                <a:sym typeface="Times New Roman"/>
              </a:rPr>
              <a:t>1</a:t>
            </a:r>
            <a:r>
              <a:rPr lang="ru-RU" sz="2400" b="0" i="0" u="none" strike="noStrike" cap="none">
                <a:solidFill>
                  <a:schemeClr val="dk1"/>
                </a:solidFill>
                <a:latin typeface="Times New Roman"/>
                <a:ea typeface="Times New Roman"/>
                <a:cs typeface="Times New Roman"/>
                <a:sym typeface="Times New Roman"/>
              </a:rPr>
              <a:t>, А.Н. Гончаров</a:t>
            </a:r>
            <a:r>
              <a:rPr lang="ru-RU" sz="2400" b="0" i="0" u="none" strike="noStrike" cap="none" baseline="30000">
                <a:solidFill>
                  <a:schemeClr val="dk1"/>
                </a:solidFill>
                <a:latin typeface="Times New Roman"/>
                <a:ea typeface="Times New Roman"/>
                <a:cs typeface="Times New Roman"/>
                <a:sym typeface="Times New Roman"/>
              </a:rPr>
              <a:t>1,2,3</a:t>
            </a:r>
            <a:endParaRPr sz="2400" b="0" i="0" u="sng" strike="noStrike" cap="none" baseline="30000">
              <a:solidFill>
                <a:srgbClr val="000000"/>
              </a:solidFill>
              <a:latin typeface="Arial"/>
              <a:ea typeface="Arial"/>
              <a:cs typeface="Arial"/>
              <a:sym typeface="Arial"/>
            </a:endParaRPr>
          </a:p>
        </p:txBody>
      </p:sp>
      <p:sp>
        <p:nvSpPr>
          <p:cNvPr id="84" name="Google Shape;84;p1"/>
          <p:cNvSpPr txBox="1"/>
          <p:nvPr/>
        </p:nvSpPr>
        <p:spPr>
          <a:xfrm>
            <a:off x="-55685" y="1042072"/>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3200" b="1" i="0" u="none" strike="noStrike" cap="none" dirty="0">
                <a:solidFill>
                  <a:schemeClr val="dk1"/>
                </a:solidFill>
                <a:latin typeface="Times New Roman"/>
                <a:ea typeface="Times New Roman"/>
                <a:cs typeface="Times New Roman"/>
                <a:sym typeface="Times New Roman"/>
              </a:rPr>
              <a:t>Подготовка начального волнового пакета для квантового интерферометра-гравиметра</a:t>
            </a:r>
            <a:endParaRPr sz="3200" b="1" i="0" u="none" strike="noStrike" cap="none" dirty="0">
              <a:solidFill>
                <a:schemeClr val="dk1"/>
              </a:solidFill>
              <a:latin typeface="Times New Roman"/>
              <a:ea typeface="Times New Roman"/>
              <a:cs typeface="Times New Roman"/>
              <a:sym typeface="Times New Roman"/>
            </a:endParaRPr>
          </a:p>
        </p:txBody>
      </p:sp>
      <p:sp>
        <p:nvSpPr>
          <p:cNvPr id="85" name="Google Shape;85;p1"/>
          <p:cNvSpPr txBox="1"/>
          <p:nvPr/>
        </p:nvSpPr>
        <p:spPr>
          <a:xfrm>
            <a:off x="4156140" y="80866"/>
            <a:ext cx="4149011"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Институт лазерной физики СО РАН</a:t>
            </a:r>
            <a:endParaRPr sz="16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Новосибирск, Россия</a:t>
            </a:r>
            <a:endParaRPr/>
          </a:p>
        </p:txBody>
      </p:sp>
      <p:sp>
        <p:nvSpPr>
          <p:cNvPr id="86" name="Google Shape;86;p1"/>
          <p:cNvSpPr txBox="1"/>
          <p:nvPr/>
        </p:nvSpPr>
        <p:spPr>
          <a:xfrm>
            <a:off x="2720805" y="3737956"/>
            <a:ext cx="785015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1</a:t>
            </a:r>
            <a:r>
              <a:rPr lang="ru-RU" sz="1600" b="0" i="1" u="none" strike="noStrike" cap="none" dirty="0">
                <a:solidFill>
                  <a:srgbClr val="000000"/>
                </a:solidFill>
                <a:latin typeface="Times New Roman"/>
                <a:ea typeface="Times New Roman"/>
                <a:cs typeface="Times New Roman"/>
                <a:sym typeface="Times New Roman"/>
              </a:rPr>
              <a:t>Институт лазерной физики СО РАН,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2</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университет,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3</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технический университет, Новосибирск, Россия</a:t>
            </a:r>
            <a:endParaRPr sz="1600" b="0" i="1" u="none" strike="noStrike" cap="none" dirty="0">
              <a:solidFill>
                <a:srgbClr val="000000"/>
              </a:solidFill>
              <a:latin typeface="Times New Roman"/>
              <a:ea typeface="Times New Roman"/>
              <a:cs typeface="Times New Roman"/>
              <a:sym typeface="Times New Roman"/>
            </a:endParaRPr>
          </a:p>
        </p:txBody>
      </p:sp>
      <p:sp>
        <p:nvSpPr>
          <p:cNvPr id="87" name="Google Shape;87;p1"/>
          <p:cNvSpPr txBox="1"/>
          <p:nvPr/>
        </p:nvSpPr>
        <p:spPr>
          <a:xfrm>
            <a:off x="261256" y="5984033"/>
            <a:ext cx="309776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email: ofadamovkirill@gmail.com</a:t>
            </a: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89225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549" y="104154"/>
            <a:ext cx="7889965" cy="3724096"/>
          </a:xfrm>
          <a:prstGeom prst="rect">
            <a:avLst/>
          </a:prstGeom>
          <a:noFill/>
        </p:spPr>
        <p:txBody>
          <a:bodyPr wrap="square" rtlCol="0">
            <a:spAutoFit/>
          </a:bodyPr>
          <a:lstStyle/>
          <a:p>
            <a:r>
              <a:rPr lang="ru-RU" sz="3600" dirty="0">
                <a:latin typeface="Times New Roman" panose="02020603050405020304" pitchFamily="18" charset="0"/>
                <a:cs typeface="Times New Roman" panose="02020603050405020304" pitchFamily="18" charset="0"/>
              </a:rPr>
              <a:t>Содержание</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Введение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Общие принципы работы квантового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Оптическая схема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Экспериментальная установка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оптической накачки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по компенсации вибрационных шумов</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Заключение</a:t>
            </a:r>
          </a:p>
        </p:txBody>
      </p:sp>
    </p:spTree>
    <p:extLst>
      <p:ext uri="{BB962C8B-B14F-4D97-AF65-F5344CB8AC3E}">
        <p14:creationId xmlns:p14="http://schemas.microsoft.com/office/powerpoint/2010/main" val="13339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 xmlns:a16="http://schemas.microsoft.com/office/drawing/2014/main" id="{C5767328-1785-46B5-813F-A312F3382CC4}"/>
              </a:ext>
            </a:extLst>
          </p:cNvPr>
          <p:cNvSpPr/>
          <p:nvPr/>
        </p:nvSpPr>
        <p:spPr>
          <a:xfrm>
            <a:off x="2495423" y="44900"/>
            <a:ext cx="6910755" cy="3541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Введение</a:t>
            </a:r>
            <a:endParaRPr sz="14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76958720"/>
              </p:ext>
            </p:extLst>
          </p:nvPr>
        </p:nvGraphicFramePr>
        <p:xfrm>
          <a:off x="309068" y="2663855"/>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 xmlns:a16="http://schemas.microsoft.com/office/drawing/2014/main" val="20000"/>
                    </a:ext>
                  </a:extLst>
                </a:gridCol>
                <a:gridCol w="3007360">
                  <a:extLst>
                    <a:ext uri="{9D8B030D-6E8A-4147-A177-3AD203B41FA5}">
                      <a16:colId xmlns="" xmlns:a16="http://schemas.microsoft.com/office/drawing/2014/main" val="20001"/>
                    </a:ext>
                  </a:extLst>
                </a:gridCol>
                <a:gridCol w="2221805">
                  <a:extLst>
                    <a:ext uri="{9D8B030D-6E8A-4147-A177-3AD203B41FA5}">
                      <a16:colId xmlns="" xmlns:a16="http://schemas.microsoft.com/office/drawing/2014/main" val="20002"/>
                    </a:ext>
                  </a:extLst>
                </a:gridCol>
                <a:gridCol w="3264567">
                  <a:extLst>
                    <a:ext uri="{9D8B030D-6E8A-4147-A177-3AD203B41FA5}">
                      <a16:colId xmlns=""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a:t>
                      </a: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ea typeface="Times New Roman"/>
                          <a:cs typeface="Times New Roman" panose="02020603050405020304" pitchFamily="18" charset="0"/>
                          <a:sym typeface="Times New Roman"/>
                        </a:rPr>
                        <a:t>2</a:t>
                      </a:r>
                      <a:r>
                        <a:rPr lang="ru-RU" sz="1400" dirty="0">
                          <a:latin typeface="Times New Roman" panose="02020603050405020304" pitchFamily="18" charset="0"/>
                          <a:ea typeface="Times New Roman"/>
                          <a:cs typeface="Times New Roman" panose="02020603050405020304" pitchFamily="18" charset="0"/>
                          <a:sym typeface="Times New Roman"/>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3725695167"/>
              </p:ext>
            </p:extLst>
          </p:nvPr>
        </p:nvGraphicFramePr>
        <p:xfrm>
          <a:off x="771063" y="535053"/>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 xmlns:a16="http://schemas.microsoft.com/office/drawing/2014/main" val="20000"/>
                    </a:ext>
                  </a:extLst>
                </a:gridCol>
                <a:gridCol w="1774979">
                  <a:extLst>
                    <a:ext uri="{9D8B030D-6E8A-4147-A177-3AD203B41FA5}">
                      <a16:colId xmlns="" xmlns:a16="http://schemas.microsoft.com/office/drawing/2014/main" val="20001"/>
                    </a:ext>
                  </a:extLst>
                </a:gridCol>
                <a:gridCol w="1774979">
                  <a:extLst>
                    <a:ext uri="{9D8B030D-6E8A-4147-A177-3AD203B41FA5}">
                      <a16:colId xmlns="" xmlns:a16="http://schemas.microsoft.com/office/drawing/2014/main" val="20002"/>
                    </a:ext>
                  </a:extLst>
                </a:gridCol>
                <a:gridCol w="1774979">
                  <a:extLst>
                    <a:ext uri="{9D8B030D-6E8A-4147-A177-3AD203B41FA5}">
                      <a16:colId xmlns="" xmlns:a16="http://schemas.microsoft.com/office/drawing/2014/main" val="20003"/>
                    </a:ext>
                  </a:extLst>
                </a:gridCol>
                <a:gridCol w="1774979">
                  <a:extLst>
                    <a:ext uri="{9D8B030D-6E8A-4147-A177-3AD203B41FA5}">
                      <a16:colId xmlns="" xmlns:a16="http://schemas.microsoft.com/office/drawing/2014/main" val="20004"/>
                    </a:ext>
                  </a:extLst>
                </a:gridCol>
                <a:gridCol w="1774979">
                  <a:extLst>
                    <a:ext uri="{9D8B030D-6E8A-4147-A177-3AD203B41FA5}">
                      <a16:colId xmlns="" xmlns:a16="http://schemas.microsoft.com/office/drawing/2014/main" val="20005"/>
                    </a:ext>
                  </a:extLst>
                </a:gridCol>
              </a:tblGrid>
              <a:tr h="565703">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торр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5" name="Google Shape;96;p16">
            <a:extLst>
              <a:ext uri="{FF2B5EF4-FFF2-40B4-BE49-F238E27FC236}">
                <a16:creationId xmlns="" xmlns:a16="http://schemas.microsoft.com/office/drawing/2014/main" id="{423EA0ED-41B0-045E-C05E-55922F62F740}"/>
              </a:ext>
            </a:extLst>
          </p:cNvPr>
          <p:cNvSpPr txBox="1"/>
          <p:nvPr/>
        </p:nvSpPr>
        <p:spPr>
          <a:xfrm>
            <a:off x="2042617" y="1898138"/>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 xmlns:a16="http://schemas.microsoft.com/office/drawing/2014/main" id="{E4243556-E438-CFBC-29D6-4D8BF0F905CD}"/>
              </a:ext>
            </a:extLst>
          </p:cNvPr>
          <p:cNvSpPr txBox="1"/>
          <p:nvPr/>
        </p:nvSpPr>
        <p:spPr>
          <a:xfrm>
            <a:off x="2292713" y="1559624"/>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 xmlns:a16="http://schemas.microsoft.com/office/drawing/2014/main" id="{D4F37B3D-67F2-43BC-66AA-BE525757435E}"/>
              </a:ext>
            </a:extLst>
          </p:cNvPr>
          <p:cNvSpPr txBox="1"/>
          <p:nvPr/>
        </p:nvSpPr>
        <p:spPr>
          <a:xfrm>
            <a:off x="6674510" y="1898138"/>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a:t>
            </a:r>
            <a:r>
              <a:rPr lang="ru-RU" dirty="0" err="1"/>
              <a:t>гравитационноге</a:t>
            </a:r>
            <a:r>
              <a:rPr lang="ru-RU" dirty="0"/>
              <a:t> ускорение влияют различные факторы, среди них …., которые могут менять величину </a:t>
            </a:r>
            <a:r>
              <a:rPr lang="en-US" dirty="0"/>
              <a:t>g </a:t>
            </a:r>
            <a:r>
              <a:rPr lang="ru-RU" dirty="0"/>
              <a:t>от десятых </a:t>
            </a:r>
            <a:r>
              <a:rPr lang="ru-RU" dirty="0" err="1"/>
              <a:t>мкГал</a:t>
            </a:r>
            <a:r>
              <a:rPr lang="ru-RU" dirty="0"/>
              <a:t> до сотен </a:t>
            </a:r>
            <a:r>
              <a:rPr lang="ru-RU" dirty="0" err="1"/>
              <a:t>мкГал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Гравиметр подразделяются на абсолютные, измеряющие гравитационное ускорение напрямую, и относительные, измеряющие изменение гравитационного поля, и поэтому для измерение гравитационного ускорения требуют калибровки по абсолютным, а также данные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Данное исследование направлено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504131" y="94718"/>
            <a:ext cx="6910755" cy="47118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гравиметра</a:t>
            </a:r>
            <a:endParaRPr sz="14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481868"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a:t>
            </a:r>
            <a:r>
              <a:rPr lang="en-US" sz="1600"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smtClean="0">
                <a:latin typeface="Times New Roman" panose="02020603050405020304" pitchFamily="18" charset="0"/>
                <a:cs typeface="Times New Roman" panose="02020603050405020304" pitchFamily="18" charset="0"/>
              </a:rPr>
              <a:t>k</a:t>
            </a:r>
            <a:r>
              <a:rPr lang="en-US" sz="1600" baseline="-25000" dirty="0" smtClean="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k</a:t>
            </a:r>
            <a:r>
              <a:rPr lang="en-US" sz="1600" baseline="-25000" dirty="0" smtClean="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эффективное волновое число</a:t>
            </a:r>
            <a:r>
              <a:rPr lang="en-US" sz="1600" dirty="0" smtClean="0">
                <a:latin typeface="Times New Roman" panose="02020603050405020304" pitchFamily="18" charset="0"/>
                <a:cs typeface="Times New Roman" panose="02020603050405020304" pitchFamily="18" charset="0"/>
              </a:rPr>
              <a:t>;</a:t>
            </a:r>
            <a:r>
              <a:rPr lang="en-US" sz="1600" b="1" dirty="0" smtClean="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 xmlns:a16="http://schemas.microsoft.com/office/drawing/2014/main" id="{A5F76187-A348-4512-AFBD-6EA014B794F8}"/>
                  </a:ext>
                </a:extLst>
              </p:cNvPr>
              <p:cNvSpPr txBox="1"/>
              <p:nvPr/>
            </p:nvSpPr>
            <p:spPr>
              <a:xfrm>
                <a:off x="723472" y="4162817"/>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23472" y="4162817"/>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970D59FF-3EFC-AE6F-C462-671EC06C19B7}"/>
                  </a:ext>
                </a:extLst>
              </p:cNvPr>
              <p:cNvSpPr txBox="1"/>
              <p:nvPr/>
            </p:nvSpPr>
            <p:spPr>
              <a:xfrm>
                <a:off x="5198036" y="5243717"/>
                <a:ext cx="997132" cy="549381"/>
              </a:xfrm>
              <a:prstGeom prst="rect">
                <a:avLst/>
              </a:prstGeom>
              <a:noFill/>
              <a:ln w="28575">
                <a:solidFill>
                  <a:srgbClr val="FF0000"/>
                </a:solidFill>
              </a:ln>
            </p:spPr>
            <p:txBody>
              <a:bodyPr wrap="none" rtlCol="0">
                <a:spAutoFit/>
              </a:bodyPr>
              <a:lstStyle/>
              <a:p>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𝜋𝛼</m:t>
                        </m:r>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xmlns="">
          <p:sp>
            <p:nvSpPr>
              <p:cNvPr id="3" name="TextBox 2">
                <a:extLst>
                  <a:ext uri="{FF2B5EF4-FFF2-40B4-BE49-F238E27FC236}">
                    <a16:creationId xmlns:a16="http://schemas.microsoft.com/office/drawing/2014/main" xmlns:a14="http://schemas.microsoft.com/office/drawing/2010/main" xmlns="" id="{970D59FF-3EFC-AE6F-C462-671EC06C19B7}"/>
                  </a:ext>
                </a:extLst>
              </p:cNvPr>
              <p:cNvSpPr txBox="1">
                <a:spLocks noRot="1" noChangeAspect="1" noMove="1" noResize="1" noEditPoints="1" noAdjustHandles="1" noChangeArrowheads="1" noChangeShapeType="1" noTextEdit="1"/>
              </p:cNvSpPr>
              <p:nvPr/>
            </p:nvSpPr>
            <p:spPr>
              <a:xfrm>
                <a:off x="5198036" y="5243717"/>
                <a:ext cx="997132" cy="549381"/>
              </a:xfrm>
              <a:prstGeom prst="rect">
                <a:avLst/>
              </a:prstGeom>
              <a:blipFill rotWithShape="0">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CCD42D4-EA53-4BF0-8F05-F9A6E85BE531}"/>
              </a:ext>
            </a:extLst>
          </p:cNvPr>
          <p:cNvSpPr txBox="1"/>
          <p:nvPr/>
        </p:nvSpPr>
        <p:spPr>
          <a:xfrm>
            <a:off x="479018" y="219156"/>
            <a:ext cx="11712982" cy="6340197"/>
          </a:xfrm>
          <a:prstGeom prst="rect">
            <a:avLst/>
          </a:prstGeom>
          <a:noFill/>
        </p:spPr>
        <p:txBody>
          <a:bodyPr wrap="square" rtlCol="0">
            <a:spAutoFit/>
          </a:bodyPr>
          <a:lstStyle/>
          <a:p>
            <a:r>
              <a:rPr lang="ru-RU" dirty="0"/>
              <a:t>На данном слайде более подробно описана атомная интерференция, основной измерительный этап.</a:t>
            </a:r>
          </a:p>
          <a:p>
            <a:endParaRPr lang="ru-RU" dirty="0"/>
          </a:p>
          <a:p>
            <a:r>
              <a:rPr lang="ru-RU" dirty="0"/>
              <a:t>Для атомной интерференции используются </a:t>
            </a:r>
            <a:r>
              <a:rPr lang="en-US" dirty="0"/>
              <a:t>F = 1 F = 2 </a:t>
            </a:r>
            <a:r>
              <a:rPr lang="ru-RU" dirty="0"/>
              <a:t>компоненты сверхтонкого расщепления основного состояния (а). Переходы между данными состояниями осуществляются с помощью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После этапов подготовки перед атомной интерференцией атомы находятся в состоянии </a:t>
            </a:r>
            <a:r>
              <a:rPr lang="en-US" dirty="0"/>
              <a:t>F =</a:t>
            </a:r>
            <a:r>
              <a:rPr lang="ru-RU" dirty="0"/>
              <a:t> </a:t>
            </a:r>
            <a:r>
              <a:rPr lang="en-US" dirty="0"/>
              <a:t>1</a:t>
            </a:r>
            <a:r>
              <a:rPr lang="ru-RU" dirty="0"/>
              <a:t>. Для осуществления атомной интерференции используется следующая схема (б)</a:t>
            </a:r>
            <a:r>
              <a:rPr lang="en-US" dirty="0"/>
              <a:t>:</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значительно отличный импульс, и поэтому получившиеся волновые пакеты эволюционируют по различным </a:t>
            </a:r>
            <a:r>
              <a:rPr lang="ru-RU" dirty="0" err="1"/>
              <a:t>пространственно</a:t>
            </a:r>
            <a:r>
              <a:rPr lang="ru-RU" dirty="0"/>
              <a:t> временным траекториям. </a:t>
            </a:r>
          </a:p>
          <a:p>
            <a:pPr marL="342900" indent="-342900">
              <a:buAutoNum type="arabicPeriod"/>
            </a:pPr>
            <a:r>
              <a:rPr lang="ru-RU" dirty="0"/>
              <a:t>Далее атомы находятся в состоянии свободного падения на </a:t>
            </a:r>
            <a:r>
              <a:rPr lang="ru-RU" dirty="0" err="1"/>
              <a:t>протяжнии</a:t>
            </a:r>
            <a:r>
              <a:rPr lang="ru-RU" dirty="0"/>
              <a:t> времени </a:t>
            </a:r>
            <a:r>
              <a:rPr lang="en-US" dirty="0"/>
              <a:t>T</a:t>
            </a:r>
            <a:r>
              <a:rPr lang="ru-RU" dirty="0"/>
              <a:t>,</a:t>
            </a:r>
            <a:r>
              <a:rPr lang="en-US" dirty="0"/>
              <a:t> </a:t>
            </a:r>
            <a:r>
              <a:rPr lang="ru-RU" dirty="0"/>
              <a:t>после чего подаётся второй пи импульс, меняющий состояние 1 на 2, а 2 на 1.</a:t>
            </a:r>
          </a:p>
          <a:p>
            <a:pPr marL="342900" indent="-342900">
              <a:buAutoNum type="arabicPeriod"/>
            </a:pPr>
            <a:r>
              <a:rPr lang="ru-RU" dirty="0"/>
              <a:t>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Также 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чирпа</a:t>
            </a:r>
            <a:r>
              <a:rPr lang="ru-RU" dirty="0"/>
              <a:t> –</a:t>
            </a:r>
            <a:r>
              <a:rPr lang="en-US" dirty="0"/>
              <a:t> </a:t>
            </a:r>
            <a:r>
              <a:rPr lang="ru-RU" dirty="0"/>
              <a:t>альфа. </a:t>
            </a:r>
          </a:p>
          <a:p>
            <a:r>
              <a:rPr lang="ru-RU" dirty="0"/>
              <a:t>По итогу на выходе атомного интерферометра получается два волновых пакета с состояниями 1 и 2. Населённость данных состояний зависит от разности фаз между двумя имеющимися пространственно-временными траекториями – плечами интерферометра. Данная разность фаз определяется следующим выражением</a:t>
            </a:r>
            <a:r>
              <a:rPr lang="en-US" dirty="0"/>
              <a:t>: </a:t>
            </a:r>
            <a:r>
              <a:rPr lang="ru-RU" dirty="0"/>
              <a:t>она зависит от скорости </a:t>
            </a:r>
            <a:r>
              <a:rPr lang="ru-RU" dirty="0" err="1"/>
              <a:t>чирпа</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 </a:t>
            </a:r>
            <a:r>
              <a:rPr lang="en-US" dirty="0"/>
              <a:t>g </a:t>
            </a:r>
            <a:r>
              <a:rPr lang="ru-RU" dirty="0"/>
              <a:t>можно легко определить по точке зануления дельта Ф.</a:t>
            </a:r>
            <a:r>
              <a:rPr lang="en-US" dirty="0"/>
              <a:t> </a:t>
            </a:r>
          </a:p>
          <a:p>
            <a:endParaRPr lang="en-US" dirty="0"/>
          </a:p>
          <a:p>
            <a:r>
              <a:rPr lang="ru-RU" dirty="0"/>
              <a:t>Для того, чтобы отыскать эту точку,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 </a:t>
            </a:r>
            <a:r>
              <a:rPr lang="ru-RU" dirty="0"/>
              <a:t>больших времён между импульсами, получатся синусоиды. В точке с нулевой разностью фаз </a:t>
            </a:r>
            <a:r>
              <a:rPr lang="ru-RU" dirty="0" err="1"/>
              <a:t>чирп</a:t>
            </a:r>
            <a:r>
              <a:rPr lang="ru-RU" dirty="0"/>
              <a:t> полностью скомпенсирует доплеровский сдвиг, это точка пика для всех </a:t>
            </a:r>
            <a:r>
              <a:rPr lang="en-US" dirty="0"/>
              <a:t>T </a:t>
            </a:r>
            <a:r>
              <a:rPr lang="ru-RU" dirty="0"/>
              <a:t>будет одинакова. Теперь зная положение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72" name="Google Shape;172;p6"/>
          <p:cNvSpPr/>
          <p:nvPr/>
        </p:nvSpPr>
        <p:spPr>
          <a:xfrm>
            <a:off x="2572555" y="80840"/>
            <a:ext cx="6910755" cy="5536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Используемые переходы атома </a:t>
            </a:r>
            <a:r>
              <a:rPr lang="ru-RU" sz="2400" b="1" i="0" u="none" strike="noStrike" cap="none" baseline="30000" dirty="0">
                <a:solidFill>
                  <a:schemeClr val="lt1"/>
                </a:solidFill>
                <a:latin typeface="Times New Roman"/>
                <a:ea typeface="Times New Roman"/>
                <a:cs typeface="Times New Roman"/>
                <a:sym typeface="Times New Roman"/>
              </a:rPr>
              <a:t>87</a:t>
            </a:r>
            <a:r>
              <a:rPr lang="en-US" sz="2400" b="1" i="0" u="none" strike="noStrike" cap="none" dirty="0">
                <a:solidFill>
                  <a:schemeClr val="lt1"/>
                </a:solidFill>
                <a:latin typeface="Times New Roman"/>
                <a:ea typeface="Times New Roman"/>
                <a:cs typeface="Times New Roman"/>
                <a:sym typeface="Times New Roman"/>
              </a:rPr>
              <a:t>Rb</a:t>
            </a:r>
            <a:endParaRPr lang="en-US" sz="1400" b="0" i="0" u="none" strike="noStrike" cap="none" dirty="0">
              <a:solidFill>
                <a:srgbClr val="000000"/>
              </a:solidFill>
              <a:latin typeface="Arial"/>
              <a:ea typeface="Arial"/>
              <a:cs typeface="Arial"/>
              <a:sym typeface="Arial"/>
            </a:endParaRPr>
          </a:p>
        </p:txBody>
      </p:sp>
      <p:sp>
        <p:nvSpPr>
          <p:cNvPr id="42" name="TextBox 41">
            <a:extLst>
              <a:ext uri="{FF2B5EF4-FFF2-40B4-BE49-F238E27FC236}">
                <a16:creationId xmlns="" xmlns:a16="http://schemas.microsoft.com/office/drawing/2014/main" id="{C0BC523E-C572-40EC-9063-421483B6825E}"/>
              </a:ext>
            </a:extLst>
          </p:cNvPr>
          <p:cNvSpPr txBox="1"/>
          <p:nvPr/>
        </p:nvSpPr>
        <p:spPr>
          <a:xfrm>
            <a:off x="-298579" y="5466515"/>
            <a:ext cx="12192000" cy="422167"/>
          </a:xfrm>
          <a:prstGeom prst="rect">
            <a:avLst/>
          </a:prstGeom>
          <a:noFill/>
        </p:spPr>
        <p:txBody>
          <a:bodyPr wrap="square">
            <a:spAutoFit/>
          </a:bodyPr>
          <a:lstStyle/>
          <a:p>
            <a:pPr algn="ctr">
              <a:lnSpc>
                <a:spcPct val="150000"/>
              </a:lnSpc>
              <a:spcAft>
                <a:spcPts val="800"/>
              </a:spcAft>
            </a:pPr>
            <a:r>
              <a:rPr lang="ru-RU" sz="1600" dirty="0">
                <a:effectLst/>
                <a:latin typeface="Times New Roman" panose="02020603050405020304" pitchFamily="18" charset="0"/>
                <a:ea typeface="Times New Roman" panose="02020603050405020304" pitchFamily="18" charset="0"/>
              </a:rPr>
              <a:t>Рис. 3. </a:t>
            </a:r>
            <a:r>
              <a:rPr lang="ru-RU" sz="1600" dirty="0">
                <a:solidFill>
                  <a:srgbClr val="000000"/>
                </a:solidFill>
                <a:effectLst/>
                <a:latin typeface="Times New Roman" panose="02020603050405020304" pitchFamily="18" charset="0"/>
                <a:ea typeface="Calibri" panose="020F0502020204030204" pitchFamily="34" charset="0"/>
              </a:rPr>
              <a:t>Схема уровней </a:t>
            </a:r>
            <a:r>
              <a:rPr lang="en-US" sz="1600" dirty="0">
                <a:solidFill>
                  <a:srgbClr val="000000"/>
                </a:solidFill>
                <a:effectLst/>
                <a:latin typeface="Times New Roman" panose="02020603050405020304" pitchFamily="18" charset="0"/>
                <a:ea typeface="Calibri" panose="020F0502020204030204" pitchFamily="34" charset="0"/>
              </a:rPr>
              <a:t>D</a:t>
            </a:r>
            <a:r>
              <a:rPr lang="ru-RU" sz="1600" baseline="-25000" dirty="0">
                <a:solidFill>
                  <a:srgbClr val="000000"/>
                </a:solidFill>
                <a:effectLst/>
                <a:latin typeface="Times New Roman" panose="02020603050405020304" pitchFamily="18" charset="0"/>
                <a:ea typeface="Calibri" panose="020F0502020204030204" pitchFamily="34" charset="0"/>
              </a:rPr>
              <a:t>2</a:t>
            </a:r>
            <a:r>
              <a:rPr lang="ru-RU" sz="1600" dirty="0">
                <a:solidFill>
                  <a:srgbClr val="000000"/>
                </a:solidFill>
                <a:effectLst/>
                <a:latin typeface="Times New Roman" panose="02020603050405020304" pitchFamily="18" charset="0"/>
                <a:ea typeface="Calibri" panose="020F0502020204030204" pitchFamily="34" charset="0"/>
              </a:rPr>
              <a:t> линии атома </a:t>
            </a:r>
            <a:r>
              <a:rPr lang="ru-RU" sz="1600" baseline="30000" dirty="0">
                <a:solidFill>
                  <a:srgbClr val="000000"/>
                </a:solidFill>
                <a:effectLst/>
                <a:latin typeface="Times New Roman" panose="02020603050405020304" pitchFamily="18" charset="0"/>
                <a:ea typeface="Calibri" panose="020F0502020204030204" pitchFamily="34" charset="0"/>
              </a:rPr>
              <a:t>87</a:t>
            </a:r>
            <a:r>
              <a:rPr lang="en-US" sz="1600" dirty="0">
                <a:solidFill>
                  <a:srgbClr val="000000"/>
                </a:solidFill>
                <a:effectLst/>
                <a:latin typeface="Times New Roman" panose="02020603050405020304" pitchFamily="18" charset="0"/>
                <a:ea typeface="Calibri" panose="020F0502020204030204" pitchFamily="34" charset="0"/>
              </a:rPr>
              <a:t>Rb</a:t>
            </a:r>
            <a:r>
              <a:rPr lang="ru-RU" sz="16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a:t>
            </a:r>
            <a:endParaRPr lang="ru-RU" dirty="0">
              <a:effectLst/>
              <a:latin typeface="Calibri" panose="020F0502020204030204" pitchFamily="34" charset="0"/>
              <a:ea typeface="Calibri" panose="020F0502020204030204" pitchFamily="34" charset="0"/>
            </a:endParaRPr>
          </a:p>
        </p:txBody>
      </p:sp>
      <p:pic>
        <p:nvPicPr>
          <p:cNvPr id="3" name="Рисунок 2">
            <a:extLst>
              <a:ext uri="{FF2B5EF4-FFF2-40B4-BE49-F238E27FC236}">
                <a16:creationId xmlns="" xmlns:a16="http://schemas.microsoft.com/office/drawing/2014/main" id="{25C80F64-1A92-4CBB-A332-7F48B7C3644C}"/>
              </a:ext>
            </a:extLst>
          </p:cNvPr>
          <p:cNvPicPr>
            <a:picLocks noChangeAspect="1"/>
          </p:cNvPicPr>
          <p:nvPr/>
        </p:nvPicPr>
        <p:blipFill>
          <a:blip r:embed="rId3"/>
          <a:stretch>
            <a:fillRect/>
          </a:stretch>
        </p:blipFill>
        <p:spPr>
          <a:xfrm>
            <a:off x="2359385" y="923119"/>
            <a:ext cx="6876071" cy="42547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644F5585-7BC7-48D8-991F-EE7FB391AB59}"/>
              </a:ext>
            </a:extLst>
          </p:cNvPr>
          <p:cNvSpPr txBox="1"/>
          <p:nvPr/>
        </p:nvSpPr>
        <p:spPr>
          <a:xfrm>
            <a:off x="665725" y="5070942"/>
            <a:ext cx="10587134" cy="1384995"/>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4. </a:t>
            </a:r>
            <a:r>
              <a:rPr lang="ru-RU" dirty="0">
                <a:effectLst/>
                <a:latin typeface="Times New Roman" panose="02020603050405020304" pitchFamily="18" charset="0"/>
                <a:ea typeface="Times New Roman" panose="02020603050405020304" pitchFamily="18" charset="0"/>
              </a:rPr>
              <a:t>Оптическая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рамановских переходов в атомном интерферометре. АОМ – акустооптический модулятор, ЭОМ – электрооптический модулятор, ДЛВР – диодный лазер с внешним резонатором, λ/2 – полуволновая пластинка, λ/4 – четвертьволновая пластинка, З – плоское зеркало, СЗ – сферическое зеркало, Линза – собирающая линза, ОИ – оптический изолятор Фарадея, ПДК – поляризационный делительный кубик, СЧБ – стабилизация частоты с помощью биений, СНС – установка для спектроскопии насыщенного поглощения, ДК – делительный кубик, λ-метр – измеритель длины волны, ФД -фотодиод.</a:t>
            </a:r>
            <a:endParaRPr lang="ru-RU" dirty="0"/>
          </a:p>
        </p:txBody>
      </p:sp>
      <p:sp>
        <p:nvSpPr>
          <p:cNvPr id="5" name="Google Shape;178;p5">
            <a:extLst>
              <a:ext uri="{FF2B5EF4-FFF2-40B4-BE49-F238E27FC236}">
                <a16:creationId xmlns="" xmlns:a16="http://schemas.microsoft.com/office/drawing/2014/main" id="{685FAB7F-096C-4160-8A8F-AF21AFC9F4E2}"/>
              </a:ext>
            </a:extLst>
          </p:cNvPr>
          <p:cNvSpPr/>
          <p:nvPr/>
        </p:nvSpPr>
        <p:spPr>
          <a:xfrm>
            <a:off x="2367282" y="12035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Оптическая схема гравиметра </a:t>
            </a:r>
            <a:endParaRPr sz="1400" b="0" i="0" u="none" strike="noStrike" cap="none">
              <a:solidFill>
                <a:srgbClr val="000000"/>
              </a:solidFill>
              <a:latin typeface="Arial"/>
              <a:ea typeface="Arial"/>
              <a:cs typeface="Arial"/>
              <a:sym typeface="Arial"/>
            </a:endParaRPr>
          </a:p>
        </p:txBody>
      </p:sp>
      <p:pic>
        <p:nvPicPr>
          <p:cNvPr id="3" name="Рисунок 2">
            <a:extLst>
              <a:ext uri="{FF2B5EF4-FFF2-40B4-BE49-F238E27FC236}">
                <a16:creationId xmlns="" xmlns:a16="http://schemas.microsoft.com/office/drawing/2014/main" id="{4D30DFEF-8F23-4151-9AAE-358E840F02AC}"/>
              </a:ext>
            </a:extLst>
          </p:cNvPr>
          <p:cNvPicPr>
            <a:picLocks noChangeAspect="1"/>
          </p:cNvPicPr>
          <p:nvPr/>
        </p:nvPicPr>
        <p:blipFill>
          <a:blip r:embed="rId2"/>
          <a:stretch>
            <a:fillRect/>
          </a:stretch>
        </p:blipFill>
        <p:spPr>
          <a:xfrm>
            <a:off x="2232289" y="791016"/>
            <a:ext cx="7727421" cy="4294331"/>
          </a:xfrm>
          <a:prstGeom prst="rect">
            <a:avLst/>
          </a:prstGeom>
        </p:spPr>
      </p:pic>
    </p:spTree>
    <p:extLst>
      <p:ext uri="{BB962C8B-B14F-4D97-AF65-F5344CB8AC3E}">
        <p14:creationId xmlns:p14="http://schemas.microsoft.com/office/powerpoint/2010/main" val="2898375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14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ACDA365-E3B3-01BE-C12D-5555B4A36A5D}"/>
              </a:ext>
            </a:extLst>
          </p:cNvPr>
          <p:cNvSpPr txBox="1"/>
          <p:nvPr/>
        </p:nvSpPr>
        <p:spPr>
          <a:xfrm>
            <a:off x="2937933" y="516467"/>
            <a:ext cx="6316133" cy="4401205"/>
          </a:xfrm>
          <a:prstGeom prst="rect">
            <a:avLst/>
          </a:prstGeom>
          <a:noFill/>
        </p:spPr>
        <p:txBody>
          <a:bodyPr wrap="square" rtlCol="0">
            <a:spAutoFit/>
          </a:bodyPr>
          <a:lstStyle/>
          <a:p>
            <a:r>
              <a:rPr lang="ru-RU" dirty="0"/>
              <a:t>Теперь что касается самой экспериментальной установки гравиметра.</a:t>
            </a:r>
          </a:p>
          <a:p>
            <a:endParaRPr lang="ru-RU" dirty="0"/>
          </a:p>
          <a:p>
            <a:r>
              <a:rPr lang="ru-RU" dirty="0"/>
              <a:t>На 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излучения 2-3</a:t>
            </a:r>
            <a:r>
              <a:rPr lang="en-US" dirty="0"/>
              <a:t>’ c </a:t>
            </a:r>
            <a:r>
              <a:rPr lang="ru-RU" dirty="0"/>
              <a:t>отстройкой от 3</a:t>
            </a:r>
            <a:r>
              <a:rPr lang="en-US" dirty="0"/>
              <a:t>’, </a:t>
            </a:r>
            <a:r>
              <a:rPr lang="ru-RU" dirty="0"/>
              <a:t>для поддержания атомов в цикле охлаждения и излучения используется перекачивающее излучение 1-2</a:t>
            </a:r>
            <a:r>
              <a:rPr lang="en-US" dirty="0"/>
              <a:t>’, </a:t>
            </a:r>
            <a:r>
              <a:rPr lang="ru-RU" dirty="0"/>
              <a:t>для оптической накачки используются излучения 2-2</a:t>
            </a:r>
            <a:r>
              <a:rPr lang="en-US" dirty="0"/>
              <a:t>’ </a:t>
            </a:r>
            <a:r>
              <a:rPr lang="ru-RU" dirty="0"/>
              <a:t>и 1-0</a:t>
            </a:r>
            <a:r>
              <a:rPr lang="en-US" dirty="0"/>
              <a:t>’, </a:t>
            </a:r>
            <a:r>
              <a:rPr lang="ru-RU" dirty="0"/>
              <a:t>для подсветки Резонансное излучения 2-3</a:t>
            </a:r>
            <a:r>
              <a:rPr lang="en-US" dirty="0"/>
              <a:t>’, </a:t>
            </a:r>
            <a:r>
              <a:rPr lang="ru-RU" dirty="0"/>
              <a:t>и для переходов между состояниями </a:t>
            </a:r>
            <a:r>
              <a:rPr lang="en-US" dirty="0"/>
              <a:t>F=1 </a:t>
            </a:r>
            <a:r>
              <a:rPr lang="ru-RU" dirty="0"/>
              <a:t>и </a:t>
            </a:r>
            <a:r>
              <a:rPr lang="en-US" dirty="0"/>
              <a:t>F=2 </a:t>
            </a:r>
            <a:r>
              <a:rPr lang="ru-RU" dirty="0" err="1"/>
              <a:t>рамановские</a:t>
            </a:r>
            <a:r>
              <a:rPr lang="ru-RU" dirty="0"/>
              <a:t> пучки.</a:t>
            </a:r>
          </a:p>
          <a:p>
            <a:endParaRPr lang="ru-RU" dirty="0"/>
          </a:p>
          <a:p>
            <a:r>
              <a:rPr lang="ru-RU" dirty="0"/>
              <a:t>А справа показана оптическая схема </a:t>
            </a:r>
            <a:r>
              <a:rPr lang="ru-RU" dirty="0" err="1"/>
              <a:t>гравимерта</a:t>
            </a:r>
            <a:r>
              <a:rPr lang="ru-RU" dirty="0"/>
              <a:t>. Излучение для охлаждения и части оптической накачки формируется лазерной волоконной системой Эльза.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789922" y="5162073"/>
            <a:ext cx="819227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dirty="0">
                <a:solidFill>
                  <a:srgbClr val="000000"/>
                </a:solidFill>
                <a:latin typeface="Times New Roman"/>
                <a:ea typeface="Times New Roman"/>
                <a:cs typeface="Times New Roman"/>
                <a:sym typeface="Times New Roman"/>
              </a:rPr>
              <a:t>Рис. 5.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18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Экспериментальная установка</a:t>
            </a: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354608" y="464018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640413" y="431285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330992" y="228814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93989" y="430558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86053" y="430956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352165" y="430971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80988" y="360937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419387" y="397775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100732" y="326211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4042468" y="230827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4042469" y="200155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50"/>
          <p:cNvSpPr/>
          <p:nvPr/>
        </p:nvSpPr>
        <p:spPr>
          <a:xfrm>
            <a:off x="4043396" y="1665997"/>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739355" y="1990956"/>
            <a:ext cx="1179282"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p:nvPr/>
        </p:nvSpPr>
        <p:spPr>
          <a:xfrm>
            <a:off x="2739356" y="1665998"/>
            <a:ext cx="1172436" cy="1869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739356" y="1336699"/>
            <a:ext cx="1172436"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731310" y="228957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79793" y="12203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77528" y="143687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216698" y="1573621"/>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Мощность Охлаждения</a:t>
            </a:r>
          </a:p>
        </p:txBody>
      </p:sp>
      <p:cxnSp>
        <p:nvCxnSpPr>
          <p:cNvPr id="7" name="Прямая соединительная линия 6"/>
          <p:cNvCxnSpPr/>
          <p:nvPr/>
        </p:nvCxnSpPr>
        <p:spPr>
          <a:xfrm>
            <a:off x="2477528" y="176617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42942" y="1905043"/>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Частота Охлаждения</a:t>
            </a:r>
          </a:p>
        </p:txBody>
      </p:sp>
      <p:cxnSp>
        <p:nvCxnSpPr>
          <p:cNvPr id="9" name="Прямая соединительная линия 8"/>
          <p:cNvCxnSpPr/>
          <p:nvPr/>
        </p:nvCxnSpPr>
        <p:spPr>
          <a:xfrm>
            <a:off x="2477528" y="209547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401427" y="21877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77528" y="239531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509656" y="25360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503505" y="285105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237157" y="319508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77528" y="338588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66255" y="387269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77528" y="371400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225610" y="351915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741643" y="421212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73247" y="45342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82029" y="47363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72326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911999"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 xmlns:a16="http://schemas.microsoft.com/office/drawing/2014/main" id="{D264B975-A8B3-4554-9188-E48F759EEE32}"/>
              </a:ext>
            </a:extLst>
          </p:cNvPr>
          <p:cNvSpPr txBox="1"/>
          <p:nvPr/>
        </p:nvSpPr>
        <p:spPr>
          <a:xfrm>
            <a:off x="2571095" y="505845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D264B975-A8B3-4554-9188-E48F759EEE32}"/>
              </a:ext>
            </a:extLst>
          </p:cNvPr>
          <p:cNvSpPr txBox="1"/>
          <p:nvPr/>
        </p:nvSpPr>
        <p:spPr>
          <a:xfrm>
            <a:off x="3667880" y="505669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80593" y="85051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cxnSp>
        <p:nvCxnSpPr>
          <p:cNvPr id="55" name="Прямая соединительная линия 54"/>
          <p:cNvCxnSpPr/>
          <p:nvPr/>
        </p:nvCxnSpPr>
        <p:spPr>
          <a:xfrm>
            <a:off x="5037400" y="998514"/>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 xmlns:a16="http://schemas.microsoft.com/office/drawing/2014/main" id="{D264B975-A8B3-4554-9188-E48F759EEE32}"/>
              </a:ext>
            </a:extLst>
          </p:cNvPr>
          <p:cNvSpPr txBox="1"/>
          <p:nvPr/>
        </p:nvSpPr>
        <p:spPr>
          <a:xfrm>
            <a:off x="4741150" y="505234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68867" y="83619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948827" y="79751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161344"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 xmlns:a16="http://schemas.microsoft.com/office/drawing/2014/main" id="{D264B975-A8B3-4554-9188-E48F759EEE32}"/>
              </a:ext>
            </a:extLst>
          </p:cNvPr>
          <p:cNvSpPr txBox="1"/>
          <p:nvPr/>
        </p:nvSpPr>
        <p:spPr>
          <a:xfrm>
            <a:off x="6905837" y="504691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8585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 xmlns:a16="http://schemas.microsoft.com/office/drawing/2014/main" id="{D264B975-A8B3-4554-9188-E48F759EEE32}"/>
              </a:ext>
            </a:extLst>
          </p:cNvPr>
          <p:cNvSpPr txBox="1"/>
          <p:nvPr/>
        </p:nvSpPr>
        <p:spPr>
          <a:xfrm>
            <a:off x="9543622" y="504407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66794" y="575546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142660" y="976125"/>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 xmlns:a16="http://schemas.microsoft.com/office/drawing/2014/main" id="{D264B975-A8B3-4554-9188-E48F759EEE32}"/>
              </a:ext>
            </a:extLst>
          </p:cNvPr>
          <p:cNvSpPr txBox="1"/>
          <p:nvPr/>
        </p:nvSpPr>
        <p:spPr>
          <a:xfrm>
            <a:off x="10992984" y="505413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61093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82098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 xmlns:a16="http://schemas.microsoft.com/office/drawing/2014/main" id="{752E87BA-AE03-4575-BC6E-FFA836941546}"/>
              </a:ext>
            </a:extLst>
          </p:cNvPr>
          <p:cNvSpPr txBox="1"/>
          <p:nvPr/>
        </p:nvSpPr>
        <p:spPr>
          <a:xfrm>
            <a:off x="3041395" y="538617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 xmlns:a16="http://schemas.microsoft.com/office/drawing/2014/main" id="{248B8D68-1797-4905-AC45-2C0793BDA79A}"/>
              </a:ext>
            </a:extLst>
          </p:cNvPr>
          <p:cNvCxnSpPr/>
          <p:nvPr/>
        </p:nvCxnSpPr>
        <p:spPr>
          <a:xfrm flipH="1">
            <a:off x="3102357" y="459360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 xmlns:a16="http://schemas.microsoft.com/office/drawing/2014/main" id="{E08F3811-E9DD-466E-B562-EDC2724496C2}"/>
              </a:ext>
            </a:extLst>
          </p:cNvPr>
          <p:cNvCxnSpPr/>
          <p:nvPr/>
        </p:nvCxnSpPr>
        <p:spPr>
          <a:xfrm flipH="1">
            <a:off x="3404452" y="459092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 xmlns:a16="http://schemas.microsoft.com/office/drawing/2014/main" id="{D95B086B-20F1-4FB8-973C-18B9F97E541F}"/>
              </a:ext>
            </a:extLst>
          </p:cNvPr>
          <p:cNvSpPr/>
          <p:nvPr/>
        </p:nvSpPr>
        <p:spPr>
          <a:xfrm rot="1536041">
            <a:off x="3204757" y="456716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 xmlns:a16="http://schemas.microsoft.com/office/drawing/2014/main" id="{EE466986-E0AF-4394-9D4C-BEFEDC65AD31}"/>
              </a:ext>
            </a:extLst>
          </p:cNvPr>
          <p:cNvSpPr/>
          <p:nvPr/>
        </p:nvSpPr>
        <p:spPr>
          <a:xfrm>
            <a:off x="9901862" y="431971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 xmlns:a16="http://schemas.microsoft.com/office/drawing/2014/main" id="{883A6D51-BD10-4CB1-9C2A-1746D6D82718}"/>
              </a:ext>
            </a:extLst>
          </p:cNvPr>
          <p:cNvSpPr/>
          <p:nvPr/>
        </p:nvSpPr>
        <p:spPr>
          <a:xfrm>
            <a:off x="9901863" y="262942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 xmlns:a16="http://schemas.microsoft.com/office/drawing/2014/main" id="{71D83A6E-C16E-4F2B-83C6-29C70DD39534}"/>
              </a:ext>
            </a:extLst>
          </p:cNvPr>
          <p:cNvSpPr/>
          <p:nvPr/>
        </p:nvSpPr>
        <p:spPr>
          <a:xfrm>
            <a:off x="10640413" y="294708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77528" y="272519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77528" y="406412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77528" y="44142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77528" y="30408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933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3">
            <a:extLst>
              <a:ext uri="{FF2B5EF4-FFF2-40B4-BE49-F238E27FC236}">
                <a16:creationId xmlns="" xmlns:a16="http://schemas.microsoft.com/office/drawing/2014/main" id="{54FCBDA4-5566-47DB-88F3-11F7896C9614}"/>
              </a:ext>
            </a:extLst>
          </p:cNvPr>
          <p:cNvGraphicFramePr>
            <a:graphicFrameLocks noGrp="1"/>
          </p:cNvGraphicFramePr>
          <p:nvPr>
            <p:extLst>
              <p:ext uri="{D42A27DB-BD31-4B8C-83A1-F6EECF244321}">
                <p14:modId xmlns:p14="http://schemas.microsoft.com/office/powerpoint/2010/main" val="2633225694"/>
              </p:ext>
            </p:extLst>
          </p:nvPr>
        </p:nvGraphicFramePr>
        <p:xfrm>
          <a:off x="1790170" y="596900"/>
          <a:ext cx="8611660" cy="6044387"/>
        </p:xfrm>
        <a:graphic>
          <a:graphicData uri="http://schemas.openxmlformats.org/drawingml/2006/table">
            <a:tbl>
              <a:tblPr firstRow="1" bandRow="1">
                <a:tableStyleId>{5C22544A-7EE6-4342-B048-85BDC9FD1C3A}</a:tableStyleId>
              </a:tblPr>
              <a:tblGrid>
                <a:gridCol w="4305830">
                  <a:extLst>
                    <a:ext uri="{9D8B030D-6E8A-4147-A177-3AD203B41FA5}">
                      <a16:colId xmlns="" xmlns:a16="http://schemas.microsoft.com/office/drawing/2014/main" val="3217741643"/>
                    </a:ext>
                  </a:extLst>
                </a:gridCol>
                <a:gridCol w="4305830">
                  <a:extLst>
                    <a:ext uri="{9D8B030D-6E8A-4147-A177-3AD203B41FA5}">
                      <a16:colId xmlns="" xmlns:a16="http://schemas.microsoft.com/office/drawing/2014/main" val="3049118654"/>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из состояния ∣F = 2⟩ в состояние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в состояние ∣F = 1, m = 0⟩ из состояния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217233675"/>
                  </a:ext>
                </a:extLst>
              </a:tr>
              <a:tr h="2301240">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27775067"/>
                  </a:ext>
                </a:extLst>
              </a:tr>
              <a:tr h="423952">
                <a:tc gridSpan="2">
                  <a:txBody>
                    <a:bodyPr/>
                    <a:lstStyle/>
                    <a:p>
                      <a:pPr algn="ctr"/>
                      <a:r>
                        <a:rPr lang="ru-RU" b="1" dirty="0">
                          <a:solidFill>
                            <a:schemeClr val="tx1"/>
                          </a:solidFill>
                          <a:latin typeface="Times New Roman" panose="02020603050405020304" pitchFamily="18" charset="0"/>
                          <a:cs typeface="Times New Roman" panose="02020603050405020304" pitchFamily="18" charset="0"/>
                        </a:rPr>
                        <a:t>Результаты моделирования оптической накачки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790096364"/>
                  </a:ext>
                </a:extLst>
              </a:tr>
              <a:tr h="2801035">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692659424"/>
                  </a:ext>
                </a:extLst>
              </a:tr>
            </a:tbl>
          </a:graphicData>
        </a:graphic>
      </p:graphicFrame>
      <p:pic>
        <p:nvPicPr>
          <p:cNvPr id="66" name="Рисунок 65">
            <a:extLst>
              <a:ext uri="{FF2B5EF4-FFF2-40B4-BE49-F238E27FC236}">
                <a16:creationId xmlns="" xmlns:a16="http://schemas.microsoft.com/office/drawing/2014/main" id="{E8E229DC-645D-4BF2-B2AD-A21DBE638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085" y="4031656"/>
            <a:ext cx="3344244" cy="2363523"/>
          </a:xfrm>
          <a:prstGeom prst="rect">
            <a:avLst/>
          </a:prstGeom>
        </p:spPr>
      </p:pic>
      <p:pic>
        <p:nvPicPr>
          <p:cNvPr id="65" name="Рисунок 64">
            <a:extLst>
              <a:ext uri="{FF2B5EF4-FFF2-40B4-BE49-F238E27FC236}">
                <a16:creationId xmlns="" xmlns:a16="http://schemas.microsoft.com/office/drawing/2014/main" id="{E92481A7-F519-4885-95E9-8AF365188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185" y="3957146"/>
            <a:ext cx="3449671" cy="2438033"/>
          </a:xfrm>
          <a:prstGeom prst="rect">
            <a:avLst/>
          </a:prstGeom>
        </p:spPr>
      </p:pic>
      <p:sp>
        <p:nvSpPr>
          <p:cNvPr id="2" name="Google Shape;246;p7">
            <a:extLst>
              <a:ext uri="{FF2B5EF4-FFF2-40B4-BE49-F238E27FC236}">
                <a16:creationId xmlns="" xmlns:a16="http://schemas.microsoft.com/office/drawing/2014/main" id="{ADBA48A0-643A-42AD-B040-E7A9A3323698}"/>
              </a:ext>
            </a:extLst>
          </p:cNvPr>
          <p:cNvSpPr/>
          <p:nvPr/>
        </p:nvSpPr>
        <p:spPr>
          <a:xfrm>
            <a:off x="2085240" y="83130"/>
            <a:ext cx="8611659" cy="41358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dirty="0">
                <a:solidFill>
                  <a:schemeClr val="lt1"/>
                </a:solidFill>
                <a:latin typeface="Times New Roman"/>
                <a:ea typeface="Times New Roman"/>
                <a:cs typeface="Times New Roman"/>
                <a:sym typeface="Times New Roman"/>
              </a:rPr>
              <a:t>Результаты моделирования оптической накачки</a:t>
            </a:r>
            <a:endParaRPr sz="1400" b="0" i="0" u="none" strike="noStrike" cap="none" dirty="0">
              <a:solidFill>
                <a:srgbClr val="000000"/>
              </a:solidFill>
              <a:latin typeface="Arial"/>
              <a:ea typeface="Arial"/>
              <a:cs typeface="Arial"/>
              <a:sym typeface="Arial"/>
            </a:endParaRPr>
          </a:p>
        </p:txBody>
      </p:sp>
      <p:cxnSp>
        <p:nvCxnSpPr>
          <p:cNvPr id="103" name="Google Shape;299;p7">
            <a:extLst>
              <a:ext uri="{FF2B5EF4-FFF2-40B4-BE49-F238E27FC236}">
                <a16:creationId xmlns="" xmlns:a16="http://schemas.microsoft.com/office/drawing/2014/main" id="{2E5A9624-18A1-400B-AF2C-0F07EC11EAFB}"/>
              </a:ext>
            </a:extLst>
          </p:cNvPr>
          <p:cNvCxnSpPr/>
          <p:nvPr/>
        </p:nvCxnSpPr>
        <p:spPr>
          <a:xfrm>
            <a:off x="3484945" y="1289692"/>
            <a:ext cx="180937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04" name="Google Shape;300;p7">
            <a:extLst>
              <a:ext uri="{FF2B5EF4-FFF2-40B4-BE49-F238E27FC236}">
                <a16:creationId xmlns="" xmlns:a16="http://schemas.microsoft.com/office/drawing/2014/main" id="{A5811CD6-B7D7-4A6E-97A8-B2E5FF831621}"/>
              </a:ext>
            </a:extLst>
          </p:cNvPr>
          <p:cNvSpPr txBox="1"/>
          <p:nvPr/>
        </p:nvSpPr>
        <p:spPr>
          <a:xfrm>
            <a:off x="2497990" y="1135803"/>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cxnSp>
        <p:nvCxnSpPr>
          <p:cNvPr id="105" name="Google Shape;302;p7">
            <a:extLst>
              <a:ext uri="{FF2B5EF4-FFF2-40B4-BE49-F238E27FC236}">
                <a16:creationId xmlns="" xmlns:a16="http://schemas.microsoft.com/office/drawing/2014/main" id="{9B2782CE-7759-4404-BDA1-E97051A2F3AA}"/>
              </a:ext>
            </a:extLst>
          </p:cNvPr>
          <p:cNvCxnSpPr>
            <a:cxnSpLocks/>
          </p:cNvCxnSpPr>
          <p:nvPr/>
        </p:nvCxnSpPr>
        <p:spPr>
          <a:xfrm flipH="1" flipV="1">
            <a:off x="4436901" y="1388163"/>
            <a:ext cx="1" cy="547550"/>
          </a:xfrm>
          <a:prstGeom prst="straightConnector1">
            <a:avLst/>
          </a:prstGeom>
          <a:noFill/>
          <a:ln w="19050" cap="flat" cmpd="sng">
            <a:solidFill>
              <a:schemeClr val="dk1"/>
            </a:solidFill>
            <a:prstDash val="solid"/>
            <a:round/>
            <a:headEnd type="none" w="sm" len="sm"/>
            <a:tailEnd type="triangle" w="med" len="med"/>
          </a:ln>
        </p:spPr>
      </p:cxnSp>
      <p:cxnSp>
        <p:nvCxnSpPr>
          <p:cNvPr id="106" name="Google Shape;303;p7">
            <a:extLst>
              <a:ext uri="{FF2B5EF4-FFF2-40B4-BE49-F238E27FC236}">
                <a16:creationId xmlns="" xmlns:a16="http://schemas.microsoft.com/office/drawing/2014/main" id="{46DA7C1D-A09F-40A2-B438-F879F9AEF3BF}"/>
              </a:ext>
            </a:extLst>
          </p:cNvPr>
          <p:cNvCxnSpPr>
            <a:cxnSpLocks/>
          </p:cNvCxnSpPr>
          <p:nvPr/>
        </p:nvCxnSpPr>
        <p:spPr>
          <a:xfrm>
            <a:off x="4705721" y="1388163"/>
            <a:ext cx="0" cy="1218048"/>
          </a:xfrm>
          <a:prstGeom prst="straightConnector1">
            <a:avLst/>
          </a:prstGeom>
          <a:noFill/>
          <a:ln w="19050" cap="flat" cmpd="sng">
            <a:solidFill>
              <a:schemeClr val="dk1"/>
            </a:solidFill>
            <a:prstDash val="dash"/>
            <a:round/>
            <a:headEnd type="none" w="sm" len="sm"/>
            <a:tailEnd type="triangle" w="med" len="med"/>
          </a:ln>
        </p:spPr>
      </p:cxnSp>
      <p:cxnSp>
        <p:nvCxnSpPr>
          <p:cNvPr id="107" name="Google Shape;305;p7">
            <a:extLst>
              <a:ext uri="{FF2B5EF4-FFF2-40B4-BE49-F238E27FC236}">
                <a16:creationId xmlns="" xmlns:a16="http://schemas.microsoft.com/office/drawing/2014/main" id="{78281A48-1C8E-4756-8AD5-13BE4DCF54D1}"/>
              </a:ext>
            </a:extLst>
          </p:cNvPr>
          <p:cNvCxnSpPr/>
          <p:nvPr/>
        </p:nvCxnSpPr>
        <p:spPr>
          <a:xfrm>
            <a:off x="3213242"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8" name="Google Shape;306;p7">
            <a:extLst>
              <a:ext uri="{FF2B5EF4-FFF2-40B4-BE49-F238E27FC236}">
                <a16:creationId xmlns="" xmlns:a16="http://schemas.microsoft.com/office/drawing/2014/main" id="{86C83C26-B327-4DAA-9909-D7AFD6E8B2FC}"/>
              </a:ext>
            </a:extLst>
          </p:cNvPr>
          <p:cNvCxnSpPr/>
          <p:nvPr/>
        </p:nvCxnSpPr>
        <p:spPr>
          <a:xfrm>
            <a:off x="3722693"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9" name="Google Shape;307;p7">
            <a:extLst>
              <a:ext uri="{FF2B5EF4-FFF2-40B4-BE49-F238E27FC236}">
                <a16:creationId xmlns="" xmlns:a16="http://schemas.microsoft.com/office/drawing/2014/main" id="{F0AF9A47-8BB9-429D-8469-BB18AF98FBCB}"/>
              </a:ext>
            </a:extLst>
          </p:cNvPr>
          <p:cNvCxnSpPr/>
          <p:nvPr/>
        </p:nvCxnSpPr>
        <p:spPr>
          <a:xfrm>
            <a:off x="425495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0" name="Google Shape;308;p7">
            <a:extLst>
              <a:ext uri="{FF2B5EF4-FFF2-40B4-BE49-F238E27FC236}">
                <a16:creationId xmlns="" xmlns:a16="http://schemas.microsoft.com/office/drawing/2014/main" id="{E375B3E5-5994-4344-9A91-0ED396A99478}"/>
              </a:ext>
            </a:extLst>
          </p:cNvPr>
          <p:cNvCxnSpPr/>
          <p:nvPr/>
        </p:nvCxnSpPr>
        <p:spPr>
          <a:xfrm>
            <a:off x="4776431"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1" name="Google Shape;309;p7">
            <a:extLst>
              <a:ext uri="{FF2B5EF4-FFF2-40B4-BE49-F238E27FC236}">
                <a16:creationId xmlns="" xmlns:a16="http://schemas.microsoft.com/office/drawing/2014/main" id="{50D2C602-EE44-4C8A-BF36-161ABD8AFC21}"/>
              </a:ext>
            </a:extLst>
          </p:cNvPr>
          <p:cNvCxnSpPr/>
          <p:nvPr/>
        </p:nvCxnSpPr>
        <p:spPr>
          <a:xfrm>
            <a:off x="529023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2" name="Google Shape;310;p7">
            <a:extLst>
              <a:ext uri="{FF2B5EF4-FFF2-40B4-BE49-F238E27FC236}">
                <a16:creationId xmlns="" xmlns:a16="http://schemas.microsoft.com/office/drawing/2014/main" id="{FCDCCEAE-71B2-4116-BEE3-F401B9723EC2}"/>
              </a:ext>
            </a:extLst>
          </p:cNvPr>
          <p:cNvCxnSpPr/>
          <p:nvPr/>
        </p:nvCxnSpPr>
        <p:spPr>
          <a:xfrm>
            <a:off x="3722693"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3" name="Google Shape;311;p7">
            <a:extLst>
              <a:ext uri="{FF2B5EF4-FFF2-40B4-BE49-F238E27FC236}">
                <a16:creationId xmlns="" xmlns:a16="http://schemas.microsoft.com/office/drawing/2014/main" id="{B993C26E-959A-4C2D-92AF-F9C0AAAB6D91}"/>
              </a:ext>
            </a:extLst>
          </p:cNvPr>
          <p:cNvCxnSpPr/>
          <p:nvPr/>
        </p:nvCxnSpPr>
        <p:spPr>
          <a:xfrm>
            <a:off x="4254956"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4" name="Google Shape;312;p7">
            <a:extLst>
              <a:ext uri="{FF2B5EF4-FFF2-40B4-BE49-F238E27FC236}">
                <a16:creationId xmlns="" xmlns:a16="http://schemas.microsoft.com/office/drawing/2014/main" id="{C2EF69D7-75C1-4C20-B345-8C9821CDDB97}"/>
              </a:ext>
            </a:extLst>
          </p:cNvPr>
          <p:cNvCxnSpPr/>
          <p:nvPr/>
        </p:nvCxnSpPr>
        <p:spPr>
          <a:xfrm>
            <a:off x="4772077"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15" name="Google Shape;313;p7">
            <a:extLst>
              <a:ext uri="{FF2B5EF4-FFF2-40B4-BE49-F238E27FC236}">
                <a16:creationId xmlns="" xmlns:a16="http://schemas.microsoft.com/office/drawing/2014/main" id="{89C8025C-74C2-46A1-B2BF-9DFCF11A979D}"/>
              </a:ext>
            </a:extLst>
          </p:cNvPr>
          <p:cNvSpPr txBox="1"/>
          <p:nvPr/>
        </p:nvSpPr>
        <p:spPr>
          <a:xfrm>
            <a:off x="2503493" y="1943033"/>
            <a:ext cx="1384663" cy="306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sp>
        <p:nvSpPr>
          <p:cNvPr id="116" name="Google Shape;314;p7">
            <a:extLst>
              <a:ext uri="{FF2B5EF4-FFF2-40B4-BE49-F238E27FC236}">
                <a16:creationId xmlns="" xmlns:a16="http://schemas.microsoft.com/office/drawing/2014/main" id="{9492B3EB-7F3F-4A24-AF62-549E44472DFD}"/>
              </a:ext>
            </a:extLst>
          </p:cNvPr>
          <p:cNvSpPr txBox="1"/>
          <p:nvPr/>
        </p:nvSpPr>
        <p:spPr>
          <a:xfrm>
            <a:off x="2503493" y="2556588"/>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F = 1</a:t>
            </a:r>
            <a:endParaRPr sz="1400" b="0" i="0" u="none" strike="noStrike" cap="none">
              <a:solidFill>
                <a:srgbClr val="000000"/>
              </a:solidFill>
              <a:latin typeface="Times New Roman"/>
              <a:ea typeface="Times New Roman"/>
              <a:cs typeface="Times New Roman"/>
              <a:sym typeface="Times New Roman"/>
            </a:endParaRPr>
          </a:p>
        </p:txBody>
      </p:sp>
      <p:sp>
        <p:nvSpPr>
          <p:cNvPr id="117" name="Google Shape;315;p7">
            <a:extLst>
              <a:ext uri="{FF2B5EF4-FFF2-40B4-BE49-F238E27FC236}">
                <a16:creationId xmlns="" xmlns:a16="http://schemas.microsoft.com/office/drawing/2014/main" id="{28F9B385-9F4C-4F9B-BD30-7EB8D06697DF}"/>
              </a:ext>
            </a:extLst>
          </p:cNvPr>
          <p:cNvSpPr txBox="1"/>
          <p:nvPr/>
        </p:nvSpPr>
        <p:spPr>
          <a:xfrm>
            <a:off x="4164556"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8" name="Google Shape;316;p7">
            <a:extLst>
              <a:ext uri="{FF2B5EF4-FFF2-40B4-BE49-F238E27FC236}">
                <a16:creationId xmlns="" xmlns:a16="http://schemas.microsoft.com/office/drawing/2014/main" id="{F072E1E4-3562-4629-8097-9D0781860DED}"/>
              </a:ext>
            </a:extLst>
          </p:cNvPr>
          <p:cNvSpPr txBox="1"/>
          <p:nvPr/>
        </p:nvSpPr>
        <p:spPr>
          <a:xfrm>
            <a:off x="3581082" y="2777279"/>
            <a:ext cx="5980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9" name="Google Shape;317;p7">
            <a:extLst>
              <a:ext uri="{FF2B5EF4-FFF2-40B4-BE49-F238E27FC236}">
                <a16:creationId xmlns="" xmlns:a16="http://schemas.microsoft.com/office/drawing/2014/main" id="{3DD80756-09C9-4FCF-BB5F-F96A644B54F8}"/>
              </a:ext>
            </a:extLst>
          </p:cNvPr>
          <p:cNvSpPr txBox="1"/>
          <p:nvPr/>
        </p:nvSpPr>
        <p:spPr>
          <a:xfrm>
            <a:off x="4705722"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0" name="Google Shape;318;p7">
            <a:extLst>
              <a:ext uri="{FF2B5EF4-FFF2-40B4-BE49-F238E27FC236}">
                <a16:creationId xmlns="" xmlns:a16="http://schemas.microsoft.com/office/drawing/2014/main" id="{AE4AE603-6403-46A0-A55A-B2F23A170FC7}"/>
              </a:ext>
            </a:extLst>
          </p:cNvPr>
          <p:cNvSpPr txBox="1"/>
          <p:nvPr/>
        </p:nvSpPr>
        <p:spPr>
          <a:xfrm>
            <a:off x="4146898" y="2095977"/>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Arial"/>
                <a:ea typeface="Arial"/>
                <a:cs typeface="Arial"/>
                <a:sym typeface="Arial"/>
              </a:rPr>
              <a:t>m=0</a:t>
            </a:r>
            <a:endParaRPr sz="1400" b="0" i="0" u="none" strike="noStrike" cap="none">
              <a:solidFill>
                <a:srgbClr val="000000"/>
              </a:solidFill>
              <a:latin typeface="Arial"/>
              <a:ea typeface="Arial"/>
              <a:cs typeface="Arial"/>
              <a:sym typeface="Arial"/>
            </a:endParaRPr>
          </a:p>
        </p:txBody>
      </p:sp>
      <p:sp>
        <p:nvSpPr>
          <p:cNvPr id="121" name="Google Shape;319;p7">
            <a:extLst>
              <a:ext uri="{FF2B5EF4-FFF2-40B4-BE49-F238E27FC236}">
                <a16:creationId xmlns="" xmlns:a16="http://schemas.microsoft.com/office/drawing/2014/main" id="{3177D817-74B7-4764-9B36-8C7999C346B7}"/>
              </a:ext>
            </a:extLst>
          </p:cNvPr>
          <p:cNvSpPr txBox="1"/>
          <p:nvPr/>
        </p:nvSpPr>
        <p:spPr>
          <a:xfrm>
            <a:off x="4705721" y="16793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2" name="Google Shape;320;p7">
            <a:extLst>
              <a:ext uri="{FF2B5EF4-FFF2-40B4-BE49-F238E27FC236}">
                <a16:creationId xmlns="" xmlns:a16="http://schemas.microsoft.com/office/drawing/2014/main" id="{BBD09642-BA00-455B-A6C5-43B1C80FEB03}"/>
              </a:ext>
            </a:extLst>
          </p:cNvPr>
          <p:cNvSpPr txBox="1"/>
          <p:nvPr/>
        </p:nvSpPr>
        <p:spPr>
          <a:xfrm>
            <a:off x="3623391" y="1678800"/>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3" name="Google Shape;321;p7">
            <a:extLst>
              <a:ext uri="{FF2B5EF4-FFF2-40B4-BE49-F238E27FC236}">
                <a16:creationId xmlns="" xmlns:a16="http://schemas.microsoft.com/office/drawing/2014/main" id="{72930C02-8558-435C-B73F-668AC9196C5C}"/>
              </a:ext>
            </a:extLst>
          </p:cNvPr>
          <p:cNvSpPr txBox="1"/>
          <p:nvPr/>
        </p:nvSpPr>
        <p:spPr>
          <a:xfrm>
            <a:off x="5246886" y="1678799"/>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4" name="Google Shape;322;p7">
            <a:extLst>
              <a:ext uri="{FF2B5EF4-FFF2-40B4-BE49-F238E27FC236}">
                <a16:creationId xmlns="" xmlns:a16="http://schemas.microsoft.com/office/drawing/2014/main" id="{A856AB1E-7EAA-4252-9F9E-2D17D90A05C9}"/>
              </a:ext>
            </a:extLst>
          </p:cNvPr>
          <p:cNvSpPr txBox="1"/>
          <p:nvPr/>
        </p:nvSpPr>
        <p:spPr>
          <a:xfrm>
            <a:off x="3091937" y="1678798"/>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5" name="Google Shape;324;p7">
            <a:extLst>
              <a:ext uri="{FF2B5EF4-FFF2-40B4-BE49-F238E27FC236}">
                <a16:creationId xmlns="" xmlns:a16="http://schemas.microsoft.com/office/drawing/2014/main" id="{C7E2C7D4-6EB7-4199-AF71-1F752404AD37}"/>
              </a:ext>
            </a:extLst>
          </p:cNvPr>
          <p:cNvSpPr/>
          <p:nvPr/>
        </p:nvSpPr>
        <p:spPr>
          <a:xfrm>
            <a:off x="3801591"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6" name="Google Shape;325;p7">
            <a:extLst>
              <a:ext uri="{FF2B5EF4-FFF2-40B4-BE49-F238E27FC236}">
                <a16:creationId xmlns="" xmlns:a16="http://schemas.microsoft.com/office/drawing/2014/main" id="{7EF5AC33-F806-45AD-9355-C0C56E36D8E0}"/>
              </a:ext>
            </a:extLst>
          </p:cNvPr>
          <p:cNvSpPr/>
          <p:nvPr/>
        </p:nvSpPr>
        <p:spPr>
          <a:xfrm>
            <a:off x="4341421" y="2636739"/>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7" name="Google Shape;326;p7">
            <a:extLst>
              <a:ext uri="{FF2B5EF4-FFF2-40B4-BE49-F238E27FC236}">
                <a16:creationId xmlns="" xmlns:a16="http://schemas.microsoft.com/office/drawing/2014/main" id="{D487D161-CE2D-4505-B512-9F7EE8F4AF98}"/>
              </a:ext>
            </a:extLst>
          </p:cNvPr>
          <p:cNvSpPr/>
          <p:nvPr/>
        </p:nvSpPr>
        <p:spPr>
          <a:xfrm>
            <a:off x="4850076" y="2629294"/>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28" name="Google Shape;327;p7">
            <a:extLst>
              <a:ext uri="{FF2B5EF4-FFF2-40B4-BE49-F238E27FC236}">
                <a16:creationId xmlns="" xmlns:a16="http://schemas.microsoft.com/office/drawing/2014/main" id="{B2AE25D9-ABE4-4DA0-8BC1-2769C7E58598}"/>
              </a:ext>
            </a:extLst>
          </p:cNvPr>
          <p:cNvCxnSpPr/>
          <p:nvPr/>
        </p:nvCxnSpPr>
        <p:spPr>
          <a:xfrm>
            <a:off x="8117130" y="1344070"/>
            <a:ext cx="358998" cy="11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29" name="Google Shape;328;p7">
            <a:extLst>
              <a:ext uri="{FF2B5EF4-FFF2-40B4-BE49-F238E27FC236}">
                <a16:creationId xmlns="" xmlns:a16="http://schemas.microsoft.com/office/drawing/2014/main" id="{759DCDE9-0FE5-47F3-A4B3-F7579EB31A17}"/>
              </a:ext>
            </a:extLst>
          </p:cNvPr>
          <p:cNvSpPr txBox="1"/>
          <p:nvPr/>
        </p:nvSpPr>
        <p:spPr>
          <a:xfrm>
            <a:off x="7426972" y="1182868"/>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0</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0" name="Google Shape;329;p7">
            <a:extLst>
              <a:ext uri="{FF2B5EF4-FFF2-40B4-BE49-F238E27FC236}">
                <a16:creationId xmlns="" xmlns:a16="http://schemas.microsoft.com/office/drawing/2014/main" id="{7FB0B97D-86CE-4837-A249-CF2BB06DC8BC}"/>
              </a:ext>
            </a:extLst>
          </p:cNvPr>
          <p:cNvCxnSpPr/>
          <p:nvPr/>
        </p:nvCxnSpPr>
        <p:spPr>
          <a:xfrm>
            <a:off x="7594786" y="2639398"/>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1" name="Google Shape;330;p7">
            <a:extLst>
              <a:ext uri="{FF2B5EF4-FFF2-40B4-BE49-F238E27FC236}">
                <a16:creationId xmlns="" xmlns:a16="http://schemas.microsoft.com/office/drawing/2014/main" id="{17F9E9EB-B791-478A-8720-BEF74803123B}"/>
              </a:ext>
            </a:extLst>
          </p:cNvPr>
          <p:cNvCxnSpPr/>
          <p:nvPr/>
        </p:nvCxnSpPr>
        <p:spPr>
          <a:xfrm>
            <a:off x="8120734" y="270927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2" name="Google Shape;331;p7">
            <a:extLst>
              <a:ext uri="{FF2B5EF4-FFF2-40B4-BE49-F238E27FC236}">
                <a16:creationId xmlns="" xmlns:a16="http://schemas.microsoft.com/office/drawing/2014/main" id="{DA5E6E9C-B693-4905-AF03-2DADF2992FAC}"/>
              </a:ext>
            </a:extLst>
          </p:cNvPr>
          <p:cNvCxnSpPr/>
          <p:nvPr/>
        </p:nvCxnSpPr>
        <p:spPr>
          <a:xfrm>
            <a:off x="8642747" y="279517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33" name="Google Shape;332;p7">
            <a:extLst>
              <a:ext uri="{FF2B5EF4-FFF2-40B4-BE49-F238E27FC236}">
                <a16:creationId xmlns="" xmlns:a16="http://schemas.microsoft.com/office/drawing/2014/main" id="{C881895D-327E-4DA1-B6B5-EDF9B15CF510}"/>
              </a:ext>
            </a:extLst>
          </p:cNvPr>
          <p:cNvSpPr txBox="1"/>
          <p:nvPr/>
        </p:nvSpPr>
        <p:spPr>
          <a:xfrm>
            <a:off x="6614068" y="2564022"/>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1</a:t>
            </a:r>
            <a:endParaRPr sz="1400" b="0" i="0" u="none" strike="noStrike" cap="none" dirty="0">
              <a:solidFill>
                <a:srgbClr val="000000"/>
              </a:solidFill>
              <a:latin typeface="Times New Roman"/>
              <a:ea typeface="Times New Roman"/>
              <a:cs typeface="Times New Roman"/>
              <a:sym typeface="Times New Roman"/>
            </a:endParaRPr>
          </a:p>
        </p:txBody>
      </p:sp>
      <p:sp>
        <p:nvSpPr>
          <p:cNvPr id="134" name="Google Shape;333;p7">
            <a:extLst>
              <a:ext uri="{FF2B5EF4-FFF2-40B4-BE49-F238E27FC236}">
                <a16:creationId xmlns="" xmlns:a16="http://schemas.microsoft.com/office/drawing/2014/main" id="{ECD6A746-0D5B-4E93-8BA9-B883FF63CFBE}"/>
              </a:ext>
            </a:extLst>
          </p:cNvPr>
          <p:cNvSpPr txBox="1"/>
          <p:nvPr/>
        </p:nvSpPr>
        <p:spPr>
          <a:xfrm>
            <a:off x="8030334" y="2776074"/>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5" name="Google Shape;334;p7">
            <a:extLst>
              <a:ext uri="{FF2B5EF4-FFF2-40B4-BE49-F238E27FC236}">
                <a16:creationId xmlns="" xmlns:a16="http://schemas.microsoft.com/office/drawing/2014/main" id="{B58DD3D3-AA6B-4314-BF84-2078711C8530}"/>
              </a:ext>
            </a:extLst>
          </p:cNvPr>
          <p:cNvSpPr txBox="1"/>
          <p:nvPr/>
        </p:nvSpPr>
        <p:spPr>
          <a:xfrm>
            <a:off x="7453174" y="2706200"/>
            <a:ext cx="6124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6" name="Google Shape;335;p7">
            <a:extLst>
              <a:ext uri="{FF2B5EF4-FFF2-40B4-BE49-F238E27FC236}">
                <a16:creationId xmlns="" xmlns:a16="http://schemas.microsoft.com/office/drawing/2014/main" id="{1083B4B1-55E8-4208-95C6-60AE75E49B8B}"/>
              </a:ext>
            </a:extLst>
          </p:cNvPr>
          <p:cNvSpPr txBox="1"/>
          <p:nvPr/>
        </p:nvSpPr>
        <p:spPr>
          <a:xfrm>
            <a:off x="8576393" y="2861972"/>
            <a:ext cx="54009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7" name="Google Shape;336;p7">
            <a:extLst>
              <a:ext uri="{FF2B5EF4-FFF2-40B4-BE49-F238E27FC236}">
                <a16:creationId xmlns="" xmlns:a16="http://schemas.microsoft.com/office/drawing/2014/main" id="{59868BE4-E23F-4B46-AC6B-6FB8F481ACE2}"/>
              </a:ext>
            </a:extLst>
          </p:cNvPr>
          <p:cNvSpPr/>
          <p:nvPr/>
        </p:nvSpPr>
        <p:spPr>
          <a:xfrm>
            <a:off x="8208032"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38" name="Google Shape;337;p7">
            <a:extLst>
              <a:ext uri="{FF2B5EF4-FFF2-40B4-BE49-F238E27FC236}">
                <a16:creationId xmlns="" xmlns:a16="http://schemas.microsoft.com/office/drawing/2014/main" id="{116226FF-8C6F-479C-8EA1-9576E5EC9DDA}"/>
              </a:ext>
            </a:extLst>
          </p:cNvPr>
          <p:cNvCxnSpPr/>
          <p:nvPr/>
        </p:nvCxnSpPr>
        <p:spPr>
          <a:xfrm rot="10800000" flipH="1">
            <a:off x="7782842" y="1485448"/>
            <a:ext cx="391188" cy="1077250"/>
          </a:xfrm>
          <a:prstGeom prst="straightConnector1">
            <a:avLst/>
          </a:prstGeom>
          <a:noFill/>
          <a:ln w="19050" cap="flat" cmpd="sng">
            <a:solidFill>
              <a:schemeClr val="tx1"/>
            </a:solidFill>
            <a:prstDash val="solid"/>
            <a:round/>
            <a:headEnd type="none" w="sm" len="sm"/>
            <a:tailEnd type="triangle" w="med" len="med"/>
          </a:ln>
        </p:spPr>
      </p:cxnSp>
      <p:cxnSp>
        <p:nvCxnSpPr>
          <p:cNvPr id="139" name="Google Shape;338;p7">
            <a:extLst>
              <a:ext uri="{FF2B5EF4-FFF2-40B4-BE49-F238E27FC236}">
                <a16:creationId xmlns="" xmlns:a16="http://schemas.microsoft.com/office/drawing/2014/main" id="{06F1CA81-846C-43DA-863B-EABCF861BD6A}"/>
              </a:ext>
            </a:extLst>
          </p:cNvPr>
          <p:cNvCxnSpPr>
            <a:cxnSpLocks/>
          </p:cNvCxnSpPr>
          <p:nvPr/>
        </p:nvCxnSpPr>
        <p:spPr>
          <a:xfrm flipH="1" flipV="1">
            <a:off x="8436177" y="1485448"/>
            <a:ext cx="358310" cy="1230099"/>
          </a:xfrm>
          <a:prstGeom prst="straightConnector1">
            <a:avLst/>
          </a:prstGeom>
          <a:noFill/>
          <a:ln w="19050" cap="flat" cmpd="sng">
            <a:solidFill>
              <a:schemeClr val="tx1"/>
            </a:solidFill>
            <a:prstDash val="solid"/>
            <a:round/>
            <a:headEnd type="none" w="sm" len="sm"/>
            <a:tailEnd type="triangle" w="med" len="med"/>
          </a:ln>
        </p:spPr>
      </p:cxnSp>
      <p:cxnSp>
        <p:nvCxnSpPr>
          <p:cNvPr id="140" name="Google Shape;339;p7">
            <a:extLst>
              <a:ext uri="{FF2B5EF4-FFF2-40B4-BE49-F238E27FC236}">
                <a16:creationId xmlns="" xmlns:a16="http://schemas.microsoft.com/office/drawing/2014/main" id="{9A162B01-25C6-41BB-92A1-4360229920F2}"/>
              </a:ext>
            </a:extLst>
          </p:cNvPr>
          <p:cNvCxnSpPr/>
          <p:nvPr/>
        </p:nvCxnSpPr>
        <p:spPr>
          <a:xfrm>
            <a:off x="8295101" y="1485447"/>
            <a:ext cx="20004" cy="1077249"/>
          </a:xfrm>
          <a:prstGeom prst="straightConnector1">
            <a:avLst/>
          </a:prstGeom>
          <a:noFill/>
          <a:ln w="19050" cap="flat" cmpd="sng">
            <a:solidFill>
              <a:schemeClr val="tx1"/>
            </a:solidFill>
            <a:prstDash val="dash"/>
            <a:round/>
            <a:headEnd type="none" w="sm" len="sm"/>
            <a:tailEnd type="triangle" w="med" len="med"/>
          </a:ln>
        </p:spPr>
      </p:cxnSp>
      <p:sp>
        <p:nvSpPr>
          <p:cNvPr id="141" name="Google Shape;340;p7">
            <a:extLst>
              <a:ext uri="{FF2B5EF4-FFF2-40B4-BE49-F238E27FC236}">
                <a16:creationId xmlns="" xmlns:a16="http://schemas.microsoft.com/office/drawing/2014/main" id="{1699AABE-ACD0-4B3A-8A06-D24C5EB4EB20}"/>
              </a:ext>
            </a:extLst>
          </p:cNvPr>
          <p:cNvSpPr txBox="1"/>
          <p:nvPr/>
        </p:nvSpPr>
        <p:spPr>
          <a:xfrm>
            <a:off x="8523458" y="11596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42" name="Google Shape;373;p7">
            <a:extLst>
              <a:ext uri="{FF2B5EF4-FFF2-40B4-BE49-F238E27FC236}">
                <a16:creationId xmlns="" xmlns:a16="http://schemas.microsoft.com/office/drawing/2014/main" id="{EB38CCD1-B7F0-44DE-9AA5-6FD12D922F1A}"/>
              </a:ext>
            </a:extLst>
          </p:cNvPr>
          <p:cNvCxnSpPr/>
          <p:nvPr/>
        </p:nvCxnSpPr>
        <p:spPr>
          <a:xfrm>
            <a:off x="7083536" y="228868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3" name="Google Shape;374;p7">
            <a:extLst>
              <a:ext uri="{FF2B5EF4-FFF2-40B4-BE49-F238E27FC236}">
                <a16:creationId xmlns="" xmlns:a16="http://schemas.microsoft.com/office/drawing/2014/main" id="{25AA9A3C-5B8B-4227-B9AC-7E86AED6BD6A}"/>
              </a:ext>
            </a:extLst>
          </p:cNvPr>
          <p:cNvCxnSpPr/>
          <p:nvPr/>
        </p:nvCxnSpPr>
        <p:spPr>
          <a:xfrm>
            <a:off x="7581410" y="220056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4" name="Google Shape;375;p7">
            <a:extLst>
              <a:ext uri="{FF2B5EF4-FFF2-40B4-BE49-F238E27FC236}">
                <a16:creationId xmlns="" xmlns:a16="http://schemas.microsoft.com/office/drawing/2014/main" id="{E83ADE1F-B8D9-48B4-A5AD-AFCDD8B239CA}"/>
              </a:ext>
            </a:extLst>
          </p:cNvPr>
          <p:cNvCxnSpPr/>
          <p:nvPr/>
        </p:nvCxnSpPr>
        <p:spPr>
          <a:xfrm>
            <a:off x="8132014" y="211464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5" name="Google Shape;376;p7">
            <a:extLst>
              <a:ext uri="{FF2B5EF4-FFF2-40B4-BE49-F238E27FC236}">
                <a16:creationId xmlns="" xmlns:a16="http://schemas.microsoft.com/office/drawing/2014/main" id="{AFAE1C24-C6A6-4383-90A6-5A50058053F3}"/>
              </a:ext>
            </a:extLst>
          </p:cNvPr>
          <p:cNvCxnSpPr/>
          <p:nvPr/>
        </p:nvCxnSpPr>
        <p:spPr>
          <a:xfrm>
            <a:off x="8646652" y="204268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6" name="Google Shape;377;p7">
            <a:extLst>
              <a:ext uri="{FF2B5EF4-FFF2-40B4-BE49-F238E27FC236}">
                <a16:creationId xmlns="" xmlns:a16="http://schemas.microsoft.com/office/drawing/2014/main" id="{05D09583-3DCF-44D9-87CC-905A4A89AA37}"/>
              </a:ext>
            </a:extLst>
          </p:cNvPr>
          <p:cNvCxnSpPr/>
          <p:nvPr/>
        </p:nvCxnSpPr>
        <p:spPr>
          <a:xfrm>
            <a:off x="9170461" y="1933335"/>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47" name="Google Shape;378;p7">
            <a:extLst>
              <a:ext uri="{FF2B5EF4-FFF2-40B4-BE49-F238E27FC236}">
                <a16:creationId xmlns="" xmlns:a16="http://schemas.microsoft.com/office/drawing/2014/main" id="{BAEDA4E0-587A-4267-89FE-4FC711B0E1F7}"/>
              </a:ext>
            </a:extLst>
          </p:cNvPr>
          <p:cNvSpPr txBox="1"/>
          <p:nvPr/>
        </p:nvSpPr>
        <p:spPr>
          <a:xfrm>
            <a:off x="8059272" y="1696916"/>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8" name="Google Shape;379;p7">
            <a:extLst>
              <a:ext uri="{FF2B5EF4-FFF2-40B4-BE49-F238E27FC236}">
                <a16:creationId xmlns="" xmlns:a16="http://schemas.microsoft.com/office/drawing/2014/main" id="{8A94FCC0-D12B-4EB7-A1C3-A147A92512EB}"/>
              </a:ext>
            </a:extLst>
          </p:cNvPr>
          <p:cNvSpPr txBox="1"/>
          <p:nvPr/>
        </p:nvSpPr>
        <p:spPr>
          <a:xfrm>
            <a:off x="8575942" y="1625558"/>
            <a:ext cx="5845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9" name="Google Shape;380;p7">
            <a:extLst>
              <a:ext uri="{FF2B5EF4-FFF2-40B4-BE49-F238E27FC236}">
                <a16:creationId xmlns="" xmlns:a16="http://schemas.microsoft.com/office/drawing/2014/main" id="{462E83DB-0967-4C6C-91F2-42BD7ACB7BFB}"/>
              </a:ext>
            </a:extLst>
          </p:cNvPr>
          <p:cNvSpPr txBox="1"/>
          <p:nvPr/>
        </p:nvSpPr>
        <p:spPr>
          <a:xfrm>
            <a:off x="7482109" y="1782838"/>
            <a:ext cx="6934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381;p7">
            <a:extLst>
              <a:ext uri="{FF2B5EF4-FFF2-40B4-BE49-F238E27FC236}">
                <a16:creationId xmlns="" xmlns:a16="http://schemas.microsoft.com/office/drawing/2014/main" id="{B6BBE47B-96BD-46BD-8A90-B48B304BA76D}"/>
              </a:ext>
            </a:extLst>
          </p:cNvPr>
          <p:cNvSpPr txBox="1"/>
          <p:nvPr/>
        </p:nvSpPr>
        <p:spPr>
          <a:xfrm>
            <a:off x="9127111" y="1515612"/>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1" name="Google Shape;382;p7">
            <a:extLst>
              <a:ext uri="{FF2B5EF4-FFF2-40B4-BE49-F238E27FC236}">
                <a16:creationId xmlns="" xmlns:a16="http://schemas.microsoft.com/office/drawing/2014/main" id="{9EE52862-1DA1-4CD5-A4E4-497D8182FDC8}"/>
              </a:ext>
            </a:extLst>
          </p:cNvPr>
          <p:cNvSpPr txBox="1"/>
          <p:nvPr/>
        </p:nvSpPr>
        <p:spPr>
          <a:xfrm>
            <a:off x="6962232" y="1870963"/>
            <a:ext cx="6124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2" name="TextBox 151">
            <a:extLst>
              <a:ext uri="{FF2B5EF4-FFF2-40B4-BE49-F238E27FC236}">
                <a16:creationId xmlns="" xmlns:a16="http://schemas.microsoft.com/office/drawing/2014/main" id="{4690278A-6D62-485B-8146-211394838776}"/>
              </a:ext>
            </a:extLst>
          </p:cNvPr>
          <p:cNvSpPr txBox="1"/>
          <p:nvPr/>
        </p:nvSpPr>
        <p:spPr>
          <a:xfrm>
            <a:off x="6123869" y="3099931"/>
            <a:ext cx="14468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
            </a:r>
            <a:r>
              <a:rPr lang="en-US" baseline="-25000" dirty="0">
                <a:latin typeface="Times New Roman" panose="02020603050405020304" pitchFamily="18" charset="0"/>
                <a:cs typeface="Times New Roman" panose="02020603050405020304" pitchFamily="18" charset="0"/>
              </a:rPr>
              <a:t>0ffset</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mG</a:t>
            </a:r>
            <a:endParaRPr lang="ru-RU" dirty="0">
              <a:latin typeface="Times New Roman" panose="02020603050405020304" pitchFamily="18" charset="0"/>
              <a:cs typeface="Times New Roman" panose="02020603050405020304" pitchFamily="18" charset="0"/>
            </a:endParaRPr>
          </a:p>
        </p:txBody>
      </p:sp>
      <p:sp>
        <p:nvSpPr>
          <p:cNvPr id="162" name="TextBox 161">
            <a:extLst>
              <a:ext uri="{FF2B5EF4-FFF2-40B4-BE49-F238E27FC236}">
                <a16:creationId xmlns="" xmlns:a16="http://schemas.microsoft.com/office/drawing/2014/main" id="{A2139D55-AFC1-4115-B3BE-5F5EE8D9B4B1}"/>
              </a:ext>
            </a:extLst>
          </p:cNvPr>
          <p:cNvSpPr txBox="1"/>
          <p:nvPr/>
        </p:nvSpPr>
        <p:spPr>
          <a:xfrm>
            <a:off x="8431469" y="4454479"/>
            <a:ext cx="1281346"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163" name="TextBox 162">
            <a:extLst>
              <a:ext uri="{FF2B5EF4-FFF2-40B4-BE49-F238E27FC236}">
                <a16:creationId xmlns="" xmlns:a16="http://schemas.microsoft.com/office/drawing/2014/main" id="{A3553470-9FC6-45ED-AFC0-2FB15617DAFE}"/>
              </a:ext>
            </a:extLst>
          </p:cNvPr>
          <p:cNvSpPr txBox="1"/>
          <p:nvPr/>
        </p:nvSpPr>
        <p:spPr>
          <a:xfrm>
            <a:off x="8552207" y="5288531"/>
            <a:ext cx="1604809"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1/3</a:t>
            </a:r>
            <a:endParaRPr lang="ru-RU"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 xmlns:a16="http://schemas.microsoft.com/office/drawing/2014/main" id="{69BAC13F-972B-4520-8F42-178EA2560BFB}"/>
              </a:ext>
            </a:extLst>
          </p:cNvPr>
          <p:cNvSpPr txBox="1"/>
          <p:nvPr/>
        </p:nvSpPr>
        <p:spPr>
          <a:xfrm>
            <a:off x="11681926" y="6408575"/>
            <a:ext cx="510074" cy="307777"/>
          </a:xfrm>
          <a:prstGeom prst="rect">
            <a:avLst/>
          </a:prstGeom>
          <a:noFill/>
        </p:spPr>
        <p:txBody>
          <a:bodyPr wrap="square" rtlCol="0">
            <a:spAutoFit/>
          </a:bodyPr>
          <a:lstStyle/>
          <a:p>
            <a:r>
              <a:rPr lang="ru-RU" dirty="0"/>
              <a:t>7</a:t>
            </a:r>
          </a:p>
        </p:txBody>
      </p:sp>
      <p:sp>
        <p:nvSpPr>
          <p:cNvPr id="62" name="TextBox 61">
            <a:extLst>
              <a:ext uri="{FF2B5EF4-FFF2-40B4-BE49-F238E27FC236}">
                <a16:creationId xmlns="" xmlns:a16="http://schemas.microsoft.com/office/drawing/2014/main" id="{11A813CB-9917-465E-A632-9D569239EDC9}"/>
              </a:ext>
            </a:extLst>
          </p:cNvPr>
          <p:cNvSpPr txBox="1"/>
          <p:nvPr/>
        </p:nvSpPr>
        <p:spPr>
          <a:xfrm>
            <a:off x="4145750" y="4206975"/>
            <a:ext cx="1523917"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 xmlns:a16="http://schemas.microsoft.com/office/drawing/2014/main" id="{91C9B38F-757E-4A17-96B5-0217DB266AA6}"/>
              </a:ext>
            </a:extLst>
          </p:cNvPr>
          <p:cNvSpPr txBox="1"/>
          <p:nvPr/>
        </p:nvSpPr>
        <p:spPr>
          <a:xfrm>
            <a:off x="4145750" y="5194585"/>
            <a:ext cx="1381406"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97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7DA7276-A2D5-0EF0-04AD-EF2A74C7C749}"/>
              </a:ext>
            </a:extLst>
          </p:cNvPr>
          <p:cNvSpPr txBox="1"/>
          <p:nvPr/>
        </p:nvSpPr>
        <p:spPr>
          <a:xfrm>
            <a:off x="2878667" y="922866"/>
            <a:ext cx="5892800" cy="3108543"/>
          </a:xfrm>
          <a:prstGeom prst="rect">
            <a:avLst/>
          </a:prstGeom>
          <a:noFill/>
        </p:spPr>
        <p:txBody>
          <a:bodyPr wrap="square" rtlCol="0">
            <a:spAutoFit/>
          </a:bodyPr>
          <a:lstStyle/>
          <a:p>
            <a:r>
              <a:rPr lang="ru-RU" dirty="0"/>
              <a:t>Как было сказано ранее, было выполнено исследование оптической накачки в немагнитное состояние. Изначально было проведено моделирование выбранной схемы, что вы можете видеть на данном слайде. </a:t>
            </a:r>
          </a:p>
          <a:p>
            <a:r>
              <a:rPr lang="ru-RU" dirty="0"/>
              <a:t>Для исследование была выбранная следующая схема</a:t>
            </a:r>
            <a:r>
              <a:rPr lang="en-US" dirty="0"/>
              <a:t>: </a:t>
            </a:r>
            <a:r>
              <a:rPr lang="ru-RU" dirty="0"/>
              <a:t>изначально после лазерного охлаждения и пленения атомы находятся в состояния </a:t>
            </a:r>
            <a:r>
              <a:rPr lang="en-US" dirty="0"/>
              <a:t>F=2, </a:t>
            </a:r>
            <a:r>
              <a:rPr lang="ru-RU" dirty="0"/>
              <a:t>на первом этапе оптической накачки атомы перекачиваются в состояние </a:t>
            </a:r>
            <a:r>
              <a:rPr lang="en-US" dirty="0"/>
              <a:t>F = 1 </a:t>
            </a:r>
            <a:r>
              <a:rPr lang="ru-RU" dirty="0"/>
              <a:t>резонансным излучением 2-2</a:t>
            </a:r>
            <a:r>
              <a:rPr lang="en-US" dirty="0"/>
              <a:t>’</a:t>
            </a:r>
            <a:r>
              <a:rPr lang="ru-RU" dirty="0"/>
              <a:t>. На данном этапе моделирование демонстрирует нагрев около 0.7 </a:t>
            </a:r>
            <a:r>
              <a:rPr lang="ru-RU" dirty="0" err="1"/>
              <a:t>мкК</a:t>
            </a:r>
            <a:r>
              <a:rPr lang="ru-RU" dirty="0"/>
              <a:t>. На следующем этапе включается небольшое магнитное поле для задания оси квантования и с помощью излучения с круговой поляризацией атомы из магнитных состояний перекачиваются в немагнитное. На данном этапе нагрев атомного облака показанный моделированием составил также около 0.7 </a:t>
            </a:r>
            <a:r>
              <a:rPr lang="ru-RU" dirty="0" err="1"/>
              <a:t>мкК</a:t>
            </a:r>
            <a:endParaRPr lang="ru-RU" dirty="0"/>
          </a:p>
        </p:txBody>
      </p:sp>
    </p:spTree>
    <p:extLst>
      <p:ext uri="{BB962C8B-B14F-4D97-AF65-F5344CB8AC3E}">
        <p14:creationId xmlns:p14="http://schemas.microsoft.com/office/powerpoint/2010/main" val="1776479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41"/>
          <p:cNvSpPr/>
          <p:nvPr/>
        </p:nvSpPr>
        <p:spPr>
          <a:xfrm>
            <a:off x="3258776" y="136525"/>
            <a:ext cx="5855293" cy="76501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Экспериментальные результаты</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440" name="Google Shape;440;p41"/>
          <p:cNvSpPr txBox="1"/>
          <p:nvPr/>
        </p:nvSpPr>
        <p:spPr>
          <a:xfrm>
            <a:off x="1574196" y="5246411"/>
            <a:ext cx="9596724" cy="523180"/>
          </a:xfrm>
          <a:prstGeom prst="rect">
            <a:avLst/>
          </a:prstGeom>
          <a:noFill/>
          <a:ln>
            <a:noFill/>
          </a:ln>
        </p:spPr>
        <p:txBody>
          <a:bodyPr spcFirstLastPara="1" wrap="square" lIns="91425" tIns="45700" rIns="91425" bIns="45700" anchor="t" anchorCtr="0">
            <a:spAutoFit/>
          </a:bodyPr>
          <a:lstStyle/>
          <a:p>
            <a:pPr lvl="0" algn="ctr"/>
            <a:r>
              <a:rPr lang="ru-RU" sz="1400" b="0" i="0" u="none" strike="noStrike" cap="none" dirty="0">
                <a:solidFill>
                  <a:srgbClr val="000000"/>
                </a:solidFill>
                <a:latin typeface="Times New Roman"/>
                <a:ea typeface="Times New Roman"/>
                <a:cs typeface="Times New Roman"/>
                <a:sym typeface="Times New Roman"/>
              </a:rPr>
              <a:t>Рис. </a:t>
            </a:r>
            <a:r>
              <a:rPr lang="ru-RU" dirty="0">
                <a:latin typeface="Times New Roman"/>
                <a:ea typeface="Times New Roman"/>
                <a:cs typeface="Times New Roman"/>
                <a:sym typeface="Times New Roman"/>
              </a:rPr>
              <a:t>8</a:t>
            </a:r>
            <a:r>
              <a:rPr lang="ru-RU" sz="1400" b="0" i="0" u="none" strike="noStrike" cap="none" dirty="0">
                <a:solidFill>
                  <a:srgbClr val="000000"/>
                </a:solidFill>
                <a:latin typeface="Times New Roman"/>
                <a:ea typeface="Times New Roman"/>
                <a:cs typeface="Times New Roman"/>
                <a:sym typeface="Times New Roman"/>
              </a:rPr>
              <a:t> </a:t>
            </a:r>
            <a:r>
              <a:rPr lang="ru-RU" dirty="0">
                <a:latin typeface="Times New Roman" panose="02020603050405020304" pitchFamily="18" charset="0"/>
                <a:cs typeface="Times New Roman" panose="02020603050405020304" pitchFamily="18" charset="0"/>
              </a:rPr>
              <a:t>Временная последовательность оптической накачки (а) , и </a:t>
            </a:r>
            <a:r>
              <a:rPr lang="ru-RU" dirty="0">
                <a:latin typeface="Times New Roman"/>
                <a:cs typeface="Times New Roman"/>
                <a:sym typeface="Times New Roman"/>
              </a:rPr>
              <a:t>э</a:t>
            </a:r>
            <a:r>
              <a:rPr lang="ru-RU" dirty="0">
                <a:latin typeface="Times New Roman"/>
                <a:ea typeface="Times New Roman"/>
                <a:cs typeface="Times New Roman"/>
                <a:sym typeface="Times New Roman"/>
              </a:rPr>
              <a:t>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ависимость населенности атомов до и после оптической накачки от отстройки рамановского излучения относительно часового перехода.</a:t>
            </a:r>
            <a:endParaRPr sz="1400" b="0" i="0" u="none" strike="noStrike" cap="none" dirty="0">
              <a:solidFill>
                <a:srgbClr val="000000"/>
              </a:solidFill>
              <a:latin typeface="Times New Roman"/>
              <a:ea typeface="Times New Roman"/>
              <a:cs typeface="Times New Roman"/>
              <a:sym typeface="Times New Roman"/>
            </a:endParaRPr>
          </a:p>
        </p:txBody>
      </p:sp>
      <p:pic>
        <p:nvPicPr>
          <p:cNvPr id="13" name="Рисунок 12">
            <a:extLst>
              <a:ext uri="{FF2B5EF4-FFF2-40B4-BE49-F238E27FC236}">
                <a16:creationId xmlns="" xmlns:a16="http://schemas.microsoft.com/office/drawing/2014/main" id="{E5FBF466-A86A-4FC6-9496-0D1B6DBCC09E}"/>
              </a:ext>
            </a:extLst>
          </p:cNvPr>
          <p:cNvPicPr>
            <a:picLocks noChangeAspect="1"/>
          </p:cNvPicPr>
          <p:nvPr/>
        </p:nvPicPr>
        <p:blipFill rotWithShape="1">
          <a:blip r:embed="rId3"/>
          <a:srcRect b="7198"/>
          <a:stretch/>
        </p:blipFill>
        <p:spPr>
          <a:xfrm>
            <a:off x="7160309" y="1148376"/>
            <a:ext cx="3945690" cy="3203965"/>
          </a:xfrm>
          <a:prstGeom prst="rect">
            <a:avLst/>
          </a:prstGeom>
        </p:spPr>
      </p:pic>
      <p:sp>
        <p:nvSpPr>
          <p:cNvPr id="14" name="Прямоугольник 13"/>
          <p:cNvSpPr/>
          <p:nvPr/>
        </p:nvSpPr>
        <p:spPr>
          <a:xfrm>
            <a:off x="4803766" y="3972182"/>
            <a:ext cx="430759" cy="13079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4426824" y="3598494"/>
            <a:ext cx="1246987" cy="17034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2464630" y="3249171"/>
            <a:ext cx="551888" cy="17380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121765" y="3169036"/>
            <a:ext cx="1325350"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18" name="Прямая соединительная линия 17"/>
          <p:cNvCxnSpPr>
            <a:cxnSpLocks/>
          </p:cNvCxnSpPr>
          <p:nvPr/>
        </p:nvCxnSpPr>
        <p:spPr>
          <a:xfrm>
            <a:off x="1454056" y="3341653"/>
            <a:ext cx="4918502" cy="82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261640" y="3480527"/>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20" name="Прямая соединительная линия 19"/>
          <p:cNvCxnSpPr>
            <a:cxnSpLocks/>
          </p:cNvCxnSpPr>
          <p:nvPr/>
        </p:nvCxnSpPr>
        <p:spPr>
          <a:xfrm flipV="1">
            <a:off x="1454056" y="3676251"/>
            <a:ext cx="4918502" cy="1218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21765" y="3870161"/>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cxnSp>
        <p:nvCxnSpPr>
          <p:cNvPr id="22" name="Прямая соединительная линия 21"/>
          <p:cNvCxnSpPr>
            <a:cxnSpLocks/>
          </p:cNvCxnSpPr>
          <p:nvPr/>
        </p:nvCxnSpPr>
        <p:spPr>
          <a:xfrm>
            <a:off x="1454056" y="4038549"/>
            <a:ext cx="4918502"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2446666" y="2995692"/>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70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4" name="TextBox 23"/>
          <p:cNvSpPr txBox="1"/>
          <p:nvPr/>
        </p:nvSpPr>
        <p:spPr>
          <a:xfrm>
            <a:off x="4688529" y="3724991"/>
            <a:ext cx="807720" cy="276999"/>
          </a:xfrm>
          <a:prstGeom prst="rect">
            <a:avLst/>
          </a:prstGeom>
          <a:noFill/>
        </p:spPr>
        <p:txBody>
          <a:bodyPr wrap="square" rtlCol="0">
            <a:spAutoFit/>
          </a:bodyPr>
          <a:lstStyle/>
          <a:p>
            <a:r>
              <a:rPr lang="en-US" sz="1200" dirty="0">
                <a:latin typeface="Times New Roman" panose="02020603050405020304" pitchFamily="18" charset="0"/>
                <a:ea typeface="Tahoma" panose="020B0604030504040204" pitchFamily="34" charset="0"/>
                <a:cs typeface="Times New Roman" panose="02020603050405020304" pitchFamily="18" charset="0"/>
              </a:rPr>
              <a:t>25</a:t>
            </a:r>
            <a:r>
              <a:rPr lang="ru-RU" sz="1200" dirty="0">
                <a:latin typeface="Times New Roman" panose="02020603050405020304" pitchFamily="18" charset="0"/>
                <a:ea typeface="Tahoma" panose="020B0604030504040204" pitchFamily="34" charset="0"/>
                <a:cs typeface="Times New Roman" panose="02020603050405020304" pitchFamily="18" charset="0"/>
              </a:rPr>
              <a:t>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25" name="Прямая соединительная линия 24"/>
          <p:cNvCxnSpPr/>
          <p:nvPr/>
        </p:nvCxnSpPr>
        <p:spPr>
          <a:xfrm flipH="1">
            <a:off x="3954356"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6022276" y="3068455"/>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1522547"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 xmlns:a16="http://schemas.microsoft.com/office/drawing/2014/main" id="{7D479D87-544A-4FA4-BA06-D7B01FAB3C76}"/>
              </a:ext>
            </a:extLst>
          </p:cNvPr>
          <p:cNvSpPr txBox="1"/>
          <p:nvPr/>
        </p:nvSpPr>
        <p:spPr>
          <a:xfrm>
            <a:off x="1034178" y="1046632"/>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4651251" y="3356914"/>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0.5 </a:t>
            </a:r>
            <a:r>
              <a:rPr lang="ru-RU" sz="1200" dirty="0" err="1">
                <a:latin typeface="Times New Roman" panose="02020603050405020304" pitchFamily="18" charset="0"/>
                <a:ea typeface="Tahoma" panose="020B0604030504040204" pitchFamily="34" charset="0"/>
                <a:cs typeface="Times New Roman" panose="02020603050405020304" pitchFamily="18" charset="0"/>
              </a:rPr>
              <a:t>Гс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 xmlns:a16="http://schemas.microsoft.com/office/drawing/2014/main" id="{7D479D87-544A-4FA4-BA06-D7B01FAB3C76}"/>
              </a:ext>
            </a:extLst>
          </p:cNvPr>
          <p:cNvSpPr txBox="1"/>
          <p:nvPr/>
        </p:nvSpPr>
        <p:spPr>
          <a:xfrm>
            <a:off x="6794727" y="1084738"/>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 xmlns:a16="http://schemas.microsoft.com/office/drawing/2014/main" id="{E2B4286C-1033-4ED6-8922-95C7C36C5C82}"/>
              </a:ext>
            </a:extLst>
          </p:cNvPr>
          <p:cNvPicPr>
            <a:picLocks noChangeAspect="1"/>
          </p:cNvPicPr>
          <p:nvPr/>
        </p:nvPicPr>
        <p:blipFill>
          <a:blip r:embed="rId4"/>
          <a:stretch>
            <a:fillRect/>
          </a:stretch>
        </p:blipFill>
        <p:spPr>
          <a:xfrm>
            <a:off x="1574196" y="1431361"/>
            <a:ext cx="2212161" cy="1287988"/>
          </a:xfrm>
          <a:prstGeom prst="rect">
            <a:avLst/>
          </a:prstGeom>
        </p:spPr>
      </p:pic>
      <p:pic>
        <p:nvPicPr>
          <p:cNvPr id="11" name="Рисунок 10">
            <a:extLst>
              <a:ext uri="{FF2B5EF4-FFF2-40B4-BE49-F238E27FC236}">
                <a16:creationId xmlns="" xmlns:a16="http://schemas.microsoft.com/office/drawing/2014/main" id="{65C9107F-86E2-4F78-B853-DF8620913330}"/>
              </a:ext>
            </a:extLst>
          </p:cNvPr>
          <p:cNvPicPr>
            <a:picLocks noChangeAspect="1"/>
          </p:cNvPicPr>
          <p:nvPr/>
        </p:nvPicPr>
        <p:blipFill>
          <a:blip r:embed="rId5"/>
          <a:stretch>
            <a:fillRect/>
          </a:stretch>
        </p:blipFill>
        <p:spPr>
          <a:xfrm>
            <a:off x="4063132" y="1424455"/>
            <a:ext cx="2163487" cy="1347746"/>
          </a:xfrm>
          <a:prstGeom prst="rect">
            <a:avLst/>
          </a:prstGeom>
        </p:spPr>
      </p:pic>
      <p:sp>
        <p:nvSpPr>
          <p:cNvPr id="37" name="TextBox 36">
            <a:extLst>
              <a:ext uri="{FF2B5EF4-FFF2-40B4-BE49-F238E27FC236}">
                <a16:creationId xmlns="" xmlns:a16="http://schemas.microsoft.com/office/drawing/2014/main" id="{ACDD460A-11BF-4D35-82B4-53CC6CCB63DD}"/>
              </a:ext>
            </a:extLst>
          </p:cNvPr>
          <p:cNvSpPr txBox="1"/>
          <p:nvPr/>
        </p:nvSpPr>
        <p:spPr>
          <a:xfrm>
            <a:off x="11681926" y="6391158"/>
            <a:ext cx="510074" cy="307777"/>
          </a:xfrm>
          <a:prstGeom prst="rect">
            <a:avLst/>
          </a:prstGeom>
          <a:noFill/>
        </p:spPr>
        <p:txBody>
          <a:bodyPr wrap="square" rtlCol="0">
            <a:spAutoFit/>
          </a:bodyPr>
          <a:lstStyle/>
          <a:p>
            <a:r>
              <a:rPr lang="ru-RU" dirty="0"/>
              <a:t>8</a:t>
            </a:r>
          </a:p>
        </p:txBody>
      </p:sp>
      <p:sp>
        <p:nvSpPr>
          <p:cNvPr id="38" name="TextBox 37">
            <a:extLst>
              <a:ext uri="{FF2B5EF4-FFF2-40B4-BE49-F238E27FC236}">
                <a16:creationId xmlns="" xmlns:a16="http://schemas.microsoft.com/office/drawing/2014/main" id="{EC5D26EC-C1DB-444B-8ECC-DCAEF9CF4396}"/>
              </a:ext>
            </a:extLst>
          </p:cNvPr>
          <p:cNvSpPr txBox="1"/>
          <p:nvPr/>
        </p:nvSpPr>
        <p:spPr>
          <a:xfrm>
            <a:off x="7511091" y="4336498"/>
            <a:ext cx="5144071" cy="246221"/>
          </a:xfrm>
          <a:prstGeom prst="rect">
            <a:avLst/>
          </a:prstGeom>
          <a:noFill/>
        </p:spPr>
        <p:txBody>
          <a:bodyPr wrap="square" rtlCol="0">
            <a:spAutoFit/>
          </a:bodyPr>
          <a:lstStyle/>
          <a:p>
            <a:r>
              <a:rPr lang="ru-RU" sz="1000" dirty="0">
                <a:latin typeface="Century Gothic" panose="020B0502020202020204" pitchFamily="34" charset="0"/>
              </a:rPr>
              <a:t>Отстройка частоты рамановского излучения, </a:t>
            </a:r>
            <a:r>
              <a:rPr lang="en-US" sz="1000" dirty="0">
                <a:latin typeface="Century Gothic" panose="020B0502020202020204" pitchFamily="34" charset="0"/>
              </a:rPr>
              <a:t>[</a:t>
            </a:r>
            <a:r>
              <a:rPr lang="ru-RU" sz="1000" dirty="0">
                <a:latin typeface="Century Gothic" panose="020B0502020202020204" pitchFamily="34" charset="0"/>
              </a:rPr>
              <a:t>МГц</a:t>
            </a:r>
            <a:r>
              <a:rPr lang="en-US" sz="1000" dirty="0">
                <a:latin typeface="Century Gothic" panose="020B0502020202020204" pitchFamily="34" charset="0"/>
              </a:rPr>
              <a:t>]</a:t>
            </a:r>
            <a:r>
              <a:rPr lang="ru-RU" sz="1000" dirty="0">
                <a:latin typeface="Century Gothic" panose="020B0502020202020204" pitchFamily="34"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635EA3E-F613-FF7C-94F7-910FE459E0E9}"/>
              </a:ext>
            </a:extLst>
          </p:cNvPr>
          <p:cNvSpPr txBox="1"/>
          <p:nvPr/>
        </p:nvSpPr>
        <p:spPr>
          <a:xfrm>
            <a:off x="2895600" y="863600"/>
            <a:ext cx="5376333" cy="2031325"/>
          </a:xfrm>
          <a:prstGeom prst="rect">
            <a:avLst/>
          </a:prstGeom>
          <a:noFill/>
        </p:spPr>
        <p:txBody>
          <a:bodyPr wrap="square" rtlCol="0">
            <a:spAutoFit/>
          </a:bodyPr>
          <a:lstStyle/>
          <a:p>
            <a:r>
              <a:rPr lang="ru-RU" dirty="0"/>
              <a:t>Также была выполнена экспериментальная реализация данное схемы накачки. Экспериментальная последовательность оптической накачки показана на слайде слева. Справа же показан результат измерения населённостей (пики) магнитных подуровней до (красная кривая) и после (</a:t>
            </a:r>
            <a:r>
              <a:rPr lang="ru-RU" dirty="0" err="1"/>
              <a:t>синия</a:t>
            </a:r>
            <a:r>
              <a:rPr lang="ru-RU" dirty="0"/>
              <a:t> кривая) оптической накачки. После оптической накачки населённость немагнитного состояния выросла с 0.3 до более чем 0.95, а населённость магнитных состояний упала практически до 0.</a:t>
            </a:r>
          </a:p>
        </p:txBody>
      </p:sp>
    </p:spTree>
    <p:extLst>
      <p:ext uri="{BB962C8B-B14F-4D97-AF65-F5344CB8AC3E}">
        <p14:creationId xmlns:p14="http://schemas.microsoft.com/office/powerpoint/2010/main" val="324817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441;p41">
            <a:extLst>
              <a:ext uri="{FF2B5EF4-FFF2-40B4-BE49-F238E27FC236}">
                <a16:creationId xmlns="" xmlns:a16="http://schemas.microsoft.com/office/drawing/2014/main" id="{EBD5BC16-2C05-4F48-9860-17E97A3AC0B9}"/>
              </a:ext>
            </a:extLst>
          </p:cNvPr>
          <p:cNvPicPr preferRelativeResize="0"/>
          <p:nvPr/>
        </p:nvPicPr>
        <p:blipFill rotWithShape="1">
          <a:blip r:embed="rId2">
            <a:alphaModFix/>
          </a:blip>
          <a:srcRect t="7649"/>
          <a:stretch/>
        </p:blipFill>
        <p:spPr>
          <a:xfrm>
            <a:off x="6524767" y="1765465"/>
            <a:ext cx="3832083" cy="3008340"/>
          </a:xfrm>
          <a:prstGeom prst="rect">
            <a:avLst/>
          </a:prstGeom>
          <a:noFill/>
          <a:ln>
            <a:noFill/>
          </a:ln>
        </p:spPr>
      </p:pic>
      <p:sp>
        <p:nvSpPr>
          <p:cNvPr id="4" name="Google Shape;442;p41">
            <a:extLst>
              <a:ext uri="{FF2B5EF4-FFF2-40B4-BE49-F238E27FC236}">
                <a16:creationId xmlns="" xmlns:a16="http://schemas.microsoft.com/office/drawing/2014/main" id="{F153B16B-206B-47E6-91BB-9ABCF38CB307}"/>
              </a:ext>
            </a:extLst>
          </p:cNvPr>
          <p:cNvSpPr txBox="1"/>
          <p:nvPr/>
        </p:nvSpPr>
        <p:spPr>
          <a:xfrm>
            <a:off x="2304966" y="4870390"/>
            <a:ext cx="6793216"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Рис. 9. </a:t>
            </a:r>
            <a:r>
              <a:rPr lang="ru-RU" dirty="0">
                <a:latin typeface="Times New Roman"/>
                <a:ea typeface="Times New Roman"/>
                <a:cs typeface="Times New Roman"/>
                <a:sym typeface="Times New Roman"/>
              </a:rPr>
              <a:t>Изображение временной эволюции облака атомов  (а), и экспериментальная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ависимости квадрата размера облака холодных атомов (1/e) от квадрата времени свободного падения до и после оптической накачки в магнито-нечувствительное состояние (б).</a:t>
            </a:r>
            <a:endParaRPr dirty="0"/>
          </a:p>
        </p:txBody>
      </p:sp>
      <p:pic>
        <p:nvPicPr>
          <p:cNvPr id="5" name="Google Shape;127;p1" descr="https://lh7-rt.googleusercontent.com/slidesz/AGV_vUfQFYLtY2FjTQr7IFHzlkKBCHeyujkayVscmvM_ZtWrphAdXKCaLY60ZbpfLZg12jZAsRqQl4iqGW0lWkIEBozY5KtHbVxjFwlR49-6HQN-dGVIqjq8HAfU-aO2zNamebJymnukrX72YDnhLmvRxTU=s2048?key=P4lD9V1SCTzNB_8IaOOg0ZNi">
            <a:extLst>
              <a:ext uri="{FF2B5EF4-FFF2-40B4-BE49-F238E27FC236}">
                <a16:creationId xmlns="" xmlns:a16="http://schemas.microsoft.com/office/drawing/2014/main" id="{BC71BF39-5AEA-4F19-9B32-F7B8C639F700}"/>
              </a:ext>
            </a:extLst>
          </p:cNvPr>
          <p:cNvPicPr preferRelativeResize="0"/>
          <p:nvPr/>
        </p:nvPicPr>
        <p:blipFill rotWithShape="1">
          <a:blip r:embed="rId3">
            <a:alphaModFix/>
          </a:blip>
          <a:srcRect r="21099" b="5356"/>
          <a:stretch/>
        </p:blipFill>
        <p:spPr>
          <a:xfrm>
            <a:off x="1220392" y="1765465"/>
            <a:ext cx="4673599" cy="2166841"/>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971711A6-1744-407B-8346-FEF2A684FBF3}"/>
                  </a:ext>
                </a:extLst>
              </p:cNvPr>
              <p:cNvSpPr txBox="1"/>
              <p:nvPr/>
            </p:nvSpPr>
            <p:spPr>
              <a:xfrm>
                <a:off x="8284545" y="3733800"/>
                <a:ext cx="2185237" cy="310278"/>
              </a:xfrm>
              <a:prstGeom prst="rect">
                <a:avLst/>
              </a:prstGeom>
              <a:noFill/>
            </p:spPr>
            <p:txBody>
              <a:bodyPr wrap="square" lIns="0" tIns="0" rIns="0" bIns="0" rtlCol="0">
                <a:spAutoFit/>
              </a:bodyPr>
              <a:lstStyle/>
              <a:p>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𝜎</m:t>
                        </m:r>
                      </m:e>
                      <m:sup>
                        <m:r>
                          <a:rPr lang="ru-RU" b="0" i="1" smtClean="0">
                            <a:latin typeface="Cambria Math" panose="02040503050406030204" pitchFamily="18" charset="0"/>
                          </a:rPr>
                          <m:t>2</m:t>
                        </m:r>
                      </m:sup>
                    </m:sSup>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ea typeface="Cambria Math" panose="02040503050406030204" pitchFamily="18" charset="0"/>
                          </a:rPr>
                          <m:t>𝜎</m:t>
                        </m:r>
                      </m:e>
                      <m:sup>
                        <m:r>
                          <a:rPr lang="ru-RU" i="1">
                            <a:latin typeface="Cambria Math" panose="02040503050406030204" pitchFamily="18" charset="0"/>
                          </a:rPr>
                          <m:t>2</m:t>
                        </m:r>
                      </m:sup>
                    </m:sSup>
                    <m:d>
                      <m:dPr>
                        <m:ctrlPr>
                          <a:rPr lang="ru-RU" b="0" i="1" smtClean="0">
                            <a:latin typeface="Cambria Math" panose="02040503050406030204" pitchFamily="18" charset="0"/>
                          </a:rPr>
                        </m:ctrlPr>
                      </m:dPr>
                      <m:e>
                        <m:r>
                          <a:rPr lang="ru-RU" b="0" i="1" smtClean="0">
                            <a:latin typeface="Cambria Math" panose="02040503050406030204" pitchFamily="18" charset="0"/>
                          </a:rPr>
                          <m:t>0</m:t>
                        </m:r>
                      </m:e>
                    </m:d>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𝑏</m:t>
                            </m:r>
                          </m:sub>
                        </m:sSub>
                        <m:r>
                          <a:rPr lang="en-US" i="1">
                            <a:latin typeface="Cambria Math" panose="02040503050406030204" pitchFamily="18" charset="0"/>
                          </a:rPr>
                          <m:t>𝑇</m:t>
                        </m:r>
                      </m:num>
                      <m:den>
                        <m:r>
                          <a:rPr lang="en-US" b="0" i="1" smtClean="0">
                            <a:latin typeface="Cambria Math" panose="02040503050406030204" pitchFamily="18" charset="0"/>
                          </a:rPr>
                          <m:t>𝑚</m:t>
                        </m:r>
                      </m:den>
                    </m:f>
                  </m:oMath>
                </a14:m>
                <a:r>
                  <a:rPr lang="ru-RU" dirty="0"/>
                  <a:t>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ru-RU" dirty="0"/>
              </a:p>
            </p:txBody>
          </p:sp>
        </mc:Choice>
        <mc:Fallback xmlns="">
          <p:sp>
            <p:nvSpPr>
              <p:cNvPr id="6" name="TextBox 5">
                <a:extLst>
                  <a:ext uri="{FF2B5EF4-FFF2-40B4-BE49-F238E27FC236}">
                    <a16:creationId xmlns:a16="http://schemas.microsoft.com/office/drawing/2014/main" id="{971711A6-1744-407B-8346-FEF2A684FBF3}"/>
                  </a:ext>
                </a:extLst>
              </p:cNvPr>
              <p:cNvSpPr txBox="1">
                <a:spLocks noRot="1" noChangeAspect="1" noMove="1" noResize="1" noEditPoints="1" noAdjustHandles="1" noChangeArrowheads="1" noChangeShapeType="1" noTextEdit="1"/>
              </p:cNvSpPr>
              <p:nvPr/>
            </p:nvSpPr>
            <p:spPr>
              <a:xfrm>
                <a:off x="8284545" y="3733800"/>
                <a:ext cx="2185237" cy="310278"/>
              </a:xfrm>
              <a:prstGeom prst="rect">
                <a:avLst/>
              </a:prstGeom>
              <a:blipFill>
                <a:blip r:embed="rId4"/>
                <a:stretch>
                  <a:fillRect l="-1955" b="-12000"/>
                </a:stretch>
              </a:blipFill>
            </p:spPr>
            <p:txBody>
              <a:bodyPr/>
              <a:lstStyle/>
              <a:p>
                <a:r>
                  <a:rPr lang="ru-RU">
                    <a:noFill/>
                  </a:rPr>
                  <a:t> </a:t>
                </a:r>
              </a:p>
            </p:txBody>
          </p:sp>
        </mc:Fallback>
      </mc:AlternateContent>
      <p:sp>
        <p:nvSpPr>
          <p:cNvPr id="7" name="Google Shape;233;p24">
            <a:extLst>
              <a:ext uri="{FF2B5EF4-FFF2-40B4-BE49-F238E27FC236}">
                <a16:creationId xmlns="" xmlns:a16="http://schemas.microsoft.com/office/drawing/2014/main" id="{8E6AD891-851D-4A07-A31D-5F7A366E551C}"/>
              </a:ext>
            </a:extLst>
          </p:cNvPr>
          <p:cNvSpPr txBox="1"/>
          <p:nvPr/>
        </p:nvSpPr>
        <p:spPr>
          <a:xfrm>
            <a:off x="4933354" y="802731"/>
            <a:ext cx="242689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2400" b="1" i="0" u="none" strike="noStrike" cap="none" dirty="0">
                <a:solidFill>
                  <a:srgbClr val="000000"/>
                </a:solidFill>
                <a:latin typeface="Times New Roman"/>
                <a:ea typeface="Times New Roman"/>
                <a:cs typeface="Times New Roman"/>
                <a:sym typeface="Times New Roman"/>
              </a:rPr>
              <a:t>Time-</a:t>
            </a:r>
            <a:r>
              <a:rPr lang="ru-RU" sz="2400" b="1" i="0" u="none" strike="noStrike" cap="none" dirty="0" err="1">
                <a:solidFill>
                  <a:srgbClr val="000000"/>
                </a:solidFill>
                <a:latin typeface="Times New Roman"/>
                <a:ea typeface="Times New Roman"/>
                <a:cs typeface="Times New Roman"/>
                <a:sym typeface="Times New Roman"/>
              </a:rPr>
              <a:t>of</a:t>
            </a:r>
            <a:r>
              <a:rPr lang="ru-RU" sz="2400" b="1" i="0" u="none" strike="noStrike" cap="none" dirty="0">
                <a:solidFill>
                  <a:srgbClr val="000000"/>
                </a:solidFill>
                <a:latin typeface="Times New Roman"/>
                <a:ea typeface="Times New Roman"/>
                <a:cs typeface="Times New Roman"/>
                <a:sym typeface="Times New Roman"/>
              </a:rPr>
              <a:t>-</a:t>
            </a:r>
            <a:r>
              <a:rPr lang="ru-RU" sz="2400" b="1" i="0" u="none" strike="noStrike" cap="none" dirty="0" err="1">
                <a:solidFill>
                  <a:srgbClr val="000000"/>
                </a:solidFill>
                <a:latin typeface="Times New Roman"/>
                <a:ea typeface="Times New Roman"/>
                <a:cs typeface="Times New Roman"/>
                <a:sym typeface="Times New Roman"/>
              </a:rPr>
              <a:t>flight</a:t>
            </a:r>
            <a:r>
              <a:rPr lang="ru-RU" sz="2400" b="1" i="0" u="none" strike="noStrike" cap="none" dirty="0">
                <a:solidFill>
                  <a:srgbClr val="000000"/>
                </a:solidFill>
                <a:latin typeface="Times New Roman"/>
                <a:ea typeface="Times New Roman"/>
                <a:cs typeface="Times New Roman"/>
                <a:sym typeface="Times New Roman"/>
              </a:rPr>
              <a:t>:</a:t>
            </a:r>
            <a:endParaRPr sz="2400" b="1" i="0" u="none" strike="noStrike" cap="none" dirty="0">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 xmlns:a16="http://schemas.microsoft.com/office/drawing/2014/main" id="{7D479D87-544A-4FA4-BA06-D7B01FAB3C76}"/>
              </a:ext>
            </a:extLst>
          </p:cNvPr>
          <p:cNvSpPr txBox="1"/>
          <p:nvPr/>
        </p:nvSpPr>
        <p:spPr>
          <a:xfrm>
            <a:off x="1063699"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F75955D3-509D-4D02-B799-756F1560F9D5}"/>
              </a:ext>
            </a:extLst>
          </p:cNvPr>
          <p:cNvSpPr txBox="1"/>
          <p:nvPr/>
        </p:nvSpPr>
        <p:spPr>
          <a:xfrm>
            <a:off x="6354685"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0" name="Google Shape;438;p41">
            <a:extLst>
              <a:ext uri="{FF2B5EF4-FFF2-40B4-BE49-F238E27FC236}">
                <a16:creationId xmlns="" xmlns:a16="http://schemas.microsoft.com/office/drawing/2014/main" id="{9F6DF20E-0EBF-46A5-BE99-0FBFFA90B945}"/>
              </a:ext>
            </a:extLst>
          </p:cNvPr>
          <p:cNvSpPr/>
          <p:nvPr/>
        </p:nvSpPr>
        <p:spPr>
          <a:xfrm>
            <a:off x="1903454" y="122102"/>
            <a:ext cx="7585131" cy="39511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Нагрев вследствие</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 xmlns:a16="http://schemas.microsoft.com/office/drawing/2014/main" id="{2D3CF238-36AA-4DCF-8C45-8041EC38BEF3}"/>
              </a:ext>
            </a:extLst>
          </p:cNvPr>
          <p:cNvSpPr txBox="1"/>
          <p:nvPr/>
        </p:nvSpPr>
        <p:spPr>
          <a:xfrm>
            <a:off x="11681926" y="6408575"/>
            <a:ext cx="510074" cy="307777"/>
          </a:xfrm>
          <a:prstGeom prst="rect">
            <a:avLst/>
          </a:prstGeom>
          <a:noFill/>
        </p:spPr>
        <p:txBody>
          <a:bodyPr wrap="square" rtlCol="0">
            <a:spAutoFit/>
          </a:bodyPr>
          <a:lstStyle/>
          <a:p>
            <a:r>
              <a:rPr lang="ru-RU" dirty="0"/>
              <a:t>9</a:t>
            </a:r>
            <a:endParaRPr lang="en-US" dirty="0"/>
          </a:p>
        </p:txBody>
      </p:sp>
    </p:spTree>
    <p:extLst>
      <p:ext uri="{BB962C8B-B14F-4D97-AF65-F5344CB8AC3E}">
        <p14:creationId xmlns:p14="http://schemas.microsoft.com/office/powerpoint/2010/main" val="3960691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492D304F-8DDB-E611-688F-42B739FA1EC1}"/>
              </a:ext>
            </a:extLst>
          </p:cNvPr>
          <p:cNvSpPr txBox="1"/>
          <p:nvPr/>
        </p:nvSpPr>
        <p:spPr>
          <a:xfrm>
            <a:off x="2980267" y="948267"/>
            <a:ext cx="5283200" cy="1169551"/>
          </a:xfrm>
          <a:prstGeom prst="rect">
            <a:avLst/>
          </a:prstGeom>
          <a:noFill/>
        </p:spPr>
        <p:txBody>
          <a:bodyPr wrap="square" rtlCol="0">
            <a:spAutoFit/>
          </a:bodyPr>
          <a:lstStyle/>
          <a:p>
            <a:r>
              <a:rPr lang="ru-RU" dirty="0"/>
              <a:t>С помощью </a:t>
            </a:r>
            <a:r>
              <a:rPr lang="en-US" dirty="0"/>
              <a:t>time-of-flight </a:t>
            </a:r>
            <a:r>
              <a:rPr lang="ru-RU" dirty="0"/>
              <a:t>методики была измерения температура облака атомов до и после оптической накачки. Температура из-за оптической накачка выросла на 1 </a:t>
            </a:r>
            <a:r>
              <a:rPr lang="ru-RU" dirty="0" err="1"/>
              <a:t>мкК</a:t>
            </a:r>
            <a:r>
              <a:rPr lang="ru-RU" dirty="0"/>
              <a:t>, как показано на рисунке справа, что согласуется с результатами моделирования.</a:t>
            </a:r>
          </a:p>
        </p:txBody>
      </p:sp>
    </p:spTree>
    <p:extLst>
      <p:ext uri="{BB962C8B-B14F-4D97-AF65-F5344CB8AC3E}">
        <p14:creationId xmlns:p14="http://schemas.microsoft.com/office/powerpoint/2010/main" val="3642175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Рисунок 42">
            <a:extLst>
              <a:ext uri="{FF2B5EF4-FFF2-40B4-BE49-F238E27FC236}">
                <a16:creationId xmlns="" xmlns:a16="http://schemas.microsoft.com/office/drawing/2014/main" id="{669106B0-9619-2660-610E-CC37F6EF9735}"/>
              </a:ext>
            </a:extLst>
          </p:cNvPr>
          <p:cNvPicPr>
            <a:picLocks noChangeAspect="1"/>
          </p:cNvPicPr>
          <p:nvPr/>
        </p:nvPicPr>
        <p:blipFill>
          <a:blip r:embed="rId2"/>
          <a:stretch>
            <a:fillRect/>
          </a:stretch>
        </p:blipFill>
        <p:spPr>
          <a:xfrm>
            <a:off x="85805" y="1258091"/>
            <a:ext cx="5633530" cy="4229563"/>
          </a:xfrm>
          <a:prstGeom prst="rect">
            <a:avLst/>
          </a:prstGeom>
        </p:spPr>
      </p:pic>
      <p:sp>
        <p:nvSpPr>
          <p:cNvPr id="2" name="Google Shape;438;p41">
            <a:extLst>
              <a:ext uri="{FF2B5EF4-FFF2-40B4-BE49-F238E27FC236}">
                <a16:creationId xmlns="" xmlns:a16="http://schemas.microsoft.com/office/drawing/2014/main" id="{52BC617F-5E2D-4580-9506-94A652B0244A}"/>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9" name="Прямоугольник 48"/>
          <p:cNvSpPr/>
          <p:nvPr/>
        </p:nvSpPr>
        <p:spPr>
          <a:xfrm>
            <a:off x="3048000" y="5972475"/>
            <a:ext cx="6096000" cy="738664"/>
          </a:xfrm>
          <a:prstGeom prst="rect">
            <a:avLst/>
          </a:prstGeom>
        </p:spPr>
        <p:txBody>
          <a:bodyPr>
            <a:spAutoFit/>
          </a:bodyPr>
          <a:lstStyle/>
          <a:p>
            <a:pPr algn="ctr"/>
            <a:r>
              <a:rPr lang="ru-RU" dirty="0">
                <a:latin typeface="Times New Roman" panose="02020603050405020304" pitchFamily="18" charset="0"/>
                <a:cs typeface="Times New Roman" panose="02020603050405020304" pitchFamily="18" charset="0"/>
              </a:rPr>
              <a:t>Рис. . Экспериментальная последовательность рамановских импульсов и схема чирпирования частоты рамановского излучения (а), схема детектирования атомов (б).</a:t>
            </a:r>
          </a:p>
        </p:txBody>
      </p:sp>
      <p:sp>
        <p:nvSpPr>
          <p:cNvPr id="51" name="TextBox 50">
            <a:extLst>
              <a:ext uri="{FF2B5EF4-FFF2-40B4-BE49-F238E27FC236}">
                <a16:creationId xmlns="" xmlns:a16="http://schemas.microsoft.com/office/drawing/2014/main" id="{7D479D87-544A-4FA4-BA06-D7B01FAB3C76}"/>
              </a:ext>
            </a:extLst>
          </p:cNvPr>
          <p:cNvSpPr txBox="1"/>
          <p:nvPr/>
        </p:nvSpPr>
        <p:spPr>
          <a:xfrm>
            <a:off x="673366"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 xmlns:a16="http://schemas.microsoft.com/office/drawing/2014/main" id="{4AF22725-24E1-4D71-A1C2-667222AA1559}"/>
              </a:ext>
            </a:extLst>
          </p:cNvPr>
          <p:cNvSpPr txBox="1"/>
          <p:nvPr/>
        </p:nvSpPr>
        <p:spPr>
          <a:xfrm>
            <a:off x="11681926" y="6408575"/>
            <a:ext cx="510074" cy="307777"/>
          </a:xfrm>
          <a:prstGeom prst="rect">
            <a:avLst/>
          </a:prstGeom>
          <a:noFill/>
        </p:spPr>
        <p:txBody>
          <a:bodyPr wrap="square" rtlCol="0">
            <a:spAutoFit/>
          </a:bodyPr>
          <a:lstStyle/>
          <a:p>
            <a:r>
              <a:rPr lang="ru-RU" dirty="0"/>
              <a:t>10</a:t>
            </a:r>
            <a:endParaRPr lang="en-US" dirty="0"/>
          </a:p>
        </p:txBody>
      </p:sp>
      <p:sp>
        <p:nvSpPr>
          <p:cNvPr id="14" name="TextBox 13">
            <a:extLst>
              <a:ext uri="{FF2B5EF4-FFF2-40B4-BE49-F238E27FC236}">
                <a16:creationId xmlns="" xmlns:a16="http://schemas.microsoft.com/office/drawing/2014/main" id="{F621DB70-2DE0-B84B-4885-33F99F2FE7AC}"/>
              </a:ext>
            </a:extLst>
          </p:cNvPr>
          <p:cNvSpPr txBox="1"/>
          <p:nvPr/>
        </p:nvSpPr>
        <p:spPr>
          <a:xfrm>
            <a:off x="6483633"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rotWithShape="1">
          <a:blip r:embed="rId3"/>
          <a:srcRect t="2021" b="1272"/>
          <a:stretch/>
        </p:blipFill>
        <p:spPr>
          <a:xfrm>
            <a:off x="7323388" y="852599"/>
            <a:ext cx="3956539" cy="4877465"/>
          </a:xfrm>
          <a:prstGeom prst="rect">
            <a:avLst/>
          </a:prstGeom>
        </p:spPr>
      </p:pic>
    </p:spTree>
    <p:extLst>
      <p:ext uri="{BB962C8B-B14F-4D97-AF65-F5344CB8AC3E}">
        <p14:creationId xmlns:p14="http://schemas.microsoft.com/office/powerpoint/2010/main" val="3957117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D3DC3C23-5484-E6C2-C496-D1AEE14CC72F}"/>
              </a:ext>
            </a:extLst>
          </p:cNvPr>
          <p:cNvSpPr txBox="1"/>
          <p:nvPr/>
        </p:nvSpPr>
        <p:spPr>
          <a:xfrm>
            <a:off x="2607733" y="863600"/>
            <a:ext cx="5808134" cy="2893100"/>
          </a:xfrm>
          <a:prstGeom prst="rect">
            <a:avLst/>
          </a:prstGeom>
          <a:noFill/>
        </p:spPr>
        <p:txBody>
          <a:bodyPr wrap="square" rtlCol="0">
            <a:spAutoFit/>
          </a:bodyPr>
          <a:lstStyle/>
          <a:p>
            <a:r>
              <a:rPr lang="ru-RU" dirty="0"/>
              <a:t>Также в работе была выполнено регистрация сигнала атомного интерферометра по приведённой на данной слайде схеме. Слева показана временная экспериментальная последовательность регистрация, а справа схема детектирования атомов.</a:t>
            </a:r>
          </a:p>
          <a:p>
            <a:endParaRPr lang="ru-RU" dirty="0"/>
          </a:p>
          <a:p>
            <a:r>
              <a:rPr lang="ru-RU" dirty="0"/>
              <a:t>После атомной интерференции атомы в светлом состоянии </a:t>
            </a:r>
            <a:r>
              <a:rPr lang="en-US" dirty="0"/>
              <a:t>F = 2</a:t>
            </a:r>
            <a:r>
              <a:rPr lang="ru-RU" dirty="0"/>
              <a:t> подсвечиваются и регистрируется их сигнал с помощью первой камеры, после этого все атомы оказываются в тёмном состоянии </a:t>
            </a:r>
            <a:r>
              <a:rPr lang="en-US" dirty="0"/>
              <a:t>F = 1, </a:t>
            </a:r>
            <a:r>
              <a:rPr lang="ru-RU" dirty="0"/>
              <a:t>далее из этого тёмного состояния атомы перекачиваются в светлое с помощью перекачивающего излучения, и после чего вновь подсвечиваются резонансным излучением 2-3</a:t>
            </a:r>
            <a:r>
              <a:rPr lang="en-US" dirty="0"/>
              <a:t>’, </a:t>
            </a:r>
            <a:r>
              <a:rPr lang="ru-RU" dirty="0"/>
              <a:t>что позволяет получить полное количество атомов и произвести нормировку сигнала.</a:t>
            </a:r>
          </a:p>
        </p:txBody>
      </p:sp>
    </p:spTree>
    <p:extLst>
      <p:ext uri="{BB962C8B-B14F-4D97-AF65-F5344CB8AC3E}">
        <p14:creationId xmlns:p14="http://schemas.microsoft.com/office/powerpoint/2010/main" val="1629323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 xmlns:a16="http://schemas.microsoft.com/office/drawing/2014/main" id="{C0795E4E-07A3-0C68-A2F4-A4D330BBC3DD}"/>
              </a:ext>
            </a:extLst>
          </p:cNvPr>
          <p:cNvPicPr>
            <a:picLocks noChangeAspect="1"/>
          </p:cNvPicPr>
          <p:nvPr/>
        </p:nvPicPr>
        <p:blipFill>
          <a:blip r:embed="rId2"/>
          <a:srcRect l="6602" t="9063" r="5275" b="3240"/>
          <a:stretch/>
        </p:blipFill>
        <p:spPr>
          <a:xfrm>
            <a:off x="3742267" y="1326378"/>
            <a:ext cx="3562871" cy="3262555"/>
          </a:xfrm>
          <a:prstGeom prst="rect">
            <a:avLst/>
          </a:prstGeom>
        </p:spPr>
      </p:pic>
      <p:pic>
        <p:nvPicPr>
          <p:cNvPr id="5" name="Рисунок 4">
            <a:extLst>
              <a:ext uri="{FF2B5EF4-FFF2-40B4-BE49-F238E27FC236}">
                <a16:creationId xmlns="" xmlns:a16="http://schemas.microsoft.com/office/drawing/2014/main" id="{DE49EA7A-594C-4C5E-A996-39C565AC1A5B}"/>
              </a:ext>
            </a:extLst>
          </p:cNvPr>
          <p:cNvPicPr>
            <a:picLocks noChangeAspect="1"/>
          </p:cNvPicPr>
          <p:nvPr/>
        </p:nvPicPr>
        <p:blipFill>
          <a:blip r:embed="rId3"/>
          <a:srcRect l="6783" t="7199" r="3691" b="4753"/>
          <a:stretch/>
        </p:blipFill>
        <p:spPr>
          <a:xfrm>
            <a:off x="7305139" y="1176867"/>
            <a:ext cx="3286662" cy="3327400"/>
          </a:xfrm>
          <a:prstGeom prst="rect">
            <a:avLst/>
          </a:prstGeom>
        </p:spPr>
      </p:pic>
      <p:sp>
        <p:nvSpPr>
          <p:cNvPr id="2" name="Google Shape;438;p41">
            <a:extLst>
              <a:ext uri="{FF2B5EF4-FFF2-40B4-BE49-F238E27FC236}">
                <a16:creationId xmlns="" xmlns:a16="http://schemas.microsoft.com/office/drawing/2014/main" id="{3000FCD4-85EE-457A-83FB-C6C8399B520D}"/>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 xmlns:a16="http://schemas.microsoft.com/office/drawing/2014/main" id="{345B9989-4C10-432B-8594-3E58550995F7}"/>
              </a:ext>
            </a:extLst>
          </p:cNvPr>
          <p:cNvSpPr txBox="1"/>
          <p:nvPr/>
        </p:nvSpPr>
        <p:spPr>
          <a:xfrm>
            <a:off x="11681926" y="6408575"/>
            <a:ext cx="510074" cy="307777"/>
          </a:xfrm>
          <a:prstGeom prst="rect">
            <a:avLst/>
          </a:prstGeom>
          <a:noFill/>
        </p:spPr>
        <p:txBody>
          <a:bodyPr wrap="square" rtlCol="0">
            <a:spAutoFit/>
          </a:bodyPr>
          <a:lstStyle/>
          <a:p>
            <a:r>
              <a:rPr lang="ru-RU" dirty="0"/>
              <a:t>11</a:t>
            </a:r>
            <a:endParaRPr lang="en-US" dirty="0"/>
          </a:p>
        </p:txBody>
      </p:sp>
      <p:sp>
        <p:nvSpPr>
          <p:cNvPr id="19" name="TextBox 18">
            <a:extLst>
              <a:ext uri="{FF2B5EF4-FFF2-40B4-BE49-F238E27FC236}">
                <a16:creationId xmlns="" xmlns:a16="http://schemas.microsoft.com/office/drawing/2014/main" id="{E9968B14-1908-46A4-93D4-2D88AF236BC1}"/>
              </a:ext>
            </a:extLst>
          </p:cNvPr>
          <p:cNvSpPr txBox="1"/>
          <p:nvPr/>
        </p:nvSpPr>
        <p:spPr>
          <a:xfrm>
            <a:off x="2679108" y="4738444"/>
            <a:ext cx="8486149" cy="738664"/>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Сигнал атомной интерференции, полученный при сканировании скорости чирпирования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слева</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зависимость стандартного отклонения </a:t>
            </a:r>
            <a:r>
              <a:rPr lang="ru-RU" dirty="0" err="1">
                <a:latin typeface="Times New Roman" panose="02020603050405020304" pitchFamily="18" charset="0"/>
                <a:cs typeface="Times New Roman" panose="02020603050405020304" pitchFamily="18" charset="0"/>
              </a:rPr>
              <a:t>σ</a:t>
            </a:r>
            <a:r>
              <a:rPr lang="ru-RU" baseline="-25000" dirty="0" err="1">
                <a:latin typeface="Times New Roman" panose="02020603050405020304" pitchFamily="18" charset="0"/>
                <a:cs typeface="Times New Roman" panose="02020603050405020304" pitchFamily="18" charset="0"/>
              </a:rPr>
              <a:t>g</a:t>
            </a:r>
            <a:r>
              <a:rPr lang="ru-RU" dirty="0">
                <a:latin typeface="Times New Roman" panose="02020603050405020304" pitchFamily="18" charset="0"/>
                <a:cs typeface="Times New Roman" panose="02020603050405020304" pitchFamily="18" charset="0"/>
              </a:rPr>
              <a:t> измерений</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гравитационного ускорения от времени усреднения (справа).</a:t>
            </a:r>
            <a:endParaRPr 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 xmlns:a16="http://schemas.microsoft.com/office/drawing/2014/main" id="{21842DF5-87AF-4AFA-A45C-0EC2908FA86D}"/>
                  </a:ext>
                </a:extLst>
              </p:cNvPr>
              <p:cNvSpPr txBox="1"/>
              <p:nvPr/>
            </p:nvSpPr>
            <p:spPr>
              <a:xfrm>
                <a:off x="1132724" y="2969700"/>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0" name="TextBox 19">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1132724" y="2969700"/>
                <a:ext cx="2050754" cy="626325"/>
              </a:xfrm>
              <a:prstGeom prst="rect">
                <a:avLst/>
              </a:prstGeom>
              <a:blipFill>
                <a:blip r:embed="rId4"/>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 xmlns:a16="http://schemas.microsoft.com/office/drawing/2014/main" id="{65E1332E-B1D6-4008-82C1-20AC426FB8D6}"/>
                  </a:ext>
                </a:extLst>
              </p:cNvPr>
              <p:cNvSpPr txBox="1"/>
              <p:nvPr/>
            </p:nvSpPr>
            <p:spPr>
              <a:xfrm>
                <a:off x="784513" y="2094241"/>
                <a:ext cx="2647969" cy="397096"/>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21" name="TextBox 20">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784513" y="2094241"/>
                <a:ext cx="2647969" cy="397096"/>
              </a:xfrm>
              <a:prstGeom prst="rect">
                <a:avLst/>
              </a:prstGeom>
              <a:blipFill>
                <a:blip r:embed="rId5"/>
                <a:stretch>
                  <a:fillRect b="-4286"/>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341804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29B5F04-FCBC-5209-434E-27F2C7DED54B}"/>
              </a:ext>
            </a:extLst>
          </p:cNvPr>
          <p:cNvSpPr txBox="1"/>
          <p:nvPr/>
        </p:nvSpPr>
        <p:spPr>
          <a:xfrm>
            <a:off x="3564467" y="1193800"/>
            <a:ext cx="5808133" cy="1169551"/>
          </a:xfrm>
          <a:prstGeom prst="rect">
            <a:avLst/>
          </a:prstGeom>
          <a:noFill/>
        </p:spPr>
        <p:txBody>
          <a:bodyPr wrap="square" rtlCol="0">
            <a:spAutoFit/>
          </a:bodyPr>
          <a:lstStyle/>
          <a:p>
            <a:r>
              <a:rPr lang="ru-RU" dirty="0"/>
              <a:t>На данном же слайде представлены результате регистрации сигнала атомного </a:t>
            </a:r>
            <a:r>
              <a:rPr lang="ru-RU" dirty="0" err="1"/>
              <a:t>интерферомтера</a:t>
            </a:r>
            <a:r>
              <a:rPr lang="ru-RU" dirty="0"/>
              <a:t>. Ранее чувствительность гравиметра составляла 38.5 </a:t>
            </a:r>
            <a:r>
              <a:rPr lang="ru-RU" dirty="0" err="1"/>
              <a:t>мГал</a:t>
            </a:r>
            <a:r>
              <a:rPr lang="en-US" dirty="0"/>
              <a:t>/</a:t>
            </a:r>
            <a:r>
              <a:rPr lang="ru-RU" dirty="0"/>
              <a:t>Гц</a:t>
            </a:r>
            <a:r>
              <a:rPr lang="en-US" dirty="0"/>
              <a:t>^1/2, </a:t>
            </a:r>
            <a:r>
              <a:rPr lang="ru-RU" dirty="0"/>
              <a:t>сейчас же, после внедрения в цикл оптической накачки и других процедур чувствительность выросла до 5.2 </a:t>
            </a:r>
            <a:r>
              <a:rPr lang="ru-RU" dirty="0" err="1"/>
              <a:t>мГал</a:t>
            </a:r>
            <a:r>
              <a:rPr lang="en-US" dirty="0"/>
              <a:t>/</a:t>
            </a:r>
            <a:r>
              <a:rPr lang="ru-RU" dirty="0"/>
              <a:t>Гц</a:t>
            </a:r>
            <a:r>
              <a:rPr lang="en-US" dirty="0"/>
              <a:t>^1/2</a:t>
            </a:r>
            <a:r>
              <a:rPr lang="ru-RU" dirty="0"/>
              <a:t> (правый рисунок).</a:t>
            </a:r>
          </a:p>
        </p:txBody>
      </p:sp>
    </p:spTree>
    <p:extLst>
      <p:ext uri="{BB962C8B-B14F-4D97-AF65-F5344CB8AC3E}">
        <p14:creationId xmlns:p14="http://schemas.microsoft.com/office/powerpoint/2010/main" val="1512807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3"/>
          <a:srcRect t="4191"/>
          <a:stretch/>
        </p:blipFill>
        <p:spPr>
          <a:xfrm>
            <a:off x="2313708" y="915605"/>
            <a:ext cx="911540" cy="2203764"/>
          </a:xfrm>
          <a:prstGeom prst="rect">
            <a:avLst/>
          </a:prstGeom>
        </p:spPr>
      </p:pic>
      <p:pic>
        <p:nvPicPr>
          <p:cNvPr id="58" name="Рисунок 57">
            <a:extLst>
              <a:ext uri="{FF2B5EF4-FFF2-40B4-BE49-F238E27FC236}">
                <a16:creationId xmlns="" xmlns:a16="http://schemas.microsoft.com/office/drawing/2014/main" id="{D6D133B6-FCC8-4C58-A203-3759379D37EE}"/>
              </a:ext>
            </a:extLst>
          </p:cNvPr>
          <p:cNvPicPr>
            <a:picLocks noChangeAspect="1"/>
          </p:cNvPicPr>
          <p:nvPr/>
        </p:nvPicPr>
        <p:blipFill rotWithShape="1">
          <a:blip r:embed="rId4"/>
          <a:srcRect l="9363" t="10044" r="6469" b="9599"/>
          <a:stretch/>
        </p:blipFill>
        <p:spPr>
          <a:xfrm>
            <a:off x="8345660" y="1143528"/>
            <a:ext cx="3263240" cy="2355310"/>
          </a:xfrm>
          <a:prstGeom prst="rect">
            <a:avLst/>
          </a:prstGeom>
        </p:spPr>
      </p:pic>
      <p:sp>
        <p:nvSpPr>
          <p:cNvPr id="2" name="Google Shape;136;p21">
            <a:extLst>
              <a:ext uri="{FF2B5EF4-FFF2-40B4-BE49-F238E27FC236}">
                <a16:creationId xmlns=""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Влияние вибрационных возмущений</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 xmlns:a16="http://schemas.microsoft.com/office/drawing/2014/main" id="{53A8042C-E52E-4288-B49A-5DABBD83A1A0}"/>
              </a:ext>
            </a:extLst>
          </p:cNvPr>
          <p:cNvSpPr txBox="1"/>
          <p:nvPr/>
        </p:nvSpPr>
        <p:spPr>
          <a:xfrm>
            <a:off x="1633025" y="4793634"/>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A5F76187-A348-4512-AFBD-6EA014B794F8}"/>
                  </a:ext>
                </a:extLst>
              </p:cNvPr>
              <p:cNvSpPr txBox="1"/>
              <p:nvPr/>
            </p:nvSpPr>
            <p:spPr>
              <a:xfrm>
                <a:off x="2361163" y="5213896"/>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2361163" y="5213896"/>
                <a:ext cx="3198953" cy="363241"/>
              </a:xfrm>
              <a:prstGeom prst="rect">
                <a:avLst/>
              </a:prstGeom>
              <a:blipFill rotWithShape="0">
                <a:blip r:embed="rId5"/>
                <a:stretch>
                  <a:fillRect b="-5000"/>
                </a:stretch>
              </a:blipFill>
              <a:ln w="28575">
                <a:noFill/>
              </a:ln>
            </p:spPr>
            <p:txBody>
              <a:bodyPr/>
              <a:lstStyle/>
              <a:p>
                <a:r>
                  <a:rPr lang="ru-RU">
                    <a:noFill/>
                  </a:rPr>
                  <a:t> </a:t>
                </a:r>
              </a:p>
            </p:txBody>
          </p:sp>
        </mc:Fallback>
      </mc:AlternateContent>
      <p:sp>
        <p:nvSpPr>
          <p:cNvPr id="16" name="TextBox 15"/>
          <p:cNvSpPr txBox="1"/>
          <p:nvPr/>
        </p:nvSpPr>
        <p:spPr>
          <a:xfrm>
            <a:off x="2232454" y="5630107"/>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a:t>
            </a:r>
            <a:r>
              <a:rPr lang="ru-RU" sz="1600" b="1"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эффективное волновое число,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20" name="Google Shape;139;p21">
            <a:extLst>
              <a:ext uri="{FF2B5EF4-FFF2-40B4-BE49-F238E27FC236}">
                <a16:creationId xmlns="" xmlns:a16="http://schemas.microsoft.com/office/drawing/2014/main" id="{B7A8C424-1497-4145-B7C5-C8EA445193E9}"/>
              </a:ext>
            </a:extLst>
          </p:cNvPr>
          <p:cNvSpPr txBox="1"/>
          <p:nvPr/>
        </p:nvSpPr>
        <p:spPr>
          <a:xfrm>
            <a:off x="901476" y="4182229"/>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12</a:t>
            </a:r>
          </a:p>
        </p:txBody>
      </p:sp>
      <p:pic>
        <p:nvPicPr>
          <p:cNvPr id="6" name="Рисунок 5">
            <a:extLst>
              <a:ext uri="{FF2B5EF4-FFF2-40B4-BE49-F238E27FC236}">
                <a16:creationId xmlns="" xmlns:a16="http://schemas.microsoft.com/office/drawing/2014/main" id="{A6D079D9-E0B6-4B34-9A4C-E1FEA0DE6010}"/>
              </a:ext>
            </a:extLst>
          </p:cNvPr>
          <p:cNvPicPr>
            <a:picLocks noChangeAspect="1"/>
          </p:cNvPicPr>
          <p:nvPr/>
        </p:nvPicPr>
        <p:blipFill rotWithShape="1">
          <a:blip r:embed="rId6"/>
          <a:srcRect l="5614" t="4947" r="2762" b="4591"/>
          <a:stretch/>
        </p:blipFill>
        <p:spPr>
          <a:xfrm>
            <a:off x="4180898" y="1022063"/>
            <a:ext cx="3602192" cy="2503445"/>
          </a:xfrm>
          <a:prstGeom prst="rect">
            <a:avLst/>
          </a:prstGeom>
        </p:spPr>
      </p:pic>
      <p:sp>
        <p:nvSpPr>
          <p:cNvPr id="13" name="TextBox 12">
            <a:extLst>
              <a:ext uri="{FF2B5EF4-FFF2-40B4-BE49-F238E27FC236}">
                <a16:creationId xmlns=""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 xmlns:a16="http://schemas.microsoft.com/office/drawing/2014/main" id="{21842DF5-87AF-4AFA-A45C-0EC2908FA86D}"/>
                  </a:ext>
                </a:extLst>
              </p:cNvPr>
              <p:cNvSpPr txBox="1"/>
              <p:nvPr/>
            </p:nvSpPr>
            <p:spPr>
              <a:xfrm>
                <a:off x="9024213" y="3532336"/>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2" name="TextBox 21">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9024213" y="3532336"/>
                <a:ext cx="2050754" cy="626325"/>
              </a:xfrm>
              <a:prstGeom prst="rect">
                <a:avLst/>
              </a:prstGeom>
              <a:blipFill rotWithShape="0">
                <a:blip r:embed="rId9"/>
                <a:stretch>
                  <a:fillRect/>
                </a:stretch>
              </a:blipFill>
              <a:ln w="28575">
                <a:solidFill>
                  <a:srgbClr val="FF0000"/>
                </a:solidFill>
              </a:ln>
            </p:spPr>
            <p:txBody>
              <a:bodyPr/>
              <a:lstStyle/>
              <a:p>
                <a:r>
                  <a:rPr lang="ru-RU">
                    <a:noFill/>
                  </a:rPr>
                  <a:t> </a:t>
                </a:r>
              </a:p>
            </p:txBody>
          </p:sp>
        </mc:Fallback>
      </mc:AlternateContent>
      <p:sp>
        <p:nvSpPr>
          <p:cNvPr id="18" name="TextBox 17">
            <a:extLst>
              <a:ext uri="{FF2B5EF4-FFF2-40B4-BE49-F238E27FC236}">
                <a16:creationId xmlns="" xmlns:a16="http://schemas.microsoft.com/office/drawing/2014/main" id="{53A8042C-E52E-4288-B49A-5DABBD83A1A0}"/>
              </a:ext>
            </a:extLst>
          </p:cNvPr>
          <p:cNvSpPr txBox="1"/>
          <p:nvPr/>
        </p:nvSpPr>
        <p:spPr>
          <a:xfrm>
            <a:off x="8198288" y="4793634"/>
            <a:ext cx="4928664" cy="338554"/>
          </a:xfrm>
          <a:prstGeom prst="rect">
            <a:avLst/>
          </a:prstGeom>
          <a:noFill/>
        </p:spPr>
        <p:txBody>
          <a:bodyPr wrap="square" rtlCol="0">
            <a:spAutoFit/>
          </a:bodyPr>
          <a:lstStyle/>
          <a:p>
            <a:pPr indent="216000"/>
            <a:r>
              <a:rPr lang="ru-RU" sz="1600" b="1" dirty="0" smtClean="0">
                <a:latin typeface="Times New Roman" panose="02020603050405020304" pitchFamily="18" charset="0"/>
                <a:cs typeface="Times New Roman" panose="02020603050405020304" pitchFamily="18" charset="0"/>
              </a:rPr>
              <a:t>Нахождение </a:t>
            </a:r>
            <a:r>
              <a:rPr lang="ru-RU" sz="1600" b="1" dirty="0" err="1" smtClean="0">
                <a:latin typeface="Times New Roman" panose="02020603050405020304" pitchFamily="18" charset="0"/>
                <a:cs typeface="Times New Roman" panose="02020603050405020304" pitchFamily="18" charset="0"/>
              </a:rPr>
              <a:t>Ф</a:t>
            </a:r>
            <a:r>
              <a:rPr lang="ru-RU" sz="1600" b="1" baseline="-25000" dirty="0" err="1" smtClean="0">
                <a:latin typeface="Times New Roman" panose="02020603050405020304" pitchFamily="18" charset="0"/>
                <a:cs typeface="Times New Roman" panose="02020603050405020304" pitchFamily="18" charset="0"/>
              </a:rPr>
              <a:t>виб</a:t>
            </a:r>
            <a:r>
              <a:rPr lang="en-US" sz="1600" b="1" dirty="0" smtClean="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 xmlns:a16="http://schemas.microsoft.com/office/drawing/2014/main" id="{656B4533-F1DA-4E4E-8C53-BCC6CEFB8E14}"/>
                  </a:ext>
                </a:extLst>
              </p:cNvPr>
              <p:cNvSpPr txBox="1"/>
              <p:nvPr/>
            </p:nvSpPr>
            <p:spPr>
              <a:xfrm>
                <a:off x="8090657" y="5158858"/>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p:sp>
            <p:nvSpPr>
              <p:cNvPr id="19" name="TextBox 18">
                <a:extLst>
                  <a:ext uri="{FF2B5EF4-FFF2-40B4-BE49-F238E27FC236}">
                    <a16:creationId xmlns="" xmlns:a16="http://schemas.microsoft.com/office/drawing/2014/main" xmlns:a14="http://schemas.microsoft.com/office/drawing/2010/main" id="{656B4533-F1DA-4E4E-8C53-BCC6CEFB8E14}"/>
                  </a:ext>
                </a:extLst>
              </p:cNvPr>
              <p:cNvSpPr txBox="1">
                <a:spLocks noRot="1" noChangeAspect="1" noMove="1" noResize="1" noEditPoints="1" noAdjustHandles="1" noChangeArrowheads="1" noChangeShapeType="1" noTextEdit="1"/>
              </p:cNvSpPr>
              <p:nvPr/>
            </p:nvSpPr>
            <p:spPr>
              <a:xfrm>
                <a:off x="8090657" y="5158858"/>
                <a:ext cx="3269005" cy="334515"/>
              </a:xfrm>
              <a:prstGeom prst="rect">
                <a:avLst/>
              </a:prstGeom>
              <a:blipFill rotWithShape="0">
                <a:blip r:embed="rId10"/>
                <a:stretch>
                  <a:fillRect l="-2239" t="-140000" b="-220000"/>
                </a:stretch>
              </a:blipFill>
              <a:ln w="19050">
                <a:noFill/>
              </a:ln>
            </p:spPr>
            <p:txBody>
              <a:bodyPr/>
              <a:lstStyle/>
              <a:p>
                <a:r>
                  <a:rPr lang="ru-RU">
                    <a:noFill/>
                  </a:rPr>
                  <a:t> </a:t>
                </a:r>
              </a:p>
            </p:txBody>
          </p:sp>
        </mc:Fallback>
      </mc:AlternateContent>
      <p:sp>
        <p:nvSpPr>
          <p:cNvPr id="21" name="TextBox 20">
            <a:extLst>
              <a:ext uri="{FF2B5EF4-FFF2-40B4-BE49-F238E27FC236}">
                <a16:creationId xmlns="" xmlns:a16="http://schemas.microsoft.com/office/drawing/2014/main" id="{E0F4C38C-6509-4CBE-B2EB-9C3DBDE6CBCF}"/>
              </a:ext>
            </a:extLst>
          </p:cNvPr>
          <p:cNvSpPr txBox="1"/>
          <p:nvPr/>
        </p:nvSpPr>
        <p:spPr>
          <a:xfrm>
            <a:off x="7375737" y="5630107"/>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smtClean="0">
                <a:latin typeface="Times New Roman" panose="02020603050405020304" pitchFamily="18" charset="0"/>
                <a:cs typeface="Times New Roman" panose="02020603050405020304" pitchFamily="18" charset="0"/>
              </a:rPr>
              <a:t>T</a:t>
            </a:r>
            <a:r>
              <a:rPr lang="ru-RU" sz="1600" baseline="-25000" dirty="0" err="1" smtClean="0">
                <a:latin typeface="Times New Roman" panose="02020603050405020304" pitchFamily="18" charset="0"/>
                <a:cs typeface="Times New Roman" panose="02020603050405020304" pitchFamily="18" charset="0"/>
              </a:rPr>
              <a:t>инт</a:t>
            </a:r>
            <a:r>
              <a:rPr lang="ru-RU" sz="1600" dirty="0" smtClean="0">
                <a:latin typeface="Times New Roman" panose="02020603050405020304" pitchFamily="18" charset="0"/>
                <a:cs typeface="Times New Roman" panose="02020603050405020304" pitchFamily="18" charset="0"/>
              </a:rPr>
              <a:t> – время атомной интерференции</a:t>
            </a:r>
            <a:r>
              <a:rPr lang="ru-RU"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3660272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847AD4A-9428-117F-629B-822110272D8B}"/>
              </a:ext>
            </a:extLst>
          </p:cNvPr>
          <p:cNvSpPr txBox="1"/>
          <p:nvPr/>
        </p:nvSpPr>
        <p:spPr>
          <a:xfrm>
            <a:off x="2540000" y="677333"/>
            <a:ext cx="6409267" cy="4616648"/>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Для начала немного теории. Как уже было рассказано ранее, населённость состояний атомов после атомной интерференции зависит от разности фаз между плечами интерферометра (б). Однако на разность фаз также могут оказывать различные шумы. Наибольшее влияние имеет вибрационный шум, который возникает из-за колебания зеркала, использующегося для создания встречных </a:t>
            </a:r>
            <a:r>
              <a:rPr lang="ru-RU" dirty="0" err="1"/>
              <a:t>рамановских</a:t>
            </a:r>
            <a:r>
              <a:rPr lang="ru-RU" dirty="0"/>
              <a:t> </a:t>
            </a:r>
            <a:r>
              <a:rPr lang="ru-RU" dirty="0" smtClean="0"/>
              <a:t>пучков (а). </a:t>
            </a:r>
            <a:r>
              <a:rPr lang="ru-RU" dirty="0"/>
              <a:t>При смещение зеркала на величину </a:t>
            </a:r>
            <a:r>
              <a:rPr lang="en-US" dirty="0" err="1"/>
              <a:t>dz</a:t>
            </a:r>
            <a:r>
              <a:rPr lang="en-US" dirty="0"/>
              <a:t> </a:t>
            </a:r>
            <a:r>
              <a:rPr lang="ru-RU" dirty="0"/>
              <a:t>набег фазы </a:t>
            </a:r>
            <a:r>
              <a:rPr lang="ru-RU" dirty="0" err="1"/>
              <a:t>рамановское</a:t>
            </a:r>
            <a:r>
              <a:rPr lang="ru-RU" dirty="0"/>
              <a:t> излучение </a:t>
            </a:r>
            <a:r>
              <a:rPr lang="en-US" dirty="0" err="1"/>
              <a:t>dphi</a:t>
            </a:r>
            <a:r>
              <a:rPr lang="en-US" dirty="0"/>
              <a:t> </a:t>
            </a:r>
            <a:r>
              <a:rPr lang="ru-RU" dirty="0"/>
              <a:t>составляет </a:t>
            </a:r>
            <a:r>
              <a:rPr lang="en-US" dirty="0" err="1"/>
              <a:t>keffdz</a:t>
            </a:r>
            <a:r>
              <a:rPr lang="en-US" dirty="0"/>
              <a:t>, </a:t>
            </a:r>
            <a:r>
              <a:rPr lang="ru-RU" dirty="0"/>
              <a:t>и по итогу </a:t>
            </a:r>
            <a:r>
              <a:rPr lang="ru-RU" dirty="0" smtClean="0"/>
              <a:t>полный </a:t>
            </a:r>
            <a:r>
              <a:rPr lang="ru-RU" dirty="0"/>
              <a:t>набега фазы за </a:t>
            </a:r>
            <a:r>
              <a:rPr lang="ru-RU" dirty="0" smtClean="0"/>
              <a:t>весь </a:t>
            </a:r>
            <a:r>
              <a:rPr lang="ru-RU" dirty="0"/>
              <a:t>процесс атомной интерференции приводит к появлению </a:t>
            </a:r>
            <a:r>
              <a:rPr lang="ru-RU" dirty="0" smtClean="0"/>
              <a:t>дополнительного слагаемого – </a:t>
            </a:r>
            <a:r>
              <a:rPr lang="ru-RU" dirty="0"/>
              <a:t>вибрационной фазы в полную разность фаз дельта Ф.</a:t>
            </a:r>
          </a:p>
          <a:p>
            <a:endParaRPr lang="ru-RU" dirty="0"/>
          </a:p>
          <a:p>
            <a:r>
              <a:rPr lang="ru-RU" dirty="0"/>
              <a:t>В</a:t>
            </a:r>
            <a:r>
              <a:rPr lang="ru-RU" dirty="0" smtClean="0"/>
              <a:t>ибрационная </a:t>
            </a:r>
            <a:r>
              <a:rPr lang="ru-RU" dirty="0"/>
              <a:t>фаза приводит к сдвигу точки вдоль оси альфа на интерференционной </a:t>
            </a:r>
            <a:r>
              <a:rPr lang="ru-RU" dirty="0" smtClean="0"/>
              <a:t>картине (в).</a:t>
            </a:r>
            <a:endParaRPr lang="ru-RU" dirty="0"/>
          </a:p>
          <a:p>
            <a:endParaRPr lang="ru-RU" dirty="0"/>
          </a:p>
          <a:p>
            <a:r>
              <a:rPr lang="ru-RU" dirty="0"/>
              <a:t>Данный сдвиг можно скомпенсировать, </a:t>
            </a:r>
            <a:r>
              <a:rPr lang="ru-RU" dirty="0" smtClean="0"/>
              <a:t>если знать величину </a:t>
            </a:r>
            <a:r>
              <a:rPr lang="ru-RU" dirty="0" err="1" smtClean="0"/>
              <a:t>Фвиб</a:t>
            </a:r>
            <a:r>
              <a:rPr lang="ru-RU" dirty="0" smtClean="0"/>
              <a:t>. </a:t>
            </a:r>
            <a:r>
              <a:rPr lang="ru-RU" dirty="0" smtClean="0"/>
              <a:t>Один из способов нахождения </a:t>
            </a:r>
            <a:r>
              <a:rPr lang="ru-RU" dirty="0" err="1" smtClean="0"/>
              <a:t>Фвиб</a:t>
            </a:r>
            <a:r>
              <a:rPr lang="ru-RU" dirty="0" smtClean="0"/>
              <a:t> – по информации об ускорении зеркала на протяжении всей атомной интерференции, нужно вычислить следующий интеграл, в нём также присутствует известная функция чувствительности гравиметра </a:t>
            </a:r>
            <a:r>
              <a:rPr lang="en-US" dirty="0" err="1" smtClean="0"/>
              <a:t>ga</a:t>
            </a:r>
            <a:r>
              <a:rPr lang="en-US" dirty="0" smtClean="0"/>
              <a:t>(t).</a:t>
            </a:r>
            <a:endParaRPr lang="ru-RU" dirty="0"/>
          </a:p>
        </p:txBody>
      </p:sp>
    </p:spTree>
    <p:extLst>
      <p:ext uri="{BB962C8B-B14F-4D97-AF65-F5344CB8AC3E}">
        <p14:creationId xmlns:p14="http://schemas.microsoft.com/office/powerpoint/2010/main" val="3662371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6;p21">
            <a:extLst>
              <a:ext uri="{FF2B5EF4-FFF2-40B4-BE49-F238E27FC236}">
                <a16:creationId xmlns="" xmlns:a16="http://schemas.microsoft.com/office/drawing/2014/main" id="{C92AC4AA-0032-4615-96ED-9EC44976FD96}"/>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Нахождение вибрационной фазы</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656B4533-F1DA-4E4E-8C53-BCC6CEFB8E14}"/>
                  </a:ext>
                </a:extLst>
              </p:cNvPr>
              <p:cNvSpPr txBox="1"/>
              <p:nvPr/>
            </p:nvSpPr>
            <p:spPr>
              <a:xfrm>
                <a:off x="4652865" y="1764277"/>
                <a:ext cx="2886269"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𝑇</m:t>
                        </m:r>
                        <m:r>
                          <a:rPr lang="en-US" sz="1600" b="0" i="1" smtClean="0">
                            <a:latin typeface="Cambria Math" panose="02040503050406030204" pitchFamily="18" charset="0"/>
                            <a:ea typeface="Cambria Math" panose="02040503050406030204" pitchFamily="18" charset="0"/>
                          </a:rPr>
                          <m:t>+4</m:t>
                        </m:r>
                        <m:r>
                          <a:rPr lang="en-US" sz="1600" b="0" i="1" smtClean="0">
                            <a:latin typeface="Cambria Math" panose="02040503050406030204" pitchFamily="18" charset="0"/>
                            <a:ea typeface="Cambria Math" panose="02040503050406030204" pitchFamily="18" charset="0"/>
                          </a:rPr>
                          <m:t>𝜏</m:t>
                        </m:r>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3" name="TextBox 2">
                <a:extLst>
                  <a:ext uri="{FF2B5EF4-FFF2-40B4-BE49-F238E27FC236}">
                    <a16:creationId xmlns:a16="http://schemas.microsoft.com/office/drawing/2014/main" xmlns:a14="http://schemas.microsoft.com/office/drawing/2010/main" xmlns="" id="{656B4533-F1DA-4E4E-8C53-BCC6CEFB8E14}"/>
                  </a:ext>
                </a:extLst>
              </p:cNvPr>
              <p:cNvSpPr txBox="1">
                <a:spLocks noRot="1" noChangeAspect="1" noMove="1" noResize="1" noEditPoints="1" noAdjustHandles="1" noChangeArrowheads="1" noChangeShapeType="1" noTextEdit="1"/>
              </p:cNvSpPr>
              <p:nvPr/>
            </p:nvSpPr>
            <p:spPr>
              <a:xfrm>
                <a:off x="4652865" y="1764277"/>
                <a:ext cx="2886269" cy="334515"/>
              </a:xfrm>
              <a:prstGeom prst="rect">
                <a:avLst/>
              </a:prstGeom>
              <a:blipFill rotWithShape="0">
                <a:blip r:embed="rId2"/>
                <a:stretch>
                  <a:fillRect l="-2532" t="-140000" b="-220000"/>
                </a:stretch>
              </a:blipFill>
              <a:ln w="19050">
                <a:noFill/>
              </a:ln>
            </p:spPr>
            <p:txBody>
              <a:bodyPr/>
              <a:lstStyle/>
              <a:p>
                <a:r>
                  <a:rPr lang="ru-RU">
                    <a:noFill/>
                  </a:rPr>
                  <a:t> </a:t>
                </a:r>
              </a:p>
            </p:txBody>
          </p:sp>
        </mc:Fallback>
      </mc:AlternateContent>
      <p:sp>
        <p:nvSpPr>
          <p:cNvPr id="4" name="TextBox 3">
            <a:extLst>
              <a:ext uri="{FF2B5EF4-FFF2-40B4-BE49-F238E27FC236}">
                <a16:creationId xmlns="" xmlns:a16="http://schemas.microsoft.com/office/drawing/2014/main" id="{E0F4C38C-6509-4CBE-B2EB-9C3DBDE6CBCF}"/>
              </a:ext>
            </a:extLst>
          </p:cNvPr>
          <p:cNvSpPr txBox="1"/>
          <p:nvPr/>
        </p:nvSpPr>
        <p:spPr>
          <a:xfrm>
            <a:off x="3882829" y="2376082"/>
            <a:ext cx="5319787"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
        <p:nvSpPr>
          <p:cNvPr id="9" name="TextBox 8">
            <a:extLst>
              <a:ext uri="{FF2B5EF4-FFF2-40B4-BE49-F238E27FC236}">
                <a16:creationId xmlns="" xmlns:a16="http://schemas.microsoft.com/office/drawing/2014/main" id="{83934DD6-F1BA-4777-9BC3-0D3C76795A93}"/>
              </a:ext>
            </a:extLst>
          </p:cNvPr>
          <p:cNvSpPr txBox="1"/>
          <p:nvPr/>
        </p:nvSpPr>
        <p:spPr>
          <a:xfrm>
            <a:off x="11571298" y="6440400"/>
            <a:ext cx="510074" cy="307777"/>
          </a:xfrm>
          <a:prstGeom prst="rect">
            <a:avLst/>
          </a:prstGeom>
          <a:noFill/>
        </p:spPr>
        <p:txBody>
          <a:bodyPr wrap="square" rtlCol="0">
            <a:spAutoFit/>
          </a:bodyPr>
          <a:lstStyle/>
          <a:p>
            <a:r>
              <a:rPr lang="ru-RU" dirty="0"/>
              <a:t>13</a:t>
            </a:r>
          </a:p>
        </p:txBody>
      </p:sp>
    </p:spTree>
    <p:extLst>
      <p:ext uri="{BB962C8B-B14F-4D97-AF65-F5344CB8AC3E}">
        <p14:creationId xmlns:p14="http://schemas.microsoft.com/office/powerpoint/2010/main" val="1130015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A6E9181-8F73-0A66-6CA7-88A4257DDACC}"/>
              </a:ext>
            </a:extLst>
          </p:cNvPr>
          <p:cNvSpPr txBox="1"/>
          <p:nvPr/>
        </p:nvSpPr>
        <p:spPr>
          <a:xfrm>
            <a:off x="3666067" y="956733"/>
            <a:ext cx="4885266" cy="1169551"/>
          </a:xfrm>
          <a:prstGeom prst="rect">
            <a:avLst/>
          </a:prstGeom>
          <a:noFill/>
        </p:spPr>
        <p:txBody>
          <a:bodyPr wrap="square" rtlCol="0">
            <a:spAutoFit/>
          </a:bodyPr>
          <a:lstStyle/>
          <a:p>
            <a:r>
              <a:rPr lang="ru-RU" dirty="0"/>
              <a:t>Существую различные способы подсчёта величины вибрационный фазы. В данной работе для этого используется ускорение. Необходимо найти следующий интеграл. В нём содержится функция чувствительности квантового гравиметра, изображённая снизу.</a:t>
            </a:r>
          </a:p>
        </p:txBody>
      </p:sp>
    </p:spTree>
    <p:extLst>
      <p:ext uri="{BB962C8B-B14F-4D97-AF65-F5344CB8AC3E}">
        <p14:creationId xmlns:p14="http://schemas.microsoft.com/office/powerpoint/2010/main" val="3861522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3"/>
          <a:stretch>
            <a:fillRect/>
          </a:stretch>
        </p:blipFill>
        <p:spPr>
          <a:xfrm>
            <a:off x="82020" y="841777"/>
            <a:ext cx="3106388" cy="2634532"/>
          </a:xfrm>
          <a:prstGeom prst="rect">
            <a:avLst/>
          </a:prstGeom>
        </p:spPr>
      </p:pic>
      <p:sp>
        <p:nvSpPr>
          <p:cNvPr id="2" name="Google Shape;136;p21">
            <a:extLst>
              <a:ext uri="{FF2B5EF4-FFF2-40B4-BE49-F238E27FC236}">
                <a16:creationId xmlns="" xmlns:a16="http://schemas.microsoft.com/office/drawing/2014/main" id="{535A5357-A41F-4385-8B97-66DA938677B8}"/>
              </a:ext>
            </a:extLst>
          </p:cNvPr>
          <p:cNvSpPr/>
          <p:nvPr/>
        </p:nvSpPr>
        <p:spPr>
          <a:xfrm>
            <a:off x="729552" y="100772"/>
            <a:ext cx="10324114"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Экспериментальная система для нахождения вибрационной фазы</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 xmlns:a16="http://schemas.microsoft.com/office/drawing/2014/main" id="{9932C695-49B8-4572-9706-EB584FF3B2F0}"/>
              </a:ext>
            </a:extLst>
          </p:cNvPr>
          <p:cNvSpPr txBox="1"/>
          <p:nvPr/>
        </p:nvSpPr>
        <p:spPr>
          <a:xfrm>
            <a:off x="11591156" y="6446706"/>
            <a:ext cx="510074" cy="307777"/>
          </a:xfrm>
          <a:prstGeom prst="rect">
            <a:avLst/>
          </a:prstGeom>
          <a:noFill/>
        </p:spPr>
        <p:txBody>
          <a:bodyPr wrap="square" rtlCol="0">
            <a:spAutoFit/>
          </a:bodyPr>
          <a:lstStyle/>
          <a:p>
            <a:r>
              <a:rPr lang="ru-RU" dirty="0"/>
              <a:t>14</a:t>
            </a:r>
          </a:p>
        </p:txBody>
      </p:sp>
      <p:pic>
        <p:nvPicPr>
          <p:cNvPr id="50" name="Рисунок 49">
            <a:extLst>
              <a:ext uri="{FF2B5EF4-FFF2-40B4-BE49-F238E27FC236}">
                <a16:creationId xmlns="" xmlns:a16="http://schemas.microsoft.com/office/drawing/2014/main" id="{1B86CB88-0BFE-4864-B2EE-834FABF0D643}"/>
              </a:ext>
            </a:extLst>
          </p:cNvPr>
          <p:cNvPicPr>
            <a:picLocks noChangeAspect="1"/>
          </p:cNvPicPr>
          <p:nvPr/>
        </p:nvPicPr>
        <p:blipFill rotWithShape="1">
          <a:blip r:embed="rId4"/>
          <a:srcRect l="1367" t="2852" r="3812" b="3862"/>
          <a:stretch/>
        </p:blipFill>
        <p:spPr>
          <a:xfrm>
            <a:off x="3301392" y="841777"/>
            <a:ext cx="4076117" cy="2870818"/>
          </a:xfrm>
          <a:prstGeom prst="rect">
            <a:avLst/>
          </a:prstGeom>
        </p:spPr>
      </p:pic>
      <p:sp>
        <p:nvSpPr>
          <p:cNvPr id="51" name="Google Shape;139;p21">
            <a:extLst>
              <a:ext uri="{FF2B5EF4-FFF2-40B4-BE49-F238E27FC236}">
                <a16:creationId xmlns="" xmlns:a16="http://schemas.microsoft.com/office/drawing/2014/main" id="{DB31045B-64E8-4C95-921F-4E6125B3101B}"/>
              </a:ext>
            </a:extLst>
          </p:cNvPr>
          <p:cNvSpPr txBox="1"/>
          <p:nvPr/>
        </p:nvSpPr>
        <p:spPr>
          <a:xfrm>
            <a:off x="569997" y="3969653"/>
            <a:ext cx="11137700"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a:latin typeface="Times New Roman"/>
                <a:ea typeface="Times New Roman"/>
                <a:cs typeface="Times New Roman"/>
                <a:sym typeface="Times New Roman"/>
              </a:rPr>
              <a:t>; </a:t>
            </a:r>
            <a:r>
              <a:rPr lang="ru-RU" sz="1600" dirty="0" smtClean="0">
                <a:latin typeface="Times New Roman"/>
                <a:ea typeface="Times New Roman"/>
                <a:cs typeface="Times New Roman"/>
                <a:sym typeface="Times New Roman"/>
              </a:rPr>
              <a:t>Демонстрация подбора </a:t>
            </a:r>
            <a:r>
              <a:rPr lang="ru-RU" sz="1600" dirty="0">
                <a:latin typeface="Times New Roman"/>
                <a:ea typeface="Times New Roman"/>
                <a:cs typeface="Times New Roman"/>
                <a:sym typeface="Times New Roman"/>
              </a:rPr>
              <a:t>коэффициентов передаточной функции и демонстрация пост-коррекции интерференционного сигнала (в).</a:t>
            </a:r>
            <a:r>
              <a:rPr lang="en-US" sz="1600" dirty="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52" name="TextBox 51">
            <a:extLst>
              <a:ext uri="{FF2B5EF4-FFF2-40B4-BE49-F238E27FC236}">
                <a16:creationId xmlns="" xmlns:a16="http://schemas.microsoft.com/office/drawing/2014/main" id="{C123148B-D47B-4EE9-816D-57391A88CB09}"/>
              </a:ext>
            </a:extLst>
          </p:cNvPr>
          <p:cNvSpPr txBox="1"/>
          <p:nvPr/>
        </p:nvSpPr>
        <p:spPr>
          <a:xfrm>
            <a:off x="4972471" y="4799180"/>
            <a:ext cx="2468235"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Передаточная функция</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 xmlns:a16="http://schemas.microsoft.com/office/drawing/2014/main" id="{54F217A7-8A53-4051-B61A-46EE6B6E7593}"/>
                  </a:ext>
                </a:extLst>
              </p:cNvPr>
              <p:cNvSpPr txBox="1"/>
              <p:nvPr/>
            </p:nvSpPr>
            <p:spPr>
              <a:xfrm>
                <a:off x="5323286" y="5227086"/>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xmlns="">
          <p:sp>
            <p:nvSpPr>
              <p:cNvPr id="53" name="TextBox 52">
                <a:extLst>
                  <a:ext uri="{FF2B5EF4-FFF2-40B4-BE49-F238E27FC236}">
                    <a16:creationId xmlns:a16="http://schemas.microsoft.com/office/drawing/2014/main" xmlns:a14="http://schemas.microsoft.com/office/drawing/2010/main" xmlns="" id="{54F217A7-8A53-4051-B61A-46EE6B6E7593}"/>
                  </a:ext>
                </a:extLst>
              </p:cNvPr>
              <p:cNvSpPr txBox="1">
                <a:spLocks noRot="1" noChangeAspect="1" noMove="1" noResize="1" noEditPoints="1" noAdjustHandles="1" noChangeArrowheads="1" noChangeShapeType="1" noTextEdit="1"/>
              </p:cNvSpPr>
              <p:nvPr/>
            </p:nvSpPr>
            <p:spPr>
              <a:xfrm>
                <a:off x="5323286" y="5227086"/>
                <a:ext cx="1925142" cy="246221"/>
              </a:xfrm>
              <a:prstGeom prst="rect">
                <a:avLst/>
              </a:prstGeom>
              <a:blipFill rotWithShape="0">
                <a:blip r:embed="rId5"/>
                <a:stretch>
                  <a:fillRect l="-633" b="-7317"/>
                </a:stretch>
              </a:blipFill>
            </p:spPr>
            <p:txBody>
              <a:bodyPr/>
              <a:lstStyle/>
              <a:p>
                <a:r>
                  <a:rPr lang="ru-RU">
                    <a:noFill/>
                  </a:rPr>
                  <a:t> </a:t>
                </a:r>
              </a:p>
            </p:txBody>
          </p:sp>
        </mc:Fallback>
      </mc:AlternateContent>
      <p:sp>
        <p:nvSpPr>
          <p:cNvPr id="54" name="TextBox 53">
            <a:extLst>
              <a:ext uri="{FF2B5EF4-FFF2-40B4-BE49-F238E27FC236}">
                <a16:creationId xmlns="" xmlns:a16="http://schemas.microsoft.com/office/drawing/2014/main" id="{74EEC305-5116-49C6-A223-32088B9EBA3B}"/>
              </a:ext>
            </a:extLst>
          </p:cNvPr>
          <p:cNvSpPr txBox="1"/>
          <p:nvPr/>
        </p:nvSpPr>
        <p:spPr>
          <a:xfrm>
            <a:off x="4335977" y="5565733"/>
            <a:ext cx="4551914"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зеркала,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акселерометра,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r>
              <a:rPr lang="en-US" sz="1600" dirty="0">
                <a:latin typeface="Times New Roman" panose="02020603050405020304" pitchFamily="18" charset="0"/>
                <a:cs typeface="Times New Roman" panose="02020603050405020304" pitchFamily="18" charset="0"/>
              </a:rPr>
              <a:t>K –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p:pic>
        <p:nvPicPr>
          <p:cNvPr id="65" name="Рисунок 64">
            <a:extLst>
              <a:ext uri="{FF2B5EF4-FFF2-40B4-BE49-F238E27FC236}">
                <a16:creationId xmlns="" xmlns:a16="http://schemas.microsoft.com/office/drawing/2014/main" id="{03EAB47F-A127-4F36-9FC1-BDC6A329A7DF}"/>
              </a:ext>
            </a:extLst>
          </p:cNvPr>
          <p:cNvPicPr>
            <a:picLocks noChangeAspect="1"/>
          </p:cNvPicPr>
          <p:nvPr/>
        </p:nvPicPr>
        <p:blipFill rotWithShape="1">
          <a:blip r:embed="rId6"/>
          <a:srcRect l="1167" t="5015" r="1585" b="4990"/>
          <a:stretch/>
        </p:blipFill>
        <p:spPr>
          <a:xfrm>
            <a:off x="7402858" y="1389413"/>
            <a:ext cx="4788569" cy="1439260"/>
          </a:xfrm>
          <a:prstGeom prst="rect">
            <a:avLst/>
          </a:prstGeom>
        </p:spPr>
      </p:pic>
      <p:cxnSp>
        <p:nvCxnSpPr>
          <p:cNvPr id="67" name="Прямая со стрелкой 66">
            <a:extLst>
              <a:ext uri="{FF2B5EF4-FFF2-40B4-BE49-F238E27FC236}">
                <a16:creationId xmlns="" xmlns:a16="http://schemas.microsoft.com/office/drawing/2014/main" id="{95661207-FD7C-4B8C-81F6-BA9919077A58}"/>
              </a:ext>
            </a:extLst>
          </p:cNvPr>
          <p:cNvCxnSpPr>
            <a:cxnSpLocks/>
          </p:cNvCxnSpPr>
          <p:nvPr/>
        </p:nvCxnSpPr>
        <p:spPr>
          <a:xfrm>
            <a:off x="8540620" y="1376142"/>
            <a:ext cx="251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 xmlns:a16="http://schemas.microsoft.com/office/drawing/2014/main" id="{59144724-DE99-40F5-98CF-EB3900FD24E4}"/>
              </a:ext>
            </a:extLst>
          </p:cNvPr>
          <p:cNvSpPr txBox="1"/>
          <p:nvPr/>
        </p:nvSpPr>
        <p:spPr>
          <a:xfrm>
            <a:off x="7490493" y="997996"/>
            <a:ext cx="6574971" cy="338554"/>
          </a:xfrm>
          <a:prstGeom prst="rect">
            <a:avLst/>
          </a:prstGeom>
          <a:noFill/>
        </p:spPr>
        <p:txBody>
          <a:bodyPr wrap="square" rtlCol="0">
            <a:spAutoFit/>
          </a:bodyPr>
          <a:lstStyle/>
          <a:p>
            <a:r>
              <a:rPr lang="ru-RU" sz="1600" b="1" dirty="0" smtClean="0">
                <a:latin typeface="Times New Roman" panose="02020603050405020304" pitchFamily="18" charset="0"/>
                <a:cs typeface="Times New Roman" panose="02020603050405020304" pitchFamily="18" charset="0"/>
              </a:rPr>
              <a:t>Демонстрация подбора </a:t>
            </a:r>
            <a:r>
              <a:rPr lang="ru-RU"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K, </a:t>
            </a:r>
            <a:r>
              <a:rPr lang="el-GR" sz="1600" b="1" dirty="0">
                <a:latin typeface="Times New Roman" panose="02020603050405020304" pitchFamily="18" charset="0"/>
                <a:cs typeface="Times New Roman" panose="02020603050405020304" pitchFamily="18" charset="0"/>
              </a:rPr>
              <a:t>Δ</a:t>
            </a:r>
            <a:r>
              <a:rPr lang="en-US" sz="1600" b="1" dirty="0">
                <a:latin typeface="Times New Roman" panose="02020603050405020304" pitchFamily="18" charset="0"/>
                <a:cs typeface="Times New Roman" panose="02020603050405020304" pitchFamily="18" charset="0"/>
              </a:rPr>
              <a:t>t</a:t>
            </a:r>
            <a:r>
              <a:rPr lang="ru-RU" sz="1600" b="1" dirty="0">
                <a:latin typeface="Times New Roman" panose="02020603050405020304" pitchFamily="18" charset="0"/>
                <a:cs typeface="Times New Roman" panose="02020603050405020304" pitchFamily="18" charset="0"/>
              </a:rPr>
              <a:t>) и </a:t>
            </a:r>
            <a:r>
              <a:rPr lang="ru-RU" sz="1600" b="1" dirty="0" smtClean="0">
                <a:latin typeface="Times New Roman" panose="02020603050405020304" pitchFamily="18" charset="0"/>
                <a:cs typeface="Times New Roman" panose="02020603050405020304" pitchFamily="18" charset="0"/>
              </a:rPr>
              <a:t>пост-коррекции</a:t>
            </a:r>
            <a:endParaRPr lang="en-US" sz="1600"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 xmlns:a16="http://schemas.microsoft.com/office/drawing/2014/main" id="{C7485A22-BF4D-48AC-895F-DF74FD27014A}"/>
              </a:ext>
            </a:extLst>
          </p:cNvPr>
          <p:cNvSpPr txBox="1"/>
          <p:nvPr/>
        </p:nvSpPr>
        <p:spPr>
          <a:xfrm>
            <a:off x="2873322" y="544419"/>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 xmlns:a16="http://schemas.microsoft.com/office/drawing/2014/main" id="{3ADBD3C2-D191-4F54-98DB-3146E94F5266}"/>
              </a:ext>
            </a:extLst>
          </p:cNvPr>
          <p:cNvSpPr txBox="1"/>
          <p:nvPr/>
        </p:nvSpPr>
        <p:spPr>
          <a:xfrm>
            <a:off x="52086" y="54075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 xmlns:a16="http://schemas.microsoft.com/office/drawing/2014/main" id="{D4BEB926-DBF2-4E58-9E83-99A4A921468F}"/>
              </a:ext>
            </a:extLst>
          </p:cNvPr>
          <p:cNvSpPr txBox="1"/>
          <p:nvPr/>
        </p:nvSpPr>
        <p:spPr>
          <a:xfrm>
            <a:off x="7377509" y="53800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370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F889BD2-E7D3-251F-A842-50EA3344BB1D}"/>
              </a:ext>
            </a:extLst>
          </p:cNvPr>
          <p:cNvSpPr txBox="1"/>
          <p:nvPr/>
        </p:nvSpPr>
        <p:spPr>
          <a:xfrm>
            <a:off x="2840566" y="203200"/>
            <a:ext cx="6510867" cy="6340197"/>
          </a:xfrm>
          <a:prstGeom prst="rect">
            <a:avLst/>
          </a:prstGeom>
          <a:noFill/>
        </p:spPr>
        <p:txBody>
          <a:bodyPr wrap="square" rtlCol="0">
            <a:spAutoFit/>
          </a:bodyPr>
          <a:lstStyle/>
          <a:p>
            <a:r>
              <a:rPr lang="ru-RU" dirty="0"/>
              <a:t>На данном слайде изображена схема экспериментальной </a:t>
            </a:r>
            <a:r>
              <a:rPr lang="ru-RU" dirty="0" smtClean="0"/>
              <a:t>системы измерения </a:t>
            </a:r>
            <a:r>
              <a:rPr lang="ru-RU" dirty="0"/>
              <a:t>ускорения зеркала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триггерный сигнал совпадает с триггерным сигналом для первого </a:t>
            </a:r>
            <a:r>
              <a:rPr lang="ru-RU" dirty="0" err="1"/>
              <a:t>рамановского</a:t>
            </a:r>
            <a:r>
              <a:rPr lang="ru-RU" dirty="0"/>
              <a:t> импульса.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a:t>
            </a:r>
            <a:r>
              <a:rPr lang="ru-RU" dirty="0" smtClean="0"/>
              <a:t>Сигнал с акселерометра начинает записываться в момент прихода триггерного сигнала, который также является триггером запуска атомной интерференции. </a:t>
            </a:r>
            <a:r>
              <a:rPr lang="ru-RU" dirty="0"/>
              <a:t>С</a:t>
            </a:r>
            <a:r>
              <a:rPr lang="ru-RU" dirty="0" smtClean="0"/>
              <a:t>игнал акселерометра записывается во время атомной интерференции для использовани</a:t>
            </a:r>
            <a:r>
              <a:rPr lang="ru-RU" dirty="0" smtClean="0"/>
              <a:t>я при пост-коррекции.</a:t>
            </a:r>
            <a:endParaRPr lang="ru-RU" dirty="0" smtClean="0"/>
          </a:p>
          <a:p>
            <a:endParaRPr lang="ru-RU" dirty="0"/>
          </a:p>
          <a:p>
            <a:r>
              <a:rPr lang="ru-RU" dirty="0"/>
              <a:t>З</a:t>
            </a:r>
            <a:r>
              <a:rPr lang="ru-RU" dirty="0" smtClean="0"/>
              <a:t>еркало </a:t>
            </a:r>
            <a:r>
              <a:rPr lang="ru-RU" dirty="0"/>
              <a:t>и </a:t>
            </a:r>
            <a:r>
              <a:rPr lang="ru-RU" dirty="0" smtClean="0"/>
              <a:t>акселерометр стоят на одной платформе, </a:t>
            </a:r>
            <a:r>
              <a:rPr lang="ru-RU" dirty="0"/>
              <a:t>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a:t>
            </a:r>
            <a:r>
              <a:rPr lang="ru-RU" dirty="0" smtClean="0"/>
              <a:t>пост-коррекции сигнала атомной интерференции.</a:t>
            </a:r>
            <a:endParaRPr lang="ru-RU" dirty="0"/>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При этом вибрационная фаза зависит от коэффициентов передаточной функции. 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2"/>
          <a:srcRect l="2362" t="3902" r="217"/>
          <a:stretch/>
        </p:blipFill>
        <p:spPr>
          <a:xfrm>
            <a:off x="1011116" y="493976"/>
            <a:ext cx="9715500" cy="4018341"/>
          </a:xfrm>
          <a:prstGeom prst="rect">
            <a:avLst/>
          </a:prstGeom>
        </p:spPr>
      </p:pic>
      <p:sp>
        <p:nvSpPr>
          <p:cNvPr id="2" name="Google Shape;438;p41">
            <a:extLst>
              <a:ext uri="{FF2B5EF4-FFF2-40B4-BE49-F238E27FC236}">
                <a16:creationId xmlns="" xmlns:a16="http://schemas.microsoft.com/office/drawing/2014/main" id="{FD46C5F4-A971-4CA4-8EA1-62B295AC1E02}"/>
              </a:ext>
            </a:extLst>
          </p:cNvPr>
          <p:cNvSpPr/>
          <p:nvPr/>
        </p:nvSpPr>
        <p:spPr>
          <a:xfrm>
            <a:off x="1742753" y="74058"/>
            <a:ext cx="9169087"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Результаты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 xmlns:a16="http://schemas.microsoft.com/office/drawing/2014/main" id="{7CFBBB85-1DFE-4038-BF35-8451EAA57176}"/>
              </a:ext>
            </a:extLst>
          </p:cNvPr>
          <p:cNvSpPr txBox="1"/>
          <p:nvPr/>
        </p:nvSpPr>
        <p:spPr>
          <a:xfrm>
            <a:off x="394898" y="4553232"/>
            <a:ext cx="11370995" cy="338554"/>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 Интерференционная картина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15</a:t>
            </a:r>
          </a:p>
        </p:txBody>
      </p:sp>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7F9714C1-0278-418E-9C5E-8C01C702F211}"/>
                  </a:ext>
                </a:extLst>
              </p:cNvPr>
              <p:cNvSpPr txBox="1"/>
              <p:nvPr/>
            </p:nvSpPr>
            <p:spPr>
              <a:xfrm>
                <a:off x="7994239" y="5336377"/>
                <a:ext cx="1832425"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𝑔𝑒</m:t>
                          </m:r>
                        </m:sub>
                      </m:sSub>
                      <m:r>
                        <a:rPr lang="en-US" sz="1600" b="0" i="1" smtClean="0">
                          <a:latin typeface="Cambria Math" panose="02040503050406030204" pitchFamily="18" charset="0"/>
                        </a:rPr>
                        <m:t>=21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7" name="TextBox 6">
                <a:extLst>
                  <a:ext uri="{FF2B5EF4-FFF2-40B4-BE49-F238E27FC236}">
                    <a16:creationId xmlns:a16="http://schemas.microsoft.com/office/drawing/2014/main" xmlns:a14="http://schemas.microsoft.com/office/drawing/2010/main" xmlns="" id="{7F9714C1-0278-418E-9C5E-8C01C702F211}"/>
                  </a:ext>
                </a:extLst>
              </p:cNvPr>
              <p:cNvSpPr txBox="1">
                <a:spLocks noRot="1" noChangeAspect="1" noMove="1" noResize="1" noEditPoints="1" noAdjustHandles="1" noChangeArrowheads="1" noChangeShapeType="1" noTextEdit="1"/>
              </p:cNvSpPr>
              <p:nvPr/>
            </p:nvSpPr>
            <p:spPr>
              <a:xfrm>
                <a:off x="7994239" y="5336377"/>
                <a:ext cx="1832425" cy="307585"/>
              </a:xfrm>
              <a:prstGeom prst="rect">
                <a:avLst/>
              </a:prstGeom>
              <a:blipFill rotWithShape="0">
                <a:blip r:embed="rId3"/>
                <a:stretch>
                  <a:fillRect l="-332" r="-299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AF027379-30AF-49FA-9C6A-2DC113651CF2}"/>
                  </a:ext>
                </a:extLst>
              </p:cNvPr>
              <p:cNvSpPr txBox="1"/>
              <p:nvPr/>
            </p:nvSpPr>
            <p:spPr>
              <a:xfrm>
                <a:off x="7994238" y="5707035"/>
                <a:ext cx="1842492"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𝑔𝑝</m:t>
                          </m:r>
                        </m:sub>
                      </m:sSub>
                      <m:r>
                        <a:rPr lang="en-US" sz="1600" b="0" i="1" smtClean="0">
                          <a:latin typeface="Cambria Math" panose="02040503050406030204" pitchFamily="18" charset="0"/>
                        </a:rPr>
                        <m:t>=10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8" name="TextBox 7">
                <a:extLst>
                  <a:ext uri="{FF2B5EF4-FFF2-40B4-BE49-F238E27FC236}">
                    <a16:creationId xmlns:a16="http://schemas.microsoft.com/office/drawing/2014/main" xmlns:a14="http://schemas.microsoft.com/office/drawing/2010/main" xmlns="" id="{AF027379-30AF-49FA-9C6A-2DC113651CF2}"/>
                  </a:ext>
                </a:extLst>
              </p:cNvPr>
              <p:cNvSpPr txBox="1">
                <a:spLocks noRot="1" noChangeAspect="1" noMove="1" noResize="1" noEditPoints="1" noAdjustHandles="1" noChangeArrowheads="1" noChangeShapeType="1" noTextEdit="1"/>
              </p:cNvSpPr>
              <p:nvPr/>
            </p:nvSpPr>
            <p:spPr>
              <a:xfrm>
                <a:off x="7994238" y="5707035"/>
                <a:ext cx="1842492" cy="307585"/>
              </a:xfrm>
              <a:prstGeom prst="rect">
                <a:avLst/>
              </a:prstGeom>
              <a:blipFill rotWithShape="0">
                <a:blip r:embed="rId4"/>
                <a:stretch>
                  <a:fillRect l="-330" r="-264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2067F7B2-4F17-4FA1-9BF5-0D4932780402}"/>
                  </a:ext>
                </a:extLst>
              </p:cNvPr>
              <p:cNvSpPr txBox="1"/>
              <p:nvPr/>
            </p:nvSpPr>
            <p:spPr>
              <a:xfrm>
                <a:off x="8541504" y="6087857"/>
                <a:ext cx="737894" cy="496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𝑔𝑒</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m:t>
                              </m:r>
                              <m:r>
                                <a:rPr lang="en-US" sz="1600" b="0" i="1" smtClean="0">
                                  <a:latin typeface="Cambria Math" panose="02040503050406030204" pitchFamily="18" charset="0"/>
                                </a:rPr>
                                <m:t>𝑝</m:t>
                              </m:r>
                            </m:sub>
                          </m:sSub>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2</m:t>
                      </m:r>
                    </m:oMath>
                  </m:oMathPara>
                </a14:m>
                <a:endParaRPr lang="ru-RU" sz="1600" dirty="0"/>
              </a:p>
            </p:txBody>
          </p:sp>
        </mc:Choice>
        <mc:Fallback xmlns="">
          <p:sp>
            <p:nvSpPr>
              <p:cNvPr id="9" name="TextBox 8">
                <a:extLst>
                  <a:ext uri="{FF2B5EF4-FFF2-40B4-BE49-F238E27FC236}">
                    <a16:creationId xmlns:a16="http://schemas.microsoft.com/office/drawing/2014/main" xmlns:a14="http://schemas.microsoft.com/office/drawing/2010/main" xmlns="" id="{2067F7B2-4F17-4FA1-9BF5-0D4932780402}"/>
                  </a:ext>
                </a:extLst>
              </p:cNvPr>
              <p:cNvSpPr txBox="1">
                <a:spLocks noRot="1" noChangeAspect="1" noMove="1" noResize="1" noEditPoints="1" noAdjustHandles="1" noChangeArrowheads="1" noChangeShapeType="1" noTextEdit="1"/>
              </p:cNvSpPr>
              <p:nvPr/>
            </p:nvSpPr>
            <p:spPr>
              <a:xfrm>
                <a:off x="8541504" y="6087857"/>
                <a:ext cx="737894" cy="496931"/>
              </a:xfrm>
              <a:prstGeom prst="rect">
                <a:avLst/>
              </a:prstGeom>
              <a:blipFill rotWithShape="0">
                <a:blip r:embed="rId5"/>
                <a:stretch>
                  <a:fillRect l="-2479" r="-4959" b="-11111"/>
                </a:stretch>
              </a:blipFill>
            </p:spPr>
            <p:txBody>
              <a:bodyPr/>
              <a:lstStyle/>
              <a:p>
                <a:r>
                  <a:rPr lang="ru-RU">
                    <a:noFill/>
                  </a:rPr>
                  <a:t> </a:t>
                </a:r>
              </a:p>
            </p:txBody>
          </p:sp>
        </mc:Fallback>
      </mc:AlternateContent>
      <p:sp>
        <p:nvSpPr>
          <p:cNvPr id="10" name="TextBox 9">
            <a:extLst>
              <a:ext uri="{FF2B5EF4-FFF2-40B4-BE49-F238E27FC236}">
                <a16:creationId xmlns="" xmlns:a16="http://schemas.microsoft.com/office/drawing/2014/main" id="{2137EB49-2938-48C8-976D-CD72A01DB3CB}"/>
              </a:ext>
            </a:extLst>
          </p:cNvPr>
          <p:cNvSpPr txBox="1"/>
          <p:nvPr/>
        </p:nvSpPr>
        <p:spPr>
          <a:xfrm>
            <a:off x="6327296" y="4965023"/>
            <a:ext cx="6392187"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Чувствительность гравиметра до и после пост-коррекции</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21842DF5-87AF-4AFA-A45C-0EC2908FA86D}"/>
                  </a:ext>
                </a:extLst>
              </p:cNvPr>
              <p:cNvSpPr txBox="1"/>
              <p:nvPr/>
            </p:nvSpPr>
            <p:spPr>
              <a:xfrm>
                <a:off x="2547231" y="5643962"/>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1" name="TextBox 10">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2547231" y="5643962"/>
                <a:ext cx="2050754" cy="626325"/>
              </a:xfrm>
              <a:prstGeom prst="rect">
                <a:avLst/>
              </a:prstGeom>
              <a:blipFill rotWithShape="0">
                <a:blip r:embed="rId6"/>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65E1332E-B1D6-4008-82C1-20AC426FB8D6}"/>
                  </a:ext>
                </a:extLst>
              </p:cNvPr>
              <p:cNvSpPr txBox="1"/>
              <p:nvPr/>
            </p:nvSpPr>
            <p:spPr>
              <a:xfrm>
                <a:off x="2234519" y="5060114"/>
                <a:ext cx="3171301"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xmlns="">
          <p:sp>
            <p:nvSpPr>
              <p:cNvPr id="12" name="TextBox 11">
                <a:extLst>
                  <a:ext uri="{FF2B5EF4-FFF2-40B4-BE49-F238E27FC236}">
                    <a16:creationId xmlns:a16="http://schemas.microsoft.com/office/drawing/2014/main" xmlns:a14="http://schemas.microsoft.com/office/drawing/2010/main" xmlns="" id="{65E1332E-B1D6-4008-82C1-20AC426FB8D6}"/>
                  </a:ext>
                </a:extLst>
              </p:cNvPr>
              <p:cNvSpPr txBox="1">
                <a:spLocks noRot="1" noChangeAspect="1" noMove="1" noResize="1" noEditPoints="1" noAdjustHandles="1" noChangeArrowheads="1" noChangeShapeType="1" noTextEdit="1"/>
              </p:cNvSpPr>
              <p:nvPr/>
            </p:nvSpPr>
            <p:spPr>
              <a:xfrm>
                <a:off x="2234519" y="5060114"/>
                <a:ext cx="3171301" cy="397096"/>
              </a:xfrm>
              <a:prstGeom prst="rect">
                <a:avLst/>
              </a:prstGeom>
              <a:blipFill rotWithShape="0">
                <a:blip r:embed="rId7"/>
                <a:stretch>
                  <a:fillRect t="-2857" b="-12857"/>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262087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15CB82D0-5C6A-372B-D636-A5E7643A4EDC}"/>
              </a:ext>
            </a:extLst>
          </p:cNvPr>
          <p:cNvSpPr txBox="1"/>
          <p:nvPr/>
        </p:nvSpPr>
        <p:spPr>
          <a:xfrm>
            <a:off x="2878667" y="1209244"/>
            <a:ext cx="5723466" cy="1815882"/>
          </a:xfrm>
          <a:prstGeom prst="rect">
            <a:avLst/>
          </a:prstGeom>
          <a:noFill/>
        </p:spPr>
        <p:txBody>
          <a:bodyPr wrap="square" rtlCol="0">
            <a:spAutoFit/>
          </a:bodyPr>
          <a:lstStyle/>
          <a:p>
            <a:r>
              <a:rPr lang="ru-RU" dirty="0"/>
              <a:t>На данном слайде показана результаты пост-коррекции сигнала атомной интерференции гравиметра работающего в условиях </a:t>
            </a:r>
            <a:r>
              <a:rPr lang="ru-RU" dirty="0" smtClean="0"/>
              <a:t>искусственно созданных </a:t>
            </a:r>
            <a:r>
              <a:rPr lang="ru-RU" dirty="0" smtClean="0"/>
              <a:t>сильных </a:t>
            </a:r>
            <a:r>
              <a:rPr lang="ru-RU" dirty="0"/>
              <a:t>вибраций. Сигнал до пост-коррекции – </a:t>
            </a:r>
            <a:r>
              <a:rPr lang="ru-RU" dirty="0" smtClean="0"/>
              <a:t>зелёный, </a:t>
            </a:r>
            <a:r>
              <a:rPr lang="ru-RU" dirty="0"/>
              <a:t>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a:t>
            </a:r>
            <a:r>
              <a:rPr lang="ru-RU" dirty="0" smtClean="0"/>
              <a:t>приблизительно в 2 </a:t>
            </a:r>
            <a:r>
              <a:rPr lang="ru-RU" dirty="0"/>
              <a:t>раза.</a:t>
            </a:r>
          </a:p>
        </p:txBody>
      </p:sp>
    </p:spTree>
    <p:extLst>
      <p:ext uri="{BB962C8B-B14F-4D97-AF65-F5344CB8AC3E}">
        <p14:creationId xmlns:p14="http://schemas.microsoft.com/office/powerpoint/2010/main" val="3070771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 xmlns:a16="http://schemas.microsoft.com/office/drawing/2014/main" id="{2A8D5B80-DE45-CA24-8AEC-F7F4E8ABF326}"/>
            </a:ext>
          </a:extLst>
        </p:cNvPr>
        <p:cNvGrpSpPr/>
        <p:nvPr/>
      </p:nvGrpSpPr>
      <p:grpSpPr>
        <a:xfrm>
          <a:off x="0" y="0"/>
          <a:ext cx="0" cy="0"/>
          <a:chOff x="0" y="0"/>
          <a:chExt cx="0" cy="0"/>
        </a:xfrm>
      </p:grpSpPr>
      <p:sp>
        <p:nvSpPr>
          <p:cNvPr id="456" name="Google Shape;456;p43">
            <a:extLst>
              <a:ext uri="{FF2B5EF4-FFF2-40B4-BE49-F238E27FC236}">
                <a16:creationId xmlns="" xmlns:a16="http://schemas.microsoft.com/office/drawing/2014/main" id="{B766B388-3BEE-43F4-D3FB-320633F3096C}"/>
              </a:ext>
            </a:extLst>
          </p:cNvPr>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a:extLst>
              <a:ext uri="{FF2B5EF4-FFF2-40B4-BE49-F238E27FC236}">
                <a16:creationId xmlns="" xmlns:a16="http://schemas.microsoft.com/office/drawing/2014/main" id="{137E8DA9-8746-00A9-621F-685812E3E204}"/>
              </a:ext>
            </a:extLst>
          </p:cNvPr>
          <p:cNvSpPr txBox="1"/>
          <p:nvPr/>
        </p:nvSpPr>
        <p:spPr>
          <a:xfrm>
            <a:off x="1276347" y="887878"/>
            <a:ext cx="9239321" cy="600160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00000"/>
              </a:lnSpc>
              <a:spcBef>
                <a:spcPts val="0"/>
              </a:spcBef>
              <a:spcAft>
                <a:spcPts val="1200"/>
              </a:spcAft>
              <a:buClr>
                <a:schemeClr val="dk1"/>
              </a:buClr>
              <a:buSzPts val="2400"/>
            </a:pPr>
            <a:endPar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небольшой нагрев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 эксперимент по оптической накачки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 </a:t>
            </a:r>
            <a:r>
              <a:rPr lang="ru-RU" sz="1800" dirty="0" err="1">
                <a:solidFill>
                  <a:schemeClr val="dk1"/>
                </a:solidFill>
                <a:latin typeface="Times New Roman" panose="02020603050405020304" pitchFamily="18" charset="0"/>
                <a:ea typeface="Times New Roman"/>
                <a:cs typeface="Times New Roman" panose="02020603050405020304" pitchFamily="18" charset="0"/>
                <a:sym typeface="Times New Roman"/>
              </a:rPr>
              <a:t>магнито</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-нечувствительное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состояние. Эффективность оптической накачки</a:t>
            </a:r>
            <a:r>
              <a:rPr lang="en-US"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в эксперименте составила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 а нагрев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1 мкК, что близко к результатам численного моделирования.</a:t>
            </a:r>
          </a:p>
          <a:p>
            <a:pPr marL="342900" lvl="0" indent="-342900" algn="just">
              <a:spcAft>
                <a:spcPts val="1200"/>
              </a:spcAft>
              <a:buClr>
                <a:schemeClr val="dk1"/>
              </a:buClr>
              <a:buSzPts val="2400"/>
              <a:buFont typeface="Times New Roman"/>
              <a:buChar char="-"/>
            </a:pP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Применение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оптической накачки на этапе подготовки атомов </a:t>
            </a:r>
            <a:r>
              <a:rPr lang="en-US" sz="1800" baseline="30000" dirty="0">
                <a:solidFill>
                  <a:schemeClr val="dk1"/>
                </a:solidFill>
                <a:latin typeface="Times New Roman" panose="02020603050405020304" pitchFamily="18" charset="0"/>
                <a:cs typeface="Times New Roman" panose="02020603050405020304" pitchFamily="18" charset="0"/>
                <a:sym typeface="Times New Roman"/>
              </a:rPr>
              <a:t>87</a:t>
            </a:r>
            <a:r>
              <a:rPr lang="en-US" sz="1800" dirty="0">
                <a:solidFill>
                  <a:schemeClr val="dk1"/>
                </a:solidFill>
                <a:latin typeface="Times New Roman" panose="02020603050405020304" pitchFamily="18" charset="0"/>
                <a:cs typeface="Times New Roman" panose="02020603050405020304" pitchFamily="18" charset="0"/>
                <a:sym typeface="Times New Roman"/>
              </a:rPr>
              <a:t>Rb</a:t>
            </a:r>
            <a:r>
              <a:rPr lang="ru-RU" sz="1800" dirty="0">
                <a:solidFill>
                  <a:schemeClr val="dk1"/>
                </a:solidFill>
                <a:latin typeface="Times New Roman" panose="02020603050405020304" pitchFamily="18" charset="0"/>
                <a:cs typeface="Times New Roman" panose="02020603050405020304" pitchFamily="18" charset="0"/>
                <a:sym typeface="Times New Roman"/>
              </a:rPr>
              <a:t> в немагнитном квантовом состоянии </a:t>
            </a:r>
            <a:r>
              <a:rPr lang="ru-RU" sz="1800" dirty="0" smtClean="0">
                <a:solidFill>
                  <a:schemeClr val="dk1"/>
                </a:solidFill>
                <a:latin typeface="Times New Roman" panose="02020603050405020304" pitchFamily="18" charset="0"/>
                <a:cs typeface="Times New Roman" panose="02020603050405020304" pitchFamily="18" charset="0"/>
                <a:sym typeface="Times New Roman"/>
              </a:rPr>
              <a:t>позволило </a:t>
            </a:r>
            <a:r>
              <a:rPr lang="ru-RU" sz="1800" dirty="0">
                <a:solidFill>
                  <a:schemeClr val="dk1"/>
                </a:solidFill>
                <a:latin typeface="Times New Roman" panose="02020603050405020304" pitchFamily="18" charset="0"/>
                <a:cs typeface="Times New Roman" panose="02020603050405020304" pitchFamily="18" charset="0"/>
                <a:sym typeface="Times New Roman"/>
              </a:rPr>
              <a:t>достигнуть </a:t>
            </a:r>
            <a:r>
              <a:rPr lang="ru-RU" sz="1800" dirty="0" smtClean="0">
                <a:solidFill>
                  <a:schemeClr val="dk1"/>
                </a:solidFill>
                <a:latin typeface="Times New Roman" panose="02020603050405020304" pitchFamily="18" charset="0"/>
                <a:cs typeface="Times New Roman" panose="02020603050405020304" pitchFamily="18" charset="0"/>
                <a:sym typeface="Times New Roman"/>
              </a:rPr>
              <a:t>чувствительност</a:t>
            </a:r>
            <a:r>
              <a:rPr lang="ru-RU" sz="1800" dirty="0">
                <a:solidFill>
                  <a:schemeClr val="dk1"/>
                </a:solidFill>
                <a:latin typeface="Times New Roman" panose="02020603050405020304" pitchFamily="18" charset="0"/>
                <a:cs typeface="Times New Roman" panose="02020603050405020304" pitchFamily="18" charset="0"/>
                <a:sym typeface="Times New Roman"/>
              </a:rPr>
              <a:t>и</a:t>
            </a:r>
            <a:r>
              <a:rPr lang="ru-RU" sz="1800" dirty="0" smtClean="0">
                <a:solidFill>
                  <a:schemeClr val="dk1"/>
                </a:solidFill>
                <a:latin typeface="Times New Roman" panose="02020603050405020304" pitchFamily="18" charset="0"/>
                <a:cs typeface="Times New Roman" panose="02020603050405020304" pitchFamily="18" charset="0"/>
                <a:sym typeface="Times New Roman"/>
              </a:rPr>
              <a:t> </a:t>
            </a:r>
            <a:r>
              <a:rPr lang="ru-RU" sz="1800" dirty="0">
                <a:solidFill>
                  <a:schemeClr val="dk1"/>
                </a:solidFill>
                <a:latin typeface="Times New Roman" panose="02020603050405020304" pitchFamily="18" charset="0"/>
                <a:cs typeface="Times New Roman" panose="02020603050405020304" pitchFamily="18" charset="0"/>
                <a:sym typeface="Times New Roman"/>
              </a:rPr>
              <a:t>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измерений квантового гравиметра на основе измерений акселерометра и платы сбора данных</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Red Pitaya</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с целью компенсации фазового сдвига в сигнале атомной интерференции, вызванного вибрациями установки. Реализовано программное обеспечение для сбора и анализа данных для расчета и применения данной поправки. Использование данного алгоритма позволило увеличить чувствительности квантового гравиметра в два раза</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вибрационного шума для сигнала атомного интерферометра. Экспериментальная проверка данной системы привела к увеличению чувствительности гравиметра в два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раза в условиях искусственно созданных сильных вибраций.</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 xmlns:a16="http://schemas.microsoft.com/office/drawing/2014/main" id="{A6574AE1-2241-61BD-B020-065272383BFF}"/>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2564780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3"/>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p:cNvSpPr txBox="1"/>
          <p:nvPr/>
        </p:nvSpPr>
        <p:spPr>
          <a:xfrm>
            <a:off x="1339847" y="1485755"/>
            <a:ext cx="9239321" cy="430883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Проведена оптическая накачка в магнито-нечувствительное состояние с эффективность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 и нагревом в 1 мкК, что близко к результатам численного моделирования.</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Применения оптической накачки на этапе подготовки атомов </a:t>
            </a:r>
            <a:r>
              <a:rPr lang="en-US" sz="1800" baseline="30000" dirty="0">
                <a:solidFill>
                  <a:schemeClr val="dk1"/>
                </a:solidFill>
                <a:latin typeface="Times New Roman" panose="02020603050405020304" pitchFamily="18" charset="0"/>
                <a:cs typeface="Times New Roman" panose="02020603050405020304" pitchFamily="18" charset="0"/>
                <a:sym typeface="Times New Roman"/>
              </a:rPr>
              <a:t>87</a:t>
            </a:r>
            <a:r>
              <a:rPr lang="en-US" sz="1800" dirty="0">
                <a:solidFill>
                  <a:schemeClr val="dk1"/>
                </a:solidFill>
                <a:latin typeface="Times New Roman" panose="02020603050405020304" pitchFamily="18" charset="0"/>
                <a:cs typeface="Times New Roman" panose="02020603050405020304" pitchFamily="18" charset="0"/>
                <a:sym typeface="Times New Roman"/>
              </a:rPr>
              <a:t>Rb</a:t>
            </a:r>
            <a:r>
              <a:rPr lang="ru-RU" sz="1800" dirty="0">
                <a:solidFill>
                  <a:schemeClr val="dk1"/>
                </a:solidFill>
                <a:latin typeface="Times New Roman" panose="02020603050405020304" pitchFamily="18" charset="0"/>
                <a:cs typeface="Times New Roman" panose="02020603050405020304" pitchFamily="18" charset="0"/>
                <a:sym typeface="Times New Roman"/>
              </a:rPr>
              <a:t> в немагнитном квантовом состоянии в сочетании с другими процедурами позволило достигнуть чувствительность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измерений квантового гравиметра на основе измерений акселерометра и платы сбора данных</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Red Pitaya</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с целью компенсации фазового сдвига в сигнале атомной интерференции, вызванного вибрациями установки. Реализовано программное обеспечение для сбора и анализа данных для расчета и применения данной поправки. Использование данного алгоритма позволило увеличить чувствительности квантового гравиметра в два раза.</a:t>
            </a:r>
          </a:p>
        </p:txBody>
      </p:sp>
      <p:sp>
        <p:nvSpPr>
          <p:cNvPr id="6" name="TextBox 5">
            <a:extLst>
              <a:ext uri="{FF2B5EF4-FFF2-40B4-BE49-F238E27FC236}">
                <a16:creationId xmlns="" xmlns:a16="http://schemas.microsoft.com/office/drawing/2014/main" id="{A7EB3360-CB57-4ACC-9572-5FD9B50D06F8}"/>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 xmlns:a16="http://schemas.microsoft.com/office/drawing/2014/main" id="{29231A27-E450-41D8-A924-F74AF49F383D}"/>
              </a:ext>
            </a:extLst>
          </p:cNvPr>
          <p:cNvSpPr txBox="1"/>
          <p:nvPr/>
        </p:nvSpPr>
        <p:spPr>
          <a:xfrm>
            <a:off x="2108129" y="1982450"/>
            <a:ext cx="8410322" cy="29238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p:txBody>
      </p:sp>
      <p:sp>
        <p:nvSpPr>
          <p:cNvPr id="6" name="TextBox 5">
            <a:extLst>
              <a:ext uri="{FF2B5EF4-FFF2-40B4-BE49-F238E27FC236}">
                <a16:creationId xmlns=""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p39"/>
          <p:cNvSpPr/>
          <p:nvPr/>
        </p:nvSpPr>
        <p:spPr>
          <a:xfrm>
            <a:off x="2640622" y="83724"/>
            <a:ext cx="6910755" cy="5393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Моделирование оптической накачки</a:t>
            </a:r>
            <a:endParaRPr sz="1400" b="0" i="0" u="none" strike="noStrike" cap="none" dirty="0">
              <a:solidFill>
                <a:srgbClr val="000000"/>
              </a:solidFill>
              <a:latin typeface="Arial"/>
              <a:ea typeface="Arial"/>
              <a:cs typeface="Arial"/>
              <a:sym typeface="Arial"/>
            </a:endParaRPr>
          </a:p>
        </p:txBody>
      </p:sp>
      <p:sp>
        <p:nvSpPr>
          <p:cNvPr id="390" name="Google Shape;390;p39"/>
          <p:cNvSpPr txBox="1"/>
          <p:nvPr/>
        </p:nvSpPr>
        <p:spPr>
          <a:xfrm>
            <a:off x="5847081" y="817199"/>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(1)</a:t>
            </a:r>
            <a:endParaRPr dirty="0"/>
          </a:p>
        </p:txBody>
      </p:sp>
      <p:sp>
        <p:nvSpPr>
          <p:cNvPr id="391" name="Google Shape;391;p39"/>
          <p:cNvSpPr txBox="1"/>
          <p:nvPr/>
        </p:nvSpPr>
        <p:spPr>
          <a:xfrm>
            <a:off x="5855796" y="1528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(2)</a:t>
            </a:r>
            <a:endParaRPr dirty="0"/>
          </a:p>
        </p:txBody>
      </p:sp>
      <p:sp>
        <p:nvSpPr>
          <p:cNvPr id="392" name="Google Shape;392;p39"/>
          <p:cNvSpPr txBox="1"/>
          <p:nvPr/>
        </p:nvSpPr>
        <p:spPr>
          <a:xfrm>
            <a:off x="5821509" y="2133478"/>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(3)</a:t>
            </a:r>
            <a:endParaRPr dirty="0"/>
          </a:p>
        </p:txBody>
      </p:sp>
      <p:sp>
        <p:nvSpPr>
          <p:cNvPr id="394" name="Google Shape;394;p39"/>
          <p:cNvSpPr txBox="1"/>
          <p:nvPr/>
        </p:nvSpPr>
        <p:spPr>
          <a:xfrm>
            <a:off x="4204746" y="6517813"/>
            <a:ext cx="63416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a:t>
            </a:r>
            <a:r>
              <a:rPr lang="ru-RU" sz="1400" b="0" i="0" u="none" strike="noStrike" cap="none" dirty="0" err="1">
                <a:solidFill>
                  <a:srgbClr val="000000"/>
                </a:solidFill>
                <a:latin typeface="Times New Roman"/>
                <a:ea typeface="Times New Roman"/>
                <a:cs typeface="Times New Roman"/>
                <a:sym typeface="Times New Roman"/>
              </a:rPr>
              <a:t>Atoneche</a:t>
            </a:r>
            <a:r>
              <a:rPr lang="ru-RU" sz="1400" b="0" i="0" u="none" strike="noStrike" cap="none" dirty="0">
                <a:solidFill>
                  <a:srgbClr val="000000"/>
                </a:solidFill>
                <a:latin typeface="Times New Roman"/>
                <a:ea typeface="Times New Roman"/>
                <a:cs typeface="Times New Roman"/>
                <a:sym typeface="Times New Roman"/>
              </a:rPr>
              <a:t>, A. </a:t>
            </a:r>
            <a:r>
              <a:rPr lang="ru-RU" sz="1400" b="0" i="0" u="none" strike="noStrike" cap="none" dirty="0" err="1">
                <a:solidFill>
                  <a:srgbClr val="000000"/>
                </a:solidFill>
                <a:latin typeface="Times New Roman"/>
                <a:ea typeface="Times New Roman"/>
                <a:cs typeface="Times New Roman"/>
                <a:sym typeface="Times New Roman"/>
              </a:rPr>
              <a:t>Kastberg</a:t>
            </a:r>
            <a:r>
              <a:rPr lang="ru-RU" sz="1400" b="0" i="0" u="none" strike="noStrike" cap="none" dirty="0">
                <a:solidFill>
                  <a:srgbClr val="000000"/>
                </a:solidFill>
                <a:latin typeface="Times New Roman"/>
                <a:ea typeface="Times New Roman"/>
                <a:cs typeface="Times New Roman"/>
                <a:sym typeface="Times New Roman"/>
              </a:rPr>
              <a:t>, European Journal </a:t>
            </a:r>
            <a:r>
              <a:rPr lang="ru-RU" sz="1400" b="0" i="0" u="none" strike="noStrike" cap="none" dirty="0" err="1">
                <a:solidFill>
                  <a:srgbClr val="000000"/>
                </a:solidFill>
                <a:latin typeface="Times New Roman"/>
                <a:ea typeface="Times New Roman"/>
                <a:cs typeface="Times New Roman"/>
                <a:sym typeface="Times New Roman"/>
              </a:rPr>
              <a:t>of</a:t>
            </a:r>
            <a:r>
              <a:rPr lang="ru-RU" sz="1400" b="0" i="0" u="none" strike="noStrike" cap="none" dirty="0">
                <a:solidFill>
                  <a:srgbClr val="000000"/>
                </a:solidFill>
                <a:latin typeface="Times New Roman"/>
                <a:ea typeface="Times New Roman"/>
                <a:cs typeface="Times New Roman"/>
                <a:sym typeface="Times New Roman"/>
              </a:rPr>
              <a:t> </a:t>
            </a:r>
            <a:r>
              <a:rPr lang="ru-RU" sz="1400" b="0" i="0" u="none" strike="noStrike" cap="none" dirty="0" err="1">
                <a:solidFill>
                  <a:srgbClr val="000000"/>
                </a:solidFill>
                <a:latin typeface="Times New Roman"/>
                <a:ea typeface="Times New Roman"/>
                <a:cs typeface="Times New Roman"/>
                <a:sym typeface="Times New Roman"/>
              </a:rPr>
              <a:t>Physics</a:t>
            </a:r>
            <a:r>
              <a:rPr lang="ru-RU" sz="1400" b="0" i="0" u="none" strike="noStrike" cap="none" dirty="0">
                <a:solidFill>
                  <a:srgbClr val="000000"/>
                </a:solidFill>
                <a:latin typeface="Times New Roman"/>
                <a:ea typeface="Times New Roman"/>
                <a:cs typeface="Times New Roman"/>
                <a:sym typeface="Times New Roman"/>
              </a:rPr>
              <a:t> 38.4, 045703 (2017).</a:t>
            </a:r>
            <a:endParaRPr sz="1400" b="0" i="0" u="none" strike="noStrike" cap="none" dirty="0">
              <a:solidFill>
                <a:srgbClr val="000000"/>
              </a:solidFill>
              <a:latin typeface="Times New Roman"/>
              <a:ea typeface="Times New Roman"/>
              <a:cs typeface="Times New Roman"/>
              <a:sym typeface="Times New Roman"/>
            </a:endParaRPr>
          </a:p>
        </p:txBody>
      </p:sp>
      <p:grpSp>
        <p:nvGrpSpPr>
          <p:cNvPr id="398" name="Google Shape;398;p39"/>
          <p:cNvGrpSpPr/>
          <p:nvPr/>
        </p:nvGrpSpPr>
        <p:grpSpPr>
          <a:xfrm>
            <a:off x="8257414" y="1369553"/>
            <a:ext cx="2288943" cy="2386967"/>
            <a:chOff x="7675472" y="1286220"/>
            <a:chExt cx="2288943" cy="2386967"/>
          </a:xfrm>
        </p:grpSpPr>
        <p:cxnSp>
          <p:nvCxnSpPr>
            <p:cNvPr id="399" name="Google Shape;399;p39"/>
            <p:cNvCxnSpPr/>
            <p:nvPr/>
          </p:nvCxnSpPr>
          <p:spPr>
            <a:xfrm>
              <a:off x="7675472" y="3309245"/>
              <a:ext cx="927946" cy="1349"/>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0" name="Google Shape;400;p39"/>
            <p:cNvSpPr txBox="1"/>
            <p:nvPr/>
          </p:nvSpPr>
          <p:spPr>
            <a:xfrm>
              <a:off x="7973080" y="3365410"/>
              <a:ext cx="5418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cxnSp>
          <p:nvCxnSpPr>
            <p:cNvPr id="401" name="Google Shape;401;p39"/>
            <p:cNvCxnSpPr/>
            <p:nvPr/>
          </p:nvCxnSpPr>
          <p:spPr>
            <a:xfrm>
              <a:off x="9243498" y="2821794"/>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9"/>
            <p:cNvSpPr txBox="1"/>
            <p:nvPr/>
          </p:nvSpPr>
          <p:spPr>
            <a:xfrm>
              <a:off x="9342103" y="2845792"/>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2</a:t>
              </a:r>
              <a:endParaRPr sz="1400" b="0" i="0" u="none" strike="noStrike" cap="none" baseline="-25000" dirty="0">
                <a:solidFill>
                  <a:srgbClr val="000000"/>
                </a:solidFill>
                <a:latin typeface="Arial"/>
                <a:ea typeface="Arial"/>
                <a:cs typeface="Arial"/>
                <a:sym typeface="Arial"/>
              </a:endParaRPr>
            </a:p>
          </p:txBody>
        </p:sp>
        <p:cxnSp>
          <p:nvCxnSpPr>
            <p:cNvPr id="403" name="Google Shape;403;p39"/>
            <p:cNvCxnSpPr/>
            <p:nvPr/>
          </p:nvCxnSpPr>
          <p:spPr>
            <a:xfrm>
              <a:off x="8447631" y="1620378"/>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4" name="Google Shape;404;p39"/>
            <p:cNvSpPr txBox="1"/>
            <p:nvPr/>
          </p:nvSpPr>
          <p:spPr>
            <a:xfrm>
              <a:off x="8560576" y="1286220"/>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e</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grpSp>
          <p:nvGrpSpPr>
            <p:cNvPr id="405" name="Google Shape;405;p39"/>
            <p:cNvGrpSpPr/>
            <p:nvPr/>
          </p:nvGrpSpPr>
          <p:grpSpPr>
            <a:xfrm rot="1429140">
              <a:off x="8146741" y="1652422"/>
              <a:ext cx="0" cy="1623907"/>
              <a:chOff x="10160000" y="3429000"/>
              <a:chExt cx="0" cy="1623907"/>
            </a:xfrm>
          </p:grpSpPr>
          <p:cxnSp>
            <p:nvCxnSpPr>
              <p:cNvPr id="406" name="Google Shape;406;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08" name="Google Shape;408;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09" name="Google Shape;409;p39"/>
            <p:cNvGrpSpPr/>
            <p:nvPr/>
          </p:nvGrpSpPr>
          <p:grpSpPr>
            <a:xfrm rot="-1879641">
              <a:off x="9249827" y="1651472"/>
              <a:ext cx="0" cy="1192945"/>
              <a:chOff x="10160000" y="3429000"/>
              <a:chExt cx="0" cy="1623907"/>
            </a:xfrm>
          </p:grpSpPr>
          <p:cxnSp>
            <p:nvCxnSpPr>
              <p:cNvPr id="410" name="Google Shape;410;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12" name="Google Shape;412;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13" name="Google Shape;413;p39"/>
            <p:cNvGrpSpPr/>
            <p:nvPr/>
          </p:nvGrpSpPr>
          <p:grpSpPr>
            <a:xfrm rot="-10320581">
              <a:off x="8599830" y="1691863"/>
              <a:ext cx="0" cy="1529262"/>
              <a:chOff x="10160000" y="3429000"/>
              <a:chExt cx="0" cy="1623907"/>
            </a:xfrm>
          </p:grpSpPr>
          <p:cxnSp>
            <p:nvCxnSpPr>
              <p:cNvPr id="414" name="Google Shape;414;p39"/>
              <p:cNvCxnSpPr/>
              <p:nvPr/>
            </p:nvCxnSpPr>
            <p:spPr>
              <a:xfrm>
                <a:off x="10160000" y="4416213"/>
                <a:ext cx="0" cy="636694"/>
              </a:xfrm>
              <a:prstGeom prst="straightConnector1">
                <a:avLst/>
              </a:prstGeom>
              <a:noFill/>
              <a:ln w="28575" cap="flat" cmpd="sng">
                <a:solidFill>
                  <a:srgbClr val="FF0000"/>
                </a:solidFill>
                <a:prstDash val="solid"/>
                <a:round/>
                <a:headEnd type="none" w="sm" len="sm"/>
                <a:tailEnd type="triangle" w="med" len="med"/>
              </a:ln>
            </p:spPr>
          </p:cxnSp>
          <p:cxnSp>
            <p:nvCxnSpPr>
              <p:cNvPr id="416" name="Google Shape;416;p39"/>
              <p:cNvCxnSpPr/>
              <p:nvPr/>
            </p:nvCxnSpPr>
            <p:spPr>
              <a:xfrm>
                <a:off x="10160000" y="3429000"/>
                <a:ext cx="0" cy="636694"/>
              </a:xfrm>
              <a:prstGeom prst="straightConnector1">
                <a:avLst/>
              </a:prstGeom>
              <a:noFill/>
              <a:ln w="28575" cap="flat" cmpd="sng">
                <a:solidFill>
                  <a:srgbClr val="FF0000"/>
                </a:solidFill>
                <a:prstDash val="solid"/>
                <a:round/>
                <a:headEnd type="stealth" w="med" len="med"/>
                <a:tailEnd type="none" w="sm" len="sm"/>
              </a:ln>
            </p:spPr>
          </p:cxnSp>
        </p:grpSp>
      </p:grpSp>
      <p:sp>
        <p:nvSpPr>
          <p:cNvPr id="417" name="Google Shape;417;p39"/>
          <p:cNvSpPr txBox="1"/>
          <p:nvPr/>
        </p:nvSpPr>
        <p:spPr>
          <a:xfrm>
            <a:off x="7000673" y="3741252"/>
            <a:ext cx="483831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b="0" i="0" u="none" strike="noStrike" cap="none" dirty="0">
                <a:solidFill>
                  <a:srgbClr val="000000"/>
                </a:solidFill>
                <a:latin typeface="Times New Roman"/>
                <a:ea typeface="Times New Roman"/>
                <a:cs typeface="Times New Roman"/>
                <a:sym typeface="Times New Roman"/>
              </a:rPr>
              <a:t>Рис. 7. Принципиальная схема оптической накачки в магнито-нечувствительное состояние.</a:t>
            </a:r>
            <a:endParaRPr b="0" i="0" u="none" strike="noStrike" cap="none" dirty="0">
              <a:solidFill>
                <a:srgbClr val="000000"/>
              </a:solidFill>
              <a:latin typeface="Arial"/>
              <a:ea typeface="Arial"/>
              <a:cs typeface="Arial"/>
              <a:sym typeface="Arial"/>
            </a:endParaRPr>
          </a:p>
        </p:txBody>
      </p:sp>
      <p:sp>
        <p:nvSpPr>
          <p:cNvPr id="418" name="Google Shape;418;p39"/>
          <p:cNvSpPr txBox="1"/>
          <p:nvPr/>
        </p:nvSpPr>
        <p:spPr>
          <a:xfrm>
            <a:off x="5807514" y="2815847"/>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(4)</a:t>
            </a:r>
            <a:endParaRPr sz="14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4F5967E-D4F9-4842-B0EB-39DB23D352F1}"/>
              </a:ext>
            </a:extLst>
          </p:cNvPr>
          <p:cNvSpPr txBox="1"/>
          <p:nvPr/>
        </p:nvSpPr>
        <p:spPr>
          <a:xfrm>
            <a:off x="8975152" y="2366927"/>
            <a:ext cx="1107233" cy="307777"/>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R</a:t>
            </a:r>
            <a:r>
              <a:rPr lang="en-US" baseline="-25000" dirty="0">
                <a:solidFill>
                  <a:srgbClr val="FF0000"/>
                </a:solidFill>
                <a:latin typeface="Times New Roman" panose="02020603050405020304" pitchFamily="18" charset="0"/>
                <a:cs typeface="Times New Roman" panose="02020603050405020304" pitchFamily="18" charset="0"/>
              </a:rPr>
              <a:t>11</a:t>
            </a:r>
            <a:endParaRPr lang="ru-RU" baseline="-25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7A5C2B33-9DCB-4AFD-A255-467C2A05B4AF}"/>
              </a:ext>
            </a:extLst>
          </p:cNvPr>
          <p:cNvSpPr txBox="1"/>
          <p:nvPr/>
        </p:nvSpPr>
        <p:spPr>
          <a:xfrm>
            <a:off x="8491886" y="2396931"/>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ru-RU" baseline="-25000" dirty="0">
                <a:solidFill>
                  <a:srgbClr val="00B050"/>
                </a:solidFill>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 xmlns:a16="http://schemas.microsoft.com/office/drawing/2014/main" id="{4531E132-C4B3-421F-ADA7-7C75D186F689}"/>
              </a:ext>
            </a:extLst>
          </p:cNvPr>
          <p:cNvSpPr txBox="1"/>
          <p:nvPr/>
        </p:nvSpPr>
        <p:spPr>
          <a:xfrm>
            <a:off x="9618412" y="2166485"/>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en-US" baseline="-25000" dirty="0">
                <a:solidFill>
                  <a:srgbClr val="00B050"/>
                </a:solidFill>
                <a:latin typeface="Times New Roman" panose="02020603050405020304" pitchFamily="18" charset="0"/>
                <a:cs typeface="Times New Roman" panose="02020603050405020304" pitchFamily="18" charset="0"/>
              </a:rPr>
              <a:t>2</a:t>
            </a:r>
            <a:r>
              <a:rPr lang="ru-RU" baseline="-25000" dirty="0">
                <a:solidFill>
                  <a:srgbClr val="00B050"/>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 xmlns:a16="http://schemas.microsoft.com/office/drawing/2014/main" id="{29BE1B8A-953A-40F9-8B17-DD9A0A91F65D}"/>
                  </a:ext>
                </a:extLst>
              </p:cNvPr>
              <p:cNvSpPr txBox="1"/>
              <p:nvPr/>
            </p:nvSpPr>
            <p:spPr>
              <a:xfrm>
                <a:off x="867197" y="631446"/>
                <a:ext cx="1683184"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a:latin typeface="Cambria Math" panose="02040503050406030204" pitchFamily="18" charset="0"/>
                            </a:rPr>
                            <m:t>Г</m:t>
                          </m:r>
                        </m:e>
                        <m:sub>
                          <m:r>
                            <a:rPr lang="ru-RU" i="1">
                              <a:latin typeface="Cambria Math" panose="02040503050406030204" pitchFamily="18" charset="0"/>
                            </a:rPr>
                            <m:t>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=1</m:t>
                          </m:r>
                        </m:sub>
                        <m:sup>
                          <m:r>
                            <a:rPr lang="ru-RU" i="1">
                              <a:latin typeface="Cambria Math" panose="02040503050406030204" pitchFamily="18" charset="0"/>
                            </a:rPr>
                            <m:t>𝑁</m:t>
                          </m:r>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e>
                      </m:nary>
                      <m:r>
                        <a:rPr lang="ru-RU" b="0" i="1" smtClean="0">
                          <a:latin typeface="Cambria Math" panose="02040503050406030204" pitchFamily="18" charset="0"/>
                        </a:rPr>
                        <m:t>,</m:t>
                      </m:r>
                    </m:oMath>
                  </m:oMathPara>
                </a14:m>
                <a:endParaRPr lang="ru-RU" dirty="0"/>
              </a:p>
            </p:txBody>
          </p:sp>
        </mc:Choice>
        <mc:Fallback xmlns="">
          <p:sp>
            <p:nvSpPr>
              <p:cNvPr id="35" name="TextBox 34">
                <a:extLst>
                  <a:ext uri="{FF2B5EF4-FFF2-40B4-BE49-F238E27FC236}">
                    <a16:creationId xmlns:a16="http://schemas.microsoft.com/office/drawing/2014/main" id="{29BE1B8A-953A-40F9-8B17-DD9A0A91F65D}"/>
                  </a:ext>
                </a:extLst>
              </p:cNvPr>
              <p:cNvSpPr txBox="1">
                <a:spLocks noRot="1" noChangeAspect="1" noMove="1" noResize="1" noEditPoints="1" noAdjustHandles="1" noChangeArrowheads="1" noChangeShapeType="1" noTextEdit="1"/>
              </p:cNvSpPr>
              <p:nvPr/>
            </p:nvSpPr>
            <p:spPr>
              <a:xfrm>
                <a:off x="867197" y="631446"/>
                <a:ext cx="1683184" cy="722505"/>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 xmlns:a16="http://schemas.microsoft.com/office/drawing/2014/main" id="{A9B134FA-BCAE-424B-8058-92E1B494C264}"/>
                  </a:ext>
                </a:extLst>
              </p:cNvPr>
              <p:cNvSpPr txBox="1"/>
              <p:nvPr/>
            </p:nvSpPr>
            <p:spPr>
              <a:xfrm>
                <a:off x="913918" y="2624514"/>
                <a:ext cx="4613300" cy="690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i="1">
                              <a:latin typeface="Cambria Math" panose="02040503050406030204" pitchFamily="18" charset="0"/>
                            </a:rPr>
                            <m:t>𝑑</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r>
                            <a:rPr lang="ru-RU" i="1">
                              <a:latin typeface="Cambria Math" panose="02040503050406030204" pitchFamily="18" charset="0"/>
                            </a:rPr>
                            <m:t>𝑑𝑡</m:t>
                          </m:r>
                        </m:den>
                      </m:f>
                      <m:r>
                        <a:rPr lang="ru-RU" i="0">
                          <a:latin typeface="Cambria Math" panose="02040503050406030204" pitchFamily="18" charset="0"/>
                        </a:rPr>
                        <m:t>=</m:t>
                      </m:r>
                      <m:nary>
                        <m:naryPr>
                          <m:chr m:val="∑"/>
                          <m:limLoc m:val="undOvr"/>
                          <m:supHide m:val="on"/>
                          <m:ctrlPr>
                            <a:rPr lang="ru-RU" i="1" smtClean="0">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m:t>
                          </m:r>
                          <m:r>
                            <a:rPr lang="ru-RU" i="1">
                              <a:latin typeface="Cambria Math" panose="02040503050406030204" pitchFamily="18" charset="0"/>
                            </a:rPr>
                            <m:t>𝑛</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𝑗</m:t>
                              </m:r>
                            </m:sub>
                          </m:sSub>
                          <m:d>
                            <m:dPr>
                              <m:ctrlPr>
                                <a:rPr lang="ru-RU" i="1">
                                  <a:solidFill>
                                    <a:srgbClr val="836967"/>
                                  </a:solidFill>
                                  <a:latin typeface="Cambria Math" panose="02040503050406030204" pitchFamily="18" charset="0"/>
                                </a:rPr>
                              </m:ctrlPr>
                            </m:dPr>
                            <m:e>
                              <m:r>
                                <a:rPr lang="ru-RU" i="1">
                                  <a:latin typeface="Cambria Math" panose="02040503050406030204" pitchFamily="18" charset="0"/>
                                </a:rPr>
                                <m:t>𝑡</m:t>
                              </m:r>
                            </m:e>
                          </m:d>
                          <m:d>
                            <m:dPr>
                              <m:begChr m:val="["/>
                              <m:endChr m:val="]"/>
                              <m:ctrlPr>
                                <a:rPr lang="ru-RU" i="1">
                                  <a:solidFill>
                                    <a:srgbClr val="836967"/>
                                  </a:solidFill>
                                  <a:latin typeface="Cambria Math" panose="02040503050406030204" pitchFamily="18" charset="0"/>
                                </a:rPr>
                              </m:ctrlPr>
                            </m:dPr>
                            <m:e>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nary>
                            </m:e>
                          </m:d>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d>
                                <m:dPr>
                                  <m:ctrlPr>
                                    <a:rPr lang="ru-RU" i="1">
                                      <a:solidFill>
                                        <a:srgbClr val="836967"/>
                                      </a:solidFill>
                                      <a:latin typeface="Cambria Math" panose="02040503050406030204" pitchFamily="18" charset="0"/>
                                    </a:rPr>
                                  </m:ctrlPr>
                                </m:dPr>
                                <m:e>
                                  <m:r>
                                    <a:rPr lang="ru-RU" i="0">
                                      <a:latin typeface="Cambria Math" panose="02040503050406030204" pitchFamily="18" charset="0"/>
                                    </a:rPr>
                                    <m:t>1−</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d>
                            </m:e>
                          </m:nary>
                          <m:r>
                            <a:rPr lang="ru-RU" b="0" i="1" smtClean="0">
                              <a:latin typeface="Cambria Math" panose="02040503050406030204" pitchFamily="18" charset="0"/>
                            </a:rPr>
                            <m:t>,</m:t>
                          </m:r>
                        </m:e>
                      </m:nary>
                    </m:oMath>
                  </m:oMathPara>
                </a14:m>
                <a:endParaRPr lang="ru-RU" dirty="0"/>
              </a:p>
            </p:txBody>
          </p:sp>
        </mc:Choice>
        <mc:Fallback xmlns="">
          <p:sp>
            <p:nvSpPr>
              <p:cNvPr id="37" name="TextBox 36">
                <a:extLst>
                  <a:ext uri="{FF2B5EF4-FFF2-40B4-BE49-F238E27FC236}">
                    <a16:creationId xmlns:a16="http://schemas.microsoft.com/office/drawing/2014/main" id="{A9B134FA-BCAE-424B-8058-92E1B494C264}"/>
                  </a:ext>
                </a:extLst>
              </p:cNvPr>
              <p:cNvSpPr txBox="1">
                <a:spLocks noRot="1" noChangeAspect="1" noMove="1" noResize="1" noEditPoints="1" noAdjustHandles="1" noChangeArrowheads="1" noChangeShapeType="1" noTextEdit="1"/>
              </p:cNvSpPr>
              <p:nvPr/>
            </p:nvSpPr>
            <p:spPr>
              <a:xfrm>
                <a:off x="913918" y="2624514"/>
                <a:ext cx="4613300" cy="69044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9B3F2F19-6460-4369-BABA-AA6847BB5756}"/>
                  </a:ext>
                </a:extLst>
              </p:cNvPr>
              <p:cNvSpPr txBox="1"/>
              <p:nvPr/>
            </p:nvSpPr>
            <p:spPr>
              <a:xfrm>
                <a:off x="1021326" y="1391137"/>
                <a:ext cx="2450786" cy="774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num>
                        <m:den>
                          <m:r>
                            <a:rPr lang="ru-RU" i="0">
                              <a:latin typeface="Cambria Math" panose="02040503050406030204" pitchFamily="18" charset="0"/>
                            </a:rPr>
                            <m:t>2</m:t>
                          </m:r>
                        </m:den>
                      </m:f>
                      <m:f>
                        <m:fPr>
                          <m:ctrlPr>
                            <a:rPr lang="ru-RU" i="1">
                              <a:solidFill>
                                <a:srgbClr val="836967"/>
                              </a:solidFill>
                              <a:latin typeface="Cambria Math" panose="02040503050406030204" pitchFamily="18" charset="0"/>
                            </a:rPr>
                          </m:ctrlPr>
                        </m:fPr>
                        <m:num>
                          <m:r>
                            <a:rPr lang="ru-RU" i="1">
                              <a:latin typeface="Cambria Math" panose="02040503050406030204" pitchFamily="18" charset="0"/>
                            </a:rPr>
                            <m:t>𝑆</m:t>
                          </m:r>
                        </m:num>
                        <m:den>
                          <m:r>
                            <a:rPr lang="ru-RU" i="0">
                              <a:latin typeface="Cambria Math" panose="02040503050406030204" pitchFamily="18" charset="0"/>
                            </a:rPr>
                            <m:t>1+</m:t>
                          </m:r>
                          <m:r>
                            <a:rPr lang="ru-RU" i="1">
                              <a:latin typeface="Cambria Math" panose="02040503050406030204" pitchFamily="18" charset="0"/>
                            </a:rPr>
                            <m:t>𝑆</m:t>
                          </m:r>
                          <m:r>
                            <a:rPr lang="ru-RU" i="0">
                              <a:latin typeface="Cambria Math" panose="02040503050406030204" pitchFamily="18" charset="0"/>
                            </a:rPr>
                            <m:t>+</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2∆</m:t>
                                          </m:r>
                                        </m:e>
                                        <m:sub>
                                          <m:r>
                                            <a:rPr lang="ru-RU" i="1">
                                              <a:latin typeface="Cambria Math" panose="02040503050406030204" pitchFamily="18" charset="0"/>
                                            </a:rPr>
                                            <m:t>𝑗𝑘</m:t>
                                          </m:r>
                                        </m:sub>
                                      </m:sSub>
                                    </m:num>
                                    <m:den>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den>
                                  </m:f>
                                </m:e>
                              </m:d>
                            </m:e>
                            <m:sup>
                              <m:r>
                                <a:rPr lang="ru-RU" i="0">
                                  <a:latin typeface="Cambria Math" panose="02040503050406030204" pitchFamily="18" charset="0"/>
                                </a:rPr>
                                <m:t>2</m:t>
                              </m:r>
                            </m:sup>
                          </m:sSup>
                        </m:den>
                      </m:f>
                      <m:r>
                        <a:rPr lang="ru-RU" b="0" i="1" smtClean="0">
                          <a:latin typeface="Cambria Math" panose="02040503050406030204" pitchFamily="18" charset="0"/>
                        </a:rPr>
                        <m:t>,</m:t>
                      </m:r>
                    </m:oMath>
                  </m:oMathPara>
                </a14:m>
                <a:endParaRPr lang="ru-RU" dirty="0"/>
              </a:p>
            </p:txBody>
          </p:sp>
        </mc:Choice>
        <mc:Fallback xmlns="">
          <p:sp>
            <p:nvSpPr>
              <p:cNvPr id="39" name="TextBox 38">
                <a:extLst>
                  <a:ext uri="{FF2B5EF4-FFF2-40B4-BE49-F238E27FC236}">
                    <a16:creationId xmlns:a16="http://schemas.microsoft.com/office/drawing/2014/main" id="{9B3F2F19-6460-4369-BABA-AA6847BB5756}"/>
                  </a:ext>
                </a:extLst>
              </p:cNvPr>
              <p:cNvSpPr txBox="1">
                <a:spLocks noRot="1" noChangeAspect="1" noMove="1" noResize="1" noEditPoints="1" noAdjustHandles="1" noChangeArrowheads="1" noChangeShapeType="1" noTextEdit="1"/>
              </p:cNvSpPr>
              <p:nvPr/>
            </p:nvSpPr>
            <p:spPr>
              <a:xfrm>
                <a:off x="1021326" y="1391137"/>
                <a:ext cx="2450786" cy="77425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2CB737A-7F63-452A-A4F0-ADB5F62E6118}"/>
                  </a:ext>
                </a:extLst>
              </p:cNvPr>
              <p:cNvSpPr txBox="1"/>
              <p:nvPr/>
            </p:nvSpPr>
            <p:spPr>
              <a:xfrm>
                <a:off x="689387" y="2135321"/>
                <a:ext cx="1557332"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r>
                        <a:rPr lang="ru-RU" b="0" i="1" smtClean="0">
                          <a:latin typeface="Cambria Math" panose="02040503050406030204" pitchFamily="18" charset="0"/>
                        </a:rPr>
                        <m:t>.</m:t>
                      </m:r>
                    </m:oMath>
                  </m:oMathPara>
                </a14:m>
                <a:endParaRPr lang="ru-RU" dirty="0"/>
              </a:p>
            </p:txBody>
          </p:sp>
        </mc:Choice>
        <mc:Fallback xmlns="">
          <p:sp>
            <p:nvSpPr>
              <p:cNvPr id="41" name="TextBox 40">
                <a:extLst>
                  <a:ext uri="{FF2B5EF4-FFF2-40B4-BE49-F238E27FC236}">
                    <a16:creationId xmlns:a16="http://schemas.microsoft.com/office/drawing/2014/main" id="{02CB737A-7F63-452A-A4F0-ADB5F62E6118}"/>
                  </a:ext>
                </a:extLst>
              </p:cNvPr>
              <p:cNvSpPr txBox="1">
                <a:spLocks noRot="1" noChangeAspect="1" noMove="1" noResize="1" noEditPoints="1" noAdjustHandles="1" noChangeArrowheads="1" noChangeShapeType="1" noTextEdit="1"/>
              </p:cNvSpPr>
              <p:nvPr/>
            </p:nvSpPr>
            <p:spPr>
              <a:xfrm>
                <a:off x="689387" y="2135321"/>
                <a:ext cx="1557332" cy="325089"/>
              </a:xfrm>
              <a:prstGeom prst="rect">
                <a:avLst/>
              </a:prstGeom>
              <a:blipFill>
                <a:blip r:embed="rId6"/>
                <a:stretch>
                  <a:fillRect b="-1852"/>
                </a:stretch>
              </a:blipFill>
            </p:spPr>
            <p:txBody>
              <a:bodyPr/>
              <a:lstStyle/>
              <a:p>
                <a:r>
                  <a:rPr lang="ru-RU">
                    <a:noFill/>
                  </a:rPr>
                  <a:t> </a:t>
                </a:r>
              </a:p>
            </p:txBody>
          </p:sp>
        </mc:Fallback>
      </mc:AlternateContent>
      <p:sp>
        <p:nvSpPr>
          <p:cNvPr id="9" name="TextBox 8">
            <a:extLst>
              <a:ext uri="{FF2B5EF4-FFF2-40B4-BE49-F238E27FC236}">
                <a16:creationId xmlns="" xmlns:a16="http://schemas.microsoft.com/office/drawing/2014/main" id="{CC1FFB71-6BBE-4169-8FB5-1E179654E9EC}"/>
              </a:ext>
            </a:extLst>
          </p:cNvPr>
          <p:cNvSpPr txBox="1"/>
          <p:nvPr/>
        </p:nvSpPr>
        <p:spPr>
          <a:xfrm>
            <a:off x="837021" y="4629134"/>
            <a:ext cx="4767094" cy="181588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где </a:t>
            </a:r>
            <a:r>
              <a:rPr lang="en-US" dirty="0" err="1">
                <a:latin typeface="Times New Roman" panose="02020603050405020304" pitchFamily="18" charset="0"/>
                <a:cs typeface="Times New Roman" panose="02020603050405020304" pitchFamily="18" charset="0"/>
              </a:rPr>
              <a:t>G</a:t>
            </a:r>
            <a:r>
              <a:rPr lang="en-US" baseline="-25000"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населённость нижнего </a:t>
            </a:r>
            <a:r>
              <a:rPr lang="en-US" dirty="0">
                <a:latin typeface="Times New Roman" panose="02020603050405020304" pitchFamily="18" charset="0"/>
                <a:cs typeface="Times New Roman" panose="02020603050405020304" pitchFamily="18" charset="0"/>
              </a:rPr>
              <a:t>n-</a:t>
            </a:r>
            <a:r>
              <a:rPr lang="ru-RU" dirty="0">
                <a:latin typeface="Times New Roman" panose="02020603050405020304" pitchFamily="18" charset="0"/>
                <a:cs typeface="Times New Roman" panose="02020603050405020304" pitchFamily="18" charset="0"/>
              </a:rPr>
              <a:t>го уровня,</a:t>
            </a:r>
          </a:p>
          <a:p>
            <a:r>
              <a:rPr lang="en-US"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скорость поглощения для</a:t>
            </a:r>
            <a:r>
              <a:rPr lang="en-US" dirty="0">
                <a:latin typeface="Times New Roman" panose="02020603050405020304" pitchFamily="18" charset="0"/>
                <a:cs typeface="Times New Roman" panose="02020603050405020304" pitchFamily="18" charset="0"/>
              </a:rPr>
              <a:t> jk-</a:t>
            </a:r>
            <a:r>
              <a:rPr lang="ru-RU" dirty="0">
                <a:latin typeface="Times New Roman" panose="02020603050405020304" pitchFamily="18" charset="0"/>
                <a:cs typeface="Times New Roman" panose="02020603050405020304" pitchFamily="18" charset="0"/>
              </a:rPr>
              <a:t>перехода,</a:t>
            </a:r>
          </a:p>
          <a:p>
            <a:r>
              <a:rPr lang="el-GR" dirty="0">
                <a:latin typeface="Times New Roman" panose="02020603050405020304" pitchFamily="18" charset="0"/>
                <a:cs typeface="Times New Roman" panose="02020603050405020304" pitchFamily="18" charset="0"/>
              </a:rPr>
              <a:t>β</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относительная скорость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ru-RU" dirty="0">
                <a:latin typeface="Times New Roman" panose="02020603050405020304" pitchFamily="18" charset="0"/>
                <a:cs typeface="Times New Roman" panose="02020603050405020304" pitchFamily="18" charset="0"/>
              </a:rPr>
              <a:t>Г</a:t>
            </a:r>
            <a:r>
              <a:rPr lang="en-US" baseline="-25000"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естественная ширина линии,</a:t>
            </a:r>
          </a:p>
          <a:p>
            <a:r>
              <a:rPr lang="en-US" dirty="0">
                <a:latin typeface="Times New Roman" panose="02020603050405020304" pitchFamily="18" charset="0"/>
                <a:cs typeface="Times New Roman" panose="02020603050405020304" pitchFamily="18" charset="0"/>
              </a:rPr>
              <a:t>S – </a:t>
            </a:r>
            <a:r>
              <a:rPr lang="ru-RU" dirty="0">
                <a:latin typeface="Times New Roman" panose="02020603050405020304" pitchFamily="18" charset="0"/>
                <a:cs typeface="Times New Roman" panose="02020603050405020304" pitchFamily="18" charset="0"/>
              </a:rPr>
              <a:t>показатель насыщения,</a:t>
            </a:r>
          </a:p>
          <a:p>
            <a:r>
              <a:rPr lang="ru-RU" dirty="0">
                <a:latin typeface="Times New Roman" panose="02020603050405020304" pitchFamily="18" charset="0"/>
                <a:cs typeface="Times New Roman" panose="02020603050405020304" pitchFamily="18" charset="0"/>
              </a:rPr>
              <a:t>Δ</a:t>
            </a:r>
            <a:r>
              <a:rPr lang="en-US" baseline="-25000"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 – отстройка частоты излучения от частоты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en-US" dirty="0">
                <a:latin typeface="Times New Roman" panose="02020603050405020304" pitchFamily="18" charset="0"/>
                <a:cs typeface="Times New Roman" panose="02020603050405020304" pitchFamily="18" charset="0"/>
              </a:rPr>
              <a:t>N – </a:t>
            </a:r>
            <a:r>
              <a:rPr lang="ru-RU" dirty="0">
                <a:latin typeface="Times New Roman" panose="02020603050405020304" pitchFamily="18" charset="0"/>
                <a:cs typeface="Times New Roman" panose="02020603050405020304" pitchFamily="18" charset="0"/>
              </a:rPr>
              <a:t>количество </a:t>
            </a:r>
            <a:r>
              <a:rPr lang="ru-RU" dirty="0" err="1">
                <a:latin typeface="Times New Roman" panose="02020603050405020304" pitchFamily="18" charset="0"/>
                <a:cs typeface="Times New Roman" panose="02020603050405020304" pitchFamily="18" charset="0"/>
              </a:rPr>
              <a:t>рассеяных</a:t>
            </a:r>
            <a:r>
              <a:rPr lang="ru-RU" dirty="0">
                <a:latin typeface="Times New Roman" panose="02020603050405020304" pitchFamily="18" charset="0"/>
                <a:cs typeface="Times New Roman" panose="02020603050405020304" pitchFamily="18" charset="0"/>
              </a:rPr>
              <a:t> атомом фотонов,</a:t>
            </a:r>
          </a:p>
          <a:p>
            <a:r>
              <a:rPr lang="en-US" dirty="0">
                <a:latin typeface="Times New Roman" panose="02020603050405020304" pitchFamily="18" charset="0"/>
                <a:cs typeface="Times New Roman" panose="02020603050405020304" pitchFamily="18" charset="0"/>
              </a:rPr>
              <a:t>ΔT – </a:t>
            </a:r>
            <a:r>
              <a:rPr lang="ru-RU" dirty="0">
                <a:latin typeface="Times New Roman" panose="02020603050405020304" pitchFamily="18" charset="0"/>
                <a:cs typeface="Times New Roman" panose="02020603050405020304" pitchFamily="18" charset="0"/>
              </a:rPr>
              <a:t>нагрев атома.</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 xmlns:a16="http://schemas.microsoft.com/office/drawing/2014/main" id="{DAE0082C-540F-46FC-9C43-AFAC0234EA26}"/>
                  </a:ext>
                </a:extLst>
              </p:cNvPr>
              <p:cNvSpPr txBox="1"/>
              <p:nvPr/>
            </p:nvSpPr>
            <p:spPr>
              <a:xfrm>
                <a:off x="514935" y="3342816"/>
                <a:ext cx="3131740" cy="740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rPr>
                        <m:t>𝑁</m:t>
                      </m:r>
                      <m:r>
                        <a:rPr lang="ru-RU" i="0">
                          <a:latin typeface="Cambria Math" panose="02040503050406030204" pitchFamily="18" charset="0"/>
                        </a:rPr>
                        <m:t>= </m:t>
                      </m:r>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𝑛</m:t>
                          </m:r>
                        </m:sub>
                        <m:sup/>
                        <m:e>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𝑘</m:t>
                              </m:r>
                            </m:sub>
                            <m:sup/>
                            <m:e>
                              <m:nary>
                                <m:naryPr>
                                  <m:limLoc m:val="subSup"/>
                                  <m:ctrlPr>
                                    <a:rPr lang="ru-RU" i="1">
                                      <a:latin typeface="Cambria Math" panose="02040503050406030204" pitchFamily="18" charset="0"/>
                                    </a:rPr>
                                  </m:ctrlPr>
                                </m:naryP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r>
                                    <a:rPr lang="ru-RU" i="1">
                                      <a:latin typeface="Cambria Math" panose="02040503050406030204" pitchFamily="18" charset="0"/>
                                    </a:rPr>
                                    <m:t>𝑑𝑡</m:t>
                                  </m:r>
                                </m:e>
                              </m:nary>
                            </m:e>
                          </m:nary>
                          <m:r>
                            <a:rPr lang="ru-RU" b="0" i="0" smtClean="0">
                              <a:latin typeface="Cambria Math" panose="02040503050406030204" pitchFamily="18" charset="0"/>
                            </a:rPr>
                            <m:t>,</m:t>
                          </m:r>
                        </m:e>
                      </m:nary>
                    </m:oMath>
                  </m:oMathPara>
                </a14:m>
                <a:endParaRPr lang="ru-RU" dirty="0"/>
              </a:p>
            </p:txBody>
          </p:sp>
        </mc:Choice>
        <mc:Fallback xmlns="">
          <p:sp>
            <p:nvSpPr>
              <p:cNvPr id="36" name="TextBox 35">
                <a:extLst>
                  <a:ext uri="{FF2B5EF4-FFF2-40B4-BE49-F238E27FC236}">
                    <a16:creationId xmlns:a16="http://schemas.microsoft.com/office/drawing/2014/main" id="{DAE0082C-540F-46FC-9C43-AFAC0234EA26}"/>
                  </a:ext>
                </a:extLst>
              </p:cNvPr>
              <p:cNvSpPr txBox="1">
                <a:spLocks noRot="1" noChangeAspect="1" noMove="1" noResize="1" noEditPoints="1" noAdjustHandles="1" noChangeArrowheads="1" noChangeShapeType="1" noTextEdit="1"/>
              </p:cNvSpPr>
              <p:nvPr/>
            </p:nvSpPr>
            <p:spPr>
              <a:xfrm>
                <a:off x="514935" y="3342816"/>
                <a:ext cx="3131740" cy="740331"/>
              </a:xfrm>
              <a:prstGeom prst="rect">
                <a:avLst/>
              </a:prstGeom>
              <a:blipFill>
                <a:blip r:embed="rId7"/>
                <a:stretch>
                  <a:fillRect/>
                </a:stretch>
              </a:blipFill>
            </p:spPr>
            <p:txBody>
              <a:bodyPr/>
              <a:lstStyle/>
              <a:p>
                <a:r>
                  <a:rPr lang="ru-RU">
                    <a:noFill/>
                  </a:rPr>
                  <a:t> </a:t>
                </a:r>
              </a:p>
            </p:txBody>
          </p:sp>
        </mc:Fallback>
      </mc:AlternateContent>
      <p:sp>
        <p:nvSpPr>
          <p:cNvPr id="40" name="Google Shape;418;p39">
            <a:extLst>
              <a:ext uri="{FF2B5EF4-FFF2-40B4-BE49-F238E27FC236}">
                <a16:creationId xmlns="" xmlns:a16="http://schemas.microsoft.com/office/drawing/2014/main" id="{D2A9A03C-6C0A-4874-A8D5-6C3DFEA81824}"/>
              </a:ext>
            </a:extLst>
          </p:cNvPr>
          <p:cNvSpPr txBox="1"/>
          <p:nvPr/>
        </p:nvSpPr>
        <p:spPr>
          <a:xfrm>
            <a:off x="5821509" y="3559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(5)</a:t>
            </a:r>
            <a:endParaRPr sz="1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 xmlns:a16="http://schemas.microsoft.com/office/drawing/2014/main" id="{056F8552-3D85-40B7-B09A-9E64C1933AB2}"/>
                  </a:ext>
                </a:extLst>
              </p:cNvPr>
              <p:cNvSpPr txBox="1"/>
              <p:nvPr/>
            </p:nvSpPr>
            <p:spPr>
              <a:xfrm>
                <a:off x="541902" y="4093857"/>
                <a:ext cx="2333774"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a:latin typeface="Cambria Math" panose="02040503050406030204" pitchFamily="18" charset="0"/>
                            </a:rPr>
                            <m:t>3</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𝑏</m:t>
                              </m:r>
                            </m:sub>
                          </m:sSub>
                          <m:r>
                            <a:rPr lang="ru-RU" i="0">
                              <a:latin typeface="Cambria Math" panose="02040503050406030204" pitchFamily="18" charset="0"/>
                            </a:rPr>
                            <m:t>∆</m:t>
                          </m:r>
                          <m:r>
                            <a:rPr lang="ru-RU" i="1">
                              <a:latin typeface="Cambria Math" panose="02040503050406030204" pitchFamily="18" charset="0"/>
                            </a:rPr>
                            <m:t>𝑇</m:t>
                          </m:r>
                        </m:num>
                        <m:den>
                          <m:r>
                            <a:rPr lang="ru-RU" i="1">
                              <a:latin typeface="Cambria Math" panose="02040503050406030204" pitchFamily="18" charset="0"/>
                            </a:rPr>
                            <m:t>𝑚</m:t>
                          </m:r>
                        </m:den>
                      </m:f>
                      <m:r>
                        <a:rPr lang="ru-RU" i="0">
                          <a:latin typeface="Cambria Math" panose="02040503050406030204" pitchFamily="18" charset="0"/>
                        </a:rPr>
                        <m:t>=</m:t>
                      </m:r>
                      <m:f>
                        <m:fPr>
                          <m:ctrlPr>
                            <a:rPr lang="ru-RU" i="1">
                              <a:solidFill>
                                <a:srgbClr val="836967"/>
                              </a:solidFill>
                              <a:latin typeface="Cambria Math" panose="02040503050406030204" pitchFamily="18" charset="0"/>
                            </a:rPr>
                          </m:ctrlPr>
                        </m:fPr>
                        <m:num>
                          <m:r>
                            <a:rPr lang="ru-RU" i="0">
                              <a:latin typeface="Cambria Math" panose="02040503050406030204" pitchFamily="18" charset="0"/>
                            </a:rPr>
                            <m:t>2</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r>
                                    <m:rPr>
                                      <m:sty m:val="p"/>
                                    </m:rPr>
                                    <a:rPr lang="ru-RU" i="0">
                                      <a:latin typeface="Cambria Math" panose="02040503050406030204" pitchFamily="18" charset="0"/>
                                    </a:rPr>
                                    <m:t>hk</m:t>
                                  </m:r>
                                </m:e>
                              </m:d>
                            </m:e>
                            <m:sup>
                              <m:r>
                                <a:rPr lang="ru-RU" i="0">
                                  <a:latin typeface="Cambria Math" panose="02040503050406030204" pitchFamily="18" charset="0"/>
                                </a:rPr>
                                <m:t>2</m:t>
                              </m:r>
                            </m:sup>
                          </m:sSup>
                        </m:num>
                        <m:den>
                          <m:r>
                            <a:rPr lang="ru-RU" i="0">
                              <a:latin typeface="Cambria Math" panose="02040503050406030204" pitchFamily="18" charset="0"/>
                            </a:rPr>
                            <m:t>2</m:t>
                          </m:r>
                          <m:r>
                            <m:rPr>
                              <m:sty m:val="p"/>
                            </m:rPr>
                            <a:rPr lang="ru-RU" i="0">
                              <a:latin typeface="Cambria Math" panose="02040503050406030204" pitchFamily="18" charset="0"/>
                            </a:rPr>
                            <m:t>m</m:t>
                          </m:r>
                        </m:den>
                      </m:f>
                      <m:r>
                        <m:rPr>
                          <m:sty m:val="p"/>
                        </m:rPr>
                        <a:rPr lang="ru-RU" i="0">
                          <a:latin typeface="Cambria Math" panose="02040503050406030204" pitchFamily="18" charset="0"/>
                        </a:rPr>
                        <m:t>N</m:t>
                      </m:r>
                      <m:r>
                        <a:rPr lang="ru-RU" b="0" i="0" smtClean="0">
                          <a:latin typeface="Cambria Math" panose="02040503050406030204" pitchFamily="18" charset="0"/>
                        </a:rPr>
                        <m:t>,</m:t>
                      </m:r>
                    </m:oMath>
                  </m:oMathPara>
                </a14:m>
                <a:endParaRPr lang="ru-RU" dirty="0"/>
              </a:p>
            </p:txBody>
          </p:sp>
        </mc:Choice>
        <mc:Fallback xmlns="">
          <p:sp>
            <p:nvSpPr>
              <p:cNvPr id="42" name="TextBox 41">
                <a:extLst>
                  <a:ext uri="{FF2B5EF4-FFF2-40B4-BE49-F238E27FC236}">
                    <a16:creationId xmlns:a16="http://schemas.microsoft.com/office/drawing/2014/main" id="{056F8552-3D85-40B7-B09A-9E64C1933AB2}"/>
                  </a:ext>
                </a:extLst>
              </p:cNvPr>
              <p:cNvSpPr txBox="1">
                <a:spLocks noRot="1" noChangeAspect="1" noMove="1" noResize="1" noEditPoints="1" noAdjustHandles="1" noChangeArrowheads="1" noChangeShapeType="1" noTextEdit="1"/>
              </p:cNvSpPr>
              <p:nvPr/>
            </p:nvSpPr>
            <p:spPr>
              <a:xfrm>
                <a:off x="541902" y="4093857"/>
                <a:ext cx="2333774" cy="524567"/>
              </a:xfrm>
              <a:prstGeom prst="rect">
                <a:avLst/>
              </a:prstGeom>
              <a:blipFill>
                <a:blip r:embed="rId8"/>
                <a:stretch>
                  <a:fillRect/>
                </a:stretch>
              </a:blipFill>
            </p:spPr>
            <p:txBody>
              <a:bodyPr/>
              <a:lstStyle/>
              <a:p>
                <a:r>
                  <a:rPr lang="ru-RU">
                    <a:noFill/>
                  </a:rPr>
                  <a:t> </a:t>
                </a:r>
              </a:p>
            </p:txBody>
          </p:sp>
        </mc:Fallback>
      </mc:AlternateContent>
      <p:sp>
        <p:nvSpPr>
          <p:cNvPr id="43" name="Google Shape;418;p39">
            <a:extLst>
              <a:ext uri="{FF2B5EF4-FFF2-40B4-BE49-F238E27FC236}">
                <a16:creationId xmlns="" xmlns:a16="http://schemas.microsoft.com/office/drawing/2014/main" id="{D9E07F0D-D8D6-4961-B75B-70C78DAB38E6}"/>
              </a:ext>
            </a:extLst>
          </p:cNvPr>
          <p:cNvSpPr txBox="1"/>
          <p:nvPr/>
        </p:nvSpPr>
        <p:spPr>
          <a:xfrm>
            <a:off x="5810691" y="4202251"/>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(6)</a:t>
            </a:r>
            <a:endParaRPr sz="1400" b="0" i="0" u="none" strike="noStrike" cap="none" dirty="0">
              <a:solidFill>
                <a:srgbClr val="000000"/>
              </a:solidFill>
              <a:latin typeface="Times New Roman"/>
              <a:ea typeface="Times New Roman"/>
              <a:cs typeface="Times New Roman"/>
              <a:sym typeface="Times New Roman"/>
            </a:endParaRPr>
          </a:p>
        </p:txBody>
      </p:sp>
      <p:sp>
        <p:nvSpPr>
          <p:cNvPr id="44" name="TextBox 43">
            <a:extLst>
              <a:ext uri="{FF2B5EF4-FFF2-40B4-BE49-F238E27FC236}">
                <a16:creationId xmlns="" xmlns:a16="http://schemas.microsoft.com/office/drawing/2014/main" id="{D1D74A28-7D6C-4CFE-ADD8-63365A444680}"/>
              </a:ext>
            </a:extLst>
          </p:cNvPr>
          <p:cNvSpPr txBox="1"/>
          <p:nvPr/>
        </p:nvSpPr>
        <p:spPr>
          <a:xfrm>
            <a:off x="11681926" y="6408575"/>
            <a:ext cx="360784" cy="312570"/>
          </a:xfrm>
          <a:prstGeom prst="rect">
            <a:avLst/>
          </a:prstGeom>
          <a:noFill/>
        </p:spPr>
        <p:txBody>
          <a:bodyPr wrap="square" rtlCol="0">
            <a:spAutoFit/>
          </a:bodyPr>
          <a:lstStyle/>
          <a:p>
            <a:r>
              <a:rPr lang="en-US" dirty="0"/>
              <a:t>8</a:t>
            </a:r>
            <a:endParaRPr lang="ru-RU"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extBox 3"/>
              <p:cNvSpPr txBox="1"/>
              <p:nvPr/>
            </p:nvSpPr>
            <p:spPr>
              <a:xfrm>
                <a:off x="1917597" y="936610"/>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1917597" y="936610"/>
                <a:ext cx="3087897" cy="376321"/>
              </a:xfrm>
              <a:prstGeom prst="rect">
                <a:avLst/>
              </a:prstGeom>
              <a:blipFill>
                <a:blip r:embed="rId2"/>
                <a:stretch>
                  <a:fillRect l="-2767" t="-145902" b="-226230"/>
                </a:stretch>
              </a:blipFill>
            </p:spPr>
            <p:txBody>
              <a:bodyPr/>
              <a:lstStyle/>
              <a:p>
                <a:r>
                  <a:rPr lang="ru-RU">
                    <a:noFill/>
                  </a:rPr>
                  <a:t> </a:t>
                </a:r>
              </a:p>
            </p:txBody>
          </p:sp>
        </mc:Fallback>
      </mc:AlternateContent>
      <p:sp>
        <p:nvSpPr>
          <p:cNvPr id="10" name="TextBox 9"/>
          <p:cNvSpPr txBox="1"/>
          <p:nvPr/>
        </p:nvSpPr>
        <p:spPr>
          <a:xfrm>
            <a:off x="1487258" y="1288002"/>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5893795" y="2652468"/>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5893795" y="2652468"/>
                <a:ext cx="6055889" cy="2943498"/>
              </a:xfrm>
              <a:prstGeom prst="rect">
                <a:avLst/>
              </a:prstGeom>
              <a:blipFill rotWithShape="0">
                <a:blip r:embed="rId4"/>
                <a:stretch>
                  <a:fillRect/>
                </a:stretch>
              </a:blipFill>
            </p:spPr>
            <p:txBody>
              <a:bodyPr/>
              <a:lstStyle/>
              <a:p>
                <a:r>
                  <a:rPr lang="ru-RU">
                    <a:noFill/>
                  </a:rPr>
                  <a:t> </a:t>
                </a:r>
              </a:p>
            </p:txBody>
          </p:sp>
        </mc:Fallback>
      </mc:AlternateContent>
      <p:sp>
        <p:nvSpPr>
          <p:cNvPr id="14" name="TextBox 13"/>
          <p:cNvSpPr txBox="1"/>
          <p:nvPr/>
        </p:nvSpPr>
        <p:spPr>
          <a:xfrm>
            <a:off x="6985798" y="5713343"/>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
        <p:nvSpPr>
          <p:cNvPr id="16" name="Прямоугольник 15"/>
          <p:cNvSpPr/>
          <p:nvPr/>
        </p:nvSpPr>
        <p:spPr>
          <a:xfrm>
            <a:off x="621739" y="4216252"/>
            <a:ext cx="587020" cy="369332"/>
          </a:xfrm>
          <a:prstGeom prst="rect">
            <a:avLst/>
          </a:prstGeom>
        </p:spPr>
        <p:txBody>
          <a:bodyPr wrap="none">
            <a:spAutoFit/>
          </a:bodyPr>
          <a:lstStyle/>
          <a:p>
            <a:r>
              <a:rPr lang="en-US" sz="1800" dirty="0" err="1">
                <a:latin typeface="Times New Roman" panose="02020603050405020304" pitchFamily="18" charset="0"/>
                <a:cs typeface="Times New Roman" panose="02020603050405020304" pitchFamily="18" charset="0"/>
              </a:rPr>
              <a:t>g</a:t>
            </a:r>
            <a:r>
              <a:rPr lang="en-US" sz="1800" baseline="-25000" dirty="0" err="1">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(t)</a:t>
            </a:r>
            <a:endParaRPr lang="ru-RU" sz="1800" dirty="0"/>
          </a:p>
        </p:txBody>
      </p:sp>
      <p:pic>
        <p:nvPicPr>
          <p:cNvPr id="17" name="Рисунок 16"/>
          <p:cNvPicPr>
            <a:picLocks noChangeAspect="1"/>
          </p:cNvPicPr>
          <p:nvPr/>
        </p:nvPicPr>
        <p:blipFill rotWithShape="1">
          <a:blip r:embed="rId5"/>
          <a:srcRect l="2261" t="6649" r="4618" b="8482"/>
          <a:stretch/>
        </p:blipFill>
        <p:spPr>
          <a:xfrm>
            <a:off x="1235273" y="3001964"/>
            <a:ext cx="4088730" cy="2797909"/>
          </a:xfrm>
          <a:prstGeom prst="rect">
            <a:avLst/>
          </a:prstGeom>
        </p:spPr>
      </p:pic>
      <p:sp>
        <p:nvSpPr>
          <p:cNvPr id="28" name="Прямоугольник 27"/>
          <p:cNvSpPr/>
          <p:nvPr/>
        </p:nvSpPr>
        <p:spPr>
          <a:xfrm>
            <a:off x="4767978" y="5882620"/>
            <a:ext cx="779381" cy="369332"/>
          </a:xfrm>
          <a:prstGeom prst="rect">
            <a:avLst/>
          </a:prstGeom>
        </p:spPr>
        <p:txBody>
          <a:bodyPr wrap="none">
            <a:spAutoFit/>
          </a:bodyPr>
          <a:lstStyle/>
          <a:p>
            <a:r>
              <a:rPr lang="en-US" sz="1800" dirty="0">
                <a:latin typeface="Times New Roman" panose="02020603050405020304" pitchFamily="18" charset="0"/>
                <a:cs typeface="Times New Roman" panose="02020603050405020304" pitchFamily="18" charset="0"/>
              </a:rPr>
              <a:t>2T+4</a:t>
            </a:r>
            <a:r>
              <a:rPr lang="el-GR" sz="1800" dirty="0">
                <a:latin typeface="Times New Roman" panose="02020603050405020304" pitchFamily="18" charset="0"/>
                <a:cs typeface="Times New Roman" panose="02020603050405020304" pitchFamily="18" charset="0"/>
              </a:rPr>
              <a:t>τ</a:t>
            </a:r>
            <a:endParaRPr lang="ru-RU" sz="1800" dirty="0"/>
          </a:p>
        </p:txBody>
      </p:sp>
      <p:sp>
        <p:nvSpPr>
          <p:cNvPr id="30" name="TextBox 29">
            <a:extLst>
              <a:ext uri="{FF2B5EF4-FFF2-40B4-BE49-F238E27FC236}">
                <a16:creationId xmlns="" xmlns:a16="http://schemas.microsoft.com/office/drawing/2014/main" id="{F2ADCC68-35D1-46EB-B0D8-184DCA14D90F}"/>
              </a:ext>
            </a:extLst>
          </p:cNvPr>
          <p:cNvSpPr txBox="1"/>
          <p:nvPr/>
        </p:nvSpPr>
        <p:spPr>
          <a:xfrm>
            <a:off x="-750937" y="6436617"/>
            <a:ext cx="8486149" cy="307777"/>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Функция чувствительности квантового гравиметра для ускорения.</a:t>
            </a:r>
            <a:r>
              <a:rPr lang="en-US"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022621"/>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5761</TotalTime>
  <Words>3724</Words>
  <Application>Microsoft Office PowerPoint</Application>
  <PresentationFormat>Широкоэкранный</PresentationFormat>
  <Paragraphs>378</Paragraphs>
  <Slides>40</Slides>
  <Notes>11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40</vt:i4>
      </vt:variant>
    </vt:vector>
  </HeadingPairs>
  <TitlesOfParts>
    <vt:vector size="48" baseType="lpstr">
      <vt:lpstr>Arial</vt:lpstr>
      <vt:lpstr>Calibri</vt:lpstr>
      <vt:lpstr>Cambria Math</vt:lpstr>
      <vt:lpstr>Century Gothic</vt:lpstr>
      <vt:lpstr>Symbol</vt:lpstr>
      <vt:lpstr>Tahoma</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Макаров Антон Олегович</cp:lastModifiedBy>
  <cp:revision>293</cp:revision>
  <dcterms:created xsi:type="dcterms:W3CDTF">2023-12-21T05:49:20Z</dcterms:created>
  <dcterms:modified xsi:type="dcterms:W3CDTF">2025-11-11T12:18:32Z</dcterms:modified>
</cp:coreProperties>
</file>