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1"/>
  </p:notesMasterIdLst>
  <p:handoutMasterIdLst>
    <p:handoutMasterId r:id="rId42"/>
  </p:handoutMasterIdLst>
  <p:sldIdLst>
    <p:sldId id="305" r:id="rId2"/>
    <p:sldId id="306" r:id="rId3"/>
    <p:sldId id="307" r:id="rId4"/>
    <p:sldId id="319" r:id="rId5"/>
    <p:sldId id="258" r:id="rId6"/>
    <p:sldId id="320" r:id="rId7"/>
    <p:sldId id="308" r:id="rId8"/>
    <p:sldId id="321" r:id="rId9"/>
    <p:sldId id="259" r:id="rId10"/>
    <p:sldId id="292" r:id="rId11"/>
    <p:sldId id="312" r:id="rId12"/>
    <p:sldId id="322" r:id="rId13"/>
    <p:sldId id="261" r:id="rId14"/>
    <p:sldId id="323" r:id="rId15"/>
    <p:sldId id="302" r:id="rId16"/>
    <p:sldId id="318" r:id="rId17"/>
    <p:sldId id="324" r:id="rId18"/>
    <p:sldId id="297" r:id="rId19"/>
    <p:sldId id="325" r:id="rId20"/>
    <p:sldId id="268" r:id="rId21"/>
    <p:sldId id="326" r:id="rId22"/>
    <p:sldId id="298" r:id="rId23"/>
    <p:sldId id="327" r:id="rId24"/>
    <p:sldId id="303" r:id="rId25"/>
    <p:sldId id="328" r:id="rId26"/>
    <p:sldId id="313" r:id="rId27"/>
    <p:sldId id="329" r:id="rId28"/>
    <p:sldId id="314" r:id="rId29"/>
    <p:sldId id="330" r:id="rId30"/>
    <p:sldId id="315" r:id="rId31"/>
    <p:sldId id="331" r:id="rId32"/>
    <p:sldId id="316" r:id="rId33"/>
    <p:sldId id="332" r:id="rId34"/>
    <p:sldId id="317" r:id="rId35"/>
    <p:sldId id="333" r:id="rId36"/>
    <p:sldId id="270" r:id="rId37"/>
    <p:sldId id="296" r:id="rId38"/>
    <p:sldId id="266" r:id="rId39"/>
    <p:sldId id="309"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3" roundtripDataSignature="AMtx7mhBqtUg9D33KGP93h8hXToFf3vrq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realladam@gmail.com" initials="k" lastIdx="1" clrIdx="0">
    <p:extLst>
      <p:ext uri="{19B8F6BF-5375-455C-9EA6-DF929625EA0E}">
        <p15:presenceInfo xmlns:p15="http://schemas.microsoft.com/office/powerpoint/2012/main" userId="06abd9abe9dc439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F9F"/>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55" autoAdjust="0"/>
    <p:restoredTop sz="94131" autoAdjust="0"/>
  </p:normalViewPr>
  <p:slideViewPr>
    <p:cSldViewPr snapToGrid="0">
      <p:cViewPr varScale="1">
        <p:scale>
          <a:sx n="90" d="100"/>
          <a:sy n="90" d="100"/>
        </p:scale>
        <p:origin x="523" y="58"/>
      </p:cViewPr>
      <p:guideLst>
        <p:guide orient="horz" pos="2183"/>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customschemas.google.com/relationships/presentationmetadata" Target="meta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53C5C78D-3493-4AB6-B6C4-71977B81E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3349AD0A-FD81-4209-B751-6B835D3BD58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97F42C-05F7-408C-B103-96C0C10292EF}" type="datetimeFigureOut">
              <a:rPr lang="ru-RU" smtClean="0"/>
              <a:t>11.11.2025</a:t>
            </a:fld>
            <a:endParaRPr lang="ru-RU"/>
          </a:p>
        </p:txBody>
      </p:sp>
      <p:sp>
        <p:nvSpPr>
          <p:cNvPr id="4" name="Нижний колонтитул 3">
            <a:extLst>
              <a:ext uri="{FF2B5EF4-FFF2-40B4-BE49-F238E27FC236}">
                <a16:creationId xmlns:a16="http://schemas.microsoft.com/office/drawing/2014/main" id="{C77F5D0C-A26F-41B4-A78D-D513AA88C0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77CC604D-54B8-4AC3-A942-D3AE589051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C61B033-AC90-43D5-B19D-E9E156403019}" type="slidenum">
              <a:rPr lang="ru-RU" smtClean="0"/>
              <a:t>‹#›</a:t>
            </a:fld>
            <a:endParaRPr lang="ru-RU"/>
          </a:p>
        </p:txBody>
      </p:sp>
    </p:spTree>
    <p:extLst>
      <p:ext uri="{BB962C8B-B14F-4D97-AF65-F5344CB8AC3E}">
        <p14:creationId xmlns:p14="http://schemas.microsoft.com/office/powerpoint/2010/main" val="253240203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ru-R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8492247"/>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 name="Google Shape;8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0156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Tree>
    <p:extLst>
      <p:ext uri="{BB962C8B-B14F-4D97-AF65-F5344CB8AC3E}">
        <p14:creationId xmlns:p14="http://schemas.microsoft.com/office/powerpoint/2010/main" val="2636911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0632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46886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ru-RU"/>
              <a:t>Корректировки:</a:t>
            </a:r>
            <a:br>
              <a:rPr lang="ru-RU"/>
            </a:br>
            <a:r>
              <a:rPr lang="ru-RU"/>
              <a:t>1. Много текста</a:t>
            </a:r>
            <a:endParaRPr/>
          </a:p>
        </p:txBody>
      </p:sp>
      <p:sp>
        <p:nvSpPr>
          <p:cNvPr id="184" name="Google Shape;18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7583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5" name="Google Shape;435;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1757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8601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5868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Пустой слайд" type="blank">
  <p:cSld name="BLANK">
    <p:spTree>
      <p:nvGrpSpPr>
        <p:cNvPr id="1" name="Shape 21"/>
        <p:cNvGrpSpPr/>
        <p:nvPr/>
      </p:nvGrpSpPr>
      <p:grpSpPr>
        <a:xfrm>
          <a:off x="0" y="0"/>
          <a:ext cx="0" cy="0"/>
          <a:chOff x="0" y="0"/>
          <a:chExt cx="0" cy="0"/>
        </a:xfrm>
      </p:grpSpPr>
      <p:sp>
        <p:nvSpPr>
          <p:cNvPr id="22" name="Google Shape;2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оловок и объект" type="obj">
  <p:cSld name="OBJECT">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оловок раздела" type="secHead">
  <p:cSld name="SECTION_HEADER">
    <p:spTree>
      <p:nvGrpSpPr>
        <p:cNvPr id="1" name="Shape 31"/>
        <p:cNvGrpSpPr/>
        <p:nvPr/>
      </p:nvGrpSpPr>
      <p:grpSpPr>
        <a:xfrm>
          <a:off x="0" y="0"/>
          <a:ext cx="0" cy="0"/>
          <a:chOff x="0" y="0"/>
          <a:chExt cx="0" cy="0"/>
        </a:xfrm>
      </p:grpSpPr>
      <p:sp>
        <p:nvSpPr>
          <p:cNvPr id="32" name="Google Shape;32;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Два объекта"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Сравнение"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Объект с подписью" type="objTx">
  <p:cSld name="OBJECT_WITH_CAPTION_TEXT">
    <p:spTree>
      <p:nvGrpSpPr>
        <p:cNvPr id="1" name="Shape 53"/>
        <p:cNvGrpSpPr/>
        <p:nvPr/>
      </p:nvGrpSpPr>
      <p:grpSpPr>
        <a:xfrm>
          <a:off x="0" y="0"/>
          <a:ext cx="0" cy="0"/>
          <a:chOff x="0" y="0"/>
          <a:chExt cx="0" cy="0"/>
        </a:xfrm>
      </p:grpSpPr>
      <p:sp>
        <p:nvSpPr>
          <p:cNvPr id="54" name="Google Shape;54;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Заголовок и вертикальный текст" type="vertTx">
  <p:cSld name="VERTICAL_TEXT">
    <p:spTree>
      <p:nvGrpSpPr>
        <p:cNvPr id="1" name="Shape 67"/>
        <p:cNvGrpSpPr/>
        <p:nvPr/>
      </p:nvGrpSpPr>
      <p:grpSpPr>
        <a:xfrm>
          <a:off x="0" y="0"/>
          <a:ext cx="0" cy="0"/>
          <a:chOff x="0" y="0"/>
          <a:chExt cx="0" cy="0"/>
        </a:xfrm>
      </p:grpSpPr>
      <p:sp>
        <p:nvSpPr>
          <p:cNvPr id="68" name="Google Shape;68;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Вертикальный заголовок и текст" type="vertTitleAndTx">
  <p:cSld name="VERTICAL_TITLE_AND_VERTICAL_TEXT">
    <p:spTree>
      <p:nvGrpSpPr>
        <p:cNvPr id="1" name="Shape 73"/>
        <p:cNvGrpSpPr/>
        <p:nvPr/>
      </p:nvGrpSpPr>
      <p:grpSpPr>
        <a:xfrm>
          <a:off x="0" y="0"/>
          <a:ext cx="0" cy="0"/>
          <a:chOff x="0" y="0"/>
          <a:chExt cx="0" cy="0"/>
        </a:xfrm>
      </p:grpSpPr>
      <p:sp>
        <p:nvSpPr>
          <p:cNvPr id="74" name="Google Shape;74;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Титульный слайд" type="title">
  <p:cSld name="Титульный слайд">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extLst>
      <p:ext uri="{BB962C8B-B14F-4D97-AF65-F5344CB8AC3E}">
        <p14:creationId xmlns:p14="http://schemas.microsoft.com/office/powerpoint/2010/main" val="413798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ru-RU"/>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1.pn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200.png"/><Relationship Id="rId4" Type="http://schemas.openxmlformats.org/officeDocument/2006/relationships/image" Target="../media/image19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00.png"/><Relationship Id="rId7" Type="http://schemas.openxmlformats.org/officeDocument/2006/relationships/image" Target="../media/image14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110.png"/></Relationships>
</file>

<file path=ppt/slides/_rels/slide3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28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
          <p:cNvSpPr txBox="1"/>
          <p:nvPr/>
        </p:nvSpPr>
        <p:spPr>
          <a:xfrm>
            <a:off x="880131" y="3185368"/>
            <a:ext cx="10362068" cy="46162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200"/>
              <a:buFont typeface="Arial"/>
              <a:buNone/>
            </a:pPr>
            <a:r>
              <a:rPr lang="ru-RU" sz="2400" b="0" i="0" u="sng" strike="noStrike" cap="none">
                <a:solidFill>
                  <a:schemeClr val="dk1"/>
                </a:solidFill>
                <a:latin typeface="Times New Roman"/>
                <a:ea typeface="Times New Roman"/>
                <a:cs typeface="Times New Roman"/>
                <a:sym typeface="Times New Roman"/>
              </a:rPr>
              <a:t>К.Н. Адамов</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Д.Н. Капуста</a:t>
            </a:r>
            <a:r>
              <a:rPr lang="ru-RU" sz="2400" b="0" i="0" u="none" strike="noStrike" cap="none" baseline="30000">
                <a:solidFill>
                  <a:schemeClr val="dk1"/>
                </a:solidFill>
                <a:latin typeface="Times New Roman"/>
                <a:ea typeface="Times New Roman"/>
                <a:cs typeface="Times New Roman"/>
                <a:sym typeface="Times New Roman"/>
              </a:rPr>
              <a:t>1,2</a:t>
            </a:r>
            <a:r>
              <a:rPr lang="ru-RU" sz="2400" b="0" i="0" u="none" strike="noStrike" cap="none">
                <a:solidFill>
                  <a:schemeClr val="dk1"/>
                </a:solidFill>
                <a:latin typeface="Times New Roman"/>
                <a:ea typeface="Times New Roman"/>
                <a:cs typeface="Times New Roman"/>
                <a:sym typeface="Times New Roman"/>
              </a:rPr>
              <a:t>, А.Э.Бонерт</a:t>
            </a:r>
            <a:r>
              <a:rPr lang="ru-RU" sz="2400" b="0" i="0" u="none" strike="noStrike" cap="none" baseline="30000">
                <a:solidFill>
                  <a:schemeClr val="dk1"/>
                </a:solidFill>
                <a:latin typeface="Times New Roman"/>
                <a:ea typeface="Times New Roman"/>
                <a:cs typeface="Times New Roman"/>
                <a:sym typeface="Times New Roman"/>
              </a:rPr>
              <a:t>1</a:t>
            </a:r>
            <a:r>
              <a:rPr lang="ru-RU" sz="2400" b="0" i="0" u="none" strike="noStrike" cap="none">
                <a:solidFill>
                  <a:schemeClr val="dk1"/>
                </a:solidFill>
                <a:latin typeface="Times New Roman"/>
                <a:ea typeface="Times New Roman"/>
                <a:cs typeface="Times New Roman"/>
                <a:sym typeface="Times New Roman"/>
              </a:rPr>
              <a:t>, А.Н. Гончаров</a:t>
            </a:r>
            <a:r>
              <a:rPr lang="ru-RU" sz="2400" b="0" i="0" u="none" strike="noStrike" cap="none" baseline="30000">
                <a:solidFill>
                  <a:schemeClr val="dk1"/>
                </a:solidFill>
                <a:latin typeface="Times New Roman"/>
                <a:ea typeface="Times New Roman"/>
                <a:cs typeface="Times New Roman"/>
                <a:sym typeface="Times New Roman"/>
              </a:rPr>
              <a:t>1,2,3</a:t>
            </a:r>
            <a:endParaRPr sz="2400" b="0" i="0" u="sng" strike="noStrike" cap="none" baseline="30000">
              <a:solidFill>
                <a:srgbClr val="000000"/>
              </a:solidFill>
              <a:latin typeface="Arial"/>
              <a:ea typeface="Arial"/>
              <a:cs typeface="Arial"/>
              <a:sym typeface="Arial"/>
            </a:endParaRPr>
          </a:p>
        </p:txBody>
      </p:sp>
      <p:sp>
        <p:nvSpPr>
          <p:cNvPr id="84" name="Google Shape;84;p1"/>
          <p:cNvSpPr txBox="1"/>
          <p:nvPr/>
        </p:nvSpPr>
        <p:spPr>
          <a:xfrm>
            <a:off x="-55685" y="1042072"/>
            <a:ext cx="12303370" cy="1325563"/>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200"/>
              <a:buFont typeface="Times New Roman"/>
              <a:buNone/>
            </a:pPr>
            <a:r>
              <a:rPr lang="ru-RU" sz="3200" b="1" i="0" u="none" strike="noStrike" cap="none" dirty="0">
                <a:solidFill>
                  <a:schemeClr val="dk1"/>
                </a:solidFill>
                <a:latin typeface="Times New Roman"/>
                <a:ea typeface="Times New Roman"/>
                <a:cs typeface="Times New Roman"/>
                <a:sym typeface="Times New Roman"/>
              </a:rPr>
              <a:t>Подготовка начального волнового пакета для квантового интерферометра-гравиметра</a:t>
            </a:r>
            <a:endParaRPr sz="3200" b="1" i="0" u="none" strike="noStrike" cap="none" dirty="0">
              <a:solidFill>
                <a:schemeClr val="dk1"/>
              </a:solidFill>
              <a:latin typeface="Times New Roman"/>
              <a:ea typeface="Times New Roman"/>
              <a:cs typeface="Times New Roman"/>
              <a:sym typeface="Times New Roman"/>
            </a:endParaRPr>
          </a:p>
        </p:txBody>
      </p:sp>
      <p:sp>
        <p:nvSpPr>
          <p:cNvPr id="85" name="Google Shape;85;p1"/>
          <p:cNvSpPr txBox="1"/>
          <p:nvPr/>
        </p:nvSpPr>
        <p:spPr>
          <a:xfrm>
            <a:off x="4156140" y="80866"/>
            <a:ext cx="4149011" cy="55399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Институт лазерной физики СО РАН</a:t>
            </a:r>
            <a:endParaRPr sz="16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Новосибирск, Россия</a:t>
            </a:r>
            <a:endParaRPr/>
          </a:p>
        </p:txBody>
      </p:sp>
      <p:sp>
        <p:nvSpPr>
          <p:cNvPr id="86" name="Google Shape;86;p1"/>
          <p:cNvSpPr txBox="1"/>
          <p:nvPr/>
        </p:nvSpPr>
        <p:spPr>
          <a:xfrm>
            <a:off x="2720805" y="3737956"/>
            <a:ext cx="7850156"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1</a:t>
            </a:r>
            <a:r>
              <a:rPr lang="ru-RU" sz="1600" b="0" i="1" u="none" strike="noStrike" cap="none" dirty="0">
                <a:solidFill>
                  <a:srgbClr val="000000"/>
                </a:solidFill>
                <a:latin typeface="Times New Roman"/>
                <a:ea typeface="Times New Roman"/>
                <a:cs typeface="Times New Roman"/>
                <a:sym typeface="Times New Roman"/>
              </a:rPr>
              <a:t>Институт лазерной физики СО РАН,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2</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университет, Новосибирск, Россия</a:t>
            </a:r>
            <a:endParaRPr dirty="0"/>
          </a:p>
          <a:p>
            <a:pPr marL="0" marR="0" lvl="0" indent="0" algn="l" rtl="0">
              <a:lnSpc>
                <a:spcPct val="100000"/>
              </a:lnSpc>
              <a:spcBef>
                <a:spcPts val="0"/>
              </a:spcBef>
              <a:spcAft>
                <a:spcPts val="0"/>
              </a:spcAft>
              <a:buNone/>
            </a:pPr>
            <a:r>
              <a:rPr lang="ru-RU" sz="1600" b="0" i="1" u="none" strike="noStrike" cap="none" baseline="30000" dirty="0">
                <a:solidFill>
                  <a:srgbClr val="000000"/>
                </a:solidFill>
                <a:latin typeface="Times New Roman"/>
                <a:ea typeface="Times New Roman"/>
                <a:cs typeface="Times New Roman"/>
                <a:sym typeface="Times New Roman"/>
              </a:rPr>
              <a:t>3</a:t>
            </a:r>
            <a:r>
              <a:rPr lang="ru-RU" sz="1600" b="0" i="1" u="none" strike="noStrike" cap="none" dirty="0">
                <a:solidFill>
                  <a:srgbClr val="000000"/>
                </a:solidFill>
                <a:latin typeface="Times New Roman"/>
                <a:ea typeface="Times New Roman"/>
                <a:cs typeface="Times New Roman"/>
                <a:sym typeface="Times New Roman"/>
              </a:rPr>
              <a:t>Новосибирский государственный технический университет, Новосибирск, Россия</a:t>
            </a:r>
            <a:endParaRPr sz="1600" b="0" i="1" u="none" strike="noStrike" cap="none" dirty="0">
              <a:solidFill>
                <a:srgbClr val="000000"/>
              </a:solidFill>
              <a:latin typeface="Times New Roman"/>
              <a:ea typeface="Times New Roman"/>
              <a:cs typeface="Times New Roman"/>
              <a:sym typeface="Times New Roman"/>
            </a:endParaRPr>
          </a:p>
        </p:txBody>
      </p:sp>
      <p:sp>
        <p:nvSpPr>
          <p:cNvPr id="87" name="Google Shape;87;p1"/>
          <p:cNvSpPr txBox="1"/>
          <p:nvPr/>
        </p:nvSpPr>
        <p:spPr>
          <a:xfrm>
            <a:off x="261256" y="5984033"/>
            <a:ext cx="3097763"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600" b="0" i="0" u="none" strike="noStrike" cap="none">
                <a:solidFill>
                  <a:srgbClr val="000000"/>
                </a:solidFill>
                <a:latin typeface="Times New Roman"/>
                <a:ea typeface="Times New Roman"/>
                <a:cs typeface="Times New Roman"/>
                <a:sym typeface="Times New Roman"/>
              </a:rPr>
              <a:t>email: ofadamovkirill@gmail.com</a:t>
            </a:r>
            <a:endParaRPr sz="16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289225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549" y="104154"/>
            <a:ext cx="7889965" cy="3724096"/>
          </a:xfrm>
          <a:prstGeom prst="rect">
            <a:avLst/>
          </a:prstGeom>
          <a:noFill/>
        </p:spPr>
        <p:txBody>
          <a:bodyPr wrap="square" rtlCol="0">
            <a:spAutoFit/>
          </a:bodyPr>
          <a:lstStyle/>
          <a:p>
            <a:r>
              <a:rPr lang="ru-RU" sz="3600" dirty="0">
                <a:latin typeface="Times New Roman" panose="02020603050405020304" pitchFamily="18" charset="0"/>
                <a:cs typeface="Times New Roman" panose="02020603050405020304" pitchFamily="18" charset="0"/>
              </a:rPr>
              <a:t>Содержание</a:t>
            </a:r>
            <a:r>
              <a:rPr lang="en-US" sz="3200" dirty="0">
                <a:latin typeface="Times New Roman" panose="02020603050405020304" pitchFamily="18" charset="0"/>
                <a:cs typeface="Times New Roman" panose="02020603050405020304" pitchFamily="18" charset="0"/>
              </a:rPr>
              <a:t>:</a:t>
            </a:r>
          </a:p>
          <a:p>
            <a:endParaRPr lang="en-US" sz="3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Введение</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Общие принципы работы квантового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Оптическая схема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Экспериментальная установка гравиметра</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оптической накачки</a:t>
            </a: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Исследование по компенсации вибрационных шумов</a:t>
            </a: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ru-RU" sz="2400" dirty="0">
                <a:latin typeface="Times New Roman" panose="02020603050405020304" pitchFamily="18" charset="0"/>
                <a:cs typeface="Times New Roman" panose="02020603050405020304" pitchFamily="18" charset="0"/>
              </a:rPr>
              <a:t>Заключение</a:t>
            </a:r>
          </a:p>
        </p:txBody>
      </p:sp>
    </p:spTree>
    <p:extLst>
      <p:ext uri="{BB962C8B-B14F-4D97-AF65-F5344CB8AC3E}">
        <p14:creationId xmlns:p14="http://schemas.microsoft.com/office/powerpoint/2010/main" val="1333970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94;p16">
            <a:extLst>
              <a:ext uri="{FF2B5EF4-FFF2-40B4-BE49-F238E27FC236}">
                <a16:creationId xmlns:a16="http://schemas.microsoft.com/office/drawing/2014/main" id="{C5767328-1785-46B5-813F-A312F3382CC4}"/>
              </a:ext>
            </a:extLst>
          </p:cNvPr>
          <p:cNvSpPr/>
          <p:nvPr/>
        </p:nvSpPr>
        <p:spPr>
          <a:xfrm>
            <a:off x="2495423" y="44900"/>
            <a:ext cx="6910755" cy="35410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Введение</a:t>
            </a:r>
            <a:endParaRPr sz="1400" b="0" i="0" u="none" strike="noStrike" cap="none" dirty="0">
              <a:solidFill>
                <a:srgbClr val="000000"/>
              </a:solidFill>
              <a:latin typeface="Arial"/>
              <a:ea typeface="Arial"/>
              <a:cs typeface="Arial"/>
              <a:sym typeface="Arial"/>
            </a:endParaRPr>
          </a:p>
        </p:txBody>
      </p:sp>
      <p:sp>
        <p:nvSpPr>
          <p:cNvPr id="13" name="TextBox 12">
            <a:extLst>
              <a:ext uri="{FF2B5EF4-FFF2-40B4-BE49-F238E27FC236}">
                <a16:creationId xmlns:a16="http://schemas.microsoft.com/office/drawing/2014/main" id="{593EC11A-A157-487D-ADF7-8A978D0305FA}"/>
              </a:ext>
            </a:extLst>
          </p:cNvPr>
          <p:cNvSpPr txBox="1"/>
          <p:nvPr/>
        </p:nvSpPr>
        <p:spPr>
          <a:xfrm>
            <a:off x="11681926" y="6408575"/>
            <a:ext cx="360784" cy="312570"/>
          </a:xfrm>
          <a:prstGeom prst="rect">
            <a:avLst/>
          </a:prstGeom>
          <a:noFill/>
        </p:spPr>
        <p:txBody>
          <a:bodyPr wrap="square" rtlCol="0">
            <a:spAutoFit/>
          </a:bodyPr>
          <a:lstStyle/>
          <a:p>
            <a:r>
              <a:rPr lang="ru-RU" dirty="0"/>
              <a:t>1</a:t>
            </a:r>
          </a:p>
        </p:txBody>
      </p:sp>
      <p:sp>
        <p:nvSpPr>
          <p:cNvPr id="14" name="Прямоугольник 13"/>
          <p:cNvSpPr/>
          <p:nvPr/>
        </p:nvSpPr>
        <p:spPr>
          <a:xfrm>
            <a:off x="10262367" y="44900"/>
            <a:ext cx="1619354" cy="369332"/>
          </a:xfrm>
          <a:prstGeom prst="rect">
            <a:avLst/>
          </a:prstGeom>
        </p:spPr>
        <p:txBody>
          <a:bodyPr wrap="none">
            <a:spAutoFit/>
          </a:bodyPr>
          <a:lstStyle/>
          <a:p>
            <a:r>
              <a:rPr lang="ru-RU" sz="1800" dirty="0">
                <a:solidFill>
                  <a:srgbClr val="FF0000"/>
                </a:solidFill>
                <a:latin typeface="Times New Roman"/>
                <a:ea typeface="Times New Roman"/>
                <a:cs typeface="Times New Roman"/>
                <a:sym typeface="Times New Roman"/>
              </a:rPr>
              <a:t>1 </a:t>
            </a:r>
            <a:r>
              <a:rPr lang="ru-RU" sz="1800" dirty="0" err="1">
                <a:solidFill>
                  <a:srgbClr val="FF0000"/>
                </a:solidFill>
                <a:latin typeface="Times New Roman"/>
                <a:ea typeface="Times New Roman"/>
                <a:cs typeface="Times New Roman"/>
                <a:sym typeface="Times New Roman"/>
              </a:rPr>
              <a:t>Гал</a:t>
            </a:r>
            <a:r>
              <a:rPr lang="ru-RU" sz="1800" dirty="0">
                <a:solidFill>
                  <a:srgbClr val="FF0000"/>
                </a:solidFill>
                <a:latin typeface="Times New Roman"/>
                <a:ea typeface="Times New Roman"/>
                <a:cs typeface="Times New Roman"/>
                <a:sym typeface="Times New Roman"/>
              </a:rPr>
              <a:t> = 1 см</a:t>
            </a:r>
            <a:r>
              <a:rPr lang="en-US" sz="1800" dirty="0">
                <a:solidFill>
                  <a:srgbClr val="FF0000"/>
                </a:solidFill>
                <a:latin typeface="Times New Roman"/>
                <a:ea typeface="Times New Roman"/>
                <a:cs typeface="Times New Roman"/>
                <a:sym typeface="Times New Roman"/>
              </a:rPr>
              <a:t>/c</a:t>
            </a:r>
            <a:r>
              <a:rPr lang="en-US" sz="1800" baseline="30000" dirty="0">
                <a:solidFill>
                  <a:srgbClr val="FF0000"/>
                </a:solidFill>
                <a:latin typeface="Times New Roman"/>
                <a:ea typeface="Times New Roman"/>
                <a:cs typeface="Times New Roman"/>
                <a:sym typeface="Times New Roman"/>
              </a:rPr>
              <a:t>2</a:t>
            </a:r>
            <a:endParaRPr lang="ru-RU" sz="1800" baseline="30000" dirty="0">
              <a:solidFill>
                <a:srgbClr val="FF0000"/>
              </a:solidFill>
            </a:endParaRPr>
          </a:p>
        </p:txBody>
      </p:sp>
      <p:graphicFrame>
        <p:nvGraphicFramePr>
          <p:cNvPr id="15" name="Таблица 14">
            <a:extLst>
              <a:ext uri="{FF2B5EF4-FFF2-40B4-BE49-F238E27FC236}">
                <a16:creationId xmlns:a16="http://schemas.microsoft.com/office/drawing/2014/main" id="{7088C13C-1B02-440F-93B7-1757D68623CE}"/>
              </a:ext>
            </a:extLst>
          </p:cNvPr>
          <p:cNvGraphicFramePr>
            <a:graphicFrameLocks noGrp="1"/>
          </p:cNvGraphicFramePr>
          <p:nvPr>
            <p:extLst>
              <p:ext uri="{D42A27DB-BD31-4B8C-83A1-F6EECF244321}">
                <p14:modId xmlns:p14="http://schemas.microsoft.com/office/powerpoint/2010/main" val="1881787102"/>
              </p:ext>
            </p:extLst>
          </p:nvPr>
        </p:nvGraphicFramePr>
        <p:xfrm>
          <a:off x="309068" y="2663855"/>
          <a:ext cx="11263144" cy="3790745"/>
        </p:xfrm>
        <a:graphic>
          <a:graphicData uri="http://schemas.openxmlformats.org/drawingml/2006/table">
            <a:tbl>
              <a:tblPr firstRow="1" bandRow="1">
                <a:tableStyleId>{5C22544A-7EE6-4342-B048-85BDC9FD1C3A}</a:tableStyleId>
              </a:tblPr>
              <a:tblGrid>
                <a:gridCol w="2769412">
                  <a:extLst>
                    <a:ext uri="{9D8B030D-6E8A-4147-A177-3AD203B41FA5}">
                      <a16:colId xmlns:a16="http://schemas.microsoft.com/office/drawing/2014/main" val="20000"/>
                    </a:ext>
                  </a:extLst>
                </a:gridCol>
                <a:gridCol w="3007360">
                  <a:extLst>
                    <a:ext uri="{9D8B030D-6E8A-4147-A177-3AD203B41FA5}">
                      <a16:colId xmlns:a16="http://schemas.microsoft.com/office/drawing/2014/main" val="20001"/>
                    </a:ext>
                  </a:extLst>
                </a:gridCol>
                <a:gridCol w="2221805">
                  <a:extLst>
                    <a:ext uri="{9D8B030D-6E8A-4147-A177-3AD203B41FA5}">
                      <a16:colId xmlns:a16="http://schemas.microsoft.com/office/drawing/2014/main" val="20002"/>
                    </a:ext>
                  </a:extLst>
                </a:gridCol>
                <a:gridCol w="3264567">
                  <a:extLst>
                    <a:ext uri="{9D8B030D-6E8A-4147-A177-3AD203B41FA5}">
                      <a16:colId xmlns:a16="http://schemas.microsoft.com/office/drawing/2014/main" val="20003"/>
                    </a:ext>
                  </a:extLst>
                </a:gridCol>
              </a:tblGrid>
              <a:tr h="412593">
                <a:tc>
                  <a:txBody>
                    <a:bodyPr/>
                    <a:lstStyle/>
                    <a:p>
                      <a:pPr algn="ctr"/>
                      <a:r>
                        <a:rPr lang="ru-RU" sz="1800" b="1" u="sng" dirty="0">
                          <a:solidFill>
                            <a:schemeClr val="tx1"/>
                          </a:solidFill>
                          <a:latin typeface="Times New Roman" panose="02020603050405020304" pitchFamily="18" charset="0"/>
                          <a:cs typeface="Times New Roman" panose="02020603050405020304" pitchFamily="18" charset="0"/>
                        </a:rPr>
                        <a:t>Типы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Относительные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dirty="0">
                          <a:solidFill>
                            <a:schemeClr val="tx1"/>
                          </a:solidFill>
                          <a:latin typeface="Times New Roman" panose="02020603050405020304" pitchFamily="18" charset="0"/>
                          <a:cs typeface="Times New Roman" panose="02020603050405020304" pitchFamily="18" charset="0"/>
                        </a:rPr>
                        <a:t>Абсолютные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02609">
                <a:tc>
                  <a:txBody>
                    <a:bodyPr/>
                    <a:lstStyle/>
                    <a:p>
                      <a:pPr algn="ctr"/>
                      <a:r>
                        <a:rPr lang="ru-RU" sz="1600" b="1" i="1" u="sng" dirty="0">
                          <a:solidFill>
                            <a:schemeClr val="tx1"/>
                          </a:solidFill>
                          <a:latin typeface="Times New Roman" panose="02020603050405020304" pitchFamily="18" charset="0"/>
                          <a:cs typeface="Times New Roman" panose="02020603050405020304" pitchFamily="18" charset="0"/>
                        </a:rPr>
                        <a:t>Виды гравиметров</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1" i="1" dirty="0">
                          <a:solidFill>
                            <a:schemeClr val="tx1"/>
                          </a:solidFill>
                          <a:latin typeface="Times New Roman" panose="02020603050405020304" pitchFamily="18" charset="0"/>
                          <a:cs typeface="Times New Roman" panose="02020603050405020304" pitchFamily="18" charset="0"/>
                        </a:rPr>
                        <a:t>Сверхпроводниковые</a:t>
                      </a:r>
                      <a:r>
                        <a:rPr lang="en-US" sz="1600" b="1" i="1" dirty="0">
                          <a:solidFill>
                            <a:schemeClr val="tx1"/>
                          </a:solidFill>
                          <a:latin typeface="Times New Roman" panose="02020603050405020304" pitchFamily="18" charset="0"/>
                          <a:cs typeface="Times New Roman" panose="02020603050405020304" pitchFamily="18" charset="0"/>
                        </a:rPr>
                        <a:t>(GWR)</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Баллистические</a:t>
                      </a:r>
                      <a:r>
                        <a:rPr lang="en-US" sz="1600" b="1" i="1" dirty="0">
                          <a:solidFill>
                            <a:schemeClr val="tx1"/>
                          </a:solidFill>
                          <a:latin typeface="Times New Roman" panose="02020603050405020304" pitchFamily="18" charset="0"/>
                          <a:cs typeface="Times New Roman" panose="02020603050405020304" pitchFamily="18" charset="0"/>
                        </a:rPr>
                        <a:t>(FG5)</a:t>
                      </a:r>
                      <a:endParaRPr lang="ru-RU" sz="1600" b="1" i="1"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1" i="1" dirty="0">
                          <a:solidFill>
                            <a:schemeClr val="tx1"/>
                          </a:solidFill>
                          <a:latin typeface="Times New Roman" panose="02020603050405020304" pitchFamily="18" charset="0"/>
                          <a:cs typeface="Times New Roman" panose="02020603050405020304" pitchFamily="18" charset="0"/>
                        </a:rPr>
                        <a:t>Квантовые(</a:t>
                      </a:r>
                      <a:r>
                        <a:rPr lang="en-US" sz="1600" b="1" i="1" dirty="0">
                          <a:solidFill>
                            <a:schemeClr val="tx1"/>
                          </a:solidFill>
                          <a:latin typeface="Times New Roman" panose="02020603050405020304" pitchFamily="18" charset="0"/>
                          <a:cs typeface="Times New Roman" panose="02020603050405020304" pitchFamily="18" charset="0"/>
                        </a:rPr>
                        <a:t>Tao Zhang, Wuhan</a:t>
                      </a:r>
                      <a:r>
                        <a:rPr lang="ru-RU" sz="1600" b="1" i="1" dirty="0">
                          <a:solidFill>
                            <a:schemeClr val="tx1"/>
                          </a:solidFill>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Чувствительность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1</a:t>
                      </a:r>
                      <a:r>
                        <a:rPr lang="en-US" b="0" dirty="0">
                          <a:solidFill>
                            <a:schemeClr val="tx1"/>
                          </a:solidFill>
                          <a:latin typeface="Times New Roman" panose="02020603050405020304" pitchFamily="18" charset="0"/>
                          <a:cs typeface="Times New Roman" panose="02020603050405020304" pitchFamily="18" charset="0"/>
                        </a:rPr>
                        <a:t>0</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нГал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15</a:t>
                      </a:r>
                      <a:r>
                        <a:rPr lang="ru-RU" b="0" dirty="0">
                          <a:solidFill>
                            <a:schemeClr val="tx1"/>
                          </a:solidFill>
                          <a:latin typeface="Times New Roman" panose="02020603050405020304" pitchFamily="18" charset="0"/>
                          <a:cs typeface="Times New Roman" panose="02020603050405020304" pitchFamily="18" charset="0"/>
                        </a:rPr>
                        <a:t>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r>
                        <a:rPr lang="en-US" b="0" dirty="0">
                          <a:solidFill>
                            <a:schemeClr val="tx1"/>
                          </a:solidFill>
                          <a:latin typeface="Times New Roman" panose="02020603050405020304" pitchFamily="18" charset="0"/>
                          <a:cs typeface="Times New Roman" panose="02020603050405020304" pitchFamily="18" charset="0"/>
                        </a:rPr>
                        <a:t>/</a:t>
                      </a:r>
                      <a:r>
                        <a:rPr lang="ru-RU"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a:t>
                      </a:r>
                      <a:r>
                        <a:rPr lang="ru-RU" sz="1400" b="0"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Гц</a:t>
                      </a:r>
                      <a:r>
                        <a:rPr lang="ru-RU" b="0" baseline="0" dirty="0">
                          <a:solidFill>
                            <a:schemeClr val="tx1"/>
                          </a:solidFill>
                          <a:latin typeface="Times New Roman" panose="02020603050405020304" pitchFamily="18" charset="0"/>
                          <a:cs typeface="Times New Roman" panose="02020603050405020304" pitchFamily="18" charset="0"/>
                        </a:rPr>
                        <a:t> </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00178">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Стабильность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0.05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0.1</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0.0</a:t>
                      </a:r>
                      <a:r>
                        <a:rPr lang="en-US" b="0" dirty="0">
                          <a:solidFill>
                            <a:schemeClr val="tx1"/>
                          </a:solidFill>
                          <a:latin typeface="Times New Roman" panose="02020603050405020304" pitchFamily="18" charset="0"/>
                          <a:cs typeface="Times New Roman" panose="02020603050405020304" pitchFamily="18" charset="0"/>
                        </a:rPr>
                        <a:t>8</a:t>
                      </a:r>
                      <a:r>
                        <a:rPr lang="ru-RU" b="0" dirty="0">
                          <a:solidFill>
                            <a:schemeClr val="tx1"/>
                          </a:solidFill>
                          <a:latin typeface="Times New Roman" panose="02020603050405020304" pitchFamily="18" charset="0"/>
                          <a:cs typeface="Times New Roman" panose="02020603050405020304" pitchFamily="18" charset="0"/>
                        </a:rPr>
                        <a:t>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0599">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Точность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2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0" dirty="0">
                          <a:solidFill>
                            <a:schemeClr val="tx1"/>
                          </a:solidFill>
                          <a:latin typeface="Times New Roman" panose="02020603050405020304" pitchFamily="18" charset="0"/>
                          <a:cs typeface="Times New Roman" panose="02020603050405020304" pitchFamily="18" charset="0"/>
                        </a:rPr>
                        <a:t>0.5</a:t>
                      </a:r>
                      <a:r>
                        <a:rPr lang="ru-RU" b="0" dirty="0">
                          <a:solidFill>
                            <a:schemeClr val="tx1"/>
                          </a:solidFill>
                          <a:latin typeface="Times New Roman" panose="02020603050405020304" pitchFamily="18" charset="0"/>
                          <a:cs typeface="Times New Roman" panose="02020603050405020304" pitchFamily="18" charset="0"/>
                        </a:rPr>
                        <a:t> </a:t>
                      </a:r>
                      <a:r>
                        <a:rPr lang="ru-RU" b="0" dirty="0" err="1">
                          <a:solidFill>
                            <a:schemeClr val="tx1"/>
                          </a:solidFill>
                          <a:latin typeface="Times New Roman" panose="02020603050405020304" pitchFamily="18" charset="0"/>
                          <a:cs typeface="Times New Roman" panose="02020603050405020304" pitchFamily="18" charset="0"/>
                        </a:rPr>
                        <a:t>мкГал</a:t>
                      </a:r>
                      <a:endParaRPr lang="ru-RU"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0096">
                <a:tc>
                  <a:txBody>
                    <a:bodyPr/>
                    <a:lstStyle/>
                    <a:p>
                      <a:pPr algn="ctr"/>
                      <a:r>
                        <a:rPr lang="ru-RU" sz="1600" b="0" u="sng"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0" dirty="0">
                          <a:solidFill>
                            <a:schemeClr val="tx1"/>
                          </a:solidFill>
                          <a:latin typeface="Times New Roman" panose="02020603050405020304" pitchFamily="18" charset="0"/>
                          <a:cs typeface="Times New Roman" panose="02020603050405020304" pitchFamily="18" charset="0"/>
                        </a:rPr>
                        <a:t>1 </a:t>
                      </a:r>
                      <a:r>
                        <a:rPr lang="ru-RU" b="0" dirty="0" err="1">
                          <a:solidFill>
                            <a:schemeClr val="tx1"/>
                          </a:solidFill>
                          <a:latin typeface="Times New Roman" panose="02020603050405020304" pitchFamily="18" charset="0"/>
                          <a:cs typeface="Times New Roman" panose="02020603050405020304" pitchFamily="18" charset="0"/>
                        </a:rPr>
                        <a:t>мкГал</a:t>
                      </a:r>
                      <a:r>
                        <a:rPr lang="en-US" b="0" dirty="0">
                          <a:solidFill>
                            <a:schemeClr val="tx1"/>
                          </a:solidFill>
                          <a:latin typeface="Times New Roman" panose="02020603050405020304" pitchFamily="18" charset="0"/>
                          <a:cs typeface="Times New Roman" panose="02020603050405020304" pitchFamily="18" charset="0"/>
                        </a:rPr>
                        <a:t>/</a:t>
                      </a:r>
                      <a:r>
                        <a:rPr lang="ru-RU" b="0" dirty="0">
                          <a:solidFill>
                            <a:schemeClr val="tx1"/>
                          </a:solidFill>
                          <a:latin typeface="Times New Roman" panose="02020603050405020304" pitchFamily="18" charset="0"/>
                          <a:cs typeface="Times New Roman" panose="02020603050405020304" pitchFamily="18" charset="0"/>
                        </a:rPr>
                        <a:t>год</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отсутствует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059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Необходимость калибровки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Есть</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b="0" dirty="0">
                          <a:solidFill>
                            <a:schemeClr val="tx1"/>
                          </a:solidFill>
                          <a:latin typeface="Times New Roman" panose="02020603050405020304" pitchFamily="18" charset="0"/>
                          <a:cs typeface="Times New Roman" panose="02020603050405020304" pitchFamily="18" charset="0"/>
                        </a:rPr>
                        <a:t>нет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Частота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0.1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0.5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latin typeface="Times New Roman" panose="02020603050405020304" pitchFamily="18" charset="0"/>
                          <a:ea typeface="Times New Roman"/>
                          <a:cs typeface="Times New Roman" panose="02020603050405020304" pitchFamily="18" charset="0"/>
                          <a:sym typeface="Times New Roman"/>
                        </a:rPr>
                        <a:t>1 Гц</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4718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600" b="0" u="sng" dirty="0">
                          <a:solidFill>
                            <a:schemeClr val="tx1"/>
                          </a:solidFill>
                          <a:latin typeface="Times New Roman" panose="02020603050405020304" pitchFamily="18" charset="0"/>
                          <a:cs typeface="Times New Roman" panose="02020603050405020304" pitchFamily="18" charset="0"/>
                        </a:rPr>
                        <a:t>Подвижные элементы в конструкции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не являются проблемой</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b="0" dirty="0">
                          <a:solidFill>
                            <a:schemeClr val="tx1"/>
                          </a:solidFill>
                          <a:latin typeface="Times New Roman" panose="02020603050405020304" pitchFamily="18" charset="0"/>
                          <a:cs typeface="Times New Roman" panose="02020603050405020304" pitchFamily="18" charset="0"/>
                        </a:rPr>
                        <a:t>Присутствуют, ограничивают частоту опроса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dirty="0">
                          <a:latin typeface="Times New Roman" panose="02020603050405020304" pitchFamily="18" charset="0"/>
                          <a:ea typeface="Times New Roman"/>
                          <a:cs typeface="Times New Roman" panose="02020603050405020304" pitchFamily="18" charset="0"/>
                          <a:sym typeface="Times New Roman"/>
                        </a:rPr>
                        <a:t>Отсутствуют</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2304434"/>
                  </a:ext>
                </a:extLst>
              </a:tr>
            </a:tbl>
          </a:graphicData>
        </a:graphic>
      </p:graphicFrame>
      <p:graphicFrame>
        <p:nvGraphicFramePr>
          <p:cNvPr id="2" name="Таблица 1"/>
          <p:cNvGraphicFramePr>
            <a:graphicFrameLocks noGrp="1"/>
          </p:cNvGraphicFramePr>
          <p:nvPr>
            <p:extLst>
              <p:ext uri="{D42A27DB-BD31-4B8C-83A1-F6EECF244321}">
                <p14:modId xmlns:p14="http://schemas.microsoft.com/office/powerpoint/2010/main" val="2548521193"/>
              </p:ext>
            </p:extLst>
          </p:nvPr>
        </p:nvGraphicFramePr>
        <p:xfrm>
          <a:off x="771063" y="535053"/>
          <a:ext cx="10649874" cy="949960"/>
        </p:xfrm>
        <a:graphic>
          <a:graphicData uri="http://schemas.openxmlformats.org/drawingml/2006/table">
            <a:tbl>
              <a:tblPr firstRow="1" bandRow="1">
                <a:tableStyleId>{5C22544A-7EE6-4342-B048-85BDC9FD1C3A}</a:tableStyleId>
              </a:tblPr>
              <a:tblGrid>
                <a:gridCol w="1774979">
                  <a:extLst>
                    <a:ext uri="{9D8B030D-6E8A-4147-A177-3AD203B41FA5}">
                      <a16:colId xmlns:a16="http://schemas.microsoft.com/office/drawing/2014/main" val="20000"/>
                    </a:ext>
                  </a:extLst>
                </a:gridCol>
                <a:gridCol w="1774979">
                  <a:extLst>
                    <a:ext uri="{9D8B030D-6E8A-4147-A177-3AD203B41FA5}">
                      <a16:colId xmlns:a16="http://schemas.microsoft.com/office/drawing/2014/main" val="20001"/>
                    </a:ext>
                  </a:extLst>
                </a:gridCol>
                <a:gridCol w="1774979">
                  <a:extLst>
                    <a:ext uri="{9D8B030D-6E8A-4147-A177-3AD203B41FA5}">
                      <a16:colId xmlns:a16="http://schemas.microsoft.com/office/drawing/2014/main" val="20002"/>
                    </a:ext>
                  </a:extLst>
                </a:gridCol>
                <a:gridCol w="1774979">
                  <a:extLst>
                    <a:ext uri="{9D8B030D-6E8A-4147-A177-3AD203B41FA5}">
                      <a16:colId xmlns:a16="http://schemas.microsoft.com/office/drawing/2014/main" val="20003"/>
                    </a:ext>
                  </a:extLst>
                </a:gridCol>
                <a:gridCol w="1774979">
                  <a:extLst>
                    <a:ext uri="{9D8B030D-6E8A-4147-A177-3AD203B41FA5}">
                      <a16:colId xmlns:a16="http://schemas.microsoft.com/office/drawing/2014/main" val="20004"/>
                    </a:ext>
                  </a:extLst>
                </a:gridCol>
                <a:gridCol w="1774979">
                  <a:extLst>
                    <a:ext uri="{9D8B030D-6E8A-4147-A177-3AD203B41FA5}">
                      <a16:colId xmlns:a16="http://schemas.microsoft.com/office/drawing/2014/main" val="20005"/>
                    </a:ext>
                  </a:extLst>
                </a:gridCol>
              </a:tblGrid>
              <a:tr h="370840">
                <a:tc>
                  <a:txBody>
                    <a:bodyPr/>
                    <a:lstStyle/>
                    <a:p>
                      <a:pPr algn="ctr"/>
                      <a:r>
                        <a:rPr lang="ru-RU" sz="1600" dirty="0">
                          <a:solidFill>
                            <a:schemeClr val="tx1"/>
                          </a:solidFill>
                          <a:latin typeface="Times New Roman" panose="02020603050405020304" pitchFamily="18" charset="0"/>
                          <a:cs typeface="Times New Roman" panose="02020603050405020304" pitchFamily="18" charset="0"/>
                        </a:rPr>
                        <a:t>Факторы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Локальные</a:t>
                      </a:r>
                      <a:r>
                        <a:rPr lang="ru-RU" sz="1600" b="0" baseline="0" dirty="0">
                          <a:solidFill>
                            <a:schemeClr val="tx1"/>
                          </a:solidFill>
                          <a:latin typeface="Times New Roman" panose="02020603050405020304" pitchFamily="18" charset="0"/>
                          <a:cs typeface="Times New Roman" panose="02020603050405020304" pitchFamily="18" charset="0"/>
                        </a:rPr>
                        <a:t> аномалии</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Давление</a:t>
                      </a:r>
                      <a:r>
                        <a:rPr lang="ru-RU" sz="1600" b="0" baseline="0" dirty="0">
                          <a:solidFill>
                            <a:schemeClr val="tx1"/>
                          </a:solidFill>
                          <a:latin typeface="Times New Roman" panose="02020603050405020304" pitchFamily="18" charset="0"/>
                          <a:cs typeface="Times New Roman" panose="02020603050405020304" pitchFamily="18" charset="0"/>
                        </a:rPr>
                        <a:t> воздуха</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Приливы</a:t>
                      </a:r>
                      <a:r>
                        <a:rPr lang="ru-RU" sz="1600" b="0" baseline="0" dirty="0">
                          <a:solidFill>
                            <a:schemeClr val="tx1"/>
                          </a:solidFill>
                          <a:latin typeface="Times New Roman" panose="02020603050405020304" pitchFamily="18" charset="0"/>
                          <a:cs typeface="Times New Roman" panose="02020603050405020304" pitchFamily="18" charset="0"/>
                        </a:rPr>
                        <a:t> и отливы</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Сезонные</a:t>
                      </a:r>
                      <a:r>
                        <a:rPr lang="ru-RU" sz="1600" b="0" baseline="0" dirty="0">
                          <a:solidFill>
                            <a:schemeClr val="tx1"/>
                          </a:solidFill>
                          <a:latin typeface="Times New Roman" panose="02020603050405020304" pitchFamily="18" charset="0"/>
                          <a:cs typeface="Times New Roman" panose="02020603050405020304" pitchFamily="18" charset="0"/>
                        </a:rPr>
                        <a:t> изменения</a:t>
                      </a:r>
                      <a:endParaRPr lang="ru-RU" sz="1600" b="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ru-RU" sz="1600" b="0" dirty="0">
                          <a:solidFill>
                            <a:schemeClr val="tx1"/>
                          </a:solidFill>
                          <a:latin typeface="Times New Roman" panose="02020603050405020304" pitchFamily="18" charset="0"/>
                          <a:cs typeface="Times New Roman" panose="02020603050405020304" pitchFamily="18" charset="0"/>
                        </a:rPr>
                        <a:t>Дрейф</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r>
                        <a:rPr lang="ru-RU" sz="1600" b="1" dirty="0">
                          <a:solidFill>
                            <a:schemeClr val="tx1"/>
                          </a:solidFill>
                          <a:latin typeface="Times New Roman" panose="02020603050405020304" pitchFamily="18" charset="0"/>
                          <a:cs typeface="Times New Roman" panose="02020603050405020304" pitchFamily="18" charset="0"/>
                        </a:rPr>
                        <a:t>Влияние</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100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0</a:t>
                      </a:r>
                      <a:r>
                        <a:rPr lang="en-US" sz="1600" dirty="0">
                          <a:solidFill>
                            <a:schemeClr val="tx1"/>
                          </a:solidFill>
                          <a:latin typeface="Times New Roman" panose="02020603050405020304" pitchFamily="18" charset="0"/>
                          <a:cs typeface="Times New Roman" panose="02020603050405020304" pitchFamily="18" charset="0"/>
                        </a:rPr>
                        <a:t>.</a:t>
                      </a:r>
                      <a:r>
                        <a:rPr lang="ru-RU" sz="1600" dirty="0">
                          <a:solidFill>
                            <a:schemeClr val="tx1"/>
                          </a:solidFill>
                          <a:latin typeface="Times New Roman" panose="02020603050405020304" pitchFamily="18" charset="0"/>
                          <a:cs typeface="Times New Roman" panose="02020603050405020304" pitchFamily="18" charset="0"/>
                        </a:rPr>
                        <a:t>3 </a:t>
                      </a:r>
                      <a:r>
                        <a:rPr lang="ru-RU" sz="1600" dirty="0" err="1">
                          <a:solidFill>
                            <a:schemeClr val="tx1"/>
                          </a:solidFill>
                          <a:latin typeface="Times New Roman" panose="02020603050405020304" pitchFamily="18" charset="0"/>
                          <a:cs typeface="Times New Roman" panose="02020603050405020304" pitchFamily="18" charset="0"/>
                        </a:rPr>
                        <a:t>мкГал</a:t>
                      </a:r>
                      <a:endParaRPr lang="ru-RU"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a:t>
                      </a:r>
                      <a:r>
                        <a:rPr lang="en-US" sz="1600" baseline="0" dirty="0">
                          <a:solidFill>
                            <a:schemeClr val="tx1"/>
                          </a:solidFill>
                          <a:latin typeface="Times New Roman" panose="02020603050405020304" pitchFamily="18" charset="0"/>
                          <a:cs typeface="Times New Roman" panose="02020603050405020304" pitchFamily="18" charset="0"/>
                        </a:rPr>
                        <a:t> 250</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a:t>
                      </a:r>
                      <a:r>
                        <a:rPr lang="ru-RU" sz="1600" baseline="0" dirty="0">
                          <a:solidFill>
                            <a:schemeClr val="tx1"/>
                          </a:solidFill>
                          <a:latin typeface="Times New Roman" panose="02020603050405020304" pitchFamily="18" charset="0"/>
                          <a:cs typeface="Times New Roman" panose="02020603050405020304" pitchFamily="18" charset="0"/>
                        </a:rPr>
                        <a:t> </a:t>
                      </a:r>
                      <a:r>
                        <a:rPr lang="en-US" sz="1600" baseline="0" dirty="0">
                          <a:solidFill>
                            <a:schemeClr val="tx1"/>
                          </a:solidFill>
                          <a:latin typeface="Times New Roman" panose="02020603050405020304" pitchFamily="18" charset="0"/>
                          <a:cs typeface="Times New Roman" panose="02020603050405020304" pitchFamily="18" charset="0"/>
                        </a:rPr>
                        <a:t>300 </a:t>
                      </a:r>
                      <a:r>
                        <a:rPr lang="ru-RU" sz="1600" baseline="0" dirty="0">
                          <a:solidFill>
                            <a:schemeClr val="tx1"/>
                          </a:solidFill>
                          <a:latin typeface="Times New Roman" panose="02020603050405020304" pitchFamily="18" charset="0"/>
                          <a:cs typeface="Times New Roman" panose="02020603050405020304" pitchFamily="18" charset="0"/>
                        </a:rPr>
                        <a:t>мкГал</a:t>
                      </a:r>
                      <a:endParaRPr lang="ru-RU" sz="16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baseline="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30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600" dirty="0">
                          <a:solidFill>
                            <a:schemeClr val="tx1"/>
                          </a:solidFill>
                          <a:latin typeface="Times New Roman" panose="02020603050405020304" pitchFamily="18" charset="0"/>
                          <a:cs typeface="Times New Roman" panose="02020603050405020304" pitchFamily="18" charset="0"/>
                        </a:rPr>
                        <a:t>~ </a:t>
                      </a:r>
                      <a:r>
                        <a:rPr lang="ru-RU" sz="1600" dirty="0">
                          <a:solidFill>
                            <a:schemeClr val="tx1"/>
                          </a:solidFill>
                          <a:latin typeface="Times New Roman" panose="02020603050405020304" pitchFamily="18" charset="0"/>
                          <a:cs typeface="Times New Roman" panose="02020603050405020304" pitchFamily="18" charset="0"/>
                        </a:rPr>
                        <a:t>40 мкГал</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bl>
          </a:graphicData>
        </a:graphic>
      </p:graphicFrame>
      <p:sp>
        <p:nvSpPr>
          <p:cNvPr id="5" name="Google Shape;96;p16">
            <a:extLst>
              <a:ext uri="{FF2B5EF4-FFF2-40B4-BE49-F238E27FC236}">
                <a16:creationId xmlns:a16="http://schemas.microsoft.com/office/drawing/2014/main" id="{423EA0ED-41B0-045E-C05E-55922F62F740}"/>
              </a:ext>
            </a:extLst>
          </p:cNvPr>
          <p:cNvSpPr txBox="1"/>
          <p:nvPr/>
        </p:nvSpPr>
        <p:spPr>
          <a:xfrm>
            <a:off x="2042617" y="1898138"/>
            <a:ext cx="4530904" cy="661679"/>
          </a:xfrm>
          <a:prstGeom prst="rect">
            <a:avLst/>
          </a:prstGeom>
          <a:noFill/>
          <a:ln>
            <a:noFill/>
          </a:ln>
        </p:spPr>
        <p:txBody>
          <a:bodyPr spcFirstLastPara="1" wrap="square" lIns="91425" tIns="45700" rIns="91425" bIns="45700" anchor="t" anchorCtr="0">
            <a:spAutoFit/>
          </a:bodyPr>
          <a:lstStyle/>
          <a:p>
            <a:pPr marL="285750" lvl="0" indent="-285750">
              <a:spcBef>
                <a:spcPts val="300"/>
              </a:spcBef>
              <a:buSzPts val="1600"/>
              <a:buFont typeface="Arial"/>
              <a:buChar char="•"/>
            </a:pPr>
            <a:r>
              <a:rPr lang="ru-RU" sz="1600" dirty="0">
                <a:latin typeface="Times New Roman"/>
                <a:ea typeface="Times New Roman"/>
                <a:cs typeface="Times New Roman"/>
                <a:sym typeface="Times New Roman"/>
              </a:rPr>
              <a:t>Фундаментальные физические исследования</a:t>
            </a:r>
          </a:p>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Геофизика</a:t>
            </a:r>
            <a:endParaRPr sz="1600" b="0" i="0" u="none" strike="noStrike" cap="none" dirty="0">
              <a:solidFill>
                <a:srgbClr val="000000"/>
              </a:solidFill>
              <a:latin typeface="Times New Roman"/>
              <a:ea typeface="Times New Roman"/>
              <a:cs typeface="Times New Roman"/>
              <a:sym typeface="Times New Roman"/>
            </a:endParaRPr>
          </a:p>
        </p:txBody>
      </p:sp>
      <p:sp>
        <p:nvSpPr>
          <p:cNvPr id="6" name="Google Shape;98;p16">
            <a:extLst>
              <a:ext uri="{FF2B5EF4-FFF2-40B4-BE49-F238E27FC236}">
                <a16:creationId xmlns:a16="http://schemas.microsoft.com/office/drawing/2014/main" id="{E4243556-E438-CFBC-29D6-4D8BF0F905CD}"/>
              </a:ext>
            </a:extLst>
          </p:cNvPr>
          <p:cNvSpPr txBox="1"/>
          <p:nvPr/>
        </p:nvSpPr>
        <p:spPr>
          <a:xfrm>
            <a:off x="2292713" y="1559624"/>
            <a:ext cx="7888374" cy="33851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ru-RU" sz="1600" b="1" i="0" u="none" strike="noStrike" cap="none" dirty="0">
                <a:solidFill>
                  <a:srgbClr val="000000"/>
                </a:solidFill>
                <a:latin typeface="Times New Roman"/>
                <a:ea typeface="Times New Roman"/>
                <a:cs typeface="Times New Roman"/>
                <a:sym typeface="Times New Roman"/>
              </a:rPr>
              <a:t>Сферы</a:t>
            </a:r>
            <a:r>
              <a:rPr lang="en-US" sz="1600" b="1" i="0" u="none" strike="noStrike" cap="none" dirty="0">
                <a:solidFill>
                  <a:srgbClr val="000000"/>
                </a:solidFill>
                <a:latin typeface="Times New Roman"/>
                <a:ea typeface="Times New Roman"/>
                <a:cs typeface="Times New Roman"/>
                <a:sym typeface="Times New Roman"/>
              </a:rPr>
              <a:t> </a:t>
            </a:r>
            <a:r>
              <a:rPr lang="ru-RU" sz="1600" b="1" i="0" u="none" strike="noStrike" cap="none" dirty="0">
                <a:solidFill>
                  <a:srgbClr val="000000"/>
                </a:solidFill>
                <a:latin typeface="Times New Roman"/>
                <a:ea typeface="Times New Roman"/>
                <a:cs typeface="Times New Roman"/>
                <a:sym typeface="Times New Roman"/>
              </a:rPr>
              <a:t>деятельности, требующие прецизионных измерений гравитации</a:t>
            </a:r>
          </a:p>
        </p:txBody>
      </p:sp>
      <p:sp>
        <p:nvSpPr>
          <p:cNvPr id="10" name="TextBox 9">
            <a:extLst>
              <a:ext uri="{FF2B5EF4-FFF2-40B4-BE49-F238E27FC236}">
                <a16:creationId xmlns:a16="http://schemas.microsoft.com/office/drawing/2014/main" id="{D4F37B3D-67F2-43BC-66AA-BE525757435E}"/>
              </a:ext>
            </a:extLst>
          </p:cNvPr>
          <p:cNvSpPr txBox="1"/>
          <p:nvPr/>
        </p:nvSpPr>
        <p:spPr>
          <a:xfrm>
            <a:off x="6674510" y="1898138"/>
            <a:ext cx="3709010" cy="623248"/>
          </a:xfrm>
          <a:prstGeom prst="rect">
            <a:avLst/>
          </a:prstGeom>
          <a:noFill/>
        </p:spPr>
        <p:txBody>
          <a:bodyPr wrap="square">
            <a:spAutoFit/>
          </a:bodyPr>
          <a:lstStyle/>
          <a:p>
            <a:pPr marL="285750" marR="0" lvl="0" indent="-285750" algn="l" rtl="0">
              <a:lnSpc>
                <a:spcPct val="100000"/>
              </a:lnSpc>
              <a:spcBef>
                <a:spcPts val="300"/>
              </a:spcBef>
              <a:spcAft>
                <a:spcPts val="0"/>
              </a:spcAft>
              <a:buClr>
                <a:srgbClr val="000000"/>
              </a:buClr>
              <a:buSzPts val="1600"/>
              <a:buFont typeface="Arial"/>
              <a:buChar char="•"/>
            </a:pPr>
            <a:r>
              <a:rPr lang="ru-RU" sz="1600" dirty="0">
                <a:latin typeface="Times New Roman"/>
                <a:ea typeface="Times New Roman"/>
                <a:cs typeface="Times New Roman"/>
                <a:sym typeface="Times New Roman"/>
              </a:rPr>
              <a:t>Навигация</a:t>
            </a:r>
            <a:endParaRPr lang="ru-RU" sz="16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300"/>
              </a:spcBef>
              <a:spcAft>
                <a:spcPts val="0"/>
              </a:spcAft>
              <a:buClr>
                <a:srgbClr val="000000"/>
              </a:buClr>
              <a:buSzPts val="1600"/>
              <a:buFont typeface="Arial"/>
              <a:buChar char="•"/>
            </a:pPr>
            <a:r>
              <a:rPr lang="ru-RU" sz="1600" b="0" i="0" u="none" strike="noStrike" cap="none" dirty="0">
                <a:solidFill>
                  <a:srgbClr val="000000"/>
                </a:solidFill>
                <a:latin typeface="Times New Roman"/>
                <a:ea typeface="Times New Roman"/>
                <a:cs typeface="Times New Roman"/>
                <a:sym typeface="Times New Roman"/>
              </a:rPr>
              <a:t>Оценка подземной инфраструктуры</a:t>
            </a:r>
          </a:p>
        </p:txBody>
      </p:sp>
    </p:spTree>
    <p:extLst>
      <p:ext uri="{BB962C8B-B14F-4D97-AF65-F5344CB8AC3E}">
        <p14:creationId xmlns:p14="http://schemas.microsoft.com/office/powerpoint/2010/main" val="261017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8FEF79-600B-4971-DE56-02B116CFFC07}"/>
              </a:ext>
            </a:extLst>
          </p:cNvPr>
          <p:cNvSpPr txBox="1"/>
          <p:nvPr/>
        </p:nvSpPr>
        <p:spPr>
          <a:xfrm>
            <a:off x="2103966" y="889000"/>
            <a:ext cx="7984067" cy="4401205"/>
          </a:xfrm>
          <a:prstGeom prst="rect">
            <a:avLst/>
          </a:prstGeom>
          <a:noFill/>
        </p:spPr>
        <p:txBody>
          <a:bodyPr wrap="square" rtlCol="0">
            <a:spAutoFit/>
          </a:bodyPr>
          <a:lstStyle/>
          <a:p>
            <a:r>
              <a:rPr lang="ru-RU" dirty="0"/>
              <a:t>На </a:t>
            </a:r>
            <a:r>
              <a:rPr lang="ru-RU" dirty="0" err="1"/>
              <a:t>гравитационноге</a:t>
            </a:r>
            <a:r>
              <a:rPr lang="ru-RU" dirty="0"/>
              <a:t> ускорение влияют различные факторы, среди них …., которые могут менять величину </a:t>
            </a:r>
            <a:r>
              <a:rPr lang="en-US" dirty="0"/>
              <a:t>g </a:t>
            </a:r>
            <a:r>
              <a:rPr lang="ru-RU" dirty="0"/>
              <a:t>от десятых </a:t>
            </a:r>
            <a:r>
              <a:rPr lang="ru-RU" dirty="0" err="1"/>
              <a:t>мкГал</a:t>
            </a:r>
            <a:r>
              <a:rPr lang="ru-RU" dirty="0"/>
              <a:t> до сотен </a:t>
            </a:r>
            <a:r>
              <a:rPr lang="ru-RU" dirty="0" err="1"/>
              <a:t>мкГал</a:t>
            </a:r>
            <a:r>
              <a:rPr lang="ru-RU" dirty="0"/>
              <a:t>.</a:t>
            </a:r>
          </a:p>
          <a:p>
            <a:endParaRPr lang="ru-RU" dirty="0"/>
          </a:p>
          <a:p>
            <a:r>
              <a:rPr lang="ru-RU" dirty="0"/>
              <a:t>Существует множество областей, требующих точного измерения гравитационного ускорения …. и т.д.</a:t>
            </a:r>
          </a:p>
          <a:p>
            <a:endParaRPr lang="ru-RU" dirty="0"/>
          </a:p>
          <a:p>
            <a:r>
              <a:rPr lang="ru-RU" dirty="0"/>
              <a:t>Гравиметр подразделяются на абсолютные, измеряющие гравитационное ускорение напрямую, и относительные, измеряющие изменение гравитационного поля, и поэтому для измерение гравитационного ускорения требуют калибровки по абсолютным, а также данные гравиметры испытывают дрейф, и поэтому их снова нужно калибровать. Несмотря на приведённый недостаток, данный тип гравиметров обладает отличными метрологическими характеристиками. Среди же абсолютных гравиметров наиболее распространены баллистические классические, конкуренцию которым начинают составлять квантовые атомные гравиметры. Существующие квантовые гравиметры обладают метрологическими характеристиками сходными с классическими, а лабораторные образцы обладают превосходящими показателями, что говорит о больших перспективах квантовых гравиметров. </a:t>
            </a:r>
          </a:p>
          <a:p>
            <a:endParaRPr lang="ru-RU" dirty="0"/>
          </a:p>
          <a:p>
            <a:r>
              <a:rPr lang="ru-RU" dirty="0"/>
              <a:t>Данное исследование направлено на улучшение метрологических характеристик разрабатываемого в ИЛФ СО РАН квантового атомного интерферометра-гравиметра.</a:t>
            </a:r>
          </a:p>
        </p:txBody>
      </p:sp>
    </p:spTree>
    <p:extLst>
      <p:ext uri="{BB962C8B-B14F-4D97-AF65-F5344CB8AC3E}">
        <p14:creationId xmlns:p14="http://schemas.microsoft.com/office/powerpoint/2010/main" val="2077433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34" name="Google Shape;134;p3"/>
          <p:cNvSpPr txBox="1"/>
          <p:nvPr/>
        </p:nvSpPr>
        <p:spPr>
          <a:xfrm>
            <a:off x="1187629" y="5980125"/>
            <a:ext cx="4038192"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ru-RU" sz="1600" b="0" i="0" u="none" strike="noStrike" cap="none" dirty="0">
                <a:solidFill>
                  <a:srgbClr val="000000"/>
                </a:solidFill>
                <a:latin typeface="Times New Roman"/>
                <a:ea typeface="Times New Roman"/>
                <a:cs typeface="Times New Roman"/>
                <a:sym typeface="Times New Roman"/>
              </a:rPr>
              <a:t>Рис. 1. Принципиальная схема работы абсолютного атомного гравиметра.</a:t>
            </a:r>
            <a:endParaRPr sz="1600" b="0" i="0" u="none" strike="noStrike" cap="none" dirty="0">
              <a:solidFill>
                <a:srgbClr val="000000"/>
              </a:solidFill>
              <a:latin typeface="Times New Roman"/>
              <a:ea typeface="Times New Roman"/>
              <a:cs typeface="Times New Roman"/>
              <a:sym typeface="Times New Roman"/>
            </a:endParaRPr>
          </a:p>
        </p:txBody>
      </p:sp>
      <p:sp>
        <p:nvSpPr>
          <p:cNvPr id="135" name="Google Shape;135;p3"/>
          <p:cNvSpPr/>
          <p:nvPr/>
        </p:nvSpPr>
        <p:spPr>
          <a:xfrm>
            <a:off x="2504131" y="94718"/>
            <a:ext cx="6910755" cy="471186"/>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гравиметра</a:t>
            </a:r>
            <a:endParaRPr sz="1400" b="0" i="0" u="none" strike="noStrike" cap="none" dirty="0">
              <a:solidFill>
                <a:srgbClr val="000000"/>
              </a:solidFill>
              <a:latin typeface="Arial"/>
              <a:ea typeface="Arial"/>
              <a:cs typeface="Arial"/>
              <a:sym typeface="Arial"/>
            </a:endParaRPr>
          </a:p>
        </p:txBody>
      </p:sp>
      <p:sp>
        <p:nvSpPr>
          <p:cNvPr id="136" name="Google Shape;136;p3"/>
          <p:cNvSpPr txBox="1"/>
          <p:nvPr/>
        </p:nvSpPr>
        <p:spPr>
          <a:xfrm>
            <a:off x="6096000" y="1658031"/>
            <a:ext cx="5801519" cy="25545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ru-RU" sz="2000" b="1" i="0" u="none" strike="noStrike" cap="none" dirty="0">
                <a:solidFill>
                  <a:schemeClr val="dk1"/>
                </a:solidFill>
                <a:latin typeface="Times New Roman"/>
                <a:ea typeface="Times New Roman"/>
                <a:cs typeface="Times New Roman"/>
                <a:sym typeface="Times New Roman"/>
              </a:rPr>
              <a:t>П</a:t>
            </a:r>
            <a:r>
              <a:rPr lang="ru-RU" sz="2000" b="1" dirty="0">
                <a:solidFill>
                  <a:schemeClr val="dk1"/>
                </a:solidFill>
                <a:latin typeface="Times New Roman"/>
                <a:ea typeface="Times New Roman"/>
                <a:cs typeface="Times New Roman"/>
                <a:sym typeface="Times New Roman"/>
              </a:rPr>
              <a:t>оследовательность</a:t>
            </a:r>
            <a:r>
              <a:rPr lang="ru-RU" sz="2000" b="1" i="0" u="none" strike="noStrike" cap="none" dirty="0">
                <a:solidFill>
                  <a:schemeClr val="dk1"/>
                </a:solidFill>
                <a:latin typeface="Times New Roman"/>
                <a:ea typeface="Times New Roman"/>
                <a:cs typeface="Times New Roman"/>
                <a:sym typeface="Times New Roman"/>
              </a:rPr>
              <a:t> работы гравиметра:</a:t>
            </a:r>
            <a:endParaRPr sz="20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Магнито-оптическая ловушка (МОЛ)</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Субдоплеровское охлаждение</a:t>
            </a:r>
            <a:endParaRPr lang="ru-RU" sz="1800" b="0" i="0" u="none" strike="noStrike" cap="none" dirty="0">
              <a:solidFill>
                <a:schemeClr val="dk1"/>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rgbClr val="000000"/>
                </a:solidFill>
                <a:effectLst/>
                <a:latin typeface="Times New Roman" panose="02020603050405020304" pitchFamily="18" charset="0"/>
                <a:ea typeface="Times New Roman" panose="02020603050405020304" pitchFamily="18" charset="0"/>
              </a:rPr>
              <a:t>Подготовка начального атомного волнового пакета</a:t>
            </a:r>
          </a:p>
          <a:p>
            <a:pPr marL="285750" marR="0" lvl="0" indent="-285750" algn="l" rtl="0">
              <a:lnSpc>
                <a:spcPct val="100000"/>
              </a:lnSpc>
              <a:spcBef>
                <a:spcPts val="1200"/>
              </a:spcBef>
              <a:spcAft>
                <a:spcPts val="0"/>
              </a:spcAft>
              <a:buClr>
                <a:schemeClr val="dk1"/>
              </a:buClr>
              <a:buSzPts val="1800"/>
              <a:buFont typeface="Times New Roman"/>
              <a:buChar char="-"/>
            </a:pPr>
            <a:r>
              <a:rPr lang="ru-RU" sz="1800" dirty="0">
                <a:solidFill>
                  <a:schemeClr val="dk1"/>
                </a:solidFill>
                <a:latin typeface="Times New Roman"/>
                <a:ea typeface="Times New Roman"/>
                <a:cs typeface="Times New Roman"/>
                <a:sym typeface="Times New Roman"/>
              </a:rPr>
              <a:t>А</a:t>
            </a:r>
            <a:r>
              <a:rPr lang="ru-RU" sz="1800" b="0" i="0" u="none" strike="noStrike" cap="none" dirty="0">
                <a:solidFill>
                  <a:schemeClr val="dk1"/>
                </a:solidFill>
                <a:latin typeface="Times New Roman"/>
                <a:ea typeface="Times New Roman"/>
                <a:cs typeface="Times New Roman"/>
                <a:sym typeface="Times New Roman"/>
              </a:rPr>
              <a:t>томная интерференция</a:t>
            </a:r>
            <a:endParaRPr sz="1800" b="0" i="0" u="none" strike="noStrike" cap="none" dirty="0">
              <a:solidFill>
                <a:srgbClr val="000000"/>
              </a:solidFill>
              <a:latin typeface="Times New Roman"/>
              <a:ea typeface="Times New Roman"/>
              <a:cs typeface="Times New Roman"/>
              <a:sym typeface="Times New Roman"/>
            </a:endParaRPr>
          </a:p>
          <a:p>
            <a:pPr marL="285750" marR="0" lvl="0" indent="-285750" algn="l" rtl="0">
              <a:lnSpc>
                <a:spcPct val="100000"/>
              </a:lnSpc>
              <a:spcBef>
                <a:spcPts val="1200"/>
              </a:spcBef>
              <a:spcAft>
                <a:spcPts val="0"/>
              </a:spcAft>
              <a:buClr>
                <a:schemeClr val="dk1"/>
              </a:buClr>
              <a:buSzPts val="1800"/>
              <a:buFont typeface="Times New Roman"/>
              <a:buChar char="-"/>
            </a:pPr>
            <a:r>
              <a:rPr lang="ru-RU" sz="1800" b="0" i="0" u="none" strike="noStrike" cap="none" dirty="0">
                <a:solidFill>
                  <a:schemeClr val="dk1"/>
                </a:solidFill>
                <a:latin typeface="Times New Roman"/>
                <a:ea typeface="Times New Roman"/>
                <a:cs typeface="Times New Roman"/>
                <a:sym typeface="Times New Roman"/>
              </a:rPr>
              <a:t>Детектирование</a:t>
            </a:r>
            <a:endParaRPr sz="1800" b="0" i="0" u="none" strike="noStrike" cap="none" dirty="0">
              <a:solidFill>
                <a:srgbClr val="000000"/>
              </a:solidFill>
              <a:latin typeface="Times New Roman"/>
              <a:ea typeface="Times New Roman"/>
              <a:cs typeface="Times New Roman"/>
              <a:sym typeface="Times New Roman"/>
            </a:endParaRPr>
          </a:p>
        </p:txBody>
      </p:sp>
      <p:sp>
        <p:nvSpPr>
          <p:cNvPr id="13" name="TextBox 12">
            <a:extLst>
              <a:ext uri="{FF2B5EF4-FFF2-40B4-BE49-F238E27FC236}">
                <a16:creationId xmlns:a16="http://schemas.microsoft.com/office/drawing/2014/main" id="{12768A1C-0EF5-462D-9F3E-871D6D7DCD89}"/>
              </a:ext>
            </a:extLst>
          </p:cNvPr>
          <p:cNvSpPr txBox="1"/>
          <p:nvPr/>
        </p:nvSpPr>
        <p:spPr>
          <a:xfrm>
            <a:off x="11681926" y="6408575"/>
            <a:ext cx="360784" cy="312570"/>
          </a:xfrm>
          <a:prstGeom prst="rect">
            <a:avLst/>
          </a:prstGeom>
          <a:noFill/>
        </p:spPr>
        <p:txBody>
          <a:bodyPr wrap="square" rtlCol="0">
            <a:spAutoFit/>
          </a:bodyPr>
          <a:lstStyle/>
          <a:p>
            <a:r>
              <a:rPr lang="en-US" dirty="0"/>
              <a:t>2</a:t>
            </a:r>
            <a:endParaRPr lang="ru-RU" dirty="0"/>
          </a:p>
        </p:txBody>
      </p:sp>
      <p:pic>
        <p:nvPicPr>
          <p:cNvPr id="4" name="Рисунок 3">
            <a:extLst>
              <a:ext uri="{FF2B5EF4-FFF2-40B4-BE49-F238E27FC236}">
                <a16:creationId xmlns:a16="http://schemas.microsoft.com/office/drawing/2014/main" id="{0104CFAB-661A-70B1-D4BF-84D4505FC109}"/>
              </a:ext>
            </a:extLst>
          </p:cNvPr>
          <p:cNvPicPr>
            <a:picLocks noChangeAspect="1"/>
          </p:cNvPicPr>
          <p:nvPr/>
        </p:nvPicPr>
        <p:blipFill>
          <a:blip r:embed="rId3"/>
          <a:srcRect l="2435" t="3324" r="2549" b="371"/>
          <a:stretch/>
        </p:blipFill>
        <p:spPr>
          <a:xfrm>
            <a:off x="1500895" y="690154"/>
            <a:ext cx="4353963" cy="5165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B3CA08-AA9B-07D1-D95A-50CB5F4B13AC}"/>
              </a:ext>
            </a:extLst>
          </p:cNvPr>
          <p:cNvSpPr txBox="1"/>
          <p:nvPr/>
        </p:nvSpPr>
        <p:spPr>
          <a:xfrm>
            <a:off x="3031067" y="905933"/>
            <a:ext cx="4555066" cy="3539430"/>
          </a:xfrm>
          <a:prstGeom prst="rect">
            <a:avLst/>
          </a:prstGeom>
          <a:noFill/>
        </p:spPr>
        <p:txBody>
          <a:bodyPr wrap="square" rtlCol="0">
            <a:spAutoFit/>
          </a:bodyPr>
          <a:lstStyle/>
          <a:p>
            <a:r>
              <a:rPr lang="ru-RU" dirty="0"/>
              <a:t>Сперва об общих принципах работы квантового гравиметра.</a:t>
            </a:r>
          </a:p>
          <a:p>
            <a:endParaRPr lang="ru-RU" dirty="0"/>
          </a:p>
          <a:p>
            <a:r>
              <a:rPr lang="ru-RU" dirty="0"/>
              <a:t>Первый этап – лазерное охлаждение и пленение атомов, позволяет накопить порядка </a:t>
            </a:r>
            <a:r>
              <a:rPr lang="en-US" dirty="0"/>
              <a:t>10</a:t>
            </a:r>
            <a:r>
              <a:rPr lang="en-US" baseline="30000" dirty="0"/>
              <a:t>7</a:t>
            </a:r>
            <a:r>
              <a:rPr lang="en-US" dirty="0"/>
              <a:t>-10</a:t>
            </a:r>
            <a:r>
              <a:rPr lang="en-US" baseline="30000" dirty="0"/>
              <a:t>8</a:t>
            </a:r>
            <a:r>
              <a:rPr lang="en-US" dirty="0"/>
              <a:t> </a:t>
            </a:r>
            <a:r>
              <a:rPr lang="ru-RU" dirty="0"/>
              <a:t>атомов и охладить их до температуры нескольких </a:t>
            </a:r>
            <a:r>
              <a:rPr lang="ru-RU" dirty="0" err="1"/>
              <a:t>мкК</a:t>
            </a:r>
            <a:r>
              <a:rPr lang="ru-RU" dirty="0"/>
              <a:t>.</a:t>
            </a:r>
          </a:p>
          <a:p>
            <a:endParaRPr lang="ru-RU" dirty="0"/>
          </a:p>
          <a:p>
            <a:r>
              <a:rPr lang="ru-RU" dirty="0"/>
              <a:t>Далее идёт подготовка начального атомного волнового пакета в немагнитном квантовом состоянии для минимизация влияния магнитного поля на результаты измерения </a:t>
            </a:r>
            <a:r>
              <a:rPr lang="en-US" dirty="0"/>
              <a:t>g.</a:t>
            </a:r>
            <a:endParaRPr lang="ru-RU" dirty="0"/>
          </a:p>
          <a:p>
            <a:endParaRPr lang="en-US" dirty="0"/>
          </a:p>
          <a:p>
            <a:r>
              <a:rPr lang="ru-RU" dirty="0"/>
              <a:t>После следует завершающий этап – атомная интерференция и детектирование населённостей атомных состояний. Данные процедуры</a:t>
            </a:r>
            <a:r>
              <a:rPr lang="en-US" dirty="0"/>
              <a:t> </a:t>
            </a:r>
            <a:r>
              <a:rPr lang="ru-RU" dirty="0"/>
              <a:t>и позволяют измерить </a:t>
            </a:r>
            <a:r>
              <a:rPr lang="en-US" dirty="0"/>
              <a:t>g.</a:t>
            </a:r>
            <a:endParaRPr lang="ru-RU" dirty="0"/>
          </a:p>
        </p:txBody>
      </p:sp>
    </p:spTree>
    <p:extLst>
      <p:ext uri="{BB962C8B-B14F-4D97-AF65-F5344CB8AC3E}">
        <p14:creationId xmlns:p14="http://schemas.microsoft.com/office/powerpoint/2010/main" val="1310113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a:extLst>
              <a:ext uri="{FF2B5EF4-FFF2-40B4-BE49-F238E27FC236}">
                <a16:creationId xmlns:a16="http://schemas.microsoft.com/office/drawing/2014/main" id="{B517E7CE-C80C-57B9-6CD2-509946F43843}"/>
              </a:ext>
            </a:extLst>
          </p:cNvPr>
          <p:cNvPicPr>
            <a:picLocks noChangeAspect="1"/>
          </p:cNvPicPr>
          <p:nvPr/>
        </p:nvPicPr>
        <p:blipFill>
          <a:blip r:embed="rId2"/>
          <a:srcRect l="3329" t="3914" r="2226" b="2619"/>
          <a:stretch/>
        </p:blipFill>
        <p:spPr>
          <a:xfrm>
            <a:off x="3758669" y="776576"/>
            <a:ext cx="4178620" cy="2931639"/>
          </a:xfrm>
          <a:prstGeom prst="rect">
            <a:avLst/>
          </a:prstGeom>
        </p:spPr>
      </p:pic>
      <p:sp>
        <p:nvSpPr>
          <p:cNvPr id="2" name="Google Shape;136;p21">
            <a:extLst>
              <a:ext uri="{FF2B5EF4-FFF2-40B4-BE49-F238E27FC236}">
                <a16:creationId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Принцип работы атомного интерферометра</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3A8042C-E52E-4288-B49A-5DABBD83A1A0}"/>
              </a:ext>
            </a:extLst>
          </p:cNvPr>
          <p:cNvSpPr txBox="1"/>
          <p:nvPr/>
        </p:nvSpPr>
        <p:spPr>
          <a:xfrm>
            <a:off x="3263753" y="3692162"/>
            <a:ext cx="5862830"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pic>
        <p:nvPicPr>
          <p:cNvPr id="11" name="Рисунок 10"/>
          <p:cNvPicPr>
            <a:picLocks noChangeAspect="1"/>
          </p:cNvPicPr>
          <p:nvPr/>
        </p:nvPicPr>
        <p:blipFill>
          <a:blip r:embed="rId3"/>
          <a:stretch>
            <a:fillRect/>
          </a:stretch>
        </p:blipFill>
        <p:spPr>
          <a:xfrm>
            <a:off x="8364472" y="776576"/>
            <a:ext cx="3545100" cy="3013772"/>
          </a:xfrm>
          <a:prstGeom prst="rect">
            <a:avLst/>
          </a:prstGeom>
        </p:spPr>
      </p:pic>
      <p:sp>
        <p:nvSpPr>
          <p:cNvPr id="12" name="TextBox 11">
            <a:extLst>
              <a:ext uri="{FF2B5EF4-FFF2-40B4-BE49-F238E27FC236}">
                <a16:creationId xmlns:a16="http://schemas.microsoft.com/office/drawing/2014/main" id="{5B363D8B-4970-43DE-BCF6-8B91DEC4358D}"/>
              </a:ext>
            </a:extLst>
          </p:cNvPr>
          <p:cNvSpPr txBox="1"/>
          <p:nvPr/>
        </p:nvSpPr>
        <p:spPr>
          <a:xfrm>
            <a:off x="522248"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FC228A56-F53C-4040-AA74-A750668FC7D9}"/>
              </a:ext>
            </a:extLst>
          </p:cNvPr>
          <p:cNvSpPr txBox="1"/>
          <p:nvPr/>
        </p:nvSpPr>
        <p:spPr>
          <a:xfrm>
            <a:off x="3209143"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C228A56-F53C-4040-AA74-A750668FC7D9}"/>
              </a:ext>
            </a:extLst>
          </p:cNvPr>
          <p:cNvSpPr txBox="1"/>
          <p:nvPr/>
        </p:nvSpPr>
        <p:spPr>
          <a:xfrm>
            <a:off x="8178782" y="65599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5F76187-A348-4512-AFBD-6EA014B794F8}"/>
                  </a:ext>
                </a:extLst>
              </p:cNvPr>
              <p:cNvSpPr txBox="1"/>
              <p:nvPr/>
            </p:nvSpPr>
            <p:spPr>
              <a:xfrm>
                <a:off x="4290609" y="4239173"/>
                <a:ext cx="2647969" cy="397096"/>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15" name="TextBox 14">
                <a:extLst>
                  <a:ext uri="{FF2B5EF4-FFF2-40B4-BE49-F238E27FC236}">
                    <a16:creationId xmlns="" xmlns:a16="http://schemas.microsoft.com/office/drawing/2014/main" xmlns:a14="http://schemas.microsoft.com/office/drawing/2010/main" id="{A5F76187-A348-4512-AFBD-6EA014B794F8}"/>
                  </a:ext>
                </a:extLst>
              </p:cNvPr>
              <p:cNvSpPr txBox="1">
                <a:spLocks noRot="1" noChangeAspect="1" noMove="1" noResize="1" noEditPoints="1" noAdjustHandles="1" noChangeArrowheads="1" noChangeShapeType="1" noTextEdit="1"/>
              </p:cNvSpPr>
              <p:nvPr/>
            </p:nvSpPr>
            <p:spPr>
              <a:xfrm>
                <a:off x="4290609" y="4239173"/>
                <a:ext cx="2647969" cy="397096"/>
              </a:xfrm>
              <a:prstGeom prst="rect">
                <a:avLst/>
              </a:prstGeom>
              <a:blipFill rotWithShape="0">
                <a:blip r:embed="rId5"/>
                <a:stretch>
                  <a:fillRect b="-4225"/>
                </a:stretch>
              </a:blipFill>
              <a:ln w="28575">
                <a:solidFill>
                  <a:srgbClr val="FF0000"/>
                </a:solidFill>
              </a:ln>
            </p:spPr>
            <p:txBody>
              <a:bodyPr/>
              <a:lstStyle/>
              <a:p>
                <a:r>
                  <a:rPr lang="ru-RU">
                    <a:noFill/>
                  </a:rPr>
                  <a:t> </a:t>
                </a:r>
              </a:p>
            </p:txBody>
          </p:sp>
        </mc:Fallback>
      </mc:AlternateContent>
      <p:sp>
        <p:nvSpPr>
          <p:cNvPr id="16" name="TextBox 15"/>
          <p:cNvSpPr txBox="1"/>
          <p:nvPr/>
        </p:nvSpPr>
        <p:spPr>
          <a:xfrm>
            <a:off x="4178555" y="4742630"/>
            <a:ext cx="4185346" cy="338554"/>
          </a:xfrm>
          <a:prstGeom prst="rect">
            <a:avLst/>
          </a:prstGeom>
          <a:noFill/>
        </p:spPr>
        <p:txBody>
          <a:bodyPr wrap="square" rtlCol="0">
            <a:spAutoFit/>
          </a:bodyPr>
          <a:lstStyle/>
          <a:p>
            <a:r>
              <a:rPr lang="en-US" sz="1600" b="1" dirty="0" err="1">
                <a:latin typeface="Times New Roman" panose="02020603050405020304" pitchFamily="18" charset="0"/>
                <a:cs typeface="Times New Roman" panose="02020603050405020304" pitchFamily="18" charset="0"/>
              </a:rPr>
              <a:t>k</a:t>
            </a:r>
            <a:r>
              <a:rPr lang="en-US" sz="1600" b="1" baseline="-25000" dirty="0" err="1">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k</a:t>
            </a:r>
            <a:r>
              <a:rPr lang="en-US" sz="1600" b="1" baseline="-25000" dirty="0">
                <a:latin typeface="Times New Roman" panose="02020603050405020304" pitchFamily="18" charset="0"/>
                <a:cs typeface="Times New Roman" panose="02020603050405020304" pitchFamily="18" charset="0"/>
              </a:rPr>
              <a:t>1</a:t>
            </a:r>
            <a:r>
              <a:rPr lang="ru-RU" sz="1600" b="1" baseline="-250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t>
            </a:r>
            <a:r>
              <a:rPr lang="ru-RU" sz="16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k</a:t>
            </a:r>
            <a:r>
              <a:rPr lang="en-US" sz="1600" b="1"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эффективный волновой вектор</a:t>
            </a:r>
            <a:r>
              <a:rPr lang="en-US" sz="1600" dirty="0">
                <a:latin typeface="Times New Roman" panose="02020603050405020304" pitchFamily="18" charset="0"/>
                <a:cs typeface="Times New Roman" panose="02020603050405020304" pitchFamily="18" charset="0"/>
              </a:rPr>
              <a:t>;</a:t>
            </a:r>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3A8042C-E52E-4288-B49A-5DABBD83A1A0}"/>
              </a:ext>
            </a:extLst>
          </p:cNvPr>
          <p:cNvSpPr txBox="1"/>
          <p:nvPr/>
        </p:nvSpPr>
        <p:spPr>
          <a:xfrm>
            <a:off x="8258681" y="3692162"/>
            <a:ext cx="3619727"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Населённость атомных состояний</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A5F76187-A348-4512-AFBD-6EA014B794F8}"/>
                  </a:ext>
                </a:extLst>
              </p:cNvPr>
              <p:cNvSpPr txBox="1"/>
              <p:nvPr/>
            </p:nvSpPr>
            <p:spPr>
              <a:xfrm>
                <a:off x="8574804" y="4151302"/>
                <a:ext cx="3181768" cy="1180003"/>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r>
                        <a:rPr lang="ru-RU" sz="1800" b="0" i="1" smtClean="0">
                          <a:latin typeface="Cambria Math" panose="02040503050406030204" pitchFamily="18" charset="0"/>
                        </a:rPr>
                        <m:t>=</m:t>
                      </m:r>
                    </m:oMath>
                  </m:oMathPara>
                </a14:m>
                <a:endParaRPr lang="ru-RU" sz="1800" b="0" dirty="0"/>
              </a:p>
              <a:p>
                <a:pPr/>
                <a14:m>
                  <m:oMathPara xmlns:m="http://schemas.openxmlformats.org/officeDocument/2006/math">
                    <m:oMathParaPr>
                      <m:jc m:val="centerGroup"/>
                    </m:oMathParaPr>
                    <m:oMath xmlns:m="http://schemas.openxmlformats.org/officeDocument/2006/math">
                      <m:r>
                        <a:rPr lang="ru-RU"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i="1" dirty="0">
                                  <a:latin typeface="Cambria Math" panose="02040503050406030204" pitchFamily="18" charset="0"/>
                                </a:rPr>
                                <m:t>−</m:t>
                              </m:r>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r>
                            <a:rPr lang="en-US" sz="1800" i="1" dirty="0">
                              <a:latin typeface="Cambria Math" panose="02040503050406030204" pitchFamily="18" charset="0"/>
                            </a:rPr>
                            <m:t>𝑔</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p:sp>
            <p:nvSpPr>
              <p:cNvPr id="19" name="TextBox 18">
                <a:extLst>
                  <a:ext uri="{FF2B5EF4-FFF2-40B4-BE49-F238E27FC236}">
                    <a16:creationId xmlns:a16="http://schemas.microsoft.com/office/drawing/2014/main" id="{A5F76187-A348-4512-AFBD-6EA014B794F8}"/>
                  </a:ext>
                </a:extLst>
              </p:cNvPr>
              <p:cNvSpPr txBox="1">
                <a:spLocks noRot="1" noChangeAspect="1" noMove="1" noResize="1" noEditPoints="1" noAdjustHandles="1" noChangeArrowheads="1" noChangeShapeType="1" noTextEdit="1"/>
              </p:cNvSpPr>
              <p:nvPr/>
            </p:nvSpPr>
            <p:spPr>
              <a:xfrm>
                <a:off x="8574804" y="4151302"/>
                <a:ext cx="3181768" cy="1180003"/>
              </a:xfrm>
              <a:prstGeom prst="rect">
                <a:avLst/>
              </a:prstGeom>
              <a:blipFill>
                <a:blip r:embed="rId6"/>
                <a:stretch>
                  <a:fillRect/>
                </a:stretch>
              </a:blipFill>
              <a:ln w="28575">
                <a:solidFill>
                  <a:srgbClr val="FF0000"/>
                </a:solidFill>
              </a:ln>
            </p:spPr>
            <p:txBody>
              <a:bodyPr/>
              <a:lstStyle/>
              <a:p>
                <a:r>
                  <a:rPr lang="ru-RU">
                    <a:noFill/>
                  </a:rPr>
                  <a:t> </a:t>
                </a:r>
              </a:p>
            </p:txBody>
          </p:sp>
        </mc:Fallback>
      </mc:AlternateContent>
      <p:sp>
        <p:nvSpPr>
          <p:cNvPr id="20" name="Google Shape;139;p21">
            <a:extLst>
              <a:ext uri="{FF2B5EF4-FFF2-40B4-BE49-F238E27FC236}">
                <a16:creationId xmlns:a16="http://schemas.microsoft.com/office/drawing/2014/main" id="{B7A8C424-1497-4145-B7C5-C8EA445193E9}"/>
              </a:ext>
            </a:extLst>
          </p:cNvPr>
          <p:cNvSpPr txBox="1"/>
          <p:nvPr/>
        </p:nvSpPr>
        <p:spPr>
          <a:xfrm>
            <a:off x="608506" y="5888947"/>
            <a:ext cx="10790908"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2. </a:t>
            </a:r>
            <a:r>
              <a:rPr lang="ru-RU" sz="1600" dirty="0">
                <a:latin typeface="Times New Roman"/>
                <a:ea typeface="Times New Roman"/>
                <a:cs typeface="Times New Roman"/>
                <a:sym typeface="Times New Roman"/>
              </a:rPr>
              <a:t>Схема переходов в </a:t>
            </a:r>
            <a:r>
              <a:rPr lang="en-US" sz="1600" baseline="30000" dirty="0">
                <a:latin typeface="Times New Roman"/>
                <a:ea typeface="Times New Roman"/>
                <a:cs typeface="Times New Roman"/>
                <a:sym typeface="Times New Roman"/>
              </a:rPr>
              <a:t>87</a:t>
            </a:r>
            <a:r>
              <a:rPr lang="en-US" sz="1600" dirty="0">
                <a:latin typeface="Times New Roman"/>
                <a:ea typeface="Times New Roman"/>
                <a:cs typeface="Times New Roman"/>
                <a:sym typeface="Times New Roman"/>
              </a:rPr>
              <a:t>Rb, </a:t>
            </a:r>
            <a:r>
              <a:rPr lang="ru-RU" sz="1600" dirty="0">
                <a:latin typeface="Times New Roman"/>
                <a:ea typeface="Times New Roman"/>
                <a:cs typeface="Times New Roman"/>
                <a:sym typeface="Times New Roman"/>
              </a:rPr>
              <a:t>используемых для атомной интерференции </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а</a:t>
            </a:r>
            <a:r>
              <a:rPr lang="en-US" sz="1600" b="0" i="0" u="none" strike="noStrike" cap="none" dirty="0">
                <a:solidFill>
                  <a:srgbClr val="000000"/>
                </a:solidFill>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зависимость величины интерференционного сигнала от скорости чирпирования </a:t>
            </a:r>
            <a:r>
              <a:rPr lang="el-GR" sz="1600" dirty="0">
                <a:latin typeface="Times New Roman"/>
                <a:ea typeface="Times New Roman"/>
                <a:cs typeface="Times New Roman"/>
                <a:sym typeface="Times New Roman"/>
              </a:rPr>
              <a:t>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1" name="Прямоугольник 20"/>
          <p:cNvSpPr/>
          <p:nvPr/>
        </p:nvSpPr>
        <p:spPr>
          <a:xfrm>
            <a:off x="182296" y="3692162"/>
            <a:ext cx="2675732" cy="338554"/>
          </a:xfrm>
          <a:prstGeom prst="rect">
            <a:avLst/>
          </a:prstGeom>
        </p:spPr>
        <p:txBody>
          <a:bodyPr wrap="none">
            <a:spAutoFit/>
          </a:bodyPr>
          <a:lstStyle/>
          <a:p>
            <a:pPr indent="216000"/>
            <a:r>
              <a:rPr lang="ru-RU" sz="1600" b="1" dirty="0">
                <a:latin typeface="Times New Roman" panose="02020603050405020304" pitchFamily="18" charset="0"/>
                <a:cs typeface="Times New Roman" panose="02020603050405020304" pitchFamily="18" charset="0"/>
              </a:rPr>
              <a:t>Чирпирование частоты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A5F76187-A348-4512-AFBD-6EA014B794F8}"/>
                  </a:ext>
                </a:extLst>
              </p:cNvPr>
              <p:cNvSpPr txBox="1"/>
              <p:nvPr/>
            </p:nvSpPr>
            <p:spPr>
              <a:xfrm>
                <a:off x="466405" y="4239173"/>
                <a:ext cx="1791196" cy="369332"/>
              </a:xfrm>
              <a:prstGeom prst="rect">
                <a:avLst/>
              </a:prstGeom>
              <a:noFill/>
              <a:ln w="28575">
                <a:solidFill>
                  <a:srgbClr val="FF0000"/>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ru-RU" sz="1800" i="1" dirty="0" smtClean="0">
                              <a:latin typeface="Cambria Math" panose="02040503050406030204" pitchFamily="18" charset="0"/>
                              <a:sym typeface="Symbol"/>
                            </a:rPr>
                          </m:ctrlPr>
                        </m:sSubPr>
                        <m:e>
                          <m:r>
                            <a:rPr lang="ru-RU" sz="1800" i="1" dirty="0" smtClean="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sym typeface="Symbol"/>
                            </a:rPr>
                            <m:t>𝑅</m:t>
                          </m:r>
                        </m:sub>
                      </m:sSub>
                      <m:r>
                        <a:rPr lang="en-US" sz="1800" b="0" i="1" dirty="0" smtClean="0">
                          <a:latin typeface="Cambria Math" panose="02040503050406030204" pitchFamily="18" charset="0"/>
                          <a:sym typeface="Symbol"/>
                        </a:rPr>
                        <m:t>=</m:t>
                      </m:r>
                      <m:sSub>
                        <m:sSubPr>
                          <m:ctrlPr>
                            <a:rPr lang="ru-RU" sz="1800" i="1" dirty="0">
                              <a:latin typeface="Cambria Math" panose="02040503050406030204" pitchFamily="18" charset="0"/>
                              <a:sym typeface="Symbol"/>
                            </a:rPr>
                          </m:ctrlPr>
                        </m:sSubPr>
                        <m:e>
                          <m:r>
                            <a:rPr lang="ru-RU" sz="1800" i="1" dirty="0">
                              <a:latin typeface="Cambria Math" panose="02040503050406030204" pitchFamily="18" charset="0"/>
                              <a:ea typeface="Cambria Math" panose="02040503050406030204" pitchFamily="18" charset="0"/>
                              <a:sym typeface="Symbol"/>
                            </a:rPr>
                            <m:t>𝛿</m:t>
                          </m:r>
                        </m:e>
                        <m:sub>
                          <m:r>
                            <a:rPr lang="en-US" sz="1800" b="0" i="1" dirty="0" smtClean="0">
                              <a:latin typeface="Cambria Math" panose="02040503050406030204" pitchFamily="18" charset="0"/>
                              <a:ea typeface="Cambria Math" panose="02040503050406030204" pitchFamily="18" charset="0"/>
                              <a:sym typeface="Symbol"/>
                            </a:rPr>
                            <m:t>0</m:t>
                          </m:r>
                        </m:sub>
                      </m:sSub>
                      <m:r>
                        <a:rPr lang="en-US" sz="1800" b="0" i="1" dirty="0" smtClean="0">
                          <a:latin typeface="Cambria Math" panose="02040503050406030204" pitchFamily="18" charset="0"/>
                          <a:sym typeface="Symbol"/>
                        </a:rPr>
                        <m:t>+2</m:t>
                      </m:r>
                      <m:r>
                        <a:rPr lang="en-US" sz="1800" b="0" i="1" dirty="0" smtClean="0">
                          <a:latin typeface="Cambria Math" panose="02040503050406030204" pitchFamily="18" charset="0"/>
                          <a:ea typeface="Cambria Math" panose="02040503050406030204" pitchFamily="18" charset="0"/>
                          <a:sym typeface="Symbol"/>
                        </a:rPr>
                        <m:t>𝜋𝛼</m:t>
                      </m:r>
                      <m:r>
                        <a:rPr lang="en-US" sz="1800" b="0" i="1" dirty="0" smtClean="0">
                          <a:latin typeface="Cambria Math" panose="02040503050406030204" pitchFamily="18" charset="0"/>
                          <a:ea typeface="Cambria Math" panose="02040503050406030204" pitchFamily="18" charset="0"/>
                          <a:sym typeface="Symbol"/>
                        </a:rPr>
                        <m:t>𝑡</m:t>
                      </m:r>
                    </m:oMath>
                  </m:oMathPara>
                </a14:m>
                <a:endParaRPr lang="ru-RU" sz="1800" dirty="0"/>
              </a:p>
            </p:txBody>
          </p:sp>
        </mc:Choice>
        <mc:Fallback xmlns="">
          <p:sp>
            <p:nvSpPr>
              <p:cNvPr id="23" name="TextBox 22">
                <a:extLst>
                  <a:ext uri="{FF2B5EF4-FFF2-40B4-BE49-F238E27FC236}">
                    <a16:creationId xmlns="" xmlns:a16="http://schemas.microsoft.com/office/drawing/2014/main" xmlns:a14="http://schemas.microsoft.com/office/drawing/2010/main" id="{A5F76187-A348-4512-AFBD-6EA014B794F8}"/>
                  </a:ext>
                </a:extLst>
              </p:cNvPr>
              <p:cNvSpPr txBox="1">
                <a:spLocks noRot="1" noChangeAspect="1" noMove="1" noResize="1" noEditPoints="1" noAdjustHandles="1" noChangeArrowheads="1" noChangeShapeType="1" noTextEdit="1"/>
              </p:cNvSpPr>
              <p:nvPr/>
            </p:nvSpPr>
            <p:spPr>
              <a:xfrm>
                <a:off x="466405" y="4239173"/>
                <a:ext cx="1791196" cy="369332"/>
              </a:xfrm>
              <a:prstGeom prst="rect">
                <a:avLst/>
              </a:prstGeom>
              <a:blipFill rotWithShape="0">
                <a:blip r:embed="rId7"/>
                <a:stretch>
                  <a:fillRect/>
                </a:stretch>
              </a:blipFill>
              <a:ln w="28575">
                <a:solidFill>
                  <a:srgbClr val="FF0000"/>
                </a:solidFill>
              </a:ln>
            </p:spPr>
            <p:txBody>
              <a:bodyPr/>
              <a:lstStyle/>
              <a:p>
                <a:r>
                  <a:rPr lang="ru-RU">
                    <a:noFill/>
                  </a:rPr>
                  <a:t> </a:t>
                </a:r>
              </a:p>
            </p:txBody>
          </p:sp>
        </mc:Fallback>
      </mc:AlternateContent>
      <p:sp>
        <p:nvSpPr>
          <p:cNvPr id="24" name="TextBox 23"/>
          <p:cNvSpPr txBox="1"/>
          <p:nvPr/>
        </p:nvSpPr>
        <p:spPr>
          <a:xfrm>
            <a:off x="466405" y="4742630"/>
            <a:ext cx="3047387" cy="338554"/>
          </a:xfrm>
          <a:prstGeom prst="rect">
            <a:avLst/>
          </a:prstGeom>
          <a:noFill/>
        </p:spPr>
        <p:txBody>
          <a:bodyPr wrap="square" rtlCol="0">
            <a:spAutoFit/>
          </a:bodyPr>
          <a:lstStyle/>
          <a:p>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C7C7F885-9814-4E89-91F6-B6347CA79E74}"/>
              </a:ext>
            </a:extLst>
          </p:cNvPr>
          <p:cNvSpPr txBox="1"/>
          <p:nvPr/>
        </p:nvSpPr>
        <p:spPr>
          <a:xfrm>
            <a:off x="11681926" y="6408575"/>
            <a:ext cx="360784" cy="312570"/>
          </a:xfrm>
          <a:prstGeom prst="rect">
            <a:avLst/>
          </a:prstGeom>
          <a:noFill/>
        </p:spPr>
        <p:txBody>
          <a:bodyPr wrap="square" rtlCol="0">
            <a:spAutoFit/>
          </a:bodyPr>
          <a:lstStyle/>
          <a:p>
            <a:r>
              <a:rPr lang="en-US" dirty="0"/>
              <a:t>3</a:t>
            </a:r>
            <a:endParaRPr lang="ru-RU" dirty="0"/>
          </a:p>
        </p:txBody>
      </p:sp>
      <p:pic>
        <p:nvPicPr>
          <p:cNvPr id="4" name="Рисунок 3"/>
          <p:cNvPicPr>
            <a:picLocks noChangeAspect="1"/>
          </p:cNvPicPr>
          <p:nvPr/>
        </p:nvPicPr>
        <p:blipFill>
          <a:blip r:embed="rId8"/>
          <a:stretch>
            <a:fillRect/>
          </a:stretch>
        </p:blipFill>
        <p:spPr>
          <a:xfrm>
            <a:off x="282428" y="1431362"/>
            <a:ext cx="2981325" cy="1914525"/>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970D59FF-3EFC-AE6F-C462-671EC06C19B7}"/>
                  </a:ext>
                </a:extLst>
              </p:cNvPr>
              <p:cNvSpPr txBox="1"/>
              <p:nvPr/>
            </p:nvSpPr>
            <p:spPr>
              <a:xfrm>
                <a:off x="5198036" y="5243717"/>
                <a:ext cx="997132" cy="549381"/>
              </a:xfrm>
              <a:prstGeom prst="rect">
                <a:avLst/>
              </a:prstGeom>
              <a:noFill/>
              <a:ln w="28575">
                <a:solidFill>
                  <a:srgbClr val="FF0000"/>
                </a:solidFill>
              </a:ln>
            </p:spPr>
            <p:txBody>
              <a:bodyPr wrap="none" rtlCol="0">
                <a:spAutoFit/>
              </a:bodyPr>
              <a:lstStyle/>
              <a:p>
                <a:pPr/>
                <a14:m>
                  <m:oMath xmlns:m="http://schemas.openxmlformats.org/officeDocument/2006/math">
                    <m:r>
                      <a:rPr lang="en-US" sz="1800" i="1" dirty="0" smtClean="0">
                        <a:latin typeface="Cambria Math" panose="02040503050406030204" pitchFamily="18" charset="0"/>
                      </a:rPr>
                      <m:t>𝑔</m:t>
                    </m:r>
                    <m:r>
                      <a:rPr lang="en-US" sz="1800" b="0" i="1" dirty="0" smtClean="0">
                        <a:latin typeface="Cambria Math" panose="02040503050406030204" pitchFamily="18" charset="0"/>
                      </a:rPr>
                      <m:t>=</m:t>
                    </m:r>
                  </m:oMath>
                </a14:m>
                <a:r>
                  <a:rPr lang="en-US" sz="1800" dirty="0"/>
                  <a:t> </a:t>
                </a:r>
                <a14:m>
                  <m:oMath xmlns:m="http://schemas.openxmlformats.org/officeDocument/2006/math">
                    <m:f>
                      <m:fPr>
                        <m:ctrlPr>
                          <a:rPr lang="en-US" sz="1800" i="1" dirty="0" smtClean="0">
                            <a:latin typeface="Cambria Math" panose="02040503050406030204" pitchFamily="18" charset="0"/>
                          </a:rPr>
                        </m:ctrlPr>
                      </m:fPr>
                      <m:num>
                        <m:r>
                          <a:rPr lang="en-US" sz="1800" i="1" dirty="0">
                            <a:latin typeface="Cambria Math" panose="02040503050406030204" pitchFamily="18" charset="0"/>
                          </a:rPr>
                          <m:t>2</m:t>
                        </m:r>
                        <m:r>
                          <a:rPr lang="en-US" sz="1800" i="1" dirty="0">
                            <a:latin typeface="Cambria Math" panose="02040503050406030204" pitchFamily="18" charset="0"/>
                          </a:rPr>
                          <m:t>𝜋𝛼</m:t>
                        </m:r>
                      </m:num>
                      <m:den>
                        <m:sSub>
                          <m:sSubPr>
                            <m:ctrlPr>
                              <a:rPr lang="en-US" sz="1800" i="1" dirty="0">
                                <a:latin typeface="Cambria Math" panose="02040503050406030204" pitchFamily="18" charset="0"/>
                              </a:rPr>
                            </m:ctrlPr>
                          </m:sSubPr>
                          <m:e>
                            <m:r>
                              <a:rPr lang="en-US" sz="1800" i="1" dirty="0">
                                <a:latin typeface="Cambria Math" panose="02040503050406030204" pitchFamily="18" charset="0"/>
                              </a:rPr>
                              <m:t>𝑘</m:t>
                            </m:r>
                          </m:e>
                          <m:sub>
                            <m:r>
                              <a:rPr lang="en-US" sz="1800" i="1" dirty="0">
                                <a:latin typeface="Cambria Math" panose="02040503050406030204" pitchFamily="18" charset="0"/>
                              </a:rPr>
                              <m:t>𝑒𝑓𝑓</m:t>
                            </m:r>
                          </m:sub>
                        </m:sSub>
                      </m:den>
                    </m:f>
                  </m:oMath>
                </a14:m>
                <a:endParaRPr lang="ru-RU" sz="1800" dirty="0"/>
              </a:p>
            </p:txBody>
          </p:sp>
        </mc:Choice>
        <mc:Fallback>
          <p:sp>
            <p:nvSpPr>
              <p:cNvPr id="3" name="TextBox 2">
                <a:extLst>
                  <a:ext uri="{FF2B5EF4-FFF2-40B4-BE49-F238E27FC236}">
                    <a16:creationId xmlns:a16="http://schemas.microsoft.com/office/drawing/2014/main" id="{970D59FF-3EFC-AE6F-C462-671EC06C19B7}"/>
                  </a:ext>
                </a:extLst>
              </p:cNvPr>
              <p:cNvSpPr txBox="1">
                <a:spLocks noRot="1" noChangeAspect="1" noMove="1" noResize="1" noEditPoints="1" noAdjustHandles="1" noChangeArrowheads="1" noChangeShapeType="1" noTextEdit="1"/>
              </p:cNvSpPr>
              <p:nvPr/>
            </p:nvSpPr>
            <p:spPr>
              <a:xfrm>
                <a:off x="5198036" y="5243717"/>
                <a:ext cx="997132" cy="549381"/>
              </a:xfrm>
              <a:prstGeom prst="rect">
                <a:avLst/>
              </a:prstGeom>
              <a:blipFill>
                <a:blip r:embed="rId9"/>
                <a:stretch>
                  <a:fillRect b="-1053"/>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16189758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CD42D4-EA53-4BF0-8F05-F9A6E85BE531}"/>
              </a:ext>
            </a:extLst>
          </p:cNvPr>
          <p:cNvSpPr txBox="1"/>
          <p:nvPr/>
        </p:nvSpPr>
        <p:spPr>
          <a:xfrm>
            <a:off x="479018" y="219156"/>
            <a:ext cx="11712982" cy="6340197"/>
          </a:xfrm>
          <a:prstGeom prst="rect">
            <a:avLst/>
          </a:prstGeom>
          <a:noFill/>
        </p:spPr>
        <p:txBody>
          <a:bodyPr wrap="square" rtlCol="0">
            <a:spAutoFit/>
          </a:bodyPr>
          <a:lstStyle/>
          <a:p>
            <a:r>
              <a:rPr lang="ru-RU" dirty="0"/>
              <a:t>На данном слайде более подробно описана атомная интерференция, основной измерительный этап.</a:t>
            </a:r>
          </a:p>
          <a:p>
            <a:endParaRPr lang="ru-RU" dirty="0"/>
          </a:p>
          <a:p>
            <a:r>
              <a:rPr lang="ru-RU" dirty="0"/>
              <a:t>Для атомной интерференции используются </a:t>
            </a:r>
            <a:r>
              <a:rPr lang="en-US" dirty="0"/>
              <a:t>F = 1 F = 2 </a:t>
            </a:r>
            <a:r>
              <a:rPr lang="ru-RU" dirty="0"/>
              <a:t>компоненты сверхтонкого расщепления основного состояния (а). Переходы между данными состояниями осуществляются с помощью </a:t>
            </a:r>
            <a:r>
              <a:rPr lang="ru-RU" dirty="0" err="1"/>
              <a:t>рамановских</a:t>
            </a:r>
            <a:r>
              <a:rPr lang="ru-RU" dirty="0"/>
              <a:t> пучков, поскольку это позволяет передать атомам значительно больший импульс, чем микроволновое излучение.</a:t>
            </a:r>
          </a:p>
          <a:p>
            <a:endParaRPr lang="ru-RU" dirty="0"/>
          </a:p>
          <a:p>
            <a:r>
              <a:rPr lang="ru-RU" dirty="0"/>
              <a:t>После этапов подготовки перед атомной интерференцией атомы находятся в состоянии </a:t>
            </a:r>
            <a:r>
              <a:rPr lang="en-US" dirty="0"/>
              <a:t>F =</a:t>
            </a:r>
            <a:r>
              <a:rPr lang="ru-RU" dirty="0"/>
              <a:t> </a:t>
            </a:r>
            <a:r>
              <a:rPr lang="en-US" dirty="0"/>
              <a:t>1</a:t>
            </a:r>
            <a:r>
              <a:rPr lang="ru-RU" dirty="0"/>
              <a:t>. Для осуществления атомной интерференции используется следующая схема (б)</a:t>
            </a:r>
            <a:r>
              <a:rPr lang="en-US" dirty="0"/>
              <a:t>:</a:t>
            </a:r>
            <a:endParaRPr lang="ru-RU" dirty="0"/>
          </a:p>
          <a:p>
            <a:endParaRPr lang="en-US" dirty="0"/>
          </a:p>
          <a:p>
            <a:pPr marL="342900" indent="-342900">
              <a:buAutoNum type="arabicPeriod"/>
            </a:pPr>
            <a:r>
              <a:rPr lang="ru-RU" dirty="0"/>
              <a:t>Первый импульс </a:t>
            </a:r>
            <a:r>
              <a:rPr lang="ru-RU" dirty="0" err="1"/>
              <a:t>рамановских</a:t>
            </a:r>
            <a:r>
              <a:rPr lang="ru-RU" dirty="0"/>
              <a:t> пучков – пи</a:t>
            </a:r>
            <a:r>
              <a:rPr lang="en-US" dirty="0"/>
              <a:t>/</a:t>
            </a:r>
            <a:r>
              <a:rPr lang="ru-RU" dirty="0"/>
              <a:t>2, переводит атомы в суперпозицию состояний </a:t>
            </a:r>
            <a:r>
              <a:rPr lang="en-US" dirty="0"/>
              <a:t>1 </a:t>
            </a:r>
            <a:r>
              <a:rPr lang="ru-RU" dirty="0"/>
              <a:t>и 2, также эти два состояния имеют значительно отличный импульс, и поэтому получившиеся волновые пакеты эволюционируют по различным </a:t>
            </a:r>
            <a:r>
              <a:rPr lang="ru-RU" dirty="0" err="1"/>
              <a:t>пространственно</a:t>
            </a:r>
            <a:r>
              <a:rPr lang="ru-RU" dirty="0"/>
              <a:t> временным траекториям. </a:t>
            </a:r>
          </a:p>
          <a:p>
            <a:pPr marL="342900" indent="-342900">
              <a:buAutoNum type="arabicPeriod"/>
            </a:pPr>
            <a:r>
              <a:rPr lang="ru-RU" dirty="0"/>
              <a:t>Далее атомы находятся в состоянии свободного падения на </a:t>
            </a:r>
            <a:r>
              <a:rPr lang="ru-RU" dirty="0" err="1"/>
              <a:t>протяжнии</a:t>
            </a:r>
            <a:r>
              <a:rPr lang="ru-RU" dirty="0"/>
              <a:t> времени </a:t>
            </a:r>
            <a:r>
              <a:rPr lang="en-US" dirty="0"/>
              <a:t>T</a:t>
            </a:r>
            <a:r>
              <a:rPr lang="ru-RU" dirty="0"/>
              <a:t>,</a:t>
            </a:r>
            <a:r>
              <a:rPr lang="en-US" dirty="0"/>
              <a:t> </a:t>
            </a:r>
            <a:r>
              <a:rPr lang="ru-RU" dirty="0"/>
              <a:t>после чего подаётся второй пи импульс, меняющий состояние 1 на 2, а 2 на 1.</a:t>
            </a:r>
          </a:p>
          <a:p>
            <a:pPr marL="342900" indent="-342900">
              <a:buAutoNum type="arabicPeriod"/>
            </a:pPr>
            <a:r>
              <a:rPr lang="ru-RU" dirty="0"/>
              <a:t>Снова после свободного падения на протяжении времени </a:t>
            </a:r>
            <a:r>
              <a:rPr lang="en-US" dirty="0"/>
              <a:t>T </a:t>
            </a:r>
            <a:r>
              <a:rPr lang="ru-RU" dirty="0"/>
              <a:t>подаётся третий пи</a:t>
            </a:r>
            <a:r>
              <a:rPr lang="en-US" dirty="0"/>
              <a:t>/2 </a:t>
            </a:r>
            <a:r>
              <a:rPr lang="ru-RU" dirty="0"/>
              <a:t>импульс,</a:t>
            </a:r>
            <a:r>
              <a:rPr lang="en-US" dirty="0"/>
              <a:t> </a:t>
            </a:r>
            <a:r>
              <a:rPr lang="ru-RU" dirty="0"/>
              <a:t>переводящий состояния волновых пакетов в суперпозицию состояний 1 и 2.</a:t>
            </a:r>
          </a:p>
          <a:p>
            <a:endParaRPr lang="ru-RU" dirty="0"/>
          </a:p>
          <a:p>
            <a:r>
              <a:rPr lang="ru-RU" dirty="0"/>
              <a:t>Также поскольку атомы находятся в состоянии свободного падения, для компенсации доплеровского сдвига необходимо </a:t>
            </a:r>
            <a:r>
              <a:rPr lang="ru-RU" dirty="0" err="1"/>
              <a:t>чирпировать</a:t>
            </a:r>
            <a:r>
              <a:rPr lang="ru-RU" dirty="0"/>
              <a:t> отстройку частоты </a:t>
            </a:r>
            <a:r>
              <a:rPr lang="ru-RU" dirty="0" err="1"/>
              <a:t>рамановского</a:t>
            </a:r>
            <a:r>
              <a:rPr lang="ru-RU" dirty="0"/>
              <a:t> излучения от частоты перехода, как написано снизу под (а), скорость </a:t>
            </a:r>
            <a:r>
              <a:rPr lang="ru-RU" dirty="0" err="1"/>
              <a:t>чирпа</a:t>
            </a:r>
            <a:r>
              <a:rPr lang="ru-RU" dirty="0"/>
              <a:t> –</a:t>
            </a:r>
            <a:r>
              <a:rPr lang="en-US" dirty="0"/>
              <a:t> </a:t>
            </a:r>
            <a:r>
              <a:rPr lang="ru-RU" dirty="0"/>
              <a:t>альфа. </a:t>
            </a:r>
          </a:p>
          <a:p>
            <a:r>
              <a:rPr lang="ru-RU" dirty="0"/>
              <a:t>По итогу на выходе атомного интерферометра получается два волновых пакета с состояниями 1 и 2. Населённость данных состояний зависит от разности фаз между двумя имеющимися пространственно-временными траекториями – плечами интерферометра. Данная разность фаз определяется следующим выражением</a:t>
            </a:r>
            <a:r>
              <a:rPr lang="en-US" dirty="0"/>
              <a:t>: </a:t>
            </a:r>
            <a:r>
              <a:rPr lang="ru-RU" dirty="0"/>
              <a:t>она зависит от скорости </a:t>
            </a:r>
            <a:r>
              <a:rPr lang="ru-RU" dirty="0" err="1"/>
              <a:t>чирпа</a:t>
            </a:r>
            <a:r>
              <a:rPr lang="ru-RU" dirty="0"/>
              <a:t> альфа, времени между импульсами </a:t>
            </a:r>
            <a:r>
              <a:rPr lang="en-US" dirty="0"/>
              <a:t>T, </a:t>
            </a:r>
            <a:r>
              <a:rPr lang="ru-RU" dirty="0"/>
              <a:t>эффективного волнового вектора и искомого гравитационного ускорения. </a:t>
            </a:r>
            <a:r>
              <a:rPr lang="en-US" dirty="0"/>
              <a:t>g </a:t>
            </a:r>
            <a:r>
              <a:rPr lang="ru-RU" dirty="0"/>
              <a:t>можно легко определить по точке зануления дельта Ф.</a:t>
            </a:r>
            <a:r>
              <a:rPr lang="en-US" dirty="0"/>
              <a:t> </a:t>
            </a:r>
          </a:p>
          <a:p>
            <a:endParaRPr lang="en-US" dirty="0"/>
          </a:p>
          <a:p>
            <a:r>
              <a:rPr lang="ru-RU" dirty="0"/>
              <a:t>Для того, чтобы отыскать эту точку, посмотрим на выражением для населённости состояний после интерференции, она зависит от дельта Ф, и если подставить дельта Ф получится следующее выражение. Данное выражение позволяет построить зависимость населённости от альфа для разных </a:t>
            </a:r>
            <a:r>
              <a:rPr lang="en-US" dirty="0"/>
              <a:t>T </a:t>
            </a:r>
            <a:r>
              <a:rPr lang="ru-RU" dirty="0"/>
              <a:t>больших времён между импульсами, получатся синусоиды. В точке с нулевой разностью фаз </a:t>
            </a:r>
            <a:r>
              <a:rPr lang="ru-RU" dirty="0" err="1"/>
              <a:t>чирп</a:t>
            </a:r>
            <a:r>
              <a:rPr lang="ru-RU" dirty="0"/>
              <a:t> полностью скомпенсирует доплеровский сдвиг, это точка пика для всех </a:t>
            </a:r>
            <a:r>
              <a:rPr lang="en-US" dirty="0"/>
              <a:t>T </a:t>
            </a:r>
            <a:r>
              <a:rPr lang="ru-RU" dirty="0"/>
              <a:t>будет одинакова. Теперь зная положение данной точке легко найти </a:t>
            </a:r>
            <a:r>
              <a:rPr lang="en-US" dirty="0"/>
              <a:t>g.</a:t>
            </a:r>
            <a:endParaRPr lang="ru-RU" dirty="0"/>
          </a:p>
        </p:txBody>
      </p:sp>
    </p:spTree>
    <p:extLst>
      <p:ext uri="{BB962C8B-B14F-4D97-AF65-F5344CB8AC3E}">
        <p14:creationId xmlns:p14="http://schemas.microsoft.com/office/powerpoint/2010/main" val="1286801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72" name="Google Shape;172;p6"/>
          <p:cNvSpPr/>
          <p:nvPr/>
        </p:nvSpPr>
        <p:spPr>
          <a:xfrm>
            <a:off x="2572555" y="80840"/>
            <a:ext cx="6910755" cy="5536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Используемые переходы атома </a:t>
            </a:r>
            <a:r>
              <a:rPr lang="ru-RU" sz="2400" b="1" i="0" u="none" strike="noStrike" cap="none" baseline="30000" dirty="0">
                <a:solidFill>
                  <a:schemeClr val="lt1"/>
                </a:solidFill>
                <a:latin typeface="Times New Roman"/>
                <a:ea typeface="Times New Roman"/>
                <a:cs typeface="Times New Roman"/>
                <a:sym typeface="Times New Roman"/>
              </a:rPr>
              <a:t>87</a:t>
            </a:r>
            <a:r>
              <a:rPr lang="en-US" sz="2400" b="1" i="0" u="none" strike="noStrike" cap="none" dirty="0">
                <a:solidFill>
                  <a:schemeClr val="lt1"/>
                </a:solidFill>
                <a:latin typeface="Times New Roman"/>
                <a:ea typeface="Times New Roman"/>
                <a:cs typeface="Times New Roman"/>
                <a:sym typeface="Times New Roman"/>
              </a:rPr>
              <a:t>Rb</a:t>
            </a:r>
            <a:endParaRPr lang="en-US" sz="1400" b="0" i="0" u="none" strike="noStrike" cap="none" dirty="0">
              <a:solidFill>
                <a:srgbClr val="000000"/>
              </a:solidFill>
              <a:latin typeface="Arial"/>
              <a:ea typeface="Arial"/>
              <a:cs typeface="Arial"/>
              <a:sym typeface="Arial"/>
            </a:endParaRPr>
          </a:p>
        </p:txBody>
      </p:sp>
      <p:sp>
        <p:nvSpPr>
          <p:cNvPr id="42" name="TextBox 41">
            <a:extLst>
              <a:ext uri="{FF2B5EF4-FFF2-40B4-BE49-F238E27FC236}">
                <a16:creationId xmlns:a16="http://schemas.microsoft.com/office/drawing/2014/main" id="{C0BC523E-C572-40EC-9063-421483B6825E}"/>
              </a:ext>
            </a:extLst>
          </p:cNvPr>
          <p:cNvSpPr txBox="1"/>
          <p:nvPr/>
        </p:nvSpPr>
        <p:spPr>
          <a:xfrm>
            <a:off x="-298579" y="5466515"/>
            <a:ext cx="12192000" cy="422167"/>
          </a:xfrm>
          <a:prstGeom prst="rect">
            <a:avLst/>
          </a:prstGeom>
          <a:noFill/>
        </p:spPr>
        <p:txBody>
          <a:bodyPr wrap="square">
            <a:spAutoFit/>
          </a:bodyPr>
          <a:lstStyle/>
          <a:p>
            <a:pPr algn="ctr">
              <a:lnSpc>
                <a:spcPct val="150000"/>
              </a:lnSpc>
              <a:spcAft>
                <a:spcPts val="800"/>
              </a:spcAft>
            </a:pPr>
            <a:r>
              <a:rPr lang="ru-RU" sz="1600" dirty="0">
                <a:effectLst/>
                <a:latin typeface="Times New Roman" panose="02020603050405020304" pitchFamily="18" charset="0"/>
                <a:ea typeface="Times New Roman" panose="02020603050405020304" pitchFamily="18" charset="0"/>
              </a:rPr>
              <a:t>Рис. 3. </a:t>
            </a:r>
            <a:r>
              <a:rPr lang="ru-RU" sz="1600" dirty="0">
                <a:solidFill>
                  <a:srgbClr val="000000"/>
                </a:solidFill>
                <a:effectLst/>
                <a:latin typeface="Times New Roman" panose="02020603050405020304" pitchFamily="18" charset="0"/>
                <a:ea typeface="Calibri" panose="020F0502020204030204" pitchFamily="34" charset="0"/>
              </a:rPr>
              <a:t>Схема уровней </a:t>
            </a:r>
            <a:r>
              <a:rPr lang="en-US" sz="1600" dirty="0">
                <a:solidFill>
                  <a:srgbClr val="000000"/>
                </a:solidFill>
                <a:effectLst/>
                <a:latin typeface="Times New Roman" panose="02020603050405020304" pitchFamily="18" charset="0"/>
                <a:ea typeface="Calibri" panose="020F0502020204030204" pitchFamily="34" charset="0"/>
              </a:rPr>
              <a:t>D</a:t>
            </a:r>
            <a:r>
              <a:rPr lang="ru-RU" sz="1600" baseline="-25000" dirty="0">
                <a:solidFill>
                  <a:srgbClr val="000000"/>
                </a:solidFill>
                <a:effectLst/>
                <a:latin typeface="Times New Roman" panose="02020603050405020304" pitchFamily="18" charset="0"/>
                <a:ea typeface="Calibri" panose="020F0502020204030204" pitchFamily="34" charset="0"/>
              </a:rPr>
              <a:t>2</a:t>
            </a:r>
            <a:r>
              <a:rPr lang="ru-RU" sz="1600" dirty="0">
                <a:solidFill>
                  <a:srgbClr val="000000"/>
                </a:solidFill>
                <a:effectLst/>
                <a:latin typeface="Times New Roman" panose="02020603050405020304" pitchFamily="18" charset="0"/>
                <a:ea typeface="Calibri" panose="020F0502020204030204" pitchFamily="34" charset="0"/>
              </a:rPr>
              <a:t> линии атома </a:t>
            </a:r>
            <a:r>
              <a:rPr lang="ru-RU" sz="1600" baseline="30000" dirty="0">
                <a:solidFill>
                  <a:srgbClr val="000000"/>
                </a:solidFill>
                <a:effectLst/>
                <a:latin typeface="Times New Roman" panose="02020603050405020304" pitchFamily="18" charset="0"/>
                <a:ea typeface="Calibri" panose="020F0502020204030204" pitchFamily="34" charset="0"/>
              </a:rPr>
              <a:t>87</a:t>
            </a:r>
            <a:r>
              <a:rPr lang="en-US" sz="1600" dirty="0">
                <a:solidFill>
                  <a:srgbClr val="000000"/>
                </a:solidFill>
                <a:effectLst/>
                <a:latin typeface="Times New Roman" panose="02020603050405020304" pitchFamily="18" charset="0"/>
                <a:ea typeface="Calibri" panose="020F0502020204030204" pitchFamily="34" charset="0"/>
              </a:rPr>
              <a:t>Rb</a:t>
            </a:r>
            <a:r>
              <a:rPr lang="ru-RU" sz="1600" dirty="0">
                <a:solidFill>
                  <a:srgbClr val="000000"/>
                </a:solidFill>
                <a:effectLst/>
                <a:latin typeface="Times New Roman" panose="02020603050405020304" pitchFamily="18" charset="0"/>
                <a:ea typeface="Calibri" panose="020F0502020204030204" pitchFamily="34" charset="0"/>
              </a:rPr>
              <a:t> и используемые частоты лазерного излучения. </a:t>
            </a:r>
            <a:endParaRPr lang="ru-RU" dirty="0">
              <a:effectLst/>
              <a:latin typeface="Calibri" panose="020F0502020204030204" pitchFamily="34" charset="0"/>
              <a:ea typeface="Calibri" panose="020F0502020204030204" pitchFamily="34" charset="0"/>
            </a:endParaRPr>
          </a:p>
        </p:txBody>
      </p:sp>
      <p:pic>
        <p:nvPicPr>
          <p:cNvPr id="3" name="Рисунок 2">
            <a:extLst>
              <a:ext uri="{FF2B5EF4-FFF2-40B4-BE49-F238E27FC236}">
                <a16:creationId xmlns:a16="http://schemas.microsoft.com/office/drawing/2014/main" id="{25C80F64-1A92-4CBB-A332-7F48B7C3644C}"/>
              </a:ext>
            </a:extLst>
          </p:cNvPr>
          <p:cNvPicPr>
            <a:picLocks noChangeAspect="1"/>
          </p:cNvPicPr>
          <p:nvPr/>
        </p:nvPicPr>
        <p:blipFill>
          <a:blip r:embed="rId3"/>
          <a:stretch>
            <a:fillRect/>
          </a:stretch>
        </p:blipFill>
        <p:spPr>
          <a:xfrm>
            <a:off x="2359385" y="923119"/>
            <a:ext cx="6876071" cy="42547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4F5585-7BC7-48D8-991F-EE7FB391AB59}"/>
              </a:ext>
            </a:extLst>
          </p:cNvPr>
          <p:cNvSpPr txBox="1"/>
          <p:nvPr/>
        </p:nvSpPr>
        <p:spPr>
          <a:xfrm>
            <a:off x="665725" y="5070942"/>
            <a:ext cx="10587134" cy="1384995"/>
          </a:xfrm>
          <a:prstGeom prst="rect">
            <a:avLst/>
          </a:prstGeom>
          <a:noFill/>
        </p:spPr>
        <p:txBody>
          <a:bodyPr wrap="square">
            <a:spAutoFit/>
          </a:bodyPr>
          <a:lstStyle/>
          <a:p>
            <a:pPr algn="ctr"/>
            <a:r>
              <a:rPr lang="ru-RU" dirty="0">
                <a:latin typeface="Times New Roman" panose="02020603050405020304" pitchFamily="18" charset="0"/>
                <a:ea typeface="Calibri" panose="020F0502020204030204" pitchFamily="34" charset="0"/>
              </a:rPr>
              <a:t>Рис. 4. </a:t>
            </a:r>
            <a:r>
              <a:rPr lang="ru-RU" dirty="0">
                <a:effectLst/>
                <a:latin typeface="Times New Roman" panose="02020603050405020304" pitchFamily="18" charset="0"/>
                <a:ea typeface="Times New Roman" panose="02020603050405020304" pitchFamily="18" charset="0"/>
              </a:rPr>
              <a:t>Оптическая схема формирования лазерного излучения, используемого для лазерного охлаждения и пленения атомов рубидия, оптической накачки и осуществления двухфотонных рамановских переходов в атомном интерферометре. АОМ – акустооптический модулятор, ЭОМ – электрооптический модулятор, ДЛВР – диодный лазер с внешним резонатором, λ/2 – полуволновая пластинка, λ/4 – четвертьволновая пластинка, З – плоское зеркало, СЗ – сферическое зеркало, Линза – собирающая линза, ОИ – оптический изолятор Фарадея, ПДК – поляризационный делительный кубик, СЧБ – стабилизация частоты с помощью биений, СНС – установка для спектроскопии насыщенного поглощения, ДК – делительный кубик, λ-метр – измеритель длины волны, ФД -фотодиод.</a:t>
            </a:r>
            <a:endParaRPr lang="ru-RU" dirty="0"/>
          </a:p>
        </p:txBody>
      </p:sp>
      <p:sp>
        <p:nvSpPr>
          <p:cNvPr id="5" name="Google Shape;178;p5">
            <a:extLst>
              <a:ext uri="{FF2B5EF4-FFF2-40B4-BE49-F238E27FC236}">
                <a16:creationId xmlns:a16="http://schemas.microsoft.com/office/drawing/2014/main" id="{685FAB7F-096C-4160-8A8F-AF21AFC9F4E2}"/>
              </a:ext>
            </a:extLst>
          </p:cNvPr>
          <p:cNvSpPr/>
          <p:nvPr/>
        </p:nvSpPr>
        <p:spPr>
          <a:xfrm>
            <a:off x="2367282" y="12035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a:solidFill>
                  <a:schemeClr val="lt1"/>
                </a:solidFill>
                <a:latin typeface="Times New Roman"/>
                <a:ea typeface="Times New Roman"/>
                <a:cs typeface="Times New Roman"/>
                <a:sym typeface="Times New Roman"/>
              </a:rPr>
              <a:t>Оптическая схема гравиметра </a:t>
            </a:r>
            <a:endParaRPr sz="1400" b="0" i="0" u="none" strike="noStrike" cap="none">
              <a:solidFill>
                <a:srgbClr val="000000"/>
              </a:solidFill>
              <a:latin typeface="Arial"/>
              <a:ea typeface="Arial"/>
              <a:cs typeface="Arial"/>
              <a:sym typeface="Arial"/>
            </a:endParaRPr>
          </a:p>
        </p:txBody>
      </p:sp>
      <p:pic>
        <p:nvPicPr>
          <p:cNvPr id="3" name="Рисунок 2">
            <a:extLst>
              <a:ext uri="{FF2B5EF4-FFF2-40B4-BE49-F238E27FC236}">
                <a16:creationId xmlns:a16="http://schemas.microsoft.com/office/drawing/2014/main" id="{4D30DFEF-8F23-4151-9AAE-358E840F02AC}"/>
              </a:ext>
            </a:extLst>
          </p:cNvPr>
          <p:cNvPicPr>
            <a:picLocks noChangeAspect="1"/>
          </p:cNvPicPr>
          <p:nvPr/>
        </p:nvPicPr>
        <p:blipFill>
          <a:blip r:embed="rId2"/>
          <a:stretch>
            <a:fillRect/>
          </a:stretch>
        </p:blipFill>
        <p:spPr>
          <a:xfrm>
            <a:off x="2232289" y="791016"/>
            <a:ext cx="7727421" cy="4294331"/>
          </a:xfrm>
          <a:prstGeom prst="rect">
            <a:avLst/>
          </a:prstGeom>
        </p:spPr>
      </p:pic>
    </p:spTree>
    <p:extLst>
      <p:ext uri="{BB962C8B-B14F-4D97-AF65-F5344CB8AC3E}">
        <p14:creationId xmlns:p14="http://schemas.microsoft.com/office/powerpoint/2010/main" val="2898375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1DC97405-FC6B-4DED-9A25-2DB3771810FF}"/>
              </a:ext>
            </a:extLst>
          </p:cNvPr>
          <p:cNvPicPr>
            <a:picLocks noChangeAspect="1"/>
          </p:cNvPicPr>
          <p:nvPr/>
        </p:nvPicPr>
        <p:blipFill>
          <a:blip r:embed="rId2"/>
          <a:stretch>
            <a:fillRect/>
          </a:stretch>
        </p:blipFill>
        <p:spPr>
          <a:xfrm>
            <a:off x="295379" y="1179408"/>
            <a:ext cx="5615229" cy="3474578"/>
          </a:xfrm>
          <a:prstGeom prst="rect">
            <a:avLst/>
          </a:prstGeom>
        </p:spPr>
      </p:pic>
      <p:pic>
        <p:nvPicPr>
          <p:cNvPr id="3" name="Рисунок 2">
            <a:extLst>
              <a:ext uri="{FF2B5EF4-FFF2-40B4-BE49-F238E27FC236}">
                <a16:creationId xmlns:a16="http://schemas.microsoft.com/office/drawing/2014/main" id="{B5E0CD9E-6E28-AA2D-6EAD-7D917ADD400A}"/>
              </a:ext>
            </a:extLst>
          </p:cNvPr>
          <p:cNvPicPr>
            <a:picLocks noChangeAspect="1"/>
          </p:cNvPicPr>
          <p:nvPr/>
        </p:nvPicPr>
        <p:blipFill>
          <a:blip r:embed="rId3"/>
          <a:srcRect l="1409" t="3793" r="231"/>
          <a:stretch/>
        </p:blipFill>
        <p:spPr>
          <a:xfrm>
            <a:off x="5910608" y="1687201"/>
            <a:ext cx="6226111" cy="2458992"/>
          </a:xfrm>
          <a:prstGeom prst="rect">
            <a:avLst/>
          </a:prstGeom>
        </p:spPr>
      </p:pic>
      <p:sp>
        <p:nvSpPr>
          <p:cNvPr id="4" name="Google Shape;178;p5">
            <a:extLst>
              <a:ext uri="{FF2B5EF4-FFF2-40B4-BE49-F238E27FC236}">
                <a16:creationId xmlns:a16="http://schemas.microsoft.com/office/drawing/2014/main" id="{0C300431-2A84-42F9-AC7F-37BC35CDB8A9}"/>
              </a:ext>
            </a:extLst>
          </p:cNvPr>
          <p:cNvSpPr/>
          <p:nvPr/>
        </p:nvSpPr>
        <p:spPr>
          <a:xfrm>
            <a:off x="2272032" y="15210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Оптическая схема гравиметра </a:t>
            </a:r>
            <a:endParaRPr sz="1400" b="0" i="0" u="none" strike="noStrike" cap="none" dirty="0">
              <a:solidFill>
                <a:srgbClr val="000000"/>
              </a:solidFill>
              <a:latin typeface="Arial"/>
              <a:ea typeface="Arial"/>
              <a:cs typeface="Arial"/>
              <a:sym typeface="Arial"/>
            </a:endParaRPr>
          </a:p>
        </p:txBody>
      </p:sp>
      <p:sp>
        <p:nvSpPr>
          <p:cNvPr id="6" name="TextBox 5">
            <a:extLst>
              <a:ext uri="{FF2B5EF4-FFF2-40B4-BE49-F238E27FC236}">
                <a16:creationId xmlns:a16="http://schemas.microsoft.com/office/drawing/2014/main" id="{7D2686F3-13E8-45ED-A8AD-5CE2C3BD8A29}"/>
              </a:ext>
            </a:extLst>
          </p:cNvPr>
          <p:cNvSpPr txBox="1"/>
          <p:nvPr/>
        </p:nvSpPr>
        <p:spPr>
          <a:xfrm>
            <a:off x="684775" y="5010629"/>
            <a:ext cx="10587134" cy="738664"/>
          </a:xfrm>
          <a:prstGeom prst="rect">
            <a:avLst/>
          </a:prstGeom>
          <a:noFill/>
        </p:spPr>
        <p:txBody>
          <a:bodyPr wrap="square">
            <a:spAutoFit/>
          </a:bodyPr>
          <a:lstStyle/>
          <a:p>
            <a:pPr algn="ctr"/>
            <a:r>
              <a:rPr lang="ru-RU" dirty="0">
                <a:latin typeface="Times New Roman" panose="02020603050405020304" pitchFamily="18" charset="0"/>
                <a:ea typeface="Calibri" panose="020F0502020204030204" pitchFamily="34" charset="0"/>
              </a:rPr>
              <a:t>Рис. . С</a:t>
            </a:r>
            <a:r>
              <a:rPr lang="ru-RU" sz="1400" dirty="0">
                <a:solidFill>
                  <a:srgbClr val="000000"/>
                </a:solidFill>
                <a:effectLst/>
                <a:latin typeface="Times New Roman" panose="02020603050405020304" pitchFamily="18" charset="0"/>
                <a:ea typeface="Calibri" panose="020F0502020204030204" pitchFamily="34" charset="0"/>
              </a:rPr>
              <a:t>хема уровней </a:t>
            </a:r>
            <a:r>
              <a:rPr lang="en-US" sz="1400" dirty="0">
                <a:solidFill>
                  <a:srgbClr val="000000"/>
                </a:solidFill>
                <a:effectLst/>
                <a:latin typeface="Times New Roman" panose="02020603050405020304" pitchFamily="18" charset="0"/>
                <a:ea typeface="Calibri" panose="020F0502020204030204" pitchFamily="34" charset="0"/>
              </a:rPr>
              <a:t>D</a:t>
            </a:r>
            <a:r>
              <a:rPr lang="ru-RU" sz="1400" baseline="-25000" dirty="0">
                <a:solidFill>
                  <a:srgbClr val="000000"/>
                </a:solidFill>
                <a:effectLst/>
                <a:latin typeface="Times New Roman" panose="02020603050405020304" pitchFamily="18" charset="0"/>
                <a:ea typeface="Calibri" panose="020F0502020204030204" pitchFamily="34" charset="0"/>
              </a:rPr>
              <a:t>2</a:t>
            </a:r>
            <a:r>
              <a:rPr lang="ru-RU" sz="1400" dirty="0">
                <a:solidFill>
                  <a:srgbClr val="000000"/>
                </a:solidFill>
                <a:effectLst/>
                <a:latin typeface="Times New Roman" panose="02020603050405020304" pitchFamily="18" charset="0"/>
                <a:ea typeface="Calibri" panose="020F0502020204030204" pitchFamily="34" charset="0"/>
              </a:rPr>
              <a:t> линии атома </a:t>
            </a:r>
            <a:r>
              <a:rPr lang="ru-RU" sz="1400" baseline="30000" dirty="0">
                <a:solidFill>
                  <a:srgbClr val="000000"/>
                </a:solidFill>
                <a:effectLst/>
                <a:latin typeface="Times New Roman" panose="02020603050405020304" pitchFamily="18" charset="0"/>
                <a:ea typeface="Calibri" panose="020F0502020204030204" pitchFamily="34" charset="0"/>
              </a:rPr>
              <a:t>87</a:t>
            </a:r>
            <a:r>
              <a:rPr lang="en-US" sz="1400" dirty="0">
                <a:solidFill>
                  <a:srgbClr val="000000"/>
                </a:solidFill>
                <a:effectLst/>
                <a:latin typeface="Times New Roman" panose="02020603050405020304" pitchFamily="18" charset="0"/>
                <a:ea typeface="Calibri" panose="020F0502020204030204" pitchFamily="34" charset="0"/>
              </a:rPr>
              <a:t>Rb</a:t>
            </a:r>
            <a:r>
              <a:rPr lang="ru-RU" sz="1400" dirty="0">
                <a:solidFill>
                  <a:srgbClr val="000000"/>
                </a:solidFill>
                <a:effectLst/>
                <a:latin typeface="Times New Roman" panose="02020603050405020304" pitchFamily="18" charset="0"/>
                <a:ea typeface="Calibri" panose="020F0502020204030204" pitchFamily="34" charset="0"/>
              </a:rPr>
              <a:t> и используемые частоты лазерного излучения (слева)</a:t>
            </a:r>
            <a:r>
              <a:rPr lang="en-US" dirty="0">
                <a:latin typeface="Times New Roman" panose="02020603050405020304" pitchFamily="18" charset="0"/>
                <a:ea typeface="Calibri" panose="020F0502020204030204" pitchFamily="34" charset="0"/>
              </a:rPr>
              <a:t>, </a:t>
            </a:r>
            <a:r>
              <a:rPr lang="ru-RU" dirty="0">
                <a:latin typeface="Times New Roman" panose="02020603050405020304" pitchFamily="18" charset="0"/>
                <a:ea typeface="Calibri" panose="020F0502020204030204" pitchFamily="34" charset="0"/>
              </a:rPr>
              <a:t>о</a:t>
            </a:r>
            <a:r>
              <a:rPr lang="ru-RU" dirty="0">
                <a:effectLst/>
                <a:latin typeface="Times New Roman" panose="02020603050405020304" pitchFamily="18" charset="0"/>
                <a:ea typeface="Times New Roman" panose="02020603050405020304" pitchFamily="18" charset="0"/>
              </a:rPr>
              <a:t>птическая схема формирования лазерного излучения, используемого для лазерного охлаждения и пленения атомов рубидия, оптической накачки и осуществления двухфотонных </a:t>
            </a:r>
            <a:r>
              <a:rPr lang="ru-RU" dirty="0" err="1">
                <a:effectLst/>
                <a:latin typeface="Times New Roman" panose="02020603050405020304" pitchFamily="18" charset="0"/>
                <a:ea typeface="Times New Roman" panose="02020603050405020304" pitchFamily="18" charset="0"/>
              </a:rPr>
              <a:t>рамановских</a:t>
            </a:r>
            <a:r>
              <a:rPr lang="ru-RU" dirty="0">
                <a:effectLst/>
                <a:latin typeface="Times New Roman" panose="02020603050405020304" pitchFamily="18" charset="0"/>
                <a:ea typeface="Times New Roman" panose="02020603050405020304" pitchFamily="18" charset="0"/>
              </a:rPr>
              <a:t> переходов в атомном интерферометре</a:t>
            </a:r>
            <a:r>
              <a:rPr lang="en-US" dirty="0">
                <a:latin typeface="Times New Roman" panose="02020603050405020304" pitchFamily="18" charset="0"/>
                <a:ea typeface="Times New Roman" panose="02020603050405020304" pitchFamily="18" charset="0"/>
              </a:rPr>
              <a:t> (</a:t>
            </a:r>
            <a:r>
              <a:rPr lang="ru-RU" dirty="0">
                <a:latin typeface="Times New Roman" panose="02020603050405020304" pitchFamily="18" charset="0"/>
                <a:ea typeface="Times New Roman" panose="02020603050405020304" pitchFamily="18" charset="0"/>
              </a:rPr>
              <a:t>справа</a:t>
            </a:r>
            <a:r>
              <a:rPr lang="en-US" dirty="0">
                <a:latin typeface="Times New Roman" panose="02020603050405020304" pitchFamily="18" charset="0"/>
                <a:ea typeface="Times New Roman" panose="02020603050405020304" pitchFamily="18" charset="0"/>
              </a:rPr>
              <a:t>)</a:t>
            </a:r>
            <a:r>
              <a:rPr lang="ru-RU" sz="1400" dirty="0">
                <a:solidFill>
                  <a:srgbClr val="000000"/>
                </a:solidFill>
                <a:effectLst/>
                <a:latin typeface="Times New Roman" panose="02020603050405020304" pitchFamily="18" charset="0"/>
                <a:ea typeface="Calibri" panose="020F0502020204030204" pitchFamily="34" charset="0"/>
              </a:rPr>
              <a:t> </a:t>
            </a:r>
            <a:endParaRPr lang="ru-RU" dirty="0"/>
          </a:p>
        </p:txBody>
      </p:sp>
      <p:sp>
        <p:nvSpPr>
          <p:cNvPr id="9" name="TextBox 8">
            <a:extLst>
              <a:ext uri="{FF2B5EF4-FFF2-40B4-BE49-F238E27FC236}">
                <a16:creationId xmlns:a16="http://schemas.microsoft.com/office/drawing/2014/main" id="{2AF96418-F43F-49D3-8F8E-E2651F57759E}"/>
              </a:ext>
            </a:extLst>
          </p:cNvPr>
          <p:cNvSpPr txBox="1"/>
          <p:nvPr/>
        </p:nvSpPr>
        <p:spPr>
          <a:xfrm>
            <a:off x="11681926" y="6408575"/>
            <a:ext cx="360784" cy="312570"/>
          </a:xfrm>
          <a:prstGeom prst="rect">
            <a:avLst/>
          </a:prstGeom>
          <a:noFill/>
        </p:spPr>
        <p:txBody>
          <a:bodyPr wrap="square" rtlCol="0">
            <a:spAutoFit/>
          </a:bodyPr>
          <a:lstStyle/>
          <a:p>
            <a:r>
              <a:rPr lang="ru-RU" dirty="0"/>
              <a:t>4</a:t>
            </a:r>
          </a:p>
        </p:txBody>
      </p:sp>
    </p:spTree>
    <p:extLst>
      <p:ext uri="{BB962C8B-B14F-4D97-AF65-F5344CB8AC3E}">
        <p14:creationId xmlns:p14="http://schemas.microsoft.com/office/powerpoint/2010/main" val="828788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CDA365-E3B3-01BE-C12D-5555B4A36A5D}"/>
              </a:ext>
            </a:extLst>
          </p:cNvPr>
          <p:cNvSpPr txBox="1"/>
          <p:nvPr/>
        </p:nvSpPr>
        <p:spPr>
          <a:xfrm>
            <a:off x="2937933" y="516467"/>
            <a:ext cx="6316133" cy="4401205"/>
          </a:xfrm>
          <a:prstGeom prst="rect">
            <a:avLst/>
          </a:prstGeom>
          <a:noFill/>
        </p:spPr>
        <p:txBody>
          <a:bodyPr wrap="square" rtlCol="0">
            <a:spAutoFit/>
          </a:bodyPr>
          <a:lstStyle/>
          <a:p>
            <a:r>
              <a:rPr lang="ru-RU" dirty="0"/>
              <a:t>Теперь что касается самой экспериментальной установки гравиметра.</a:t>
            </a:r>
          </a:p>
          <a:p>
            <a:endParaRPr lang="ru-RU" dirty="0"/>
          </a:p>
          <a:p>
            <a:r>
              <a:rPr lang="ru-RU" dirty="0"/>
              <a:t>На данном слайде слева представлена схема уровней </a:t>
            </a:r>
            <a:r>
              <a:rPr lang="en-US" dirty="0"/>
              <a:t>D2  </a:t>
            </a:r>
            <a:r>
              <a:rPr lang="ru-RU" dirty="0"/>
              <a:t>линии 87</a:t>
            </a:r>
            <a:r>
              <a:rPr lang="en-US" dirty="0"/>
              <a:t>Rb </a:t>
            </a:r>
            <a:r>
              <a:rPr lang="ru-RU" dirty="0"/>
              <a:t>и используемые лазерные частоты. Для лазерного охлаждения и пленения используется излучения 2-3</a:t>
            </a:r>
            <a:r>
              <a:rPr lang="en-US" dirty="0"/>
              <a:t>’ c </a:t>
            </a:r>
            <a:r>
              <a:rPr lang="ru-RU" dirty="0"/>
              <a:t>отстройкой от 3</a:t>
            </a:r>
            <a:r>
              <a:rPr lang="en-US" dirty="0"/>
              <a:t>’, </a:t>
            </a:r>
            <a:r>
              <a:rPr lang="ru-RU" dirty="0"/>
              <a:t>для поддержания атомов в цикле охлаждения и излучения используется перекачивающее излучение 1-2</a:t>
            </a:r>
            <a:r>
              <a:rPr lang="en-US" dirty="0"/>
              <a:t>’, </a:t>
            </a:r>
            <a:r>
              <a:rPr lang="ru-RU" dirty="0"/>
              <a:t>для оптической накачки используются излучения 2-2</a:t>
            </a:r>
            <a:r>
              <a:rPr lang="en-US" dirty="0"/>
              <a:t>’ </a:t>
            </a:r>
            <a:r>
              <a:rPr lang="ru-RU" dirty="0"/>
              <a:t>и 1-0</a:t>
            </a:r>
            <a:r>
              <a:rPr lang="en-US" dirty="0"/>
              <a:t>’, </a:t>
            </a:r>
            <a:r>
              <a:rPr lang="ru-RU" dirty="0"/>
              <a:t>для подсветки Резонансное излучения 2-3</a:t>
            </a:r>
            <a:r>
              <a:rPr lang="en-US" dirty="0"/>
              <a:t>’, </a:t>
            </a:r>
            <a:r>
              <a:rPr lang="ru-RU" dirty="0"/>
              <a:t>и для переходов между состояниями </a:t>
            </a:r>
            <a:r>
              <a:rPr lang="en-US" dirty="0"/>
              <a:t>F=1 </a:t>
            </a:r>
            <a:r>
              <a:rPr lang="ru-RU" dirty="0"/>
              <a:t>и </a:t>
            </a:r>
            <a:r>
              <a:rPr lang="en-US" dirty="0"/>
              <a:t>F=2 </a:t>
            </a:r>
            <a:r>
              <a:rPr lang="ru-RU" dirty="0" err="1"/>
              <a:t>рамановские</a:t>
            </a:r>
            <a:r>
              <a:rPr lang="ru-RU" dirty="0"/>
              <a:t> пучки.</a:t>
            </a:r>
          </a:p>
          <a:p>
            <a:endParaRPr lang="ru-RU" dirty="0"/>
          </a:p>
          <a:p>
            <a:r>
              <a:rPr lang="ru-RU" dirty="0"/>
              <a:t>А справа показана оптическая схема </a:t>
            </a:r>
            <a:r>
              <a:rPr lang="ru-RU" dirty="0" err="1"/>
              <a:t>гравимерта</a:t>
            </a:r>
            <a:r>
              <a:rPr lang="ru-RU" dirty="0"/>
              <a:t>. Излучение для охлаждения и части оптической накачки формируется лазерной волоконной системой Эльза. Ее частота стабилизируется по биениям с излучением диодного лазера </a:t>
            </a:r>
            <a:r>
              <a:rPr lang="ru-RU" dirty="0" err="1"/>
              <a:t>Топтика</a:t>
            </a:r>
            <a:r>
              <a:rPr lang="ru-RU" dirty="0"/>
              <a:t> благодаря частотной привязке. Частота </a:t>
            </a:r>
            <a:r>
              <a:rPr lang="ru-RU" dirty="0" err="1"/>
              <a:t>Топтики</a:t>
            </a:r>
            <a:r>
              <a:rPr lang="ru-RU" dirty="0"/>
              <a:t> стабилизируется по резонансам насыщенного поглощения. Также излучение </a:t>
            </a:r>
            <a:r>
              <a:rPr lang="ru-RU" dirty="0" err="1"/>
              <a:t>Топтики</a:t>
            </a:r>
            <a:r>
              <a:rPr lang="ru-RU" dirty="0"/>
              <a:t> используется для формирования части излучения оптической накачки и перекачивающего излучения. Для формирования нужных частот используются </a:t>
            </a:r>
            <a:r>
              <a:rPr lang="ru-RU" dirty="0" err="1"/>
              <a:t>акусто</a:t>
            </a:r>
            <a:r>
              <a:rPr lang="ru-RU" dirty="0"/>
              <a:t> и электрооптика. Для доставки излучения к вакуумной камере применяются коллиматоры и волокно с сохранением поляризации. </a:t>
            </a:r>
          </a:p>
        </p:txBody>
      </p:sp>
    </p:spTree>
    <p:extLst>
      <p:ext uri="{BB962C8B-B14F-4D97-AF65-F5344CB8AC3E}">
        <p14:creationId xmlns:p14="http://schemas.microsoft.com/office/powerpoint/2010/main" val="713215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22"/>
          <p:cNvSpPr txBox="1"/>
          <p:nvPr/>
        </p:nvSpPr>
        <p:spPr>
          <a:xfrm>
            <a:off x="1789922" y="5162073"/>
            <a:ext cx="8192278"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400" b="0" i="0" u="none" strike="noStrike" cap="none" dirty="0">
                <a:solidFill>
                  <a:srgbClr val="000000"/>
                </a:solidFill>
                <a:latin typeface="Times New Roman"/>
                <a:ea typeface="Times New Roman"/>
                <a:cs typeface="Times New Roman"/>
                <a:sym typeface="Times New Roman"/>
              </a:rPr>
              <a:t>Рис. 5. Трехмерная модель экспериментальной установки. На рисунке представлены: вакуумная камера, три пары компенсационных магнитных катушек, охлаждающие лазерные пучки (розовые), рамановские пучки (фиолетовые), пробный пучок (жёлтый), оптика (коллиматоры, зеркала, линзы) и видеокамера. На рисунке не показаны четвертьволновые пластинки и катушка анти-Гельмгольца(фронтальная сторона)</a:t>
            </a:r>
            <a:endParaRPr sz="1800" b="0" i="0" u="none" strike="noStrike" cap="none" dirty="0">
              <a:solidFill>
                <a:srgbClr val="000000"/>
              </a:solidFill>
              <a:latin typeface="Arial"/>
              <a:ea typeface="Arial"/>
              <a:cs typeface="Arial"/>
              <a:sym typeface="Arial"/>
            </a:endParaRPr>
          </a:p>
        </p:txBody>
      </p:sp>
      <p:sp>
        <p:nvSpPr>
          <p:cNvPr id="188" name="Google Shape;188;p22"/>
          <p:cNvSpPr/>
          <p:nvPr/>
        </p:nvSpPr>
        <p:spPr>
          <a:xfrm>
            <a:off x="2465349" y="100125"/>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a:solidFill>
                  <a:schemeClr val="lt1"/>
                </a:solidFill>
                <a:latin typeface="Times New Roman"/>
                <a:ea typeface="Times New Roman"/>
                <a:cs typeface="Times New Roman"/>
                <a:sym typeface="Times New Roman"/>
              </a:rPr>
              <a:t>Экспериментальная установка</a:t>
            </a:r>
            <a:endParaRPr sz="1400" b="0" i="0" u="none" strike="noStrike" cap="none">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5</a:t>
            </a:r>
          </a:p>
        </p:txBody>
      </p:sp>
      <p:pic>
        <p:nvPicPr>
          <p:cNvPr id="4" name="Рисунок 3">
            <a:extLst>
              <a:ext uri="{FF2B5EF4-FFF2-40B4-BE49-F238E27FC236}">
                <a16:creationId xmlns:a16="http://schemas.microsoft.com/office/drawing/2014/main" id="{E8DBF2D1-7100-5EC3-B82B-FE54E4636A53}"/>
              </a:ext>
            </a:extLst>
          </p:cNvPr>
          <p:cNvPicPr>
            <a:picLocks noChangeAspect="1"/>
          </p:cNvPicPr>
          <p:nvPr/>
        </p:nvPicPr>
        <p:blipFill>
          <a:blip r:embed="rId3"/>
          <a:stretch>
            <a:fillRect/>
          </a:stretch>
        </p:blipFill>
        <p:spPr>
          <a:xfrm>
            <a:off x="2287480" y="1184995"/>
            <a:ext cx="7401958" cy="371526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391A7E6-5806-3DFD-08A6-FB1401E2440E}"/>
              </a:ext>
            </a:extLst>
          </p:cNvPr>
          <p:cNvSpPr/>
          <p:nvPr/>
        </p:nvSpPr>
        <p:spPr>
          <a:xfrm>
            <a:off x="1558832" y="1371526"/>
            <a:ext cx="7193282" cy="1384995"/>
          </a:xfrm>
          <a:prstGeom prst="rect">
            <a:avLst/>
          </a:prstGeom>
        </p:spPr>
        <p:txBody>
          <a:bodyPr wrap="square">
            <a:spAutoFit/>
          </a:bodyPr>
          <a:lstStyle/>
          <a:p>
            <a:pPr lvl="0">
              <a:buSzPts val="1400"/>
            </a:pPr>
            <a:r>
              <a:rPr lang="ru-RU" dirty="0">
                <a:latin typeface="Times New Roman" panose="02020603050405020304" pitchFamily="18" charset="0"/>
                <a:cs typeface="Times New Roman" panose="02020603050405020304" pitchFamily="18" charset="0"/>
              </a:rPr>
              <a:t>На данном слайде изображена 3д модель гравиметра. Показаны 3 пары взаимно ортогональных пучков сфокусированы в центр вакуумной камеры, они используются для пленения и охлаждения атомов, Сверху заводятся Рамановские пучки для атомной интерференции, также есть три пары компенсирующих остаточной магнитное поле катушек, и две катушки в конфигурации анти-</a:t>
            </a:r>
            <a:r>
              <a:rPr lang="ru-RU" dirty="0" err="1">
                <a:latin typeface="Times New Roman" panose="02020603050405020304" pitchFamily="18" charset="0"/>
                <a:cs typeface="Times New Roman" panose="02020603050405020304" pitchFamily="18" charset="0"/>
              </a:rPr>
              <a:t>гельмгольц</a:t>
            </a:r>
            <a:r>
              <a:rPr lang="ru-RU" dirty="0">
                <a:latin typeface="Times New Roman" panose="02020603050405020304" pitchFamily="18" charset="0"/>
                <a:cs typeface="Times New Roman" panose="02020603050405020304" pitchFamily="18" charset="0"/>
              </a:rPr>
              <a:t> для создания квадрупольного потенциала, нужного для МОЛ.  </a:t>
            </a:r>
          </a:p>
        </p:txBody>
      </p:sp>
    </p:spTree>
    <p:extLst>
      <p:ext uri="{BB962C8B-B14F-4D97-AF65-F5344CB8AC3E}">
        <p14:creationId xmlns:p14="http://schemas.microsoft.com/office/powerpoint/2010/main" val="582492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Прямоугольник 83"/>
          <p:cNvSpPr/>
          <p:nvPr/>
        </p:nvSpPr>
        <p:spPr>
          <a:xfrm>
            <a:off x="7354608" y="4640181"/>
            <a:ext cx="2126372" cy="173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82"/>
          <p:cNvSpPr/>
          <p:nvPr/>
        </p:nvSpPr>
        <p:spPr>
          <a:xfrm>
            <a:off x="10640413" y="4312850"/>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Прямоугольник 80"/>
          <p:cNvSpPr/>
          <p:nvPr/>
        </p:nvSpPr>
        <p:spPr>
          <a:xfrm>
            <a:off x="10330992" y="2288143"/>
            <a:ext cx="21259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76"/>
          <p:cNvSpPr/>
          <p:nvPr/>
        </p:nvSpPr>
        <p:spPr>
          <a:xfrm>
            <a:off x="9293989" y="4305582"/>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74"/>
          <p:cNvSpPr/>
          <p:nvPr/>
        </p:nvSpPr>
        <p:spPr>
          <a:xfrm>
            <a:off x="8186053" y="4309565"/>
            <a:ext cx="44036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73"/>
          <p:cNvSpPr/>
          <p:nvPr/>
        </p:nvSpPr>
        <p:spPr>
          <a:xfrm>
            <a:off x="7352165" y="4309711"/>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72"/>
          <p:cNvSpPr/>
          <p:nvPr/>
        </p:nvSpPr>
        <p:spPr>
          <a:xfrm>
            <a:off x="5580988" y="3609374"/>
            <a:ext cx="328768" cy="198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71"/>
          <p:cNvSpPr/>
          <p:nvPr/>
        </p:nvSpPr>
        <p:spPr>
          <a:xfrm>
            <a:off x="5419387" y="3977756"/>
            <a:ext cx="4382559" cy="16716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69"/>
          <p:cNvSpPr/>
          <p:nvPr/>
        </p:nvSpPr>
        <p:spPr>
          <a:xfrm>
            <a:off x="5100732" y="3262117"/>
            <a:ext cx="24414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a:off x="4042468" y="2308279"/>
            <a:ext cx="1001779" cy="17539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4042469" y="2001551"/>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Прямоугольник 50"/>
          <p:cNvSpPr/>
          <p:nvPr/>
        </p:nvSpPr>
        <p:spPr>
          <a:xfrm>
            <a:off x="4043396" y="1665997"/>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2739355" y="1990956"/>
            <a:ext cx="1179282"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 name="Прямоугольник 21"/>
          <p:cNvSpPr/>
          <p:nvPr/>
        </p:nvSpPr>
        <p:spPr>
          <a:xfrm>
            <a:off x="2739356" y="1665998"/>
            <a:ext cx="1172436" cy="18690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2739356" y="1336699"/>
            <a:ext cx="1172436"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2731310" y="2289575"/>
            <a:ext cx="118873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Google Shape;188;p22"/>
          <p:cNvSpPr/>
          <p:nvPr/>
        </p:nvSpPr>
        <p:spPr>
          <a:xfrm>
            <a:off x="2465349" y="100125"/>
            <a:ext cx="6910755" cy="48334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Экспериментальная </a:t>
            </a:r>
            <a:r>
              <a:rPr lang="ru-RU" sz="2400" b="1" dirty="0">
                <a:solidFill>
                  <a:schemeClr val="lt1"/>
                </a:solidFill>
                <a:latin typeface="Times New Roman"/>
                <a:ea typeface="Times New Roman"/>
                <a:cs typeface="Times New Roman"/>
                <a:sym typeface="Times New Roman"/>
              </a:rPr>
              <a:t>последовательность</a:t>
            </a:r>
            <a:endParaRPr sz="1400" b="0" i="0" u="none" strike="noStrike" cap="none" dirty="0">
              <a:solidFill>
                <a:srgbClr val="000000"/>
              </a:solidFill>
              <a:latin typeface="Arial"/>
              <a:ea typeface="Arial"/>
              <a:cs typeface="Arial"/>
              <a:sym typeface="Arial"/>
            </a:endParaRPr>
          </a:p>
        </p:txBody>
      </p:sp>
      <p:sp>
        <p:nvSpPr>
          <p:cNvPr id="3" name="TextBox 2"/>
          <p:cNvSpPr txBox="1"/>
          <p:nvPr/>
        </p:nvSpPr>
        <p:spPr>
          <a:xfrm>
            <a:off x="979793" y="122031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Маг. поле МОЛ</a:t>
            </a:r>
          </a:p>
        </p:txBody>
      </p:sp>
      <p:cxnSp>
        <p:nvCxnSpPr>
          <p:cNvPr id="5" name="Прямая соединительная линия 4"/>
          <p:cNvCxnSpPr/>
          <p:nvPr/>
        </p:nvCxnSpPr>
        <p:spPr>
          <a:xfrm>
            <a:off x="2477528" y="1436876"/>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216698" y="1573621"/>
            <a:ext cx="235593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Мощность Охлаждения</a:t>
            </a:r>
          </a:p>
        </p:txBody>
      </p:sp>
      <p:cxnSp>
        <p:nvCxnSpPr>
          <p:cNvPr id="7" name="Прямая соединительная линия 6"/>
          <p:cNvCxnSpPr/>
          <p:nvPr/>
        </p:nvCxnSpPr>
        <p:spPr>
          <a:xfrm>
            <a:off x="2477528" y="176617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342942" y="1905043"/>
            <a:ext cx="235593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Частота Охлаждения</a:t>
            </a:r>
          </a:p>
        </p:txBody>
      </p:sp>
      <p:cxnSp>
        <p:nvCxnSpPr>
          <p:cNvPr id="9" name="Прямая соединительная линия 8"/>
          <p:cNvCxnSpPr/>
          <p:nvPr/>
        </p:nvCxnSpPr>
        <p:spPr>
          <a:xfrm>
            <a:off x="2477528" y="2095474"/>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401427" y="218779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Перекачка</a:t>
            </a:r>
          </a:p>
        </p:txBody>
      </p:sp>
      <p:cxnSp>
        <p:nvCxnSpPr>
          <p:cNvPr id="11" name="Прямая соединительная линия 10"/>
          <p:cNvCxnSpPr/>
          <p:nvPr/>
        </p:nvCxnSpPr>
        <p:spPr>
          <a:xfrm>
            <a:off x="2477528" y="239531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509656" y="253603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1</a:t>
            </a:r>
          </a:p>
        </p:txBody>
      </p:sp>
      <p:sp>
        <p:nvSpPr>
          <p:cNvPr id="30" name="TextBox 29"/>
          <p:cNvSpPr txBox="1"/>
          <p:nvPr/>
        </p:nvSpPr>
        <p:spPr>
          <a:xfrm>
            <a:off x="1503505" y="2851055"/>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2</a:t>
            </a:r>
          </a:p>
        </p:txBody>
      </p:sp>
      <p:sp>
        <p:nvSpPr>
          <p:cNvPr id="32" name="TextBox 31"/>
          <p:cNvSpPr txBox="1"/>
          <p:nvPr/>
        </p:nvSpPr>
        <p:spPr>
          <a:xfrm>
            <a:off x="1237157" y="319508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33" name="Прямая соединительная линия 32"/>
          <p:cNvCxnSpPr/>
          <p:nvPr/>
        </p:nvCxnSpPr>
        <p:spPr>
          <a:xfrm>
            <a:off x="2477528" y="3385887"/>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366255" y="3872694"/>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35" name="Прямая соединительная линия 34"/>
          <p:cNvCxnSpPr/>
          <p:nvPr/>
        </p:nvCxnSpPr>
        <p:spPr>
          <a:xfrm>
            <a:off x="2477528" y="3714003"/>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1225610" y="351915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741643" y="4212125"/>
            <a:ext cx="1776549" cy="338554"/>
          </a:xfrm>
          <a:prstGeom prst="rect">
            <a:avLst/>
          </a:prstGeom>
          <a:noFill/>
        </p:spPr>
        <p:txBody>
          <a:bodyPr wrap="square" rtlCol="0">
            <a:spAutoFit/>
          </a:bodyPr>
          <a:lstStyle/>
          <a:p>
            <a:r>
              <a:rPr lang="ru-RU" sz="1600" i="1" dirty="0" err="1">
                <a:latin typeface="Times New Roman" panose="02020603050405020304" pitchFamily="18" charset="0"/>
                <a:cs typeface="Times New Roman" panose="02020603050405020304" pitchFamily="18" charset="0"/>
              </a:rPr>
              <a:t>Раман</a:t>
            </a:r>
            <a:endParaRPr lang="ru-RU" sz="1600" i="1"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073247" y="453423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Чирпирование</a:t>
            </a:r>
          </a:p>
        </p:txBody>
      </p:sp>
      <p:cxnSp>
        <p:nvCxnSpPr>
          <p:cNvPr id="41" name="Прямая соединительная линия 40"/>
          <p:cNvCxnSpPr/>
          <p:nvPr/>
        </p:nvCxnSpPr>
        <p:spPr>
          <a:xfrm>
            <a:off x="2482029" y="473634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43" name="Прямая соединительная линия 42"/>
          <p:cNvCxnSpPr/>
          <p:nvPr/>
        </p:nvCxnSpPr>
        <p:spPr>
          <a:xfrm>
            <a:off x="2723266"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911999"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264B975-A8B3-4554-9188-E48F759EEE32}"/>
              </a:ext>
            </a:extLst>
          </p:cNvPr>
          <p:cNvSpPr txBox="1"/>
          <p:nvPr/>
        </p:nvSpPr>
        <p:spPr>
          <a:xfrm>
            <a:off x="2571095" y="5058451"/>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D264B975-A8B3-4554-9188-E48F759EEE32}"/>
              </a:ext>
            </a:extLst>
          </p:cNvPr>
          <p:cNvSpPr txBox="1"/>
          <p:nvPr/>
        </p:nvSpPr>
        <p:spPr>
          <a:xfrm>
            <a:off x="3667880" y="5056696"/>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250</a:t>
            </a:r>
            <a:endParaRPr lang="ru-RU" sz="1800"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2980593" y="850514"/>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МОЛ</a:t>
            </a:r>
          </a:p>
        </p:txBody>
      </p:sp>
      <p:cxnSp>
        <p:nvCxnSpPr>
          <p:cNvPr id="55" name="Прямая соединительная линия 54"/>
          <p:cNvCxnSpPr/>
          <p:nvPr/>
        </p:nvCxnSpPr>
        <p:spPr>
          <a:xfrm>
            <a:off x="5037400" y="998514"/>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D264B975-A8B3-4554-9188-E48F759EEE32}"/>
              </a:ext>
            </a:extLst>
          </p:cNvPr>
          <p:cNvSpPr txBox="1"/>
          <p:nvPr/>
        </p:nvSpPr>
        <p:spPr>
          <a:xfrm>
            <a:off x="4741150" y="505234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260</a:t>
            </a:r>
            <a:endParaRPr lang="ru-RU" sz="18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3868867" y="836198"/>
            <a:ext cx="1776549" cy="338554"/>
          </a:xfrm>
          <a:prstGeom prst="rect">
            <a:avLst/>
          </a:prstGeom>
          <a:noFill/>
        </p:spPr>
        <p:txBody>
          <a:bodyPr wrap="square" rtlCol="0">
            <a:spAutoFit/>
          </a:bodyPr>
          <a:lstStyle/>
          <a:p>
            <a:r>
              <a:rPr lang="ru-RU" sz="1600" b="1" dirty="0" err="1">
                <a:latin typeface="Times New Roman" panose="02020603050405020304" pitchFamily="18" charset="0"/>
                <a:cs typeface="Times New Roman" panose="02020603050405020304" pitchFamily="18" charset="0"/>
              </a:rPr>
              <a:t>Субдоплер</a:t>
            </a:r>
            <a:endParaRPr lang="ru-RU" sz="1600" b="1"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4948827" y="797512"/>
            <a:ext cx="2210264" cy="58477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Подготовка в </a:t>
            </a:r>
            <a:r>
              <a:rPr lang="ru-RU" sz="1600" b="1" dirty="0" err="1">
                <a:latin typeface="Times New Roman" panose="02020603050405020304" pitchFamily="18" charset="0"/>
                <a:cs typeface="Times New Roman" panose="02020603050405020304" pitchFamily="18" charset="0"/>
              </a:rPr>
              <a:t>немаг</a:t>
            </a:r>
            <a:r>
              <a:rPr lang="ru-RU" sz="1600" b="1" dirty="0">
                <a:latin typeface="Times New Roman" panose="02020603050405020304" pitchFamily="18" charset="0"/>
                <a:cs typeface="Times New Roman" panose="02020603050405020304" pitchFamily="18" charset="0"/>
              </a:rPr>
              <a:t>. состояние</a:t>
            </a:r>
          </a:p>
        </p:txBody>
      </p:sp>
      <p:cxnSp>
        <p:nvCxnSpPr>
          <p:cNvPr id="59" name="Прямая соединительная линия 58"/>
          <p:cNvCxnSpPr/>
          <p:nvPr/>
        </p:nvCxnSpPr>
        <p:spPr>
          <a:xfrm>
            <a:off x="7161344"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D264B975-A8B3-4554-9188-E48F759EEE32}"/>
              </a:ext>
            </a:extLst>
          </p:cNvPr>
          <p:cNvSpPr txBox="1"/>
          <p:nvPr/>
        </p:nvSpPr>
        <p:spPr>
          <a:xfrm>
            <a:off x="6905837" y="5046910"/>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a:t>
            </a:r>
            <a:r>
              <a:rPr lang="ru-RU"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cxnSp>
        <p:nvCxnSpPr>
          <p:cNvPr id="64" name="Прямая соединительная линия 63"/>
          <p:cNvCxnSpPr/>
          <p:nvPr/>
        </p:nvCxnSpPr>
        <p:spPr>
          <a:xfrm>
            <a:off x="9785856" y="995153"/>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D264B975-A8B3-4554-9188-E48F759EEE32}"/>
              </a:ext>
            </a:extLst>
          </p:cNvPr>
          <p:cNvSpPr txBox="1"/>
          <p:nvPr/>
        </p:nvSpPr>
        <p:spPr>
          <a:xfrm>
            <a:off x="9543622" y="504407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300</a:t>
            </a:r>
            <a:endParaRPr lang="ru-RU" sz="1800" dirty="0">
              <a:latin typeface="Times New Roman" panose="02020603050405020304" pitchFamily="18" charset="0"/>
              <a:cs typeface="Times New Roman" panose="02020603050405020304" pitchFamily="18" charset="0"/>
            </a:endParaRPr>
          </a:p>
        </p:txBody>
      </p:sp>
      <p:sp>
        <p:nvSpPr>
          <p:cNvPr id="78" name="Google Shape;187;p22"/>
          <p:cNvSpPr txBox="1"/>
          <p:nvPr/>
        </p:nvSpPr>
        <p:spPr>
          <a:xfrm>
            <a:off x="2866794" y="5755465"/>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b="0" i="0" u="none" strike="noStrike" cap="none" dirty="0">
                <a:solidFill>
                  <a:srgbClr val="000000"/>
                </a:solidFill>
                <a:latin typeface="Times New Roman"/>
                <a:ea typeface="Times New Roman"/>
                <a:cs typeface="Times New Roman"/>
                <a:sym typeface="Times New Roman"/>
              </a:rPr>
              <a:t>Рис. 6. </a:t>
            </a:r>
            <a:r>
              <a:rPr lang="ru-RU" sz="1800" dirty="0">
                <a:latin typeface="Times New Roman"/>
                <a:ea typeface="Times New Roman"/>
                <a:cs typeface="Times New Roman"/>
                <a:sym typeface="Times New Roman"/>
              </a:rPr>
              <a:t>Временная последовательность работы гравиметра.</a:t>
            </a:r>
            <a:endParaRPr sz="2400" b="0" i="0" u="none" strike="noStrike" cap="none" dirty="0">
              <a:solidFill>
                <a:srgbClr val="000000"/>
              </a:solidFill>
              <a:latin typeface="Arial"/>
              <a:ea typeface="Arial"/>
              <a:cs typeface="Arial"/>
              <a:sym typeface="Arial"/>
            </a:endParaRPr>
          </a:p>
        </p:txBody>
      </p:sp>
      <p:cxnSp>
        <p:nvCxnSpPr>
          <p:cNvPr id="79" name="Прямая соединительная линия 78"/>
          <p:cNvCxnSpPr/>
          <p:nvPr/>
        </p:nvCxnSpPr>
        <p:spPr>
          <a:xfrm>
            <a:off x="11142660" y="976125"/>
            <a:ext cx="16090" cy="41117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D264B975-A8B3-4554-9188-E48F759EEE32}"/>
              </a:ext>
            </a:extLst>
          </p:cNvPr>
          <p:cNvSpPr txBox="1"/>
          <p:nvPr/>
        </p:nvSpPr>
        <p:spPr>
          <a:xfrm>
            <a:off x="10992984" y="5054133"/>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a:t>
            </a:r>
            <a:r>
              <a:rPr lang="ru-RU" sz="18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0</a:t>
            </a:r>
            <a:r>
              <a:rPr lang="ru-RU" sz="1800" dirty="0">
                <a:latin typeface="Times New Roman" panose="02020603050405020304" pitchFamily="18" charset="0"/>
                <a:cs typeface="Times New Roman" panose="02020603050405020304" pitchFamily="18" charset="0"/>
              </a:rPr>
              <a:t> </a:t>
            </a:r>
          </a:p>
        </p:txBody>
      </p:sp>
      <p:sp>
        <p:nvSpPr>
          <p:cNvPr id="85" name="TextBox 84"/>
          <p:cNvSpPr txBox="1"/>
          <p:nvPr/>
        </p:nvSpPr>
        <p:spPr>
          <a:xfrm>
            <a:off x="7610935" y="85343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Интерференция</a:t>
            </a:r>
          </a:p>
        </p:txBody>
      </p:sp>
      <p:sp>
        <p:nvSpPr>
          <p:cNvPr id="86" name="TextBox 85"/>
          <p:cNvSpPr txBox="1"/>
          <p:nvPr/>
        </p:nvSpPr>
        <p:spPr>
          <a:xfrm>
            <a:off x="9820985" y="85343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Регистрация</a:t>
            </a:r>
          </a:p>
        </p:txBody>
      </p:sp>
      <p:sp>
        <p:nvSpPr>
          <p:cNvPr id="63" name="Google Shape;187;p22">
            <a:extLst>
              <a:ext uri="{FF2B5EF4-FFF2-40B4-BE49-F238E27FC236}">
                <a16:creationId xmlns:a16="http://schemas.microsoft.com/office/drawing/2014/main" id="{752E87BA-AE03-4575-BC6E-FFA836941546}"/>
              </a:ext>
            </a:extLst>
          </p:cNvPr>
          <p:cNvSpPr txBox="1"/>
          <p:nvPr/>
        </p:nvSpPr>
        <p:spPr>
          <a:xfrm>
            <a:off x="3041395" y="5386174"/>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dirty="0">
                <a:latin typeface="Times New Roman"/>
                <a:cs typeface="Times New Roman"/>
                <a:sym typeface="Times New Roman"/>
              </a:rPr>
              <a:t>Время, </a:t>
            </a:r>
            <a:r>
              <a:rPr lang="en-US" sz="1800" dirty="0">
                <a:latin typeface="Times New Roman"/>
                <a:cs typeface="Times New Roman"/>
                <a:sym typeface="Times New Roman"/>
              </a:rPr>
              <a:t>[</a:t>
            </a:r>
            <a:r>
              <a:rPr lang="ru-RU" sz="1800" dirty="0" err="1">
                <a:latin typeface="Times New Roman"/>
                <a:cs typeface="Times New Roman"/>
                <a:sym typeface="Times New Roman"/>
              </a:rPr>
              <a:t>мс</a:t>
            </a:r>
            <a:r>
              <a:rPr lang="en-US" sz="1800" dirty="0">
                <a:latin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p:txBody>
      </p:sp>
      <p:cxnSp>
        <p:nvCxnSpPr>
          <p:cNvPr id="151" name="Прямая соединительная линия 150">
            <a:extLst>
              <a:ext uri="{FF2B5EF4-FFF2-40B4-BE49-F238E27FC236}">
                <a16:creationId xmlns:a16="http://schemas.microsoft.com/office/drawing/2014/main" id="{248B8D68-1797-4905-AC45-2C0793BDA79A}"/>
              </a:ext>
            </a:extLst>
          </p:cNvPr>
          <p:cNvCxnSpPr/>
          <p:nvPr/>
        </p:nvCxnSpPr>
        <p:spPr>
          <a:xfrm flipH="1">
            <a:off x="3102357" y="4593605"/>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a:extLst>
              <a:ext uri="{FF2B5EF4-FFF2-40B4-BE49-F238E27FC236}">
                <a16:creationId xmlns:a16="http://schemas.microsoft.com/office/drawing/2014/main" id="{E08F3811-E9DD-466E-B562-EDC2724496C2}"/>
              </a:ext>
            </a:extLst>
          </p:cNvPr>
          <p:cNvCxnSpPr/>
          <p:nvPr/>
        </p:nvCxnSpPr>
        <p:spPr>
          <a:xfrm flipH="1">
            <a:off x="3404452" y="4590922"/>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Прямоугольник 174">
            <a:extLst>
              <a:ext uri="{FF2B5EF4-FFF2-40B4-BE49-F238E27FC236}">
                <a16:creationId xmlns:a16="http://schemas.microsoft.com/office/drawing/2014/main" id="{D95B086B-20F1-4FB8-973C-18B9F97E541F}"/>
              </a:ext>
            </a:extLst>
          </p:cNvPr>
          <p:cNvSpPr/>
          <p:nvPr/>
        </p:nvSpPr>
        <p:spPr>
          <a:xfrm rot="1536041">
            <a:off x="3204757" y="4567162"/>
            <a:ext cx="241841" cy="341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EE466986-E0AF-4394-9D4C-BEFEDC65AD31}"/>
              </a:ext>
            </a:extLst>
          </p:cNvPr>
          <p:cNvSpPr/>
          <p:nvPr/>
        </p:nvSpPr>
        <p:spPr>
          <a:xfrm>
            <a:off x="9901862" y="431971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883A6D51-BD10-4CB1-9C2A-1746D6D82718}"/>
              </a:ext>
            </a:extLst>
          </p:cNvPr>
          <p:cNvSpPr/>
          <p:nvPr/>
        </p:nvSpPr>
        <p:spPr>
          <a:xfrm>
            <a:off x="9901863" y="262942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71D83A6E-C16E-4F2B-83C6-29C70DD39534}"/>
              </a:ext>
            </a:extLst>
          </p:cNvPr>
          <p:cNvSpPr/>
          <p:nvPr/>
        </p:nvSpPr>
        <p:spPr>
          <a:xfrm>
            <a:off x="10640413" y="2947083"/>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p:nvPr/>
        </p:nvCxnSpPr>
        <p:spPr>
          <a:xfrm>
            <a:off x="2477528" y="272519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7" name="Прямая соединительная линия 36"/>
          <p:cNvCxnSpPr/>
          <p:nvPr/>
        </p:nvCxnSpPr>
        <p:spPr>
          <a:xfrm>
            <a:off x="2477528" y="4064121"/>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p:cNvCxnSpPr/>
          <p:nvPr/>
        </p:nvCxnSpPr>
        <p:spPr>
          <a:xfrm>
            <a:off x="2477528" y="441423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p:cNvCxnSpPr/>
          <p:nvPr/>
        </p:nvCxnSpPr>
        <p:spPr>
          <a:xfrm>
            <a:off x="2477528" y="304084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9933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Прямоугольник 83"/>
          <p:cNvSpPr/>
          <p:nvPr/>
        </p:nvSpPr>
        <p:spPr>
          <a:xfrm>
            <a:off x="7293648" y="4457301"/>
            <a:ext cx="2126372" cy="173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3" name="Прямоугольник 82"/>
          <p:cNvSpPr/>
          <p:nvPr/>
        </p:nvSpPr>
        <p:spPr>
          <a:xfrm>
            <a:off x="10579453" y="4129970"/>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Прямоугольник 80"/>
          <p:cNvSpPr/>
          <p:nvPr/>
        </p:nvSpPr>
        <p:spPr>
          <a:xfrm>
            <a:off x="10270032" y="2105263"/>
            <a:ext cx="21259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7" name="Прямоугольник 76"/>
          <p:cNvSpPr/>
          <p:nvPr/>
        </p:nvSpPr>
        <p:spPr>
          <a:xfrm>
            <a:off x="9233029" y="4122702"/>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5" name="Прямоугольник 74"/>
          <p:cNvSpPr/>
          <p:nvPr/>
        </p:nvSpPr>
        <p:spPr>
          <a:xfrm>
            <a:off x="8125093" y="4126685"/>
            <a:ext cx="44036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4" name="Прямоугольник 73"/>
          <p:cNvSpPr/>
          <p:nvPr/>
        </p:nvSpPr>
        <p:spPr>
          <a:xfrm>
            <a:off x="7291205" y="4126831"/>
            <a:ext cx="18699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3" name="Прямоугольник 72"/>
          <p:cNvSpPr/>
          <p:nvPr/>
        </p:nvSpPr>
        <p:spPr>
          <a:xfrm>
            <a:off x="5520028" y="3426494"/>
            <a:ext cx="328768" cy="19812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2" name="Прямоугольник 71"/>
          <p:cNvSpPr/>
          <p:nvPr/>
        </p:nvSpPr>
        <p:spPr>
          <a:xfrm>
            <a:off x="5358427" y="3794876"/>
            <a:ext cx="4382559" cy="167165"/>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0" name="Прямоугольник 69"/>
          <p:cNvSpPr/>
          <p:nvPr/>
        </p:nvSpPr>
        <p:spPr>
          <a:xfrm>
            <a:off x="5039772" y="3079237"/>
            <a:ext cx="244140"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Прямоугольник 53"/>
          <p:cNvSpPr/>
          <p:nvPr/>
        </p:nvSpPr>
        <p:spPr>
          <a:xfrm>
            <a:off x="3981508" y="2125399"/>
            <a:ext cx="1001779" cy="175398"/>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3" name="Прямоугольник 52"/>
          <p:cNvSpPr/>
          <p:nvPr/>
        </p:nvSpPr>
        <p:spPr>
          <a:xfrm>
            <a:off x="3981509" y="1818671"/>
            <a:ext cx="755297" cy="189623"/>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 name="Прямоугольник 20"/>
          <p:cNvSpPr/>
          <p:nvPr/>
        </p:nvSpPr>
        <p:spPr>
          <a:xfrm>
            <a:off x="2670350" y="1808076"/>
            <a:ext cx="1187327"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 name="Прямоугольник 22"/>
          <p:cNvSpPr/>
          <p:nvPr/>
        </p:nvSpPr>
        <p:spPr>
          <a:xfrm>
            <a:off x="2660002" y="1498979"/>
            <a:ext cx="119901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 name="Прямоугольник 12"/>
          <p:cNvSpPr/>
          <p:nvPr/>
        </p:nvSpPr>
        <p:spPr>
          <a:xfrm>
            <a:off x="2670350" y="2106695"/>
            <a:ext cx="1188734" cy="194101"/>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Google Shape;188;p22"/>
          <p:cNvSpPr/>
          <p:nvPr/>
        </p:nvSpPr>
        <p:spPr>
          <a:xfrm>
            <a:off x="2465349" y="100125"/>
            <a:ext cx="6910755" cy="48334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Экспериментальная </a:t>
            </a:r>
            <a:r>
              <a:rPr lang="ru-RU" sz="2400" b="1" dirty="0">
                <a:solidFill>
                  <a:schemeClr val="lt1"/>
                </a:solidFill>
                <a:latin typeface="Times New Roman"/>
                <a:ea typeface="Times New Roman"/>
                <a:cs typeface="Times New Roman"/>
                <a:sym typeface="Times New Roman"/>
              </a:rPr>
              <a:t>последовательность</a:t>
            </a:r>
            <a:endParaRPr sz="1400" b="0" i="0" u="none" strike="noStrike" cap="none" dirty="0">
              <a:solidFill>
                <a:srgbClr val="000000"/>
              </a:solidFill>
              <a:latin typeface="Arial"/>
              <a:ea typeface="Arial"/>
              <a:cs typeface="Arial"/>
              <a:sym typeface="Arial"/>
            </a:endParaRPr>
          </a:p>
        </p:txBody>
      </p:sp>
      <p:sp>
        <p:nvSpPr>
          <p:cNvPr id="3" name="TextBox 2"/>
          <p:cNvSpPr txBox="1"/>
          <p:nvPr/>
        </p:nvSpPr>
        <p:spPr>
          <a:xfrm>
            <a:off x="927016" y="138259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Маг. поле МОЛ</a:t>
            </a:r>
          </a:p>
        </p:txBody>
      </p:sp>
      <p:cxnSp>
        <p:nvCxnSpPr>
          <p:cNvPr id="5" name="Прямая соединительная линия 4"/>
          <p:cNvCxnSpPr/>
          <p:nvPr/>
        </p:nvCxnSpPr>
        <p:spPr>
          <a:xfrm>
            <a:off x="2424751" y="1599156"/>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58716" y="1706864"/>
            <a:ext cx="2586604"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Охлаждающее излучение</a:t>
            </a:r>
          </a:p>
        </p:txBody>
      </p:sp>
      <p:cxnSp>
        <p:nvCxnSpPr>
          <p:cNvPr id="9" name="Прямая соединительная линия 8"/>
          <p:cNvCxnSpPr/>
          <p:nvPr/>
        </p:nvCxnSpPr>
        <p:spPr>
          <a:xfrm>
            <a:off x="2416568" y="1912594"/>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340467" y="200491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Перекачка</a:t>
            </a:r>
          </a:p>
        </p:txBody>
      </p:sp>
      <p:cxnSp>
        <p:nvCxnSpPr>
          <p:cNvPr id="11" name="Прямая соединительная линия 10"/>
          <p:cNvCxnSpPr/>
          <p:nvPr/>
        </p:nvCxnSpPr>
        <p:spPr>
          <a:xfrm>
            <a:off x="2416568" y="221243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1448696" y="23531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1</a:t>
            </a:r>
          </a:p>
        </p:txBody>
      </p:sp>
      <p:sp>
        <p:nvSpPr>
          <p:cNvPr id="30" name="TextBox 29"/>
          <p:cNvSpPr txBox="1"/>
          <p:nvPr/>
        </p:nvSpPr>
        <p:spPr>
          <a:xfrm>
            <a:off x="1442545" y="2668175"/>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Камера 2</a:t>
            </a:r>
          </a:p>
        </p:txBody>
      </p:sp>
      <p:sp>
        <p:nvSpPr>
          <p:cNvPr id="32" name="TextBox 31"/>
          <p:cNvSpPr txBox="1"/>
          <p:nvPr/>
        </p:nvSpPr>
        <p:spPr>
          <a:xfrm>
            <a:off x="1176197" y="301220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33" name="Прямая соединительная линия 32"/>
          <p:cNvCxnSpPr/>
          <p:nvPr/>
        </p:nvCxnSpPr>
        <p:spPr>
          <a:xfrm>
            <a:off x="2416568" y="3203007"/>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1305295" y="3689814"/>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35" name="Прямая соединительная линия 34"/>
          <p:cNvCxnSpPr/>
          <p:nvPr/>
        </p:nvCxnSpPr>
        <p:spPr>
          <a:xfrm>
            <a:off x="2416568" y="3531123"/>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1164650" y="3336272"/>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1680683" y="4029245"/>
            <a:ext cx="1776549" cy="338554"/>
          </a:xfrm>
          <a:prstGeom prst="rect">
            <a:avLst/>
          </a:prstGeom>
          <a:noFill/>
        </p:spPr>
        <p:txBody>
          <a:bodyPr wrap="square" rtlCol="0">
            <a:spAutoFit/>
          </a:bodyPr>
          <a:lstStyle/>
          <a:p>
            <a:r>
              <a:rPr lang="ru-RU" sz="1600" i="1" dirty="0" err="1">
                <a:latin typeface="Times New Roman" panose="02020603050405020304" pitchFamily="18" charset="0"/>
                <a:cs typeface="Times New Roman" panose="02020603050405020304" pitchFamily="18" charset="0"/>
              </a:rPr>
              <a:t>Раман</a:t>
            </a:r>
            <a:endParaRPr lang="ru-RU" sz="1600" i="1" dirty="0">
              <a:latin typeface="Times New Roman" panose="02020603050405020304" pitchFamily="18" charset="0"/>
              <a:cs typeface="Times New Roman" panose="02020603050405020304" pitchFamily="18" charset="0"/>
            </a:endParaRPr>
          </a:p>
        </p:txBody>
      </p:sp>
      <p:sp>
        <p:nvSpPr>
          <p:cNvPr id="40" name="TextBox 39"/>
          <p:cNvSpPr txBox="1"/>
          <p:nvPr/>
        </p:nvSpPr>
        <p:spPr>
          <a:xfrm>
            <a:off x="1012287" y="4351350"/>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Чирпирование</a:t>
            </a:r>
          </a:p>
        </p:txBody>
      </p:sp>
      <p:cxnSp>
        <p:nvCxnSpPr>
          <p:cNvPr id="41" name="Прямая соединительная линия 40"/>
          <p:cNvCxnSpPr/>
          <p:nvPr/>
        </p:nvCxnSpPr>
        <p:spPr>
          <a:xfrm>
            <a:off x="2421069" y="45534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43" name="Прямая соединительная линия 42"/>
          <p:cNvCxnSpPr/>
          <p:nvPr/>
        </p:nvCxnSpPr>
        <p:spPr>
          <a:xfrm>
            <a:off x="2657749" y="1261745"/>
            <a:ext cx="20647"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Прямая соединительная линия 45"/>
          <p:cNvCxnSpPr/>
          <p:nvPr/>
        </p:nvCxnSpPr>
        <p:spPr>
          <a:xfrm>
            <a:off x="3851039"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D264B975-A8B3-4554-9188-E48F759EEE32}"/>
              </a:ext>
            </a:extLst>
          </p:cNvPr>
          <p:cNvSpPr txBox="1"/>
          <p:nvPr/>
        </p:nvSpPr>
        <p:spPr>
          <a:xfrm>
            <a:off x="2510135" y="4875571"/>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D264B975-A8B3-4554-9188-E48F759EEE32}"/>
              </a:ext>
            </a:extLst>
          </p:cNvPr>
          <p:cNvSpPr txBox="1"/>
          <p:nvPr/>
        </p:nvSpPr>
        <p:spPr>
          <a:xfrm>
            <a:off x="3606920" y="4873816"/>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250</a:t>
            </a:r>
            <a:endParaRPr lang="ru-RU" sz="1800" dirty="0">
              <a:latin typeface="Times New Roman" panose="02020603050405020304" pitchFamily="18" charset="0"/>
              <a:cs typeface="Times New Roman" panose="02020603050405020304" pitchFamily="18" charset="0"/>
            </a:endParaRPr>
          </a:p>
        </p:txBody>
      </p:sp>
      <p:sp>
        <p:nvSpPr>
          <p:cNvPr id="49" name="TextBox 48"/>
          <p:cNvSpPr txBox="1"/>
          <p:nvPr/>
        </p:nvSpPr>
        <p:spPr>
          <a:xfrm>
            <a:off x="2919577" y="921194"/>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МОЛ</a:t>
            </a:r>
          </a:p>
        </p:txBody>
      </p:sp>
      <p:sp>
        <p:nvSpPr>
          <p:cNvPr id="56" name="TextBox 55">
            <a:extLst>
              <a:ext uri="{FF2B5EF4-FFF2-40B4-BE49-F238E27FC236}">
                <a16:creationId xmlns:a16="http://schemas.microsoft.com/office/drawing/2014/main" id="{D264B975-A8B3-4554-9188-E48F759EEE32}"/>
              </a:ext>
            </a:extLst>
          </p:cNvPr>
          <p:cNvSpPr txBox="1"/>
          <p:nvPr/>
        </p:nvSpPr>
        <p:spPr>
          <a:xfrm>
            <a:off x="4680190" y="486946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260</a:t>
            </a:r>
            <a:endParaRPr lang="ru-RU" sz="18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3807851" y="906878"/>
            <a:ext cx="1776549" cy="338554"/>
          </a:xfrm>
          <a:prstGeom prst="rect">
            <a:avLst/>
          </a:prstGeom>
          <a:noFill/>
        </p:spPr>
        <p:txBody>
          <a:bodyPr wrap="square" rtlCol="0">
            <a:spAutoFit/>
          </a:bodyPr>
          <a:lstStyle/>
          <a:p>
            <a:r>
              <a:rPr lang="ru-RU" sz="1600" b="1" dirty="0" err="1">
                <a:latin typeface="Times New Roman" panose="02020603050405020304" pitchFamily="18" charset="0"/>
                <a:cs typeface="Times New Roman" panose="02020603050405020304" pitchFamily="18" charset="0"/>
              </a:rPr>
              <a:t>Субдоплер</a:t>
            </a:r>
            <a:endParaRPr lang="ru-RU" sz="1600" b="1" dirty="0">
              <a:latin typeface="Times New Roman" panose="02020603050405020304" pitchFamily="18" charset="0"/>
              <a:cs typeface="Times New Roman" panose="02020603050405020304" pitchFamily="18" charset="0"/>
            </a:endParaRPr>
          </a:p>
        </p:txBody>
      </p:sp>
      <p:sp>
        <p:nvSpPr>
          <p:cNvPr id="58" name="TextBox 57"/>
          <p:cNvSpPr txBox="1"/>
          <p:nvPr/>
        </p:nvSpPr>
        <p:spPr>
          <a:xfrm>
            <a:off x="4887811" y="868192"/>
            <a:ext cx="2210264" cy="584775"/>
          </a:xfrm>
          <a:prstGeom prst="rect">
            <a:avLst/>
          </a:prstGeom>
          <a:noFill/>
        </p:spPr>
        <p:txBody>
          <a:bodyPr wrap="square" rtlCol="0">
            <a:spAutoFit/>
          </a:bodyPr>
          <a:lstStyle/>
          <a:p>
            <a:pPr algn="ctr"/>
            <a:r>
              <a:rPr lang="ru-RU" sz="1600" b="1" dirty="0">
                <a:latin typeface="Times New Roman" panose="02020603050405020304" pitchFamily="18" charset="0"/>
                <a:cs typeface="Times New Roman" panose="02020603050405020304" pitchFamily="18" charset="0"/>
              </a:rPr>
              <a:t>Подготовка в </a:t>
            </a:r>
            <a:r>
              <a:rPr lang="ru-RU" sz="1600" b="1" dirty="0" err="1">
                <a:latin typeface="Times New Roman" panose="02020603050405020304" pitchFamily="18" charset="0"/>
                <a:cs typeface="Times New Roman" panose="02020603050405020304" pitchFamily="18" charset="0"/>
              </a:rPr>
              <a:t>немаг</a:t>
            </a:r>
            <a:r>
              <a:rPr lang="ru-RU" sz="1600" b="1" dirty="0">
                <a:latin typeface="Times New Roman" panose="02020603050405020304" pitchFamily="18" charset="0"/>
                <a:cs typeface="Times New Roman" panose="02020603050405020304" pitchFamily="18" charset="0"/>
              </a:rPr>
              <a:t>. состояние</a:t>
            </a:r>
          </a:p>
        </p:txBody>
      </p:sp>
      <p:cxnSp>
        <p:nvCxnSpPr>
          <p:cNvPr id="59" name="Прямая соединительная линия 58"/>
          <p:cNvCxnSpPr/>
          <p:nvPr/>
        </p:nvCxnSpPr>
        <p:spPr>
          <a:xfrm>
            <a:off x="7094658" y="1261745"/>
            <a:ext cx="21816"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D264B975-A8B3-4554-9188-E48F759EEE32}"/>
              </a:ext>
            </a:extLst>
          </p:cNvPr>
          <p:cNvSpPr txBox="1"/>
          <p:nvPr/>
        </p:nvSpPr>
        <p:spPr>
          <a:xfrm>
            <a:off x="6844877" y="4864030"/>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2</a:t>
            </a:r>
            <a:r>
              <a:rPr lang="ru-RU" sz="1800" dirty="0">
                <a:latin typeface="Times New Roman" panose="02020603050405020304" pitchFamily="18" charset="0"/>
                <a:cs typeface="Times New Roman" panose="02020603050405020304" pitchFamily="18" charset="0"/>
              </a:rPr>
              <a:t>7</a:t>
            </a:r>
            <a:r>
              <a:rPr lang="en-US" sz="1800" dirty="0">
                <a:latin typeface="Times New Roman" panose="02020603050405020304" pitchFamily="18" charset="0"/>
                <a:cs typeface="Times New Roman" panose="02020603050405020304" pitchFamily="18" charset="0"/>
              </a:rPr>
              <a:t>0</a:t>
            </a:r>
            <a:endParaRPr lang="ru-RU" sz="1800" dirty="0">
              <a:latin typeface="Times New Roman" panose="02020603050405020304" pitchFamily="18" charset="0"/>
              <a:cs typeface="Times New Roman" panose="02020603050405020304" pitchFamily="18" charset="0"/>
            </a:endParaRPr>
          </a:p>
        </p:txBody>
      </p:sp>
      <p:cxnSp>
        <p:nvCxnSpPr>
          <p:cNvPr id="64" name="Прямая соединительная линия 63"/>
          <p:cNvCxnSpPr/>
          <p:nvPr/>
        </p:nvCxnSpPr>
        <p:spPr>
          <a:xfrm>
            <a:off x="9723937" y="1261745"/>
            <a:ext cx="17049" cy="366229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D264B975-A8B3-4554-9188-E48F759EEE32}"/>
              </a:ext>
            </a:extLst>
          </p:cNvPr>
          <p:cNvSpPr txBox="1"/>
          <p:nvPr/>
        </p:nvSpPr>
        <p:spPr>
          <a:xfrm>
            <a:off x="9482662" y="4861198"/>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300</a:t>
            </a:r>
            <a:endParaRPr lang="ru-RU" sz="1800" dirty="0">
              <a:latin typeface="Times New Roman" panose="02020603050405020304" pitchFamily="18" charset="0"/>
              <a:cs typeface="Times New Roman" panose="02020603050405020304" pitchFamily="18" charset="0"/>
            </a:endParaRPr>
          </a:p>
        </p:txBody>
      </p:sp>
      <p:sp>
        <p:nvSpPr>
          <p:cNvPr id="78" name="Google Shape;187;p22"/>
          <p:cNvSpPr txBox="1"/>
          <p:nvPr/>
        </p:nvSpPr>
        <p:spPr>
          <a:xfrm>
            <a:off x="2805834" y="5572585"/>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b="0" i="0" u="none" strike="noStrike" cap="none" dirty="0">
                <a:solidFill>
                  <a:srgbClr val="000000"/>
                </a:solidFill>
                <a:latin typeface="Times New Roman"/>
                <a:ea typeface="Times New Roman"/>
                <a:cs typeface="Times New Roman"/>
                <a:sym typeface="Times New Roman"/>
              </a:rPr>
              <a:t>Рис. 6. </a:t>
            </a:r>
            <a:r>
              <a:rPr lang="ru-RU" sz="1800" dirty="0">
                <a:latin typeface="Times New Roman"/>
                <a:ea typeface="Times New Roman"/>
                <a:cs typeface="Times New Roman"/>
                <a:sym typeface="Times New Roman"/>
              </a:rPr>
              <a:t>Временная последовательность работы гравиметра.</a:t>
            </a:r>
            <a:endParaRPr sz="2400" b="0" i="0" u="none" strike="noStrike" cap="none" dirty="0">
              <a:solidFill>
                <a:srgbClr val="000000"/>
              </a:solidFill>
              <a:latin typeface="Arial"/>
              <a:ea typeface="Arial"/>
              <a:cs typeface="Arial"/>
              <a:sym typeface="Arial"/>
            </a:endParaRPr>
          </a:p>
        </p:txBody>
      </p:sp>
      <p:cxnSp>
        <p:nvCxnSpPr>
          <p:cNvPr id="79" name="Прямая соединительная линия 78"/>
          <p:cNvCxnSpPr/>
          <p:nvPr/>
        </p:nvCxnSpPr>
        <p:spPr>
          <a:xfrm>
            <a:off x="11092199" y="1261745"/>
            <a:ext cx="5591" cy="364327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D264B975-A8B3-4554-9188-E48F759EEE32}"/>
              </a:ext>
            </a:extLst>
          </p:cNvPr>
          <p:cNvSpPr txBox="1"/>
          <p:nvPr/>
        </p:nvSpPr>
        <p:spPr>
          <a:xfrm>
            <a:off x="10932024" y="4871253"/>
            <a:ext cx="1515450"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3</a:t>
            </a:r>
            <a:r>
              <a:rPr lang="ru-RU" sz="18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0</a:t>
            </a:r>
            <a:r>
              <a:rPr lang="ru-RU" sz="1800" dirty="0">
                <a:latin typeface="Times New Roman" panose="02020603050405020304" pitchFamily="18" charset="0"/>
                <a:cs typeface="Times New Roman" panose="02020603050405020304" pitchFamily="18" charset="0"/>
              </a:rPr>
              <a:t> </a:t>
            </a:r>
          </a:p>
        </p:txBody>
      </p:sp>
      <p:sp>
        <p:nvSpPr>
          <p:cNvPr id="85" name="TextBox 84"/>
          <p:cNvSpPr txBox="1"/>
          <p:nvPr/>
        </p:nvSpPr>
        <p:spPr>
          <a:xfrm>
            <a:off x="754991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Интерференция</a:t>
            </a:r>
          </a:p>
        </p:txBody>
      </p:sp>
      <p:sp>
        <p:nvSpPr>
          <p:cNvPr id="86" name="TextBox 85"/>
          <p:cNvSpPr txBox="1"/>
          <p:nvPr/>
        </p:nvSpPr>
        <p:spPr>
          <a:xfrm>
            <a:off x="9759969" y="924113"/>
            <a:ext cx="1776549"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Регистрация</a:t>
            </a:r>
          </a:p>
        </p:txBody>
      </p:sp>
      <p:sp>
        <p:nvSpPr>
          <p:cNvPr id="63" name="Google Shape;187;p22">
            <a:extLst>
              <a:ext uri="{FF2B5EF4-FFF2-40B4-BE49-F238E27FC236}">
                <a16:creationId xmlns:a16="http://schemas.microsoft.com/office/drawing/2014/main" id="{752E87BA-AE03-4575-BC6E-FFA836941546}"/>
              </a:ext>
            </a:extLst>
          </p:cNvPr>
          <p:cNvSpPr txBox="1"/>
          <p:nvPr/>
        </p:nvSpPr>
        <p:spPr>
          <a:xfrm>
            <a:off x="2980435" y="5203294"/>
            <a:ext cx="8192278"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sz="1800" dirty="0">
                <a:latin typeface="Times New Roman"/>
                <a:cs typeface="Times New Roman"/>
                <a:sym typeface="Times New Roman"/>
              </a:rPr>
              <a:t>Время, </a:t>
            </a:r>
            <a:r>
              <a:rPr lang="en-US" sz="1800" dirty="0">
                <a:latin typeface="Times New Roman"/>
                <a:cs typeface="Times New Roman"/>
                <a:sym typeface="Times New Roman"/>
              </a:rPr>
              <a:t>[</a:t>
            </a:r>
            <a:r>
              <a:rPr lang="ru-RU" sz="1800" dirty="0" err="1">
                <a:latin typeface="Times New Roman"/>
                <a:cs typeface="Times New Roman"/>
                <a:sym typeface="Times New Roman"/>
              </a:rPr>
              <a:t>мс</a:t>
            </a:r>
            <a:r>
              <a:rPr lang="en-US" sz="1800" dirty="0">
                <a:latin typeface="Times New Roman"/>
                <a:cs typeface="Times New Roman"/>
                <a:sym typeface="Times New Roman"/>
              </a:rPr>
              <a:t>]</a:t>
            </a:r>
            <a:endParaRPr sz="1800" b="0" i="0" u="none" strike="noStrike" cap="none" dirty="0">
              <a:solidFill>
                <a:srgbClr val="000000"/>
              </a:solidFill>
              <a:latin typeface="Arial"/>
              <a:ea typeface="Arial"/>
              <a:cs typeface="Arial"/>
              <a:sym typeface="Arial"/>
            </a:endParaRPr>
          </a:p>
        </p:txBody>
      </p:sp>
      <p:cxnSp>
        <p:nvCxnSpPr>
          <p:cNvPr id="151" name="Прямая соединительная линия 150">
            <a:extLst>
              <a:ext uri="{FF2B5EF4-FFF2-40B4-BE49-F238E27FC236}">
                <a16:creationId xmlns:a16="http://schemas.microsoft.com/office/drawing/2014/main" id="{248B8D68-1797-4905-AC45-2C0793BDA79A}"/>
              </a:ext>
            </a:extLst>
          </p:cNvPr>
          <p:cNvCxnSpPr/>
          <p:nvPr/>
        </p:nvCxnSpPr>
        <p:spPr>
          <a:xfrm flipH="1">
            <a:off x="3041397" y="4410725"/>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Прямая соединительная линия 153">
            <a:extLst>
              <a:ext uri="{FF2B5EF4-FFF2-40B4-BE49-F238E27FC236}">
                <a16:creationId xmlns:a16="http://schemas.microsoft.com/office/drawing/2014/main" id="{E08F3811-E9DD-466E-B562-EDC2724496C2}"/>
              </a:ext>
            </a:extLst>
          </p:cNvPr>
          <p:cNvCxnSpPr/>
          <p:nvPr/>
        </p:nvCxnSpPr>
        <p:spPr>
          <a:xfrm flipH="1">
            <a:off x="3343492" y="4408042"/>
            <a:ext cx="144491" cy="2842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5" name="Прямоугольник 174">
            <a:extLst>
              <a:ext uri="{FF2B5EF4-FFF2-40B4-BE49-F238E27FC236}">
                <a16:creationId xmlns:a16="http://schemas.microsoft.com/office/drawing/2014/main" id="{D95B086B-20F1-4FB8-973C-18B9F97E541F}"/>
              </a:ext>
            </a:extLst>
          </p:cNvPr>
          <p:cNvSpPr/>
          <p:nvPr/>
        </p:nvSpPr>
        <p:spPr>
          <a:xfrm rot="1536041">
            <a:off x="3143797" y="4384282"/>
            <a:ext cx="241841" cy="3417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7" name="Прямоугольник 66">
            <a:extLst>
              <a:ext uri="{FF2B5EF4-FFF2-40B4-BE49-F238E27FC236}">
                <a16:creationId xmlns:a16="http://schemas.microsoft.com/office/drawing/2014/main" id="{EE466986-E0AF-4394-9D4C-BEFEDC65AD31}"/>
              </a:ext>
            </a:extLst>
          </p:cNvPr>
          <p:cNvSpPr/>
          <p:nvPr/>
        </p:nvSpPr>
        <p:spPr>
          <a:xfrm>
            <a:off x="9840902" y="413683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8" name="Прямоугольник 67">
            <a:extLst>
              <a:ext uri="{FF2B5EF4-FFF2-40B4-BE49-F238E27FC236}">
                <a16:creationId xmlns:a16="http://schemas.microsoft.com/office/drawing/2014/main" id="{883A6D51-BD10-4CB1-9C2A-1746D6D82718}"/>
              </a:ext>
            </a:extLst>
          </p:cNvPr>
          <p:cNvSpPr/>
          <p:nvPr/>
        </p:nvSpPr>
        <p:spPr>
          <a:xfrm>
            <a:off x="9840903" y="2446541"/>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9" name="Прямоугольник 68">
            <a:extLst>
              <a:ext uri="{FF2B5EF4-FFF2-40B4-BE49-F238E27FC236}">
                <a16:creationId xmlns:a16="http://schemas.microsoft.com/office/drawing/2014/main" id="{71D83A6E-C16E-4F2B-83C6-29C70DD39534}"/>
              </a:ext>
            </a:extLst>
          </p:cNvPr>
          <p:cNvSpPr/>
          <p:nvPr/>
        </p:nvSpPr>
        <p:spPr>
          <a:xfrm>
            <a:off x="10579453" y="2764203"/>
            <a:ext cx="347849" cy="19716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29" name="Прямая соединительная линия 28"/>
          <p:cNvCxnSpPr/>
          <p:nvPr/>
        </p:nvCxnSpPr>
        <p:spPr>
          <a:xfrm>
            <a:off x="2416568" y="254231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7" name="Прямая соединительная линия 36"/>
          <p:cNvCxnSpPr/>
          <p:nvPr/>
        </p:nvCxnSpPr>
        <p:spPr>
          <a:xfrm>
            <a:off x="2416568" y="3881241"/>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9" name="Прямая соединительная линия 38"/>
          <p:cNvCxnSpPr/>
          <p:nvPr/>
        </p:nvCxnSpPr>
        <p:spPr>
          <a:xfrm>
            <a:off x="2416568" y="4231359"/>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cxnSp>
        <p:nvCxnSpPr>
          <p:cNvPr id="31" name="Прямая соединительная линия 30"/>
          <p:cNvCxnSpPr/>
          <p:nvPr/>
        </p:nvCxnSpPr>
        <p:spPr>
          <a:xfrm>
            <a:off x="2416568" y="2857965"/>
            <a:ext cx="8856618"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5FB779BE-E95C-4F23-B584-09191216FEFF}"/>
              </a:ext>
            </a:extLst>
          </p:cNvPr>
          <p:cNvSpPr txBox="1"/>
          <p:nvPr/>
        </p:nvSpPr>
        <p:spPr>
          <a:xfrm>
            <a:off x="11681926" y="6408575"/>
            <a:ext cx="360784" cy="312570"/>
          </a:xfrm>
          <a:prstGeom prst="rect">
            <a:avLst/>
          </a:prstGeom>
          <a:noFill/>
        </p:spPr>
        <p:txBody>
          <a:bodyPr wrap="square" rtlCol="0">
            <a:spAutoFit/>
          </a:bodyPr>
          <a:lstStyle/>
          <a:p>
            <a:r>
              <a:rPr lang="ru-RU" dirty="0"/>
              <a:t>6</a:t>
            </a:r>
          </a:p>
        </p:txBody>
      </p:sp>
      <p:cxnSp>
        <p:nvCxnSpPr>
          <p:cNvPr id="117" name="Прямая соединительная линия 116"/>
          <p:cNvCxnSpPr/>
          <p:nvPr/>
        </p:nvCxnSpPr>
        <p:spPr>
          <a:xfrm>
            <a:off x="4974321" y="1267762"/>
            <a:ext cx="16090" cy="365628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872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697A10-FD94-624C-4819-B6D157B1D080}"/>
              </a:ext>
            </a:extLst>
          </p:cNvPr>
          <p:cNvSpPr txBox="1"/>
          <p:nvPr/>
        </p:nvSpPr>
        <p:spPr>
          <a:xfrm>
            <a:off x="2099733" y="2091267"/>
            <a:ext cx="6680200" cy="1384995"/>
          </a:xfrm>
          <a:prstGeom prst="rect">
            <a:avLst/>
          </a:prstGeom>
          <a:noFill/>
        </p:spPr>
        <p:txBody>
          <a:bodyPr wrap="square" rtlCol="0">
            <a:spAutoFit/>
          </a:bodyPr>
          <a:lstStyle/>
          <a:p>
            <a:r>
              <a:rPr lang="ru-RU" dirty="0"/>
              <a:t>На данном слайде показана типичная экспериментальная последовательность работы гравиметра. Начинается цикл с лазерного охлаждение и пленения, что длится порядке 250 мс, после чего идёт оптическая накачка в немагнитное состояние, исследованию которой посвящена часть представляемого доклада, после чего идут процессы атомной интерференции и регистрации.</a:t>
            </a:r>
          </a:p>
        </p:txBody>
      </p:sp>
    </p:spTree>
    <p:extLst>
      <p:ext uri="{BB962C8B-B14F-4D97-AF65-F5344CB8AC3E}">
        <p14:creationId xmlns:p14="http://schemas.microsoft.com/office/powerpoint/2010/main" val="392748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Таблица 3">
            <a:extLst>
              <a:ext uri="{FF2B5EF4-FFF2-40B4-BE49-F238E27FC236}">
                <a16:creationId xmlns:a16="http://schemas.microsoft.com/office/drawing/2014/main" id="{54FCBDA4-5566-47DB-88F3-11F7896C9614}"/>
              </a:ext>
            </a:extLst>
          </p:cNvPr>
          <p:cNvGraphicFramePr>
            <a:graphicFrameLocks noGrp="1"/>
          </p:cNvGraphicFramePr>
          <p:nvPr>
            <p:extLst>
              <p:ext uri="{D42A27DB-BD31-4B8C-83A1-F6EECF244321}">
                <p14:modId xmlns:p14="http://schemas.microsoft.com/office/powerpoint/2010/main" val="2633225694"/>
              </p:ext>
            </p:extLst>
          </p:nvPr>
        </p:nvGraphicFramePr>
        <p:xfrm>
          <a:off x="1790170" y="596900"/>
          <a:ext cx="8611660" cy="6044387"/>
        </p:xfrm>
        <a:graphic>
          <a:graphicData uri="http://schemas.openxmlformats.org/drawingml/2006/table">
            <a:tbl>
              <a:tblPr firstRow="1" bandRow="1">
                <a:tableStyleId>{5C22544A-7EE6-4342-B048-85BDC9FD1C3A}</a:tableStyleId>
              </a:tblPr>
              <a:tblGrid>
                <a:gridCol w="4305830">
                  <a:extLst>
                    <a:ext uri="{9D8B030D-6E8A-4147-A177-3AD203B41FA5}">
                      <a16:colId xmlns:a16="http://schemas.microsoft.com/office/drawing/2014/main" val="3217741643"/>
                    </a:ext>
                  </a:extLst>
                </a:gridCol>
                <a:gridCol w="4305830">
                  <a:extLst>
                    <a:ext uri="{9D8B030D-6E8A-4147-A177-3AD203B41FA5}">
                      <a16:colId xmlns:a16="http://schemas.microsoft.com/office/drawing/2014/main" val="3049118654"/>
                    </a:ext>
                  </a:extLst>
                </a:gridCol>
              </a:tblGrid>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из состояния ∣F = 2⟩ в состояние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ru-RU" sz="1400" b="1" i="0" u="none" strike="noStrike" cap="none" dirty="0">
                          <a:solidFill>
                            <a:srgbClr val="000000"/>
                          </a:solidFill>
                          <a:latin typeface="Times New Roman"/>
                          <a:ea typeface="Times New Roman"/>
                          <a:cs typeface="Times New Roman"/>
                          <a:sym typeface="Times New Roman"/>
                        </a:rPr>
                        <a:t>Оптическая накачка в состояние ∣F = 1, m = 0⟩ из состояния ∣F = 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17233675"/>
                  </a:ext>
                </a:extLst>
              </a:tr>
              <a:tr h="2301240">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75067"/>
                  </a:ext>
                </a:extLst>
              </a:tr>
              <a:tr h="423952">
                <a:tc gridSpan="2">
                  <a:txBody>
                    <a:bodyPr/>
                    <a:lstStyle/>
                    <a:p>
                      <a:pPr algn="ctr"/>
                      <a:r>
                        <a:rPr lang="ru-RU" b="1" dirty="0">
                          <a:solidFill>
                            <a:schemeClr val="tx1"/>
                          </a:solidFill>
                          <a:latin typeface="Times New Roman" panose="02020603050405020304" pitchFamily="18" charset="0"/>
                          <a:cs typeface="Times New Roman" panose="02020603050405020304" pitchFamily="18" charset="0"/>
                        </a:rPr>
                        <a:t>Результаты моделирования оптической накачки</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90096364"/>
                  </a:ext>
                </a:extLst>
              </a:tr>
              <a:tr h="2801035">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ru-RU" dirty="0">
                        <a:solidFill>
                          <a:srgbClr val="FF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2659424"/>
                  </a:ext>
                </a:extLst>
              </a:tr>
            </a:tbl>
          </a:graphicData>
        </a:graphic>
      </p:graphicFrame>
      <p:pic>
        <p:nvPicPr>
          <p:cNvPr id="66" name="Рисунок 65">
            <a:extLst>
              <a:ext uri="{FF2B5EF4-FFF2-40B4-BE49-F238E27FC236}">
                <a16:creationId xmlns:a16="http://schemas.microsoft.com/office/drawing/2014/main" id="{E8E229DC-645D-4BF2-B2AD-A21DBE6389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085" y="4031656"/>
            <a:ext cx="3344244" cy="2363523"/>
          </a:xfrm>
          <a:prstGeom prst="rect">
            <a:avLst/>
          </a:prstGeom>
        </p:spPr>
      </p:pic>
      <p:pic>
        <p:nvPicPr>
          <p:cNvPr id="65" name="Рисунок 64">
            <a:extLst>
              <a:ext uri="{FF2B5EF4-FFF2-40B4-BE49-F238E27FC236}">
                <a16:creationId xmlns:a16="http://schemas.microsoft.com/office/drawing/2014/main" id="{E92481A7-F519-4885-95E9-8AF365188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9185" y="3957146"/>
            <a:ext cx="3449671" cy="2438033"/>
          </a:xfrm>
          <a:prstGeom prst="rect">
            <a:avLst/>
          </a:prstGeom>
        </p:spPr>
      </p:pic>
      <p:sp>
        <p:nvSpPr>
          <p:cNvPr id="2" name="Google Shape;246;p7">
            <a:extLst>
              <a:ext uri="{FF2B5EF4-FFF2-40B4-BE49-F238E27FC236}">
                <a16:creationId xmlns:a16="http://schemas.microsoft.com/office/drawing/2014/main" id="{ADBA48A0-643A-42AD-B040-E7A9A3323698}"/>
              </a:ext>
            </a:extLst>
          </p:cNvPr>
          <p:cNvSpPr/>
          <p:nvPr/>
        </p:nvSpPr>
        <p:spPr>
          <a:xfrm>
            <a:off x="2085240" y="83130"/>
            <a:ext cx="8611659" cy="41358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dirty="0">
                <a:solidFill>
                  <a:schemeClr val="lt1"/>
                </a:solidFill>
                <a:latin typeface="Times New Roman"/>
                <a:ea typeface="Times New Roman"/>
                <a:cs typeface="Times New Roman"/>
                <a:sym typeface="Times New Roman"/>
              </a:rPr>
              <a:t>Результаты моделирования оптической накачки</a:t>
            </a:r>
            <a:endParaRPr sz="1400" b="0" i="0" u="none" strike="noStrike" cap="none" dirty="0">
              <a:solidFill>
                <a:srgbClr val="000000"/>
              </a:solidFill>
              <a:latin typeface="Arial"/>
              <a:ea typeface="Arial"/>
              <a:cs typeface="Arial"/>
              <a:sym typeface="Arial"/>
            </a:endParaRPr>
          </a:p>
        </p:txBody>
      </p:sp>
      <p:cxnSp>
        <p:nvCxnSpPr>
          <p:cNvPr id="103" name="Google Shape;299;p7">
            <a:extLst>
              <a:ext uri="{FF2B5EF4-FFF2-40B4-BE49-F238E27FC236}">
                <a16:creationId xmlns:a16="http://schemas.microsoft.com/office/drawing/2014/main" id="{2E5A9624-18A1-400B-AF2C-0F07EC11EAFB}"/>
              </a:ext>
            </a:extLst>
          </p:cNvPr>
          <p:cNvCxnSpPr/>
          <p:nvPr/>
        </p:nvCxnSpPr>
        <p:spPr>
          <a:xfrm>
            <a:off x="3484945" y="1289692"/>
            <a:ext cx="180937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04" name="Google Shape;300;p7">
            <a:extLst>
              <a:ext uri="{FF2B5EF4-FFF2-40B4-BE49-F238E27FC236}">
                <a16:creationId xmlns:a16="http://schemas.microsoft.com/office/drawing/2014/main" id="{A5811CD6-B7D7-4A6E-97A8-B2E5FF831621}"/>
              </a:ext>
            </a:extLst>
          </p:cNvPr>
          <p:cNvSpPr txBox="1"/>
          <p:nvPr/>
        </p:nvSpPr>
        <p:spPr>
          <a:xfrm>
            <a:off x="2497990" y="1135803"/>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cxnSp>
        <p:nvCxnSpPr>
          <p:cNvPr id="105" name="Google Shape;302;p7">
            <a:extLst>
              <a:ext uri="{FF2B5EF4-FFF2-40B4-BE49-F238E27FC236}">
                <a16:creationId xmlns:a16="http://schemas.microsoft.com/office/drawing/2014/main" id="{9B2782CE-7759-4404-BDA1-E97051A2F3AA}"/>
              </a:ext>
            </a:extLst>
          </p:cNvPr>
          <p:cNvCxnSpPr>
            <a:cxnSpLocks/>
          </p:cNvCxnSpPr>
          <p:nvPr/>
        </p:nvCxnSpPr>
        <p:spPr>
          <a:xfrm flipH="1" flipV="1">
            <a:off x="4436901" y="1388163"/>
            <a:ext cx="1" cy="547550"/>
          </a:xfrm>
          <a:prstGeom prst="straightConnector1">
            <a:avLst/>
          </a:prstGeom>
          <a:noFill/>
          <a:ln w="19050" cap="flat" cmpd="sng">
            <a:solidFill>
              <a:schemeClr val="dk1"/>
            </a:solidFill>
            <a:prstDash val="solid"/>
            <a:round/>
            <a:headEnd type="none" w="sm" len="sm"/>
            <a:tailEnd type="triangle" w="med" len="med"/>
          </a:ln>
        </p:spPr>
      </p:cxnSp>
      <p:cxnSp>
        <p:nvCxnSpPr>
          <p:cNvPr id="106" name="Google Shape;303;p7">
            <a:extLst>
              <a:ext uri="{FF2B5EF4-FFF2-40B4-BE49-F238E27FC236}">
                <a16:creationId xmlns:a16="http://schemas.microsoft.com/office/drawing/2014/main" id="{46DA7C1D-A09F-40A2-B438-F879F9AEF3BF}"/>
              </a:ext>
            </a:extLst>
          </p:cNvPr>
          <p:cNvCxnSpPr>
            <a:cxnSpLocks/>
          </p:cNvCxnSpPr>
          <p:nvPr/>
        </p:nvCxnSpPr>
        <p:spPr>
          <a:xfrm>
            <a:off x="4705721" y="1388163"/>
            <a:ext cx="0" cy="1218048"/>
          </a:xfrm>
          <a:prstGeom prst="straightConnector1">
            <a:avLst/>
          </a:prstGeom>
          <a:noFill/>
          <a:ln w="19050" cap="flat" cmpd="sng">
            <a:solidFill>
              <a:schemeClr val="dk1"/>
            </a:solidFill>
            <a:prstDash val="dash"/>
            <a:round/>
            <a:headEnd type="none" w="sm" len="sm"/>
            <a:tailEnd type="triangle" w="med" len="med"/>
          </a:ln>
        </p:spPr>
      </p:cxnSp>
      <p:cxnSp>
        <p:nvCxnSpPr>
          <p:cNvPr id="107" name="Google Shape;305;p7">
            <a:extLst>
              <a:ext uri="{FF2B5EF4-FFF2-40B4-BE49-F238E27FC236}">
                <a16:creationId xmlns:a16="http://schemas.microsoft.com/office/drawing/2014/main" id="{78281A48-1C8E-4756-8AD5-13BE4DCF54D1}"/>
              </a:ext>
            </a:extLst>
          </p:cNvPr>
          <p:cNvCxnSpPr/>
          <p:nvPr/>
        </p:nvCxnSpPr>
        <p:spPr>
          <a:xfrm>
            <a:off x="3213242"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8" name="Google Shape;306;p7">
            <a:extLst>
              <a:ext uri="{FF2B5EF4-FFF2-40B4-BE49-F238E27FC236}">
                <a16:creationId xmlns:a16="http://schemas.microsoft.com/office/drawing/2014/main" id="{86C83C26-B327-4DAA-9909-D7AFD6E8B2FC}"/>
              </a:ext>
            </a:extLst>
          </p:cNvPr>
          <p:cNvCxnSpPr/>
          <p:nvPr/>
        </p:nvCxnSpPr>
        <p:spPr>
          <a:xfrm>
            <a:off x="3722693"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09" name="Google Shape;307;p7">
            <a:extLst>
              <a:ext uri="{FF2B5EF4-FFF2-40B4-BE49-F238E27FC236}">
                <a16:creationId xmlns:a16="http://schemas.microsoft.com/office/drawing/2014/main" id="{F0AF9A47-8BB9-429D-8469-BB18AF98FBCB}"/>
              </a:ext>
            </a:extLst>
          </p:cNvPr>
          <p:cNvCxnSpPr/>
          <p:nvPr/>
        </p:nvCxnSpPr>
        <p:spPr>
          <a:xfrm>
            <a:off x="425495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0" name="Google Shape;308;p7">
            <a:extLst>
              <a:ext uri="{FF2B5EF4-FFF2-40B4-BE49-F238E27FC236}">
                <a16:creationId xmlns:a16="http://schemas.microsoft.com/office/drawing/2014/main" id="{E375B3E5-5994-4344-9A91-0ED396A99478}"/>
              </a:ext>
            </a:extLst>
          </p:cNvPr>
          <p:cNvCxnSpPr/>
          <p:nvPr/>
        </p:nvCxnSpPr>
        <p:spPr>
          <a:xfrm>
            <a:off x="4776431"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1" name="Google Shape;309;p7">
            <a:extLst>
              <a:ext uri="{FF2B5EF4-FFF2-40B4-BE49-F238E27FC236}">
                <a16:creationId xmlns:a16="http://schemas.microsoft.com/office/drawing/2014/main" id="{50D2C602-EE44-4C8A-BF36-161ABD8AFC21}"/>
              </a:ext>
            </a:extLst>
          </p:cNvPr>
          <p:cNvCxnSpPr/>
          <p:nvPr/>
        </p:nvCxnSpPr>
        <p:spPr>
          <a:xfrm>
            <a:off x="5290236" y="209652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2" name="Google Shape;310;p7">
            <a:extLst>
              <a:ext uri="{FF2B5EF4-FFF2-40B4-BE49-F238E27FC236}">
                <a16:creationId xmlns:a16="http://schemas.microsoft.com/office/drawing/2014/main" id="{FCDCCEAE-71B2-4116-BEE3-F401B9723EC2}"/>
              </a:ext>
            </a:extLst>
          </p:cNvPr>
          <p:cNvCxnSpPr/>
          <p:nvPr/>
        </p:nvCxnSpPr>
        <p:spPr>
          <a:xfrm>
            <a:off x="3722693"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3" name="Google Shape;311;p7">
            <a:extLst>
              <a:ext uri="{FF2B5EF4-FFF2-40B4-BE49-F238E27FC236}">
                <a16:creationId xmlns:a16="http://schemas.microsoft.com/office/drawing/2014/main" id="{B993C26E-959A-4C2D-92AF-F9C0AAAB6D91}"/>
              </a:ext>
            </a:extLst>
          </p:cNvPr>
          <p:cNvCxnSpPr/>
          <p:nvPr/>
        </p:nvCxnSpPr>
        <p:spPr>
          <a:xfrm>
            <a:off x="4254956"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14" name="Google Shape;312;p7">
            <a:extLst>
              <a:ext uri="{FF2B5EF4-FFF2-40B4-BE49-F238E27FC236}">
                <a16:creationId xmlns:a16="http://schemas.microsoft.com/office/drawing/2014/main" id="{C2EF69D7-75C1-4C20-B345-8C9821CDDB97}"/>
              </a:ext>
            </a:extLst>
          </p:cNvPr>
          <p:cNvCxnSpPr/>
          <p:nvPr/>
        </p:nvCxnSpPr>
        <p:spPr>
          <a:xfrm>
            <a:off x="4772077" y="271047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15" name="Google Shape;313;p7">
            <a:extLst>
              <a:ext uri="{FF2B5EF4-FFF2-40B4-BE49-F238E27FC236}">
                <a16:creationId xmlns:a16="http://schemas.microsoft.com/office/drawing/2014/main" id="{89C8025C-74C2-46A1-B2BF-9DFCF11A979D}"/>
              </a:ext>
            </a:extLst>
          </p:cNvPr>
          <p:cNvSpPr txBox="1"/>
          <p:nvPr/>
        </p:nvSpPr>
        <p:spPr>
          <a:xfrm>
            <a:off x="2503493" y="1943033"/>
            <a:ext cx="1384663" cy="30697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2</a:t>
            </a:r>
            <a:endParaRPr sz="1400" b="0" i="0" u="none" strike="noStrike" cap="none" dirty="0">
              <a:solidFill>
                <a:srgbClr val="000000"/>
              </a:solidFill>
              <a:latin typeface="Times New Roman"/>
              <a:ea typeface="Times New Roman"/>
              <a:cs typeface="Times New Roman"/>
              <a:sym typeface="Times New Roman"/>
            </a:endParaRPr>
          </a:p>
        </p:txBody>
      </p:sp>
      <p:sp>
        <p:nvSpPr>
          <p:cNvPr id="116" name="Google Shape;314;p7">
            <a:extLst>
              <a:ext uri="{FF2B5EF4-FFF2-40B4-BE49-F238E27FC236}">
                <a16:creationId xmlns:a16="http://schemas.microsoft.com/office/drawing/2014/main" id="{9492B3EB-7F3F-4A24-AF62-549E44472DFD}"/>
              </a:ext>
            </a:extLst>
          </p:cNvPr>
          <p:cNvSpPr txBox="1"/>
          <p:nvPr/>
        </p:nvSpPr>
        <p:spPr>
          <a:xfrm>
            <a:off x="2503493" y="2556588"/>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Times New Roman"/>
                <a:ea typeface="Times New Roman"/>
                <a:cs typeface="Times New Roman"/>
                <a:sym typeface="Times New Roman"/>
              </a:rPr>
              <a:t>F = 1</a:t>
            </a:r>
            <a:endParaRPr sz="1400" b="0" i="0" u="none" strike="noStrike" cap="none">
              <a:solidFill>
                <a:srgbClr val="000000"/>
              </a:solidFill>
              <a:latin typeface="Times New Roman"/>
              <a:ea typeface="Times New Roman"/>
              <a:cs typeface="Times New Roman"/>
              <a:sym typeface="Times New Roman"/>
            </a:endParaRPr>
          </a:p>
        </p:txBody>
      </p:sp>
      <p:sp>
        <p:nvSpPr>
          <p:cNvPr id="117" name="Google Shape;315;p7">
            <a:extLst>
              <a:ext uri="{FF2B5EF4-FFF2-40B4-BE49-F238E27FC236}">
                <a16:creationId xmlns:a16="http://schemas.microsoft.com/office/drawing/2014/main" id="{28F9B385-9F4C-4F9B-BD30-7EB8D06697DF}"/>
              </a:ext>
            </a:extLst>
          </p:cNvPr>
          <p:cNvSpPr txBox="1"/>
          <p:nvPr/>
        </p:nvSpPr>
        <p:spPr>
          <a:xfrm>
            <a:off x="4164556"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8" name="Google Shape;316;p7">
            <a:extLst>
              <a:ext uri="{FF2B5EF4-FFF2-40B4-BE49-F238E27FC236}">
                <a16:creationId xmlns:a16="http://schemas.microsoft.com/office/drawing/2014/main" id="{F072E1E4-3562-4629-8097-9D0781860DED}"/>
              </a:ext>
            </a:extLst>
          </p:cNvPr>
          <p:cNvSpPr txBox="1"/>
          <p:nvPr/>
        </p:nvSpPr>
        <p:spPr>
          <a:xfrm>
            <a:off x="3581082" y="2777279"/>
            <a:ext cx="59808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19" name="Google Shape;317;p7">
            <a:extLst>
              <a:ext uri="{FF2B5EF4-FFF2-40B4-BE49-F238E27FC236}">
                <a16:creationId xmlns:a16="http://schemas.microsoft.com/office/drawing/2014/main" id="{3DD80756-09C9-4FCF-BB5F-F96A644B54F8}"/>
              </a:ext>
            </a:extLst>
          </p:cNvPr>
          <p:cNvSpPr txBox="1"/>
          <p:nvPr/>
        </p:nvSpPr>
        <p:spPr>
          <a:xfrm>
            <a:off x="4705722" y="277727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0" name="Google Shape;318;p7">
            <a:extLst>
              <a:ext uri="{FF2B5EF4-FFF2-40B4-BE49-F238E27FC236}">
                <a16:creationId xmlns:a16="http://schemas.microsoft.com/office/drawing/2014/main" id="{AE4AE603-6403-46A0-A55A-B2F23A170FC7}"/>
              </a:ext>
            </a:extLst>
          </p:cNvPr>
          <p:cNvSpPr txBox="1"/>
          <p:nvPr/>
        </p:nvSpPr>
        <p:spPr>
          <a:xfrm>
            <a:off x="4146898" y="2095977"/>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a:solidFill>
                  <a:srgbClr val="000000"/>
                </a:solidFill>
                <a:latin typeface="Arial"/>
                <a:ea typeface="Arial"/>
                <a:cs typeface="Arial"/>
                <a:sym typeface="Arial"/>
              </a:rPr>
              <a:t>m=0</a:t>
            </a:r>
            <a:endParaRPr sz="1400" b="0" i="0" u="none" strike="noStrike" cap="none">
              <a:solidFill>
                <a:srgbClr val="000000"/>
              </a:solidFill>
              <a:latin typeface="Arial"/>
              <a:ea typeface="Arial"/>
              <a:cs typeface="Arial"/>
              <a:sym typeface="Arial"/>
            </a:endParaRPr>
          </a:p>
        </p:txBody>
      </p:sp>
      <p:sp>
        <p:nvSpPr>
          <p:cNvPr id="121" name="Google Shape;319;p7">
            <a:extLst>
              <a:ext uri="{FF2B5EF4-FFF2-40B4-BE49-F238E27FC236}">
                <a16:creationId xmlns:a16="http://schemas.microsoft.com/office/drawing/2014/main" id="{3177D817-74B7-4764-9B36-8C7999C346B7}"/>
              </a:ext>
            </a:extLst>
          </p:cNvPr>
          <p:cNvSpPr txBox="1"/>
          <p:nvPr/>
        </p:nvSpPr>
        <p:spPr>
          <a:xfrm>
            <a:off x="4705721" y="16793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2" name="Google Shape;320;p7">
            <a:extLst>
              <a:ext uri="{FF2B5EF4-FFF2-40B4-BE49-F238E27FC236}">
                <a16:creationId xmlns:a16="http://schemas.microsoft.com/office/drawing/2014/main" id="{BBD09642-BA00-455B-A6C5-43B1C80FEB03}"/>
              </a:ext>
            </a:extLst>
          </p:cNvPr>
          <p:cNvSpPr txBox="1"/>
          <p:nvPr/>
        </p:nvSpPr>
        <p:spPr>
          <a:xfrm>
            <a:off x="3623391" y="1678800"/>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3" name="Google Shape;321;p7">
            <a:extLst>
              <a:ext uri="{FF2B5EF4-FFF2-40B4-BE49-F238E27FC236}">
                <a16:creationId xmlns:a16="http://schemas.microsoft.com/office/drawing/2014/main" id="{72930C02-8558-435C-B73F-668AC9196C5C}"/>
              </a:ext>
            </a:extLst>
          </p:cNvPr>
          <p:cNvSpPr txBox="1"/>
          <p:nvPr/>
        </p:nvSpPr>
        <p:spPr>
          <a:xfrm>
            <a:off x="5246886" y="1678799"/>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4" name="Google Shape;322;p7">
            <a:extLst>
              <a:ext uri="{FF2B5EF4-FFF2-40B4-BE49-F238E27FC236}">
                <a16:creationId xmlns:a16="http://schemas.microsoft.com/office/drawing/2014/main" id="{A856AB1E-7EAA-4252-9F9E-2D17D90A05C9}"/>
              </a:ext>
            </a:extLst>
          </p:cNvPr>
          <p:cNvSpPr txBox="1"/>
          <p:nvPr/>
        </p:nvSpPr>
        <p:spPr>
          <a:xfrm>
            <a:off x="3091937" y="1678798"/>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25" name="Google Shape;324;p7">
            <a:extLst>
              <a:ext uri="{FF2B5EF4-FFF2-40B4-BE49-F238E27FC236}">
                <a16:creationId xmlns:a16="http://schemas.microsoft.com/office/drawing/2014/main" id="{C7E2C7D4-6EB7-4199-AF71-1F752404AD37}"/>
              </a:ext>
            </a:extLst>
          </p:cNvPr>
          <p:cNvSpPr/>
          <p:nvPr/>
        </p:nvSpPr>
        <p:spPr>
          <a:xfrm>
            <a:off x="3801591"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6" name="Google Shape;325;p7">
            <a:extLst>
              <a:ext uri="{FF2B5EF4-FFF2-40B4-BE49-F238E27FC236}">
                <a16:creationId xmlns:a16="http://schemas.microsoft.com/office/drawing/2014/main" id="{7EF5AC33-F806-45AD-9355-C0C56E36D8E0}"/>
              </a:ext>
            </a:extLst>
          </p:cNvPr>
          <p:cNvSpPr/>
          <p:nvPr/>
        </p:nvSpPr>
        <p:spPr>
          <a:xfrm>
            <a:off x="4341421" y="2636739"/>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sp>
        <p:nvSpPr>
          <p:cNvPr id="127" name="Google Shape;326;p7">
            <a:extLst>
              <a:ext uri="{FF2B5EF4-FFF2-40B4-BE49-F238E27FC236}">
                <a16:creationId xmlns:a16="http://schemas.microsoft.com/office/drawing/2014/main" id="{D487D161-CE2D-4505-B512-9F7EE8F4AF98}"/>
              </a:ext>
            </a:extLst>
          </p:cNvPr>
          <p:cNvSpPr/>
          <p:nvPr/>
        </p:nvSpPr>
        <p:spPr>
          <a:xfrm>
            <a:off x="4850076" y="2629294"/>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28" name="Google Shape;327;p7">
            <a:extLst>
              <a:ext uri="{FF2B5EF4-FFF2-40B4-BE49-F238E27FC236}">
                <a16:creationId xmlns:a16="http://schemas.microsoft.com/office/drawing/2014/main" id="{B2AE25D9-ABE4-4DA0-8BC1-2769C7E58598}"/>
              </a:ext>
            </a:extLst>
          </p:cNvPr>
          <p:cNvCxnSpPr/>
          <p:nvPr/>
        </p:nvCxnSpPr>
        <p:spPr>
          <a:xfrm>
            <a:off x="8117130" y="1344070"/>
            <a:ext cx="358998" cy="11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29" name="Google Shape;328;p7">
            <a:extLst>
              <a:ext uri="{FF2B5EF4-FFF2-40B4-BE49-F238E27FC236}">
                <a16:creationId xmlns:a16="http://schemas.microsoft.com/office/drawing/2014/main" id="{759DCDE9-0FE5-47F3-A4B3-F7579EB31A17}"/>
              </a:ext>
            </a:extLst>
          </p:cNvPr>
          <p:cNvSpPr txBox="1"/>
          <p:nvPr/>
        </p:nvSpPr>
        <p:spPr>
          <a:xfrm>
            <a:off x="7426972" y="1182868"/>
            <a:ext cx="93425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0</a:t>
            </a:r>
            <a:endParaRPr sz="1400" b="0" i="0" u="none" strike="noStrike" cap="none" dirty="0">
              <a:solidFill>
                <a:srgbClr val="000000"/>
              </a:solidFill>
              <a:latin typeface="Times New Roman"/>
              <a:ea typeface="Times New Roman"/>
              <a:cs typeface="Times New Roman"/>
              <a:sym typeface="Times New Roman"/>
            </a:endParaRPr>
          </a:p>
        </p:txBody>
      </p:sp>
      <p:cxnSp>
        <p:nvCxnSpPr>
          <p:cNvPr id="130" name="Google Shape;329;p7">
            <a:extLst>
              <a:ext uri="{FF2B5EF4-FFF2-40B4-BE49-F238E27FC236}">
                <a16:creationId xmlns:a16="http://schemas.microsoft.com/office/drawing/2014/main" id="{7FB0B97D-86CE-4837-A249-CF2BB06DC8BC}"/>
              </a:ext>
            </a:extLst>
          </p:cNvPr>
          <p:cNvCxnSpPr/>
          <p:nvPr/>
        </p:nvCxnSpPr>
        <p:spPr>
          <a:xfrm>
            <a:off x="7594786" y="2639398"/>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1" name="Google Shape;330;p7">
            <a:extLst>
              <a:ext uri="{FF2B5EF4-FFF2-40B4-BE49-F238E27FC236}">
                <a16:creationId xmlns:a16="http://schemas.microsoft.com/office/drawing/2014/main" id="{17F9E9EB-B791-478A-8720-BEF74803123B}"/>
              </a:ext>
            </a:extLst>
          </p:cNvPr>
          <p:cNvCxnSpPr/>
          <p:nvPr/>
        </p:nvCxnSpPr>
        <p:spPr>
          <a:xfrm>
            <a:off x="8120734" y="2709272"/>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32" name="Google Shape;331;p7">
            <a:extLst>
              <a:ext uri="{FF2B5EF4-FFF2-40B4-BE49-F238E27FC236}">
                <a16:creationId xmlns:a16="http://schemas.microsoft.com/office/drawing/2014/main" id="{DA5E6E9C-B693-4905-AF03-2DADF2992FAC}"/>
              </a:ext>
            </a:extLst>
          </p:cNvPr>
          <p:cNvCxnSpPr/>
          <p:nvPr/>
        </p:nvCxnSpPr>
        <p:spPr>
          <a:xfrm>
            <a:off x="8642747" y="279517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33" name="Google Shape;332;p7">
            <a:extLst>
              <a:ext uri="{FF2B5EF4-FFF2-40B4-BE49-F238E27FC236}">
                <a16:creationId xmlns:a16="http://schemas.microsoft.com/office/drawing/2014/main" id="{C881895D-327E-4DA1-B6B5-EDF9B15CF510}"/>
              </a:ext>
            </a:extLst>
          </p:cNvPr>
          <p:cNvSpPr txBox="1"/>
          <p:nvPr/>
        </p:nvSpPr>
        <p:spPr>
          <a:xfrm>
            <a:off x="6614068" y="2564022"/>
            <a:ext cx="67803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 1</a:t>
            </a:r>
            <a:endParaRPr sz="1400" b="0" i="0" u="none" strike="noStrike" cap="none" dirty="0">
              <a:solidFill>
                <a:srgbClr val="000000"/>
              </a:solidFill>
              <a:latin typeface="Times New Roman"/>
              <a:ea typeface="Times New Roman"/>
              <a:cs typeface="Times New Roman"/>
              <a:sym typeface="Times New Roman"/>
            </a:endParaRPr>
          </a:p>
        </p:txBody>
      </p:sp>
      <p:sp>
        <p:nvSpPr>
          <p:cNvPr id="134" name="Google Shape;333;p7">
            <a:extLst>
              <a:ext uri="{FF2B5EF4-FFF2-40B4-BE49-F238E27FC236}">
                <a16:creationId xmlns:a16="http://schemas.microsoft.com/office/drawing/2014/main" id="{ECD6A746-0D5B-4E93-8BA9-B883FF63CFBE}"/>
              </a:ext>
            </a:extLst>
          </p:cNvPr>
          <p:cNvSpPr txBox="1"/>
          <p:nvPr/>
        </p:nvSpPr>
        <p:spPr>
          <a:xfrm>
            <a:off x="8030334" y="2776074"/>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5" name="Google Shape;334;p7">
            <a:extLst>
              <a:ext uri="{FF2B5EF4-FFF2-40B4-BE49-F238E27FC236}">
                <a16:creationId xmlns:a16="http://schemas.microsoft.com/office/drawing/2014/main" id="{B58DD3D3-AA6B-4314-BF84-2078711C8530}"/>
              </a:ext>
            </a:extLst>
          </p:cNvPr>
          <p:cNvSpPr txBox="1"/>
          <p:nvPr/>
        </p:nvSpPr>
        <p:spPr>
          <a:xfrm>
            <a:off x="7453174" y="2706200"/>
            <a:ext cx="6124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6" name="Google Shape;335;p7">
            <a:extLst>
              <a:ext uri="{FF2B5EF4-FFF2-40B4-BE49-F238E27FC236}">
                <a16:creationId xmlns:a16="http://schemas.microsoft.com/office/drawing/2014/main" id="{1083B4B1-55E8-4208-95C6-60AE75E49B8B}"/>
              </a:ext>
            </a:extLst>
          </p:cNvPr>
          <p:cNvSpPr txBox="1"/>
          <p:nvPr/>
        </p:nvSpPr>
        <p:spPr>
          <a:xfrm>
            <a:off x="8576393" y="2861972"/>
            <a:ext cx="54009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37" name="Google Shape;336;p7">
            <a:extLst>
              <a:ext uri="{FF2B5EF4-FFF2-40B4-BE49-F238E27FC236}">
                <a16:creationId xmlns:a16="http://schemas.microsoft.com/office/drawing/2014/main" id="{59868BE4-E23F-4B46-AC6B-6FB8F481ACE2}"/>
              </a:ext>
            </a:extLst>
          </p:cNvPr>
          <p:cNvSpPr/>
          <p:nvPr/>
        </p:nvSpPr>
        <p:spPr>
          <a:xfrm>
            <a:off x="8208032" y="2638633"/>
            <a:ext cx="172998" cy="147474"/>
          </a:xfrm>
          <a:prstGeom prst="ellipse">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0000"/>
              </a:solidFill>
              <a:latin typeface="Arial"/>
              <a:ea typeface="Arial"/>
              <a:cs typeface="Arial"/>
              <a:sym typeface="Arial"/>
            </a:endParaRPr>
          </a:p>
        </p:txBody>
      </p:sp>
      <p:cxnSp>
        <p:nvCxnSpPr>
          <p:cNvPr id="138" name="Google Shape;337;p7">
            <a:extLst>
              <a:ext uri="{FF2B5EF4-FFF2-40B4-BE49-F238E27FC236}">
                <a16:creationId xmlns:a16="http://schemas.microsoft.com/office/drawing/2014/main" id="{116226FF-8C6F-479C-8EA1-9576E5EC9DDA}"/>
              </a:ext>
            </a:extLst>
          </p:cNvPr>
          <p:cNvCxnSpPr/>
          <p:nvPr/>
        </p:nvCxnSpPr>
        <p:spPr>
          <a:xfrm rot="10800000" flipH="1">
            <a:off x="7782842" y="1485448"/>
            <a:ext cx="391188" cy="1077250"/>
          </a:xfrm>
          <a:prstGeom prst="straightConnector1">
            <a:avLst/>
          </a:prstGeom>
          <a:noFill/>
          <a:ln w="19050" cap="flat" cmpd="sng">
            <a:solidFill>
              <a:schemeClr val="tx1"/>
            </a:solidFill>
            <a:prstDash val="solid"/>
            <a:round/>
            <a:headEnd type="none" w="sm" len="sm"/>
            <a:tailEnd type="triangle" w="med" len="med"/>
          </a:ln>
        </p:spPr>
      </p:cxnSp>
      <p:cxnSp>
        <p:nvCxnSpPr>
          <p:cNvPr id="139" name="Google Shape;338;p7">
            <a:extLst>
              <a:ext uri="{FF2B5EF4-FFF2-40B4-BE49-F238E27FC236}">
                <a16:creationId xmlns:a16="http://schemas.microsoft.com/office/drawing/2014/main" id="{06F1CA81-846C-43DA-863B-EABCF861BD6A}"/>
              </a:ext>
            </a:extLst>
          </p:cNvPr>
          <p:cNvCxnSpPr>
            <a:cxnSpLocks/>
          </p:cNvCxnSpPr>
          <p:nvPr/>
        </p:nvCxnSpPr>
        <p:spPr>
          <a:xfrm flipH="1" flipV="1">
            <a:off x="8436177" y="1485448"/>
            <a:ext cx="358310" cy="1230099"/>
          </a:xfrm>
          <a:prstGeom prst="straightConnector1">
            <a:avLst/>
          </a:prstGeom>
          <a:noFill/>
          <a:ln w="19050" cap="flat" cmpd="sng">
            <a:solidFill>
              <a:schemeClr val="tx1"/>
            </a:solidFill>
            <a:prstDash val="solid"/>
            <a:round/>
            <a:headEnd type="none" w="sm" len="sm"/>
            <a:tailEnd type="triangle" w="med" len="med"/>
          </a:ln>
        </p:spPr>
      </p:cxnSp>
      <p:cxnSp>
        <p:nvCxnSpPr>
          <p:cNvPr id="140" name="Google Shape;339;p7">
            <a:extLst>
              <a:ext uri="{FF2B5EF4-FFF2-40B4-BE49-F238E27FC236}">
                <a16:creationId xmlns:a16="http://schemas.microsoft.com/office/drawing/2014/main" id="{9A162B01-25C6-41BB-92A1-4360229920F2}"/>
              </a:ext>
            </a:extLst>
          </p:cNvPr>
          <p:cNvCxnSpPr/>
          <p:nvPr/>
        </p:nvCxnSpPr>
        <p:spPr>
          <a:xfrm>
            <a:off x="8295101" y="1485447"/>
            <a:ext cx="20004" cy="1077249"/>
          </a:xfrm>
          <a:prstGeom prst="straightConnector1">
            <a:avLst/>
          </a:prstGeom>
          <a:noFill/>
          <a:ln w="19050" cap="flat" cmpd="sng">
            <a:solidFill>
              <a:schemeClr val="tx1"/>
            </a:solidFill>
            <a:prstDash val="dash"/>
            <a:round/>
            <a:headEnd type="none" w="sm" len="sm"/>
            <a:tailEnd type="triangle" w="med" len="med"/>
          </a:ln>
        </p:spPr>
      </p:cxnSp>
      <p:sp>
        <p:nvSpPr>
          <p:cNvPr id="141" name="Google Shape;340;p7">
            <a:extLst>
              <a:ext uri="{FF2B5EF4-FFF2-40B4-BE49-F238E27FC236}">
                <a16:creationId xmlns:a16="http://schemas.microsoft.com/office/drawing/2014/main" id="{1699AABE-ACD0-4B3A-8A06-D24C5EB4EB20}"/>
              </a:ext>
            </a:extLst>
          </p:cNvPr>
          <p:cNvSpPr txBox="1"/>
          <p:nvPr/>
        </p:nvSpPr>
        <p:spPr>
          <a:xfrm>
            <a:off x="8523458" y="1159699"/>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cxnSp>
        <p:nvCxnSpPr>
          <p:cNvPr id="142" name="Google Shape;373;p7">
            <a:extLst>
              <a:ext uri="{FF2B5EF4-FFF2-40B4-BE49-F238E27FC236}">
                <a16:creationId xmlns:a16="http://schemas.microsoft.com/office/drawing/2014/main" id="{EB38CCD1-B7F0-44DE-9AA5-6FD12D922F1A}"/>
              </a:ext>
            </a:extLst>
          </p:cNvPr>
          <p:cNvCxnSpPr/>
          <p:nvPr/>
        </p:nvCxnSpPr>
        <p:spPr>
          <a:xfrm>
            <a:off x="7083536" y="2288687"/>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3" name="Google Shape;374;p7">
            <a:extLst>
              <a:ext uri="{FF2B5EF4-FFF2-40B4-BE49-F238E27FC236}">
                <a16:creationId xmlns:a16="http://schemas.microsoft.com/office/drawing/2014/main" id="{25AA9A3C-5B8B-4227-B9AC-7E86AED6BD6A}"/>
              </a:ext>
            </a:extLst>
          </p:cNvPr>
          <p:cNvCxnSpPr/>
          <p:nvPr/>
        </p:nvCxnSpPr>
        <p:spPr>
          <a:xfrm>
            <a:off x="7581410" y="2200560"/>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4" name="Google Shape;375;p7">
            <a:extLst>
              <a:ext uri="{FF2B5EF4-FFF2-40B4-BE49-F238E27FC236}">
                <a16:creationId xmlns:a16="http://schemas.microsoft.com/office/drawing/2014/main" id="{E83ADE1F-B8D9-48B4-A5AD-AFCDD8B239CA}"/>
              </a:ext>
            </a:extLst>
          </p:cNvPr>
          <p:cNvCxnSpPr/>
          <p:nvPr/>
        </p:nvCxnSpPr>
        <p:spPr>
          <a:xfrm>
            <a:off x="8132014" y="211464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5" name="Google Shape;376;p7">
            <a:extLst>
              <a:ext uri="{FF2B5EF4-FFF2-40B4-BE49-F238E27FC236}">
                <a16:creationId xmlns:a16="http://schemas.microsoft.com/office/drawing/2014/main" id="{AFAE1C24-C6A6-4383-90A6-5A50058053F3}"/>
              </a:ext>
            </a:extLst>
          </p:cNvPr>
          <p:cNvCxnSpPr/>
          <p:nvPr/>
        </p:nvCxnSpPr>
        <p:spPr>
          <a:xfrm>
            <a:off x="8646652" y="2042681"/>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cxnSp>
        <p:nvCxnSpPr>
          <p:cNvPr id="146" name="Google Shape;377;p7">
            <a:extLst>
              <a:ext uri="{FF2B5EF4-FFF2-40B4-BE49-F238E27FC236}">
                <a16:creationId xmlns:a16="http://schemas.microsoft.com/office/drawing/2014/main" id="{05D09583-3DCF-44D9-87CC-905A4A89AA37}"/>
              </a:ext>
            </a:extLst>
          </p:cNvPr>
          <p:cNvCxnSpPr/>
          <p:nvPr/>
        </p:nvCxnSpPr>
        <p:spPr>
          <a:xfrm>
            <a:off x="9170461" y="1933335"/>
            <a:ext cx="330926" cy="0"/>
          </a:xfrm>
          <a:prstGeom prst="straightConnector1">
            <a:avLst/>
          </a:prstGeom>
          <a:noFill/>
          <a:ln w="3810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cxnSp>
      <p:sp>
        <p:nvSpPr>
          <p:cNvPr id="147" name="Google Shape;378;p7">
            <a:extLst>
              <a:ext uri="{FF2B5EF4-FFF2-40B4-BE49-F238E27FC236}">
                <a16:creationId xmlns:a16="http://schemas.microsoft.com/office/drawing/2014/main" id="{BAEDA4E0-587A-4267-89FE-4FC711B0E1F7}"/>
              </a:ext>
            </a:extLst>
          </p:cNvPr>
          <p:cNvSpPr txBox="1"/>
          <p:nvPr/>
        </p:nvSpPr>
        <p:spPr>
          <a:xfrm>
            <a:off x="8059272" y="1696916"/>
            <a:ext cx="89158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m=0</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8" name="Google Shape;379;p7">
            <a:extLst>
              <a:ext uri="{FF2B5EF4-FFF2-40B4-BE49-F238E27FC236}">
                <a16:creationId xmlns:a16="http://schemas.microsoft.com/office/drawing/2014/main" id="{8A94FCC0-D12B-4EB7-A1C3-A147A92512EB}"/>
              </a:ext>
            </a:extLst>
          </p:cNvPr>
          <p:cNvSpPr txBox="1"/>
          <p:nvPr/>
        </p:nvSpPr>
        <p:spPr>
          <a:xfrm>
            <a:off x="8575942" y="1625558"/>
            <a:ext cx="58451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49" name="Google Shape;380;p7">
            <a:extLst>
              <a:ext uri="{FF2B5EF4-FFF2-40B4-BE49-F238E27FC236}">
                <a16:creationId xmlns:a16="http://schemas.microsoft.com/office/drawing/2014/main" id="{462E83DB-0967-4C6C-91F2-42BD7ACB7BFB}"/>
              </a:ext>
            </a:extLst>
          </p:cNvPr>
          <p:cNvSpPr txBox="1"/>
          <p:nvPr/>
        </p:nvSpPr>
        <p:spPr>
          <a:xfrm>
            <a:off x="7482109" y="1782838"/>
            <a:ext cx="693446"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m=-1</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0" name="Google Shape;381;p7">
            <a:extLst>
              <a:ext uri="{FF2B5EF4-FFF2-40B4-BE49-F238E27FC236}">
                <a16:creationId xmlns:a16="http://schemas.microsoft.com/office/drawing/2014/main" id="{B6BBE47B-96BD-46BD-8A90-B48B304BA76D}"/>
              </a:ext>
            </a:extLst>
          </p:cNvPr>
          <p:cNvSpPr txBox="1"/>
          <p:nvPr/>
        </p:nvSpPr>
        <p:spPr>
          <a:xfrm>
            <a:off x="9127111" y="1515612"/>
            <a:ext cx="54116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1" name="Google Shape;382;p7">
            <a:extLst>
              <a:ext uri="{FF2B5EF4-FFF2-40B4-BE49-F238E27FC236}">
                <a16:creationId xmlns:a16="http://schemas.microsoft.com/office/drawing/2014/main" id="{9EE52862-1DA1-4CD5-A4E4-497D8182FDC8}"/>
              </a:ext>
            </a:extLst>
          </p:cNvPr>
          <p:cNvSpPr txBox="1"/>
          <p:nvPr/>
        </p:nvSpPr>
        <p:spPr>
          <a:xfrm>
            <a:off x="6962232" y="1870963"/>
            <a:ext cx="61241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panose="02020603050405020304" pitchFamily="18" charset="0"/>
                <a:cs typeface="Times New Roman" panose="02020603050405020304" pitchFamily="18" charset="0"/>
                <a:sym typeface="Arial"/>
              </a:rPr>
              <a:t>m=-2</a:t>
            </a:r>
            <a:endParaRPr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152" name="TextBox 151">
            <a:extLst>
              <a:ext uri="{FF2B5EF4-FFF2-40B4-BE49-F238E27FC236}">
                <a16:creationId xmlns:a16="http://schemas.microsoft.com/office/drawing/2014/main" id="{4690278A-6D62-485B-8146-211394838776}"/>
              </a:ext>
            </a:extLst>
          </p:cNvPr>
          <p:cNvSpPr txBox="1"/>
          <p:nvPr/>
        </p:nvSpPr>
        <p:spPr>
          <a:xfrm>
            <a:off x="6123869" y="3099931"/>
            <a:ext cx="1446856" cy="307777"/>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a:t>
            </a:r>
            <a:r>
              <a:rPr lang="en-US" baseline="-25000" dirty="0">
                <a:latin typeface="Times New Roman" panose="02020603050405020304" pitchFamily="18" charset="0"/>
                <a:cs typeface="Times New Roman" panose="02020603050405020304" pitchFamily="18" charset="0"/>
              </a:rPr>
              <a:t>0ffset</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0.5</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mG</a:t>
            </a:r>
            <a:endParaRPr lang="ru-RU" dirty="0">
              <a:latin typeface="Times New Roman" panose="02020603050405020304" pitchFamily="18" charset="0"/>
              <a:cs typeface="Times New Roman" panose="02020603050405020304" pitchFamily="18" charset="0"/>
            </a:endParaRPr>
          </a:p>
        </p:txBody>
      </p:sp>
      <p:sp>
        <p:nvSpPr>
          <p:cNvPr id="162" name="TextBox 161">
            <a:extLst>
              <a:ext uri="{FF2B5EF4-FFF2-40B4-BE49-F238E27FC236}">
                <a16:creationId xmlns:a16="http://schemas.microsoft.com/office/drawing/2014/main" id="{A2139D55-AFC1-4115-B3BE-5F5EE8D9B4B1}"/>
              </a:ext>
            </a:extLst>
          </p:cNvPr>
          <p:cNvSpPr txBox="1"/>
          <p:nvPr/>
        </p:nvSpPr>
        <p:spPr>
          <a:xfrm>
            <a:off x="8431469" y="4454479"/>
            <a:ext cx="1281346"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163" name="TextBox 162">
            <a:extLst>
              <a:ext uri="{FF2B5EF4-FFF2-40B4-BE49-F238E27FC236}">
                <a16:creationId xmlns:a16="http://schemas.microsoft.com/office/drawing/2014/main" id="{A3553470-9FC6-45ED-AFC0-2FB15617DAFE}"/>
              </a:ext>
            </a:extLst>
          </p:cNvPr>
          <p:cNvSpPr txBox="1"/>
          <p:nvPr/>
        </p:nvSpPr>
        <p:spPr>
          <a:xfrm>
            <a:off x="8552207" y="5288531"/>
            <a:ext cx="1604809"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1/3</a:t>
            </a:r>
            <a:endParaRPr lang="ru-RU" dirty="0">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69BAC13F-972B-4520-8F42-178EA2560BFB}"/>
              </a:ext>
            </a:extLst>
          </p:cNvPr>
          <p:cNvSpPr txBox="1"/>
          <p:nvPr/>
        </p:nvSpPr>
        <p:spPr>
          <a:xfrm>
            <a:off x="11681926" y="6408575"/>
            <a:ext cx="510074" cy="307777"/>
          </a:xfrm>
          <a:prstGeom prst="rect">
            <a:avLst/>
          </a:prstGeom>
          <a:noFill/>
        </p:spPr>
        <p:txBody>
          <a:bodyPr wrap="square" rtlCol="0">
            <a:spAutoFit/>
          </a:bodyPr>
          <a:lstStyle/>
          <a:p>
            <a:r>
              <a:rPr lang="ru-RU" dirty="0"/>
              <a:t>7</a:t>
            </a:r>
          </a:p>
        </p:txBody>
      </p:sp>
      <p:sp>
        <p:nvSpPr>
          <p:cNvPr id="62" name="TextBox 61">
            <a:extLst>
              <a:ext uri="{FF2B5EF4-FFF2-40B4-BE49-F238E27FC236}">
                <a16:creationId xmlns:a16="http://schemas.microsoft.com/office/drawing/2014/main" id="{11A813CB-9917-465E-A632-9D569239EDC9}"/>
              </a:ext>
            </a:extLst>
          </p:cNvPr>
          <p:cNvSpPr txBox="1"/>
          <p:nvPr/>
        </p:nvSpPr>
        <p:spPr>
          <a:xfrm>
            <a:off x="4145750" y="4206975"/>
            <a:ext cx="1523917" cy="307777"/>
          </a:xfrm>
          <a:prstGeom prst="rect">
            <a:avLst/>
          </a:prstGeom>
          <a:noFill/>
        </p:spPr>
        <p:txBody>
          <a:bodyPr wrap="square" rtlCol="0">
            <a:spAutoFit/>
          </a:bodyPr>
          <a:lstStyle/>
          <a:p>
            <a:r>
              <a:rPr lang="el-GR"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T = 0.7 </a:t>
            </a:r>
            <a:r>
              <a:rPr lang="ru-RU" dirty="0" err="1">
                <a:latin typeface="Times New Roman" panose="02020603050405020304" pitchFamily="18" charset="0"/>
                <a:cs typeface="Times New Roman" panose="02020603050405020304" pitchFamily="18" charset="0"/>
              </a:rPr>
              <a:t>мкК</a:t>
            </a:r>
            <a:endParaRPr lang="ru-RU"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91C9B38F-757E-4A17-96B5-0217DB266AA6}"/>
              </a:ext>
            </a:extLst>
          </p:cNvPr>
          <p:cNvSpPr txBox="1"/>
          <p:nvPr/>
        </p:nvSpPr>
        <p:spPr>
          <a:xfrm>
            <a:off x="4145750" y="5194585"/>
            <a:ext cx="1381406" cy="73866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a:t>
            </a:r>
            <a:r>
              <a:rPr lang="en-US" dirty="0" err="1">
                <a:latin typeface="Times New Roman" panose="02020603050405020304" pitchFamily="18" charset="0"/>
                <a:cs typeface="Times New Roman" panose="02020603050405020304" pitchFamily="18" charset="0"/>
              </a:rPr>
              <a:t>I</a:t>
            </a:r>
            <a:r>
              <a:rPr lang="en-US" baseline="-25000" dirty="0" err="1">
                <a:latin typeface="Times New Roman" panose="02020603050405020304" pitchFamily="18" charset="0"/>
                <a:cs typeface="Times New Roman" panose="02020603050405020304" pitchFamily="18" charset="0"/>
              </a:rPr>
              <a:t>sat</a:t>
            </a:r>
            <a:r>
              <a:rPr lang="en-US" dirty="0">
                <a:latin typeface="Times New Roman" panose="02020603050405020304" pitchFamily="18" charset="0"/>
                <a:cs typeface="Times New Roman" panose="02020603050405020304" pitchFamily="18" charset="0"/>
              </a:rPr>
              <a:t> = 1/5</a:t>
            </a:r>
          </a:p>
          <a:p>
            <a:r>
              <a:rPr lang="el-GR" dirty="0">
                <a:latin typeface="Times New Roman" panose="02020603050405020304" pitchFamily="18" charset="0"/>
                <a:cs typeface="Times New Roman" panose="02020603050405020304" pitchFamily="18" charset="0"/>
              </a:rPr>
              <a:t>δ</a:t>
            </a:r>
            <a:r>
              <a:rPr lang="ru-RU" dirty="0">
                <a:latin typeface="Times New Roman" panose="02020603050405020304" pitchFamily="18" charset="0"/>
                <a:cs typeface="Times New Roman" panose="02020603050405020304" pitchFamily="18" charset="0"/>
              </a:rPr>
              <a:t> = 0</a:t>
            </a:r>
          </a:p>
          <a:p>
            <a:r>
              <a:rPr lang="en-US" dirty="0">
                <a:latin typeface="Times New Roman" panose="02020603050405020304" pitchFamily="18" charset="0"/>
                <a:cs typeface="Times New Roman" panose="02020603050405020304" pitchFamily="18" charset="0"/>
              </a:rPr>
              <a:t>P</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 1/5</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9697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DA7276-A2D5-0EF0-04AD-EF2A74C7C749}"/>
              </a:ext>
            </a:extLst>
          </p:cNvPr>
          <p:cNvSpPr txBox="1"/>
          <p:nvPr/>
        </p:nvSpPr>
        <p:spPr>
          <a:xfrm>
            <a:off x="2878667" y="922866"/>
            <a:ext cx="5892800" cy="3108543"/>
          </a:xfrm>
          <a:prstGeom prst="rect">
            <a:avLst/>
          </a:prstGeom>
          <a:noFill/>
        </p:spPr>
        <p:txBody>
          <a:bodyPr wrap="square" rtlCol="0">
            <a:spAutoFit/>
          </a:bodyPr>
          <a:lstStyle/>
          <a:p>
            <a:r>
              <a:rPr lang="ru-RU" dirty="0"/>
              <a:t>Как было сказано ранее, было выполнено исследование оптической накачки в немагнитное состояние. Изначально было проведено моделирование выбранной схемы, что вы можете видеть на данном слайде. </a:t>
            </a:r>
          </a:p>
          <a:p>
            <a:r>
              <a:rPr lang="ru-RU" dirty="0"/>
              <a:t>Для исследование была выбранная следующая схема</a:t>
            </a:r>
            <a:r>
              <a:rPr lang="en-US" dirty="0"/>
              <a:t>: </a:t>
            </a:r>
            <a:r>
              <a:rPr lang="ru-RU" dirty="0"/>
              <a:t>изначально после лазерного охлаждения и пленения атомы находятся в состояния </a:t>
            </a:r>
            <a:r>
              <a:rPr lang="en-US" dirty="0"/>
              <a:t>F=2, </a:t>
            </a:r>
            <a:r>
              <a:rPr lang="ru-RU" dirty="0"/>
              <a:t>на первом этапе оптической накачки атомы перекачиваются в состояние </a:t>
            </a:r>
            <a:r>
              <a:rPr lang="en-US" dirty="0"/>
              <a:t>F = 1 </a:t>
            </a:r>
            <a:r>
              <a:rPr lang="ru-RU" dirty="0"/>
              <a:t>резонансным излучением 2-2</a:t>
            </a:r>
            <a:r>
              <a:rPr lang="en-US" dirty="0"/>
              <a:t>’</a:t>
            </a:r>
            <a:r>
              <a:rPr lang="ru-RU" dirty="0"/>
              <a:t>. На данном этапе моделирование демонстрирует нагрев около 0.7 </a:t>
            </a:r>
            <a:r>
              <a:rPr lang="ru-RU" dirty="0" err="1"/>
              <a:t>мкК</a:t>
            </a:r>
            <a:r>
              <a:rPr lang="ru-RU" dirty="0"/>
              <a:t>. На следующем этапе включается небольшое магнитное поле для задания оси квантования и с помощью излучения с круговой поляризацией атомы из магнитных состояний перекачиваются в немагнитное. На данном этапе нагрев атомного облака показанный моделированием составил также около 0.7 </a:t>
            </a:r>
            <a:r>
              <a:rPr lang="ru-RU" dirty="0" err="1"/>
              <a:t>мкК</a:t>
            </a:r>
            <a:endParaRPr lang="ru-RU" dirty="0"/>
          </a:p>
        </p:txBody>
      </p:sp>
    </p:spTree>
    <p:extLst>
      <p:ext uri="{BB962C8B-B14F-4D97-AF65-F5344CB8AC3E}">
        <p14:creationId xmlns:p14="http://schemas.microsoft.com/office/powerpoint/2010/main" val="17764796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8" name="Google Shape;438;p41"/>
          <p:cNvSpPr/>
          <p:nvPr/>
        </p:nvSpPr>
        <p:spPr>
          <a:xfrm>
            <a:off x="3258776" y="136525"/>
            <a:ext cx="5855293" cy="765014"/>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Экспериментальные результаты</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440" name="Google Shape;440;p41"/>
          <p:cNvSpPr txBox="1"/>
          <p:nvPr/>
        </p:nvSpPr>
        <p:spPr>
          <a:xfrm>
            <a:off x="1574196" y="5246411"/>
            <a:ext cx="9596724" cy="523180"/>
          </a:xfrm>
          <a:prstGeom prst="rect">
            <a:avLst/>
          </a:prstGeom>
          <a:noFill/>
          <a:ln>
            <a:noFill/>
          </a:ln>
        </p:spPr>
        <p:txBody>
          <a:bodyPr spcFirstLastPara="1" wrap="square" lIns="91425" tIns="45700" rIns="91425" bIns="45700" anchor="t" anchorCtr="0">
            <a:spAutoFit/>
          </a:bodyPr>
          <a:lstStyle/>
          <a:p>
            <a:pPr lvl="0" algn="ctr"/>
            <a:r>
              <a:rPr lang="ru-RU" sz="1400" b="0" i="0" u="none" strike="noStrike" cap="none" dirty="0">
                <a:solidFill>
                  <a:srgbClr val="000000"/>
                </a:solidFill>
                <a:latin typeface="Times New Roman"/>
                <a:ea typeface="Times New Roman"/>
                <a:cs typeface="Times New Roman"/>
                <a:sym typeface="Times New Roman"/>
              </a:rPr>
              <a:t>Рис. </a:t>
            </a:r>
            <a:r>
              <a:rPr lang="ru-RU" dirty="0">
                <a:latin typeface="Times New Roman"/>
                <a:ea typeface="Times New Roman"/>
                <a:cs typeface="Times New Roman"/>
                <a:sym typeface="Times New Roman"/>
              </a:rPr>
              <a:t>8</a:t>
            </a:r>
            <a:r>
              <a:rPr lang="ru-RU" sz="1400" b="0" i="0" u="none" strike="noStrike" cap="none" dirty="0">
                <a:solidFill>
                  <a:srgbClr val="000000"/>
                </a:solidFill>
                <a:latin typeface="Times New Roman"/>
                <a:ea typeface="Times New Roman"/>
                <a:cs typeface="Times New Roman"/>
                <a:sym typeface="Times New Roman"/>
              </a:rPr>
              <a:t> </a:t>
            </a:r>
            <a:r>
              <a:rPr lang="ru-RU" dirty="0">
                <a:latin typeface="Times New Roman" panose="02020603050405020304" pitchFamily="18" charset="0"/>
                <a:cs typeface="Times New Roman" panose="02020603050405020304" pitchFamily="18" charset="0"/>
              </a:rPr>
              <a:t>Временная последовательность оптической накачки (а) , и </a:t>
            </a:r>
            <a:r>
              <a:rPr lang="ru-RU" dirty="0">
                <a:latin typeface="Times New Roman"/>
                <a:cs typeface="Times New Roman"/>
                <a:sym typeface="Times New Roman"/>
              </a:rPr>
              <a:t>э</a:t>
            </a:r>
            <a:r>
              <a:rPr lang="ru-RU" dirty="0">
                <a:latin typeface="Times New Roman"/>
                <a:ea typeface="Times New Roman"/>
                <a:cs typeface="Times New Roman"/>
                <a:sym typeface="Times New Roman"/>
              </a:rPr>
              <a:t>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ависимость населенности атомов до и после оптической накачки от отстройки рамановского излучения относительно часового перехода.</a:t>
            </a:r>
            <a:endParaRPr sz="1400" b="0" i="0" u="none" strike="noStrike" cap="none" dirty="0">
              <a:solidFill>
                <a:srgbClr val="000000"/>
              </a:solidFill>
              <a:latin typeface="Times New Roman"/>
              <a:ea typeface="Times New Roman"/>
              <a:cs typeface="Times New Roman"/>
              <a:sym typeface="Times New Roman"/>
            </a:endParaRPr>
          </a:p>
        </p:txBody>
      </p:sp>
      <p:pic>
        <p:nvPicPr>
          <p:cNvPr id="13" name="Рисунок 12">
            <a:extLst>
              <a:ext uri="{FF2B5EF4-FFF2-40B4-BE49-F238E27FC236}">
                <a16:creationId xmlns:a16="http://schemas.microsoft.com/office/drawing/2014/main" id="{E5FBF466-A86A-4FC6-9496-0D1B6DBCC09E}"/>
              </a:ext>
            </a:extLst>
          </p:cNvPr>
          <p:cNvPicPr>
            <a:picLocks noChangeAspect="1"/>
          </p:cNvPicPr>
          <p:nvPr/>
        </p:nvPicPr>
        <p:blipFill rotWithShape="1">
          <a:blip r:embed="rId3"/>
          <a:srcRect b="7198"/>
          <a:stretch/>
        </p:blipFill>
        <p:spPr>
          <a:xfrm>
            <a:off x="7160309" y="1148376"/>
            <a:ext cx="3945690" cy="3203965"/>
          </a:xfrm>
          <a:prstGeom prst="rect">
            <a:avLst/>
          </a:prstGeom>
        </p:spPr>
      </p:pic>
      <p:sp>
        <p:nvSpPr>
          <p:cNvPr id="14" name="Прямоугольник 13"/>
          <p:cNvSpPr/>
          <p:nvPr/>
        </p:nvSpPr>
        <p:spPr>
          <a:xfrm>
            <a:off x="4803766" y="3972182"/>
            <a:ext cx="430759" cy="13079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Прямоугольник 14"/>
          <p:cNvSpPr/>
          <p:nvPr/>
        </p:nvSpPr>
        <p:spPr>
          <a:xfrm>
            <a:off x="4426824" y="3598494"/>
            <a:ext cx="1246987" cy="170347"/>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 name="Прямоугольник 15"/>
          <p:cNvSpPr/>
          <p:nvPr/>
        </p:nvSpPr>
        <p:spPr>
          <a:xfrm>
            <a:off x="2464630" y="3249171"/>
            <a:ext cx="551888" cy="173802"/>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 name="TextBox 16"/>
          <p:cNvSpPr txBox="1"/>
          <p:nvPr/>
        </p:nvSpPr>
        <p:spPr>
          <a:xfrm>
            <a:off x="121765" y="3169036"/>
            <a:ext cx="1325350"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2-</a:t>
            </a:r>
            <a:r>
              <a:rPr lang="en-US" sz="1600" i="1" dirty="0">
                <a:latin typeface="Times New Roman" panose="02020603050405020304" pitchFamily="18" charset="0"/>
                <a:cs typeface="Times New Roman" panose="02020603050405020304" pitchFamily="18" charset="0"/>
              </a:rPr>
              <a:t>2’</a:t>
            </a:r>
            <a:endParaRPr lang="ru-RU" sz="1600" i="1" dirty="0">
              <a:latin typeface="Times New Roman" panose="02020603050405020304" pitchFamily="18" charset="0"/>
              <a:cs typeface="Times New Roman" panose="02020603050405020304" pitchFamily="18" charset="0"/>
            </a:endParaRPr>
          </a:p>
        </p:txBody>
      </p:sp>
      <p:cxnSp>
        <p:nvCxnSpPr>
          <p:cNvPr id="18" name="Прямая соединительная линия 17"/>
          <p:cNvCxnSpPr>
            <a:cxnSpLocks/>
          </p:cNvCxnSpPr>
          <p:nvPr/>
        </p:nvCxnSpPr>
        <p:spPr>
          <a:xfrm>
            <a:off x="1454056" y="3341653"/>
            <a:ext cx="4918502" cy="8225"/>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19" name="TextBox 18"/>
          <p:cNvSpPr txBox="1"/>
          <p:nvPr/>
        </p:nvSpPr>
        <p:spPr>
          <a:xfrm>
            <a:off x="261640" y="3480527"/>
            <a:ext cx="1776549" cy="338554"/>
          </a:xfrm>
          <a:prstGeom prst="rect">
            <a:avLst/>
          </a:prstGeom>
          <a:noFill/>
        </p:spPr>
        <p:txBody>
          <a:bodyPr wrap="square" rtlCol="0">
            <a:spAutoFit/>
          </a:bodyPr>
          <a:lstStyle/>
          <a:p>
            <a:r>
              <a:rPr lang="en-US" sz="1600" i="1" dirty="0">
                <a:latin typeface="Times New Roman" panose="02020603050405020304" pitchFamily="18" charset="0"/>
                <a:cs typeface="Times New Roman" panose="02020603050405020304" pitchFamily="18" charset="0"/>
              </a:rPr>
              <a:t>Z-</a:t>
            </a:r>
            <a:r>
              <a:rPr lang="ru-RU" sz="1600" i="1" dirty="0">
                <a:latin typeface="Times New Roman" panose="02020603050405020304" pitchFamily="18" charset="0"/>
                <a:cs typeface="Times New Roman" panose="02020603050405020304" pitchFamily="18" charset="0"/>
              </a:rPr>
              <a:t>маг поле</a:t>
            </a:r>
          </a:p>
        </p:txBody>
      </p:sp>
      <p:cxnSp>
        <p:nvCxnSpPr>
          <p:cNvPr id="20" name="Прямая соединительная линия 19"/>
          <p:cNvCxnSpPr>
            <a:cxnSpLocks/>
          </p:cNvCxnSpPr>
          <p:nvPr/>
        </p:nvCxnSpPr>
        <p:spPr>
          <a:xfrm flipV="1">
            <a:off x="1454056" y="3676251"/>
            <a:ext cx="4918502" cy="12182"/>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1" name="TextBox 20"/>
          <p:cNvSpPr txBox="1"/>
          <p:nvPr/>
        </p:nvSpPr>
        <p:spPr>
          <a:xfrm>
            <a:off x="121765" y="3870161"/>
            <a:ext cx="1776549" cy="338554"/>
          </a:xfrm>
          <a:prstGeom prst="rect">
            <a:avLst/>
          </a:prstGeom>
          <a:noFill/>
        </p:spPr>
        <p:txBody>
          <a:bodyPr wrap="square" rtlCol="0">
            <a:spAutoFit/>
          </a:bodyPr>
          <a:lstStyle/>
          <a:p>
            <a:r>
              <a:rPr lang="ru-RU" sz="1600" i="1" dirty="0">
                <a:latin typeface="Times New Roman" panose="02020603050405020304" pitchFamily="18" charset="0"/>
                <a:cs typeface="Times New Roman" panose="02020603050405020304" pitchFamily="18" charset="0"/>
              </a:rPr>
              <a:t>Накачка 1-0</a:t>
            </a:r>
            <a:r>
              <a:rPr lang="en-US" sz="1600" i="1" dirty="0">
                <a:latin typeface="Times New Roman" panose="02020603050405020304" pitchFamily="18" charset="0"/>
                <a:cs typeface="Times New Roman" panose="02020603050405020304" pitchFamily="18" charset="0"/>
              </a:rPr>
              <a:t>’</a:t>
            </a:r>
            <a:endParaRPr lang="ru-RU" sz="1600" i="1" dirty="0">
              <a:latin typeface="Times New Roman" panose="02020603050405020304" pitchFamily="18" charset="0"/>
              <a:cs typeface="Times New Roman" panose="02020603050405020304" pitchFamily="18" charset="0"/>
            </a:endParaRPr>
          </a:p>
        </p:txBody>
      </p:sp>
      <p:cxnSp>
        <p:nvCxnSpPr>
          <p:cNvPr id="22" name="Прямая соединительная линия 21"/>
          <p:cNvCxnSpPr>
            <a:cxnSpLocks/>
          </p:cNvCxnSpPr>
          <p:nvPr/>
        </p:nvCxnSpPr>
        <p:spPr>
          <a:xfrm>
            <a:off x="1454056" y="4038549"/>
            <a:ext cx="4918502" cy="0"/>
          </a:xfrm>
          <a:prstGeom prst="line">
            <a:avLst/>
          </a:prstGeom>
          <a:ln w="19050">
            <a:prstDash val="sysDot"/>
          </a:ln>
        </p:spPr>
        <p:style>
          <a:lnRef idx="1">
            <a:schemeClr val="dk1"/>
          </a:lnRef>
          <a:fillRef idx="0">
            <a:schemeClr val="dk1"/>
          </a:fillRef>
          <a:effectRef idx="0">
            <a:schemeClr val="dk1"/>
          </a:effectRef>
          <a:fontRef idx="minor">
            <a:schemeClr val="tx1"/>
          </a:fontRef>
        </p:style>
      </p:cxnSp>
      <p:sp>
        <p:nvSpPr>
          <p:cNvPr id="23" name="TextBox 22"/>
          <p:cNvSpPr txBox="1"/>
          <p:nvPr/>
        </p:nvSpPr>
        <p:spPr>
          <a:xfrm>
            <a:off x="2446666" y="2995692"/>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70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4" name="TextBox 23"/>
          <p:cNvSpPr txBox="1"/>
          <p:nvPr/>
        </p:nvSpPr>
        <p:spPr>
          <a:xfrm>
            <a:off x="4688529" y="3724991"/>
            <a:ext cx="807720" cy="276999"/>
          </a:xfrm>
          <a:prstGeom prst="rect">
            <a:avLst/>
          </a:prstGeom>
          <a:noFill/>
        </p:spPr>
        <p:txBody>
          <a:bodyPr wrap="square" rtlCol="0">
            <a:spAutoFit/>
          </a:bodyPr>
          <a:lstStyle/>
          <a:p>
            <a:r>
              <a:rPr lang="en-US" sz="1200" dirty="0">
                <a:latin typeface="Times New Roman" panose="02020603050405020304" pitchFamily="18" charset="0"/>
                <a:ea typeface="Tahoma" panose="020B0604030504040204" pitchFamily="34" charset="0"/>
                <a:cs typeface="Times New Roman" panose="02020603050405020304" pitchFamily="18" charset="0"/>
              </a:rPr>
              <a:t>25</a:t>
            </a:r>
            <a:r>
              <a:rPr lang="ru-RU" sz="1200" dirty="0">
                <a:latin typeface="Times New Roman" panose="02020603050405020304" pitchFamily="18" charset="0"/>
                <a:ea typeface="Tahoma" panose="020B0604030504040204" pitchFamily="34" charset="0"/>
                <a:cs typeface="Times New Roman" panose="02020603050405020304" pitchFamily="18" charset="0"/>
              </a:rPr>
              <a:t> </a:t>
            </a:r>
            <a:r>
              <a:rPr lang="ru-RU" sz="1200" dirty="0" err="1">
                <a:latin typeface="Times New Roman" panose="02020603050405020304" pitchFamily="18" charset="0"/>
                <a:ea typeface="Tahoma" panose="020B0604030504040204" pitchFamily="34" charset="0"/>
                <a:cs typeface="Times New Roman" panose="02020603050405020304" pitchFamily="18" charset="0"/>
              </a:rPr>
              <a:t>мкс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cxnSp>
        <p:nvCxnSpPr>
          <p:cNvPr id="25" name="Прямая соединительная линия 24"/>
          <p:cNvCxnSpPr/>
          <p:nvPr/>
        </p:nvCxnSpPr>
        <p:spPr>
          <a:xfrm flipH="1">
            <a:off x="3954356"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6" name="Прямая соединительная линия 25"/>
          <p:cNvCxnSpPr/>
          <p:nvPr/>
        </p:nvCxnSpPr>
        <p:spPr>
          <a:xfrm flipH="1">
            <a:off x="6022276" y="3068455"/>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7" name="Прямая соединительная линия 26"/>
          <p:cNvCxnSpPr/>
          <p:nvPr/>
        </p:nvCxnSpPr>
        <p:spPr>
          <a:xfrm flipH="1">
            <a:off x="1522547" y="2995692"/>
            <a:ext cx="1817" cy="123995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7D479D87-544A-4FA4-BA06-D7B01FAB3C76}"/>
              </a:ext>
            </a:extLst>
          </p:cNvPr>
          <p:cNvSpPr txBox="1"/>
          <p:nvPr/>
        </p:nvSpPr>
        <p:spPr>
          <a:xfrm>
            <a:off x="1034178" y="1046632"/>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29" name="TextBox 28"/>
          <p:cNvSpPr txBox="1"/>
          <p:nvPr/>
        </p:nvSpPr>
        <p:spPr>
          <a:xfrm>
            <a:off x="4651251" y="3356914"/>
            <a:ext cx="807720" cy="276999"/>
          </a:xfrm>
          <a:prstGeom prst="rect">
            <a:avLst/>
          </a:prstGeom>
          <a:noFill/>
        </p:spPr>
        <p:txBody>
          <a:bodyPr wrap="square" rtlCol="0">
            <a:spAutoFit/>
          </a:bodyPr>
          <a:lstStyle/>
          <a:p>
            <a:r>
              <a:rPr lang="ru-RU" sz="1200" dirty="0">
                <a:latin typeface="Times New Roman" panose="02020603050405020304" pitchFamily="18" charset="0"/>
                <a:ea typeface="Tahoma" panose="020B0604030504040204" pitchFamily="34" charset="0"/>
                <a:cs typeface="Times New Roman" panose="02020603050405020304" pitchFamily="18" charset="0"/>
              </a:rPr>
              <a:t>0.5 </a:t>
            </a:r>
            <a:r>
              <a:rPr lang="ru-RU" sz="1200" dirty="0" err="1">
                <a:latin typeface="Times New Roman" panose="02020603050405020304" pitchFamily="18" charset="0"/>
                <a:ea typeface="Tahoma" panose="020B0604030504040204" pitchFamily="34" charset="0"/>
                <a:cs typeface="Times New Roman" panose="02020603050405020304" pitchFamily="18" charset="0"/>
              </a:rPr>
              <a:t>Гс</a:t>
            </a:r>
            <a:endParaRPr lang="ru-RU" sz="12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7D479D87-544A-4FA4-BA06-D7B01FAB3C76}"/>
              </a:ext>
            </a:extLst>
          </p:cNvPr>
          <p:cNvSpPr txBox="1"/>
          <p:nvPr/>
        </p:nvSpPr>
        <p:spPr>
          <a:xfrm>
            <a:off x="6794727" y="1084738"/>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pic>
        <p:nvPicPr>
          <p:cNvPr id="9" name="Рисунок 8">
            <a:extLst>
              <a:ext uri="{FF2B5EF4-FFF2-40B4-BE49-F238E27FC236}">
                <a16:creationId xmlns:a16="http://schemas.microsoft.com/office/drawing/2014/main" id="{E2B4286C-1033-4ED6-8922-95C7C36C5C82}"/>
              </a:ext>
            </a:extLst>
          </p:cNvPr>
          <p:cNvPicPr>
            <a:picLocks noChangeAspect="1"/>
          </p:cNvPicPr>
          <p:nvPr/>
        </p:nvPicPr>
        <p:blipFill>
          <a:blip r:embed="rId4"/>
          <a:stretch>
            <a:fillRect/>
          </a:stretch>
        </p:blipFill>
        <p:spPr>
          <a:xfrm>
            <a:off x="1574196" y="1431361"/>
            <a:ext cx="2212161" cy="1287988"/>
          </a:xfrm>
          <a:prstGeom prst="rect">
            <a:avLst/>
          </a:prstGeom>
        </p:spPr>
      </p:pic>
      <p:pic>
        <p:nvPicPr>
          <p:cNvPr id="11" name="Рисунок 10">
            <a:extLst>
              <a:ext uri="{FF2B5EF4-FFF2-40B4-BE49-F238E27FC236}">
                <a16:creationId xmlns:a16="http://schemas.microsoft.com/office/drawing/2014/main" id="{65C9107F-86E2-4F78-B853-DF8620913330}"/>
              </a:ext>
            </a:extLst>
          </p:cNvPr>
          <p:cNvPicPr>
            <a:picLocks noChangeAspect="1"/>
          </p:cNvPicPr>
          <p:nvPr/>
        </p:nvPicPr>
        <p:blipFill>
          <a:blip r:embed="rId5"/>
          <a:stretch>
            <a:fillRect/>
          </a:stretch>
        </p:blipFill>
        <p:spPr>
          <a:xfrm>
            <a:off x="4063132" y="1424455"/>
            <a:ext cx="2163487" cy="1347746"/>
          </a:xfrm>
          <a:prstGeom prst="rect">
            <a:avLst/>
          </a:prstGeom>
        </p:spPr>
      </p:pic>
      <p:sp>
        <p:nvSpPr>
          <p:cNvPr id="37" name="TextBox 36">
            <a:extLst>
              <a:ext uri="{FF2B5EF4-FFF2-40B4-BE49-F238E27FC236}">
                <a16:creationId xmlns:a16="http://schemas.microsoft.com/office/drawing/2014/main" id="{ACDD460A-11BF-4D35-82B4-53CC6CCB63DD}"/>
              </a:ext>
            </a:extLst>
          </p:cNvPr>
          <p:cNvSpPr txBox="1"/>
          <p:nvPr/>
        </p:nvSpPr>
        <p:spPr>
          <a:xfrm>
            <a:off x="11681926" y="6391158"/>
            <a:ext cx="510074" cy="307777"/>
          </a:xfrm>
          <a:prstGeom prst="rect">
            <a:avLst/>
          </a:prstGeom>
          <a:noFill/>
        </p:spPr>
        <p:txBody>
          <a:bodyPr wrap="square" rtlCol="0">
            <a:spAutoFit/>
          </a:bodyPr>
          <a:lstStyle/>
          <a:p>
            <a:r>
              <a:rPr lang="ru-RU" dirty="0"/>
              <a:t>8</a:t>
            </a:r>
          </a:p>
        </p:txBody>
      </p:sp>
      <p:sp>
        <p:nvSpPr>
          <p:cNvPr id="38" name="TextBox 37">
            <a:extLst>
              <a:ext uri="{FF2B5EF4-FFF2-40B4-BE49-F238E27FC236}">
                <a16:creationId xmlns:a16="http://schemas.microsoft.com/office/drawing/2014/main" id="{EC5D26EC-C1DB-444B-8ECC-DCAEF9CF4396}"/>
              </a:ext>
            </a:extLst>
          </p:cNvPr>
          <p:cNvSpPr txBox="1"/>
          <p:nvPr/>
        </p:nvSpPr>
        <p:spPr>
          <a:xfrm>
            <a:off x="7511091" y="4336498"/>
            <a:ext cx="5144071" cy="246221"/>
          </a:xfrm>
          <a:prstGeom prst="rect">
            <a:avLst/>
          </a:prstGeom>
          <a:noFill/>
        </p:spPr>
        <p:txBody>
          <a:bodyPr wrap="square" rtlCol="0">
            <a:spAutoFit/>
          </a:bodyPr>
          <a:lstStyle/>
          <a:p>
            <a:r>
              <a:rPr lang="ru-RU" sz="1000" dirty="0">
                <a:latin typeface="Century Gothic" panose="020B0502020202020204" pitchFamily="34" charset="0"/>
              </a:rPr>
              <a:t>Отстройка частоты рамановского излучения, </a:t>
            </a:r>
            <a:r>
              <a:rPr lang="en-US" sz="1000" dirty="0">
                <a:latin typeface="Century Gothic" panose="020B0502020202020204" pitchFamily="34" charset="0"/>
              </a:rPr>
              <a:t>[</a:t>
            </a:r>
            <a:r>
              <a:rPr lang="ru-RU" sz="1000" dirty="0">
                <a:latin typeface="Century Gothic" panose="020B0502020202020204" pitchFamily="34" charset="0"/>
              </a:rPr>
              <a:t>МГц</a:t>
            </a:r>
            <a:r>
              <a:rPr lang="en-US" sz="1000" dirty="0">
                <a:latin typeface="Century Gothic" panose="020B0502020202020204" pitchFamily="34" charset="0"/>
              </a:rPr>
              <a:t>]</a:t>
            </a:r>
            <a:r>
              <a:rPr lang="ru-RU" sz="1000" dirty="0">
                <a:latin typeface="Century Gothic" panose="020B0502020202020204" pitchFamily="34"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35EA3E-F613-FF7C-94F7-910FE459E0E9}"/>
              </a:ext>
            </a:extLst>
          </p:cNvPr>
          <p:cNvSpPr txBox="1"/>
          <p:nvPr/>
        </p:nvSpPr>
        <p:spPr>
          <a:xfrm>
            <a:off x="2895600" y="863600"/>
            <a:ext cx="5376333" cy="2031325"/>
          </a:xfrm>
          <a:prstGeom prst="rect">
            <a:avLst/>
          </a:prstGeom>
          <a:noFill/>
        </p:spPr>
        <p:txBody>
          <a:bodyPr wrap="square" rtlCol="0">
            <a:spAutoFit/>
          </a:bodyPr>
          <a:lstStyle/>
          <a:p>
            <a:r>
              <a:rPr lang="ru-RU" dirty="0"/>
              <a:t>Также была выполнена экспериментальная реализация данное схемы накачки. Экспериментальная последовательность оптической накачки показана на слайде слева. Справа же показан результат измерения населённостей (пики) магнитных подуровней до (красная кривая) и после (</a:t>
            </a:r>
            <a:r>
              <a:rPr lang="ru-RU" dirty="0" err="1"/>
              <a:t>синия</a:t>
            </a:r>
            <a:r>
              <a:rPr lang="ru-RU" dirty="0"/>
              <a:t> кривая) оптической накачки. После оптической накачки населённость немагнитного состояния выросла с 0.3 до более чем 0.95, а населённость магнитных состояний упала практически до 0.</a:t>
            </a:r>
          </a:p>
        </p:txBody>
      </p:sp>
    </p:spTree>
    <p:extLst>
      <p:ext uri="{BB962C8B-B14F-4D97-AF65-F5344CB8AC3E}">
        <p14:creationId xmlns:p14="http://schemas.microsoft.com/office/powerpoint/2010/main" val="3248171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441;p41">
            <a:extLst>
              <a:ext uri="{FF2B5EF4-FFF2-40B4-BE49-F238E27FC236}">
                <a16:creationId xmlns:a16="http://schemas.microsoft.com/office/drawing/2014/main" id="{EBD5BC16-2C05-4F48-9860-17E97A3AC0B9}"/>
              </a:ext>
            </a:extLst>
          </p:cNvPr>
          <p:cNvPicPr preferRelativeResize="0"/>
          <p:nvPr/>
        </p:nvPicPr>
        <p:blipFill rotWithShape="1">
          <a:blip r:embed="rId2">
            <a:alphaModFix/>
          </a:blip>
          <a:srcRect t="7649"/>
          <a:stretch/>
        </p:blipFill>
        <p:spPr>
          <a:xfrm>
            <a:off x="6524767" y="1765465"/>
            <a:ext cx="3832083" cy="3008340"/>
          </a:xfrm>
          <a:prstGeom prst="rect">
            <a:avLst/>
          </a:prstGeom>
          <a:noFill/>
          <a:ln>
            <a:noFill/>
          </a:ln>
        </p:spPr>
      </p:pic>
      <p:sp>
        <p:nvSpPr>
          <p:cNvPr id="4" name="Google Shape;442;p41">
            <a:extLst>
              <a:ext uri="{FF2B5EF4-FFF2-40B4-BE49-F238E27FC236}">
                <a16:creationId xmlns:a16="http://schemas.microsoft.com/office/drawing/2014/main" id="{F153B16B-206B-47E6-91BB-9ABCF38CB307}"/>
              </a:ext>
            </a:extLst>
          </p:cNvPr>
          <p:cNvSpPr txBox="1"/>
          <p:nvPr/>
        </p:nvSpPr>
        <p:spPr>
          <a:xfrm>
            <a:off x="2304966" y="4870390"/>
            <a:ext cx="6793216"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Рис. 9. </a:t>
            </a:r>
            <a:r>
              <a:rPr lang="ru-RU" dirty="0">
                <a:latin typeface="Times New Roman"/>
                <a:ea typeface="Times New Roman"/>
                <a:cs typeface="Times New Roman"/>
                <a:sym typeface="Times New Roman"/>
              </a:rPr>
              <a:t>Изображение временной эволюции облака атомов  (а), и экспериментальная з</a:t>
            </a:r>
            <a:r>
              <a:rPr lang="ru-RU" sz="1400" b="0" i="0" u="none" strike="noStrike" cap="none" dirty="0">
                <a:solidFill>
                  <a:srgbClr val="000000"/>
                </a:solidFill>
                <a:latin typeface="Times New Roman"/>
                <a:ea typeface="Times New Roman"/>
                <a:cs typeface="Times New Roman"/>
                <a:sym typeface="Times New Roman"/>
              </a:rPr>
              <a:t>ависимости квадрата размера облака холодных атомов (1/e) от квадрата времени свободного падения до и после оптической накачки в магнито-нечувствительное состояние (б).</a:t>
            </a:r>
            <a:endParaRPr dirty="0"/>
          </a:p>
        </p:txBody>
      </p:sp>
      <p:pic>
        <p:nvPicPr>
          <p:cNvPr id="5" name="Google Shape;127;p1" descr="https://lh7-rt.googleusercontent.com/slidesz/AGV_vUfQFYLtY2FjTQr7IFHzlkKBCHeyujkayVscmvM_ZtWrphAdXKCaLY60ZbpfLZg12jZAsRqQl4iqGW0lWkIEBozY5KtHbVxjFwlR49-6HQN-dGVIqjq8HAfU-aO2zNamebJymnukrX72YDnhLmvRxTU=s2048?key=P4lD9V1SCTzNB_8IaOOg0ZNi">
            <a:extLst>
              <a:ext uri="{FF2B5EF4-FFF2-40B4-BE49-F238E27FC236}">
                <a16:creationId xmlns:a16="http://schemas.microsoft.com/office/drawing/2014/main" id="{BC71BF39-5AEA-4F19-9B32-F7B8C639F700}"/>
              </a:ext>
            </a:extLst>
          </p:cNvPr>
          <p:cNvPicPr preferRelativeResize="0"/>
          <p:nvPr/>
        </p:nvPicPr>
        <p:blipFill rotWithShape="1">
          <a:blip r:embed="rId3">
            <a:alphaModFix/>
          </a:blip>
          <a:srcRect r="21099" b="5356"/>
          <a:stretch/>
        </p:blipFill>
        <p:spPr>
          <a:xfrm>
            <a:off x="1220392" y="1765465"/>
            <a:ext cx="4673599" cy="2166841"/>
          </a:xfrm>
          <a:prstGeom prst="rect">
            <a:avLst/>
          </a:prstGeom>
          <a:noFill/>
          <a:ln>
            <a:noFill/>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1711A6-1744-407B-8346-FEF2A684FBF3}"/>
                  </a:ext>
                </a:extLst>
              </p:cNvPr>
              <p:cNvSpPr txBox="1"/>
              <p:nvPr/>
            </p:nvSpPr>
            <p:spPr>
              <a:xfrm>
                <a:off x="8284545" y="3733800"/>
                <a:ext cx="2185237" cy="310278"/>
              </a:xfrm>
              <a:prstGeom prst="rect">
                <a:avLst/>
              </a:prstGeom>
              <a:noFill/>
            </p:spPr>
            <p:txBody>
              <a:bodyPr wrap="square" lIns="0" tIns="0" rIns="0" bIns="0" rtlCol="0">
                <a:spAutoFit/>
              </a:bodyPr>
              <a:lstStyle/>
              <a:p>
                <a14:m>
                  <m:oMath xmlns:m="http://schemas.openxmlformats.org/officeDocument/2006/math">
                    <m:sSup>
                      <m:sSupPr>
                        <m:ctrlPr>
                          <a:rPr lang="ru-RU" b="0" i="1" smtClean="0">
                            <a:latin typeface="Cambria Math" panose="02040503050406030204" pitchFamily="18" charset="0"/>
                          </a:rPr>
                        </m:ctrlPr>
                      </m:sSupPr>
                      <m:e>
                        <m:r>
                          <a:rPr lang="ru-RU" b="0" i="1" smtClean="0">
                            <a:latin typeface="Cambria Math" panose="02040503050406030204" pitchFamily="18" charset="0"/>
                            <a:ea typeface="Cambria Math" panose="02040503050406030204" pitchFamily="18" charset="0"/>
                          </a:rPr>
                          <m:t>𝜎</m:t>
                        </m:r>
                      </m:e>
                      <m:sup>
                        <m:r>
                          <a:rPr lang="ru-RU" b="0" i="1" smtClean="0">
                            <a:latin typeface="Cambria Math" panose="02040503050406030204" pitchFamily="18" charset="0"/>
                          </a:rPr>
                          <m:t>2</m:t>
                        </m:r>
                      </m:sup>
                    </m:sSup>
                    <m:r>
                      <a:rPr lang="ru-RU" b="0" i="1" smtClean="0">
                        <a:latin typeface="Cambria Math" panose="02040503050406030204" pitchFamily="18" charset="0"/>
                      </a:rPr>
                      <m:t>=</m:t>
                    </m:r>
                    <m:sSup>
                      <m:sSupPr>
                        <m:ctrlPr>
                          <a:rPr lang="ru-RU" i="1">
                            <a:latin typeface="Cambria Math" panose="02040503050406030204" pitchFamily="18" charset="0"/>
                          </a:rPr>
                        </m:ctrlPr>
                      </m:sSupPr>
                      <m:e>
                        <m:r>
                          <a:rPr lang="ru-RU" i="1">
                            <a:latin typeface="Cambria Math" panose="02040503050406030204" pitchFamily="18" charset="0"/>
                            <a:ea typeface="Cambria Math" panose="02040503050406030204" pitchFamily="18" charset="0"/>
                          </a:rPr>
                          <m:t>𝜎</m:t>
                        </m:r>
                      </m:e>
                      <m:sup>
                        <m:r>
                          <a:rPr lang="ru-RU" i="1">
                            <a:latin typeface="Cambria Math" panose="02040503050406030204" pitchFamily="18" charset="0"/>
                          </a:rPr>
                          <m:t>2</m:t>
                        </m:r>
                      </m:sup>
                    </m:sSup>
                    <m:d>
                      <m:dPr>
                        <m:ctrlPr>
                          <a:rPr lang="ru-RU" b="0" i="1" smtClean="0">
                            <a:latin typeface="Cambria Math" panose="02040503050406030204" pitchFamily="18" charset="0"/>
                          </a:rPr>
                        </m:ctrlPr>
                      </m:dPr>
                      <m:e>
                        <m:r>
                          <a:rPr lang="ru-RU" b="0" i="1" smtClean="0">
                            <a:latin typeface="Cambria Math" panose="02040503050406030204" pitchFamily="18" charset="0"/>
                          </a:rPr>
                          <m:t>0</m:t>
                        </m:r>
                      </m:e>
                    </m:d>
                    <m:r>
                      <a:rPr lang="ru-RU" b="0" i="1" smtClean="0">
                        <a:latin typeface="Cambria Math" panose="02040503050406030204" pitchFamily="18" charset="0"/>
                      </a:rPr>
                      <m:t>+</m:t>
                    </m:r>
                    <m:f>
                      <m:fPr>
                        <m:ctrlPr>
                          <a:rPr lang="ru-RU" b="0" i="1" smtClean="0">
                            <a:latin typeface="Cambria Math" panose="02040503050406030204" pitchFamily="18" charset="0"/>
                          </a:rPr>
                        </m:ctrlPr>
                      </m:fPr>
                      <m:num>
                        <m:sSub>
                          <m:sSubPr>
                            <m:ctrlPr>
                              <a:rPr lang="ru-RU"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𝑏</m:t>
                            </m:r>
                          </m:sub>
                        </m:sSub>
                        <m:r>
                          <a:rPr lang="en-US" i="1">
                            <a:latin typeface="Cambria Math" panose="02040503050406030204" pitchFamily="18" charset="0"/>
                          </a:rPr>
                          <m:t>𝑇</m:t>
                        </m:r>
                      </m:num>
                      <m:den>
                        <m:r>
                          <a:rPr lang="en-US" b="0" i="1" smtClean="0">
                            <a:latin typeface="Cambria Math" panose="02040503050406030204" pitchFamily="18" charset="0"/>
                          </a:rPr>
                          <m:t>𝑚</m:t>
                        </m:r>
                      </m:den>
                    </m:f>
                  </m:oMath>
                </a14:m>
                <a:r>
                  <a:rPr lang="ru-RU" dirty="0"/>
                  <a:t> </a:t>
                </a:r>
                <a14:m>
                  <m:oMath xmlns:m="http://schemas.openxmlformats.org/officeDocument/2006/math">
                    <m:sSup>
                      <m:sSupPr>
                        <m:ctrlPr>
                          <a:rPr lang="ru-RU" i="1">
                            <a:latin typeface="Cambria Math" panose="02040503050406030204" pitchFamily="18" charset="0"/>
                          </a:rPr>
                        </m:ctrlPr>
                      </m:sSupPr>
                      <m:e>
                        <m:r>
                          <a:rPr lang="en-US" i="1">
                            <a:latin typeface="Cambria Math" panose="02040503050406030204" pitchFamily="18" charset="0"/>
                          </a:rPr>
                          <m:t>𝑡</m:t>
                        </m:r>
                      </m:e>
                      <m:sup>
                        <m:r>
                          <a:rPr lang="en-US" i="1">
                            <a:latin typeface="Cambria Math" panose="02040503050406030204" pitchFamily="18" charset="0"/>
                          </a:rPr>
                          <m:t>2</m:t>
                        </m:r>
                      </m:sup>
                    </m:sSup>
                  </m:oMath>
                </a14:m>
                <a:endParaRPr lang="ru-RU" dirty="0"/>
              </a:p>
            </p:txBody>
          </p:sp>
        </mc:Choice>
        <mc:Fallback xmlns="">
          <p:sp>
            <p:nvSpPr>
              <p:cNvPr id="6" name="TextBox 5">
                <a:extLst>
                  <a:ext uri="{FF2B5EF4-FFF2-40B4-BE49-F238E27FC236}">
                    <a16:creationId xmlns:a16="http://schemas.microsoft.com/office/drawing/2014/main" id="{971711A6-1744-407B-8346-FEF2A684FBF3}"/>
                  </a:ext>
                </a:extLst>
              </p:cNvPr>
              <p:cNvSpPr txBox="1">
                <a:spLocks noRot="1" noChangeAspect="1" noMove="1" noResize="1" noEditPoints="1" noAdjustHandles="1" noChangeArrowheads="1" noChangeShapeType="1" noTextEdit="1"/>
              </p:cNvSpPr>
              <p:nvPr/>
            </p:nvSpPr>
            <p:spPr>
              <a:xfrm>
                <a:off x="8284545" y="3733800"/>
                <a:ext cx="2185237" cy="310278"/>
              </a:xfrm>
              <a:prstGeom prst="rect">
                <a:avLst/>
              </a:prstGeom>
              <a:blipFill>
                <a:blip r:embed="rId4"/>
                <a:stretch>
                  <a:fillRect l="-1955" b="-12000"/>
                </a:stretch>
              </a:blipFill>
            </p:spPr>
            <p:txBody>
              <a:bodyPr/>
              <a:lstStyle/>
              <a:p>
                <a:r>
                  <a:rPr lang="ru-RU">
                    <a:noFill/>
                  </a:rPr>
                  <a:t> </a:t>
                </a:r>
              </a:p>
            </p:txBody>
          </p:sp>
        </mc:Fallback>
      </mc:AlternateContent>
      <p:sp>
        <p:nvSpPr>
          <p:cNvPr id="7" name="Google Shape;233;p24">
            <a:extLst>
              <a:ext uri="{FF2B5EF4-FFF2-40B4-BE49-F238E27FC236}">
                <a16:creationId xmlns:a16="http://schemas.microsoft.com/office/drawing/2014/main" id="{8E6AD891-851D-4A07-A31D-5F7A366E551C}"/>
              </a:ext>
            </a:extLst>
          </p:cNvPr>
          <p:cNvSpPr txBox="1"/>
          <p:nvPr/>
        </p:nvSpPr>
        <p:spPr>
          <a:xfrm>
            <a:off x="4933354" y="802731"/>
            <a:ext cx="242689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2400" b="1" i="0" u="none" strike="noStrike" cap="none" dirty="0">
                <a:solidFill>
                  <a:srgbClr val="000000"/>
                </a:solidFill>
                <a:latin typeface="Times New Roman"/>
                <a:ea typeface="Times New Roman"/>
                <a:cs typeface="Times New Roman"/>
                <a:sym typeface="Times New Roman"/>
              </a:rPr>
              <a:t>Time-</a:t>
            </a:r>
            <a:r>
              <a:rPr lang="ru-RU" sz="2400" b="1" i="0" u="none" strike="noStrike" cap="none" dirty="0" err="1">
                <a:solidFill>
                  <a:srgbClr val="000000"/>
                </a:solidFill>
                <a:latin typeface="Times New Roman"/>
                <a:ea typeface="Times New Roman"/>
                <a:cs typeface="Times New Roman"/>
                <a:sym typeface="Times New Roman"/>
              </a:rPr>
              <a:t>of</a:t>
            </a:r>
            <a:r>
              <a:rPr lang="ru-RU" sz="2400" b="1" i="0" u="none" strike="noStrike" cap="none" dirty="0">
                <a:solidFill>
                  <a:srgbClr val="000000"/>
                </a:solidFill>
                <a:latin typeface="Times New Roman"/>
                <a:ea typeface="Times New Roman"/>
                <a:cs typeface="Times New Roman"/>
                <a:sym typeface="Times New Roman"/>
              </a:rPr>
              <a:t>-</a:t>
            </a:r>
            <a:r>
              <a:rPr lang="ru-RU" sz="2400" b="1" i="0" u="none" strike="noStrike" cap="none" dirty="0" err="1">
                <a:solidFill>
                  <a:srgbClr val="000000"/>
                </a:solidFill>
                <a:latin typeface="Times New Roman"/>
                <a:ea typeface="Times New Roman"/>
                <a:cs typeface="Times New Roman"/>
                <a:sym typeface="Times New Roman"/>
              </a:rPr>
              <a:t>flight</a:t>
            </a:r>
            <a:r>
              <a:rPr lang="ru-RU" sz="2400" b="1" i="0" u="none" strike="noStrike" cap="none" dirty="0">
                <a:solidFill>
                  <a:srgbClr val="000000"/>
                </a:solidFill>
                <a:latin typeface="Times New Roman"/>
                <a:ea typeface="Times New Roman"/>
                <a:cs typeface="Times New Roman"/>
                <a:sym typeface="Times New Roman"/>
              </a:rPr>
              <a:t>:</a:t>
            </a:r>
            <a:endParaRPr sz="2400" b="1" i="0" u="none" strike="noStrike" cap="none" dirty="0">
              <a:solidFill>
                <a:srgbClr val="000000"/>
              </a:solidFill>
              <a:latin typeface="Times New Roman"/>
              <a:ea typeface="Times New Roman"/>
              <a:cs typeface="Times New Roman"/>
              <a:sym typeface="Times New Roman"/>
            </a:endParaRPr>
          </a:p>
        </p:txBody>
      </p:sp>
      <p:sp>
        <p:nvSpPr>
          <p:cNvPr id="8" name="TextBox 7">
            <a:extLst>
              <a:ext uri="{FF2B5EF4-FFF2-40B4-BE49-F238E27FC236}">
                <a16:creationId xmlns:a16="http://schemas.microsoft.com/office/drawing/2014/main" id="{7D479D87-544A-4FA4-BA06-D7B01FAB3C76}"/>
              </a:ext>
            </a:extLst>
          </p:cNvPr>
          <p:cNvSpPr txBox="1"/>
          <p:nvPr/>
        </p:nvSpPr>
        <p:spPr>
          <a:xfrm>
            <a:off x="1063699"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75955D3-509D-4D02-B799-756F1560F9D5}"/>
              </a:ext>
            </a:extLst>
          </p:cNvPr>
          <p:cNvSpPr txBox="1"/>
          <p:nvPr/>
        </p:nvSpPr>
        <p:spPr>
          <a:xfrm>
            <a:off x="6354685" y="130382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10" name="Google Shape;438;p41">
            <a:extLst>
              <a:ext uri="{FF2B5EF4-FFF2-40B4-BE49-F238E27FC236}">
                <a16:creationId xmlns:a16="http://schemas.microsoft.com/office/drawing/2014/main" id="{9F6DF20E-0EBF-46A5-BE99-0FBFFA90B945}"/>
              </a:ext>
            </a:extLst>
          </p:cNvPr>
          <p:cNvSpPr/>
          <p:nvPr/>
        </p:nvSpPr>
        <p:spPr>
          <a:xfrm>
            <a:off x="1903454" y="122102"/>
            <a:ext cx="7585131" cy="395110"/>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Нагрев вследствие</a:t>
            </a:r>
            <a:r>
              <a:rPr lang="en-US" sz="2400" b="1" dirty="0">
                <a:solidFill>
                  <a:schemeClr val="lt1"/>
                </a:solidFill>
                <a:latin typeface="Times New Roman"/>
                <a:cs typeface="Times New Roman"/>
                <a:sym typeface="Times New Roman"/>
              </a:rPr>
              <a:t> </a:t>
            </a:r>
            <a:r>
              <a:rPr lang="ru-RU" sz="2400" b="1" dirty="0">
                <a:solidFill>
                  <a:schemeClr val="lt1"/>
                </a:solidFill>
                <a:latin typeface="Times New Roman"/>
                <a:cs typeface="Times New Roman"/>
                <a:sym typeface="Times New Roman"/>
              </a:rPr>
              <a:t>оптической накачки</a:t>
            </a:r>
            <a:endParaRPr sz="1400" b="0" i="0" u="none" strike="noStrike" cap="none" dirty="0">
              <a:solidFill>
                <a:srgbClr val="000000"/>
              </a:solidFill>
              <a:latin typeface="Arial"/>
              <a:ea typeface="Arial"/>
              <a:cs typeface="Arial"/>
              <a:sym typeface="Arial"/>
            </a:endParaRPr>
          </a:p>
        </p:txBody>
      </p:sp>
      <p:sp>
        <p:nvSpPr>
          <p:cNvPr id="11" name="TextBox 10">
            <a:extLst>
              <a:ext uri="{FF2B5EF4-FFF2-40B4-BE49-F238E27FC236}">
                <a16:creationId xmlns:a16="http://schemas.microsoft.com/office/drawing/2014/main" id="{2D3CF238-36AA-4DCF-8C45-8041EC38BEF3}"/>
              </a:ext>
            </a:extLst>
          </p:cNvPr>
          <p:cNvSpPr txBox="1"/>
          <p:nvPr/>
        </p:nvSpPr>
        <p:spPr>
          <a:xfrm>
            <a:off x="11681926" y="6408575"/>
            <a:ext cx="510074" cy="307777"/>
          </a:xfrm>
          <a:prstGeom prst="rect">
            <a:avLst/>
          </a:prstGeom>
          <a:noFill/>
        </p:spPr>
        <p:txBody>
          <a:bodyPr wrap="square" rtlCol="0">
            <a:spAutoFit/>
          </a:bodyPr>
          <a:lstStyle/>
          <a:p>
            <a:r>
              <a:rPr lang="ru-RU" dirty="0"/>
              <a:t>9</a:t>
            </a:r>
            <a:endParaRPr lang="en-US" dirty="0"/>
          </a:p>
        </p:txBody>
      </p:sp>
    </p:spTree>
    <p:extLst>
      <p:ext uri="{BB962C8B-B14F-4D97-AF65-F5344CB8AC3E}">
        <p14:creationId xmlns:p14="http://schemas.microsoft.com/office/powerpoint/2010/main" val="39606914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2D304F-8DDB-E611-688F-42B739FA1EC1}"/>
              </a:ext>
            </a:extLst>
          </p:cNvPr>
          <p:cNvSpPr txBox="1"/>
          <p:nvPr/>
        </p:nvSpPr>
        <p:spPr>
          <a:xfrm>
            <a:off x="2980267" y="948267"/>
            <a:ext cx="5283200" cy="1169551"/>
          </a:xfrm>
          <a:prstGeom prst="rect">
            <a:avLst/>
          </a:prstGeom>
          <a:noFill/>
        </p:spPr>
        <p:txBody>
          <a:bodyPr wrap="square" rtlCol="0">
            <a:spAutoFit/>
          </a:bodyPr>
          <a:lstStyle/>
          <a:p>
            <a:r>
              <a:rPr lang="ru-RU" dirty="0"/>
              <a:t>С помощью </a:t>
            </a:r>
            <a:r>
              <a:rPr lang="en-US" dirty="0"/>
              <a:t>time-of-flight </a:t>
            </a:r>
            <a:r>
              <a:rPr lang="ru-RU" dirty="0"/>
              <a:t>методики была измерения температура облака атомов до и после оптической накачки. Температура из-за оптической накачка выросла на 1 </a:t>
            </a:r>
            <a:r>
              <a:rPr lang="ru-RU" dirty="0" err="1"/>
              <a:t>мкК</a:t>
            </a:r>
            <a:r>
              <a:rPr lang="ru-RU" dirty="0"/>
              <a:t>, как показано на рисунке справа, что согласуется с результатами моделирования.</a:t>
            </a:r>
          </a:p>
        </p:txBody>
      </p:sp>
    </p:spTree>
    <p:extLst>
      <p:ext uri="{BB962C8B-B14F-4D97-AF65-F5344CB8AC3E}">
        <p14:creationId xmlns:p14="http://schemas.microsoft.com/office/powerpoint/2010/main" val="3642175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Рисунок 42">
            <a:extLst>
              <a:ext uri="{FF2B5EF4-FFF2-40B4-BE49-F238E27FC236}">
                <a16:creationId xmlns:a16="http://schemas.microsoft.com/office/drawing/2014/main" id="{669106B0-9619-2660-610E-CC37F6EF9735}"/>
              </a:ext>
            </a:extLst>
          </p:cNvPr>
          <p:cNvPicPr>
            <a:picLocks noChangeAspect="1"/>
          </p:cNvPicPr>
          <p:nvPr/>
        </p:nvPicPr>
        <p:blipFill>
          <a:blip r:embed="rId2"/>
          <a:stretch>
            <a:fillRect/>
          </a:stretch>
        </p:blipFill>
        <p:spPr>
          <a:xfrm>
            <a:off x="85805" y="1258091"/>
            <a:ext cx="5633530" cy="4229563"/>
          </a:xfrm>
          <a:prstGeom prst="rect">
            <a:avLst/>
          </a:prstGeom>
        </p:spPr>
      </p:pic>
      <p:pic>
        <p:nvPicPr>
          <p:cNvPr id="23" name="Рисунок 22">
            <a:extLst>
              <a:ext uri="{FF2B5EF4-FFF2-40B4-BE49-F238E27FC236}">
                <a16:creationId xmlns:a16="http://schemas.microsoft.com/office/drawing/2014/main" id="{9905EBA7-1578-FB4F-DBC8-16A7C35D7B54}"/>
              </a:ext>
            </a:extLst>
          </p:cNvPr>
          <p:cNvPicPr>
            <a:picLocks noChangeAspect="1"/>
          </p:cNvPicPr>
          <p:nvPr/>
        </p:nvPicPr>
        <p:blipFill>
          <a:blip r:embed="rId3"/>
          <a:stretch>
            <a:fillRect/>
          </a:stretch>
        </p:blipFill>
        <p:spPr>
          <a:xfrm>
            <a:off x="6472666" y="773270"/>
            <a:ext cx="4240691" cy="5199205"/>
          </a:xfrm>
          <a:prstGeom prst="rect">
            <a:avLst/>
          </a:prstGeom>
        </p:spPr>
      </p:pic>
      <p:sp>
        <p:nvSpPr>
          <p:cNvPr id="2" name="Google Shape;438;p41">
            <a:extLst>
              <a:ext uri="{FF2B5EF4-FFF2-40B4-BE49-F238E27FC236}">
                <a16:creationId xmlns:a16="http://schemas.microsoft.com/office/drawing/2014/main" id="{52BC617F-5E2D-4580-9506-94A652B0244A}"/>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49" name="Прямоугольник 48"/>
          <p:cNvSpPr/>
          <p:nvPr/>
        </p:nvSpPr>
        <p:spPr>
          <a:xfrm>
            <a:off x="3048000" y="5972475"/>
            <a:ext cx="6096000" cy="738664"/>
          </a:xfrm>
          <a:prstGeom prst="rect">
            <a:avLst/>
          </a:prstGeom>
        </p:spPr>
        <p:txBody>
          <a:bodyPr>
            <a:spAutoFit/>
          </a:bodyPr>
          <a:lstStyle/>
          <a:p>
            <a:pPr algn="ctr"/>
            <a:r>
              <a:rPr lang="ru-RU" dirty="0">
                <a:latin typeface="Times New Roman" panose="02020603050405020304" pitchFamily="18" charset="0"/>
                <a:cs typeface="Times New Roman" panose="02020603050405020304" pitchFamily="18" charset="0"/>
              </a:rPr>
              <a:t>Рис. . Экспериментальная последовательность рамановских импульсов и схема чирпирования частоты рамановского излучения (а), схема детектирования атомов (б).</a:t>
            </a:r>
          </a:p>
        </p:txBody>
      </p:sp>
      <p:sp>
        <p:nvSpPr>
          <p:cNvPr id="51" name="TextBox 50">
            <a:extLst>
              <a:ext uri="{FF2B5EF4-FFF2-40B4-BE49-F238E27FC236}">
                <a16:creationId xmlns:a16="http://schemas.microsoft.com/office/drawing/2014/main" id="{7D479D87-544A-4FA4-BA06-D7B01FAB3C76}"/>
              </a:ext>
            </a:extLst>
          </p:cNvPr>
          <p:cNvSpPr txBox="1"/>
          <p:nvPr/>
        </p:nvSpPr>
        <p:spPr>
          <a:xfrm>
            <a:off x="673366"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4AF22725-24E1-4D71-A1C2-667222AA1559}"/>
              </a:ext>
            </a:extLst>
          </p:cNvPr>
          <p:cNvSpPr txBox="1"/>
          <p:nvPr/>
        </p:nvSpPr>
        <p:spPr>
          <a:xfrm>
            <a:off x="11681926" y="6408575"/>
            <a:ext cx="510074" cy="307777"/>
          </a:xfrm>
          <a:prstGeom prst="rect">
            <a:avLst/>
          </a:prstGeom>
          <a:noFill/>
        </p:spPr>
        <p:txBody>
          <a:bodyPr wrap="square" rtlCol="0">
            <a:spAutoFit/>
          </a:bodyPr>
          <a:lstStyle/>
          <a:p>
            <a:r>
              <a:rPr lang="ru-RU" dirty="0"/>
              <a:t>10</a:t>
            </a:r>
            <a:endParaRPr lang="en-US" dirty="0"/>
          </a:p>
        </p:txBody>
      </p:sp>
      <p:sp>
        <p:nvSpPr>
          <p:cNvPr id="14" name="TextBox 13">
            <a:extLst>
              <a:ext uri="{FF2B5EF4-FFF2-40B4-BE49-F238E27FC236}">
                <a16:creationId xmlns:a16="http://schemas.microsoft.com/office/drawing/2014/main" id="{F621DB70-2DE0-B84B-4885-33F99F2FE7AC}"/>
              </a:ext>
            </a:extLst>
          </p:cNvPr>
          <p:cNvSpPr txBox="1"/>
          <p:nvPr/>
        </p:nvSpPr>
        <p:spPr>
          <a:xfrm>
            <a:off x="6483633" y="738466"/>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1171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DC3C23-5484-E6C2-C496-D1AEE14CC72F}"/>
              </a:ext>
            </a:extLst>
          </p:cNvPr>
          <p:cNvSpPr txBox="1"/>
          <p:nvPr/>
        </p:nvSpPr>
        <p:spPr>
          <a:xfrm>
            <a:off x="2607733" y="863600"/>
            <a:ext cx="5808134" cy="2893100"/>
          </a:xfrm>
          <a:prstGeom prst="rect">
            <a:avLst/>
          </a:prstGeom>
          <a:noFill/>
        </p:spPr>
        <p:txBody>
          <a:bodyPr wrap="square" rtlCol="0">
            <a:spAutoFit/>
          </a:bodyPr>
          <a:lstStyle/>
          <a:p>
            <a:r>
              <a:rPr lang="ru-RU" dirty="0"/>
              <a:t>Также в работе была выполнено регистрация сигнала атомного интерферометра по приведённой на данной слайде схеме. Слева показана временная экспериментальная последовательность регистрация, а справа схема детектирования атомов.</a:t>
            </a:r>
          </a:p>
          <a:p>
            <a:endParaRPr lang="ru-RU" dirty="0"/>
          </a:p>
          <a:p>
            <a:r>
              <a:rPr lang="ru-RU" dirty="0"/>
              <a:t>После атомной интерференции атомы в светлом состоянии </a:t>
            </a:r>
            <a:r>
              <a:rPr lang="en-US" dirty="0"/>
              <a:t>F = 2</a:t>
            </a:r>
            <a:r>
              <a:rPr lang="ru-RU" dirty="0"/>
              <a:t> подсвечиваются и регистрируется их сигнал с помощью первой камеры, после этого все атомы оказываются в тёмном состоянии </a:t>
            </a:r>
            <a:r>
              <a:rPr lang="en-US" dirty="0"/>
              <a:t>F = 1, </a:t>
            </a:r>
            <a:r>
              <a:rPr lang="ru-RU" dirty="0"/>
              <a:t>далее из этого тёмного состояния атомы перекачиваются в светлое с помощью перекачивающего излучения, и после чего вновь подсвечиваются резонансным излучением 2-3</a:t>
            </a:r>
            <a:r>
              <a:rPr lang="en-US" dirty="0"/>
              <a:t>’, </a:t>
            </a:r>
            <a:r>
              <a:rPr lang="ru-RU" dirty="0"/>
              <a:t>что позволяет получить полное количество атомов и произвести нормировку сигнала.</a:t>
            </a:r>
          </a:p>
        </p:txBody>
      </p:sp>
    </p:spTree>
    <p:extLst>
      <p:ext uri="{BB962C8B-B14F-4D97-AF65-F5344CB8AC3E}">
        <p14:creationId xmlns:p14="http://schemas.microsoft.com/office/powerpoint/2010/main" val="1629323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Рисунок 10">
            <a:extLst>
              <a:ext uri="{FF2B5EF4-FFF2-40B4-BE49-F238E27FC236}">
                <a16:creationId xmlns:a16="http://schemas.microsoft.com/office/drawing/2014/main" id="{C0795E4E-07A3-0C68-A2F4-A4D330BBC3DD}"/>
              </a:ext>
            </a:extLst>
          </p:cNvPr>
          <p:cNvPicPr>
            <a:picLocks noChangeAspect="1"/>
          </p:cNvPicPr>
          <p:nvPr/>
        </p:nvPicPr>
        <p:blipFill>
          <a:blip r:embed="rId2"/>
          <a:srcRect l="6602" t="9063" r="5275" b="3240"/>
          <a:stretch/>
        </p:blipFill>
        <p:spPr>
          <a:xfrm>
            <a:off x="3742267" y="1326378"/>
            <a:ext cx="3562871" cy="3262555"/>
          </a:xfrm>
          <a:prstGeom prst="rect">
            <a:avLst/>
          </a:prstGeom>
        </p:spPr>
      </p:pic>
      <p:pic>
        <p:nvPicPr>
          <p:cNvPr id="5" name="Рисунок 4">
            <a:extLst>
              <a:ext uri="{FF2B5EF4-FFF2-40B4-BE49-F238E27FC236}">
                <a16:creationId xmlns:a16="http://schemas.microsoft.com/office/drawing/2014/main" id="{DE49EA7A-594C-4C5E-A996-39C565AC1A5B}"/>
              </a:ext>
            </a:extLst>
          </p:cNvPr>
          <p:cNvPicPr>
            <a:picLocks noChangeAspect="1"/>
          </p:cNvPicPr>
          <p:nvPr/>
        </p:nvPicPr>
        <p:blipFill>
          <a:blip r:embed="rId3"/>
          <a:srcRect l="6783" t="7199" r="3691" b="4753"/>
          <a:stretch/>
        </p:blipFill>
        <p:spPr>
          <a:xfrm>
            <a:off x="7305139" y="1176867"/>
            <a:ext cx="3286662" cy="3327400"/>
          </a:xfrm>
          <a:prstGeom prst="rect">
            <a:avLst/>
          </a:prstGeom>
        </p:spPr>
      </p:pic>
      <p:sp>
        <p:nvSpPr>
          <p:cNvPr id="2" name="Google Shape;438;p41">
            <a:extLst>
              <a:ext uri="{FF2B5EF4-FFF2-40B4-BE49-F238E27FC236}">
                <a16:creationId xmlns:a16="http://schemas.microsoft.com/office/drawing/2014/main" id="{3000FCD4-85EE-457A-83FB-C6C8399B520D}"/>
              </a:ext>
            </a:extLst>
          </p:cNvPr>
          <p:cNvSpPr/>
          <p:nvPr/>
        </p:nvSpPr>
        <p:spPr>
          <a:xfrm>
            <a:off x="2456857" y="100559"/>
            <a:ext cx="6910755" cy="521742"/>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Регистрация сигнала атомного интерферометра</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345B9989-4C10-432B-8594-3E58550995F7}"/>
              </a:ext>
            </a:extLst>
          </p:cNvPr>
          <p:cNvSpPr txBox="1"/>
          <p:nvPr/>
        </p:nvSpPr>
        <p:spPr>
          <a:xfrm>
            <a:off x="11681926" y="6408575"/>
            <a:ext cx="510074" cy="307777"/>
          </a:xfrm>
          <a:prstGeom prst="rect">
            <a:avLst/>
          </a:prstGeom>
          <a:noFill/>
        </p:spPr>
        <p:txBody>
          <a:bodyPr wrap="square" rtlCol="0">
            <a:spAutoFit/>
          </a:bodyPr>
          <a:lstStyle/>
          <a:p>
            <a:r>
              <a:rPr lang="ru-RU" dirty="0"/>
              <a:t>11</a:t>
            </a:r>
            <a:endParaRPr lang="en-US" dirty="0"/>
          </a:p>
        </p:txBody>
      </p:sp>
      <p:sp>
        <p:nvSpPr>
          <p:cNvPr id="19" name="TextBox 18">
            <a:extLst>
              <a:ext uri="{FF2B5EF4-FFF2-40B4-BE49-F238E27FC236}">
                <a16:creationId xmlns:a16="http://schemas.microsoft.com/office/drawing/2014/main" id="{E9968B14-1908-46A4-93D4-2D88AF236BC1}"/>
              </a:ext>
            </a:extLst>
          </p:cNvPr>
          <p:cNvSpPr txBox="1"/>
          <p:nvPr/>
        </p:nvSpPr>
        <p:spPr>
          <a:xfrm>
            <a:off x="2679108" y="4738444"/>
            <a:ext cx="8486149" cy="738664"/>
          </a:xfrm>
          <a:prstGeom prst="rect">
            <a:avLst/>
          </a:prstGeom>
          <a:noFill/>
        </p:spPr>
        <p:txBody>
          <a:bodyPr wrap="square" rtlCol="0">
            <a:spAutoFit/>
          </a:bodyPr>
          <a:lstStyle/>
          <a:p>
            <a:pPr algn="ctr"/>
            <a:r>
              <a:rPr lang="ru-RU" sz="1400" dirty="0">
                <a:latin typeface="Times New Roman" panose="02020603050405020304" pitchFamily="18" charset="0"/>
                <a:cs typeface="Times New Roman" panose="02020603050405020304" pitchFamily="18" charset="0"/>
              </a:rPr>
              <a:t>Рис.</a:t>
            </a:r>
            <a:r>
              <a:rPr lang="en-US"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Сигнал атомной интерференции, полученный при сканировании скорости чирпирования </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слева</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и зависимость стандартного отклонения </a:t>
            </a:r>
            <a:r>
              <a:rPr lang="ru-RU" dirty="0" err="1">
                <a:latin typeface="Times New Roman" panose="02020603050405020304" pitchFamily="18" charset="0"/>
                <a:cs typeface="Times New Roman" panose="02020603050405020304" pitchFamily="18" charset="0"/>
              </a:rPr>
              <a:t>σ</a:t>
            </a:r>
            <a:r>
              <a:rPr lang="ru-RU" baseline="-25000" dirty="0" err="1">
                <a:latin typeface="Times New Roman" panose="02020603050405020304" pitchFamily="18" charset="0"/>
                <a:cs typeface="Times New Roman" panose="02020603050405020304" pitchFamily="18" charset="0"/>
              </a:rPr>
              <a:t>g</a:t>
            </a:r>
            <a:r>
              <a:rPr lang="ru-RU" dirty="0">
                <a:latin typeface="Times New Roman" panose="02020603050405020304" pitchFamily="18" charset="0"/>
                <a:cs typeface="Times New Roman" panose="02020603050405020304" pitchFamily="18" charset="0"/>
              </a:rPr>
              <a:t> измерений</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гравитационного ускорения от времени усреднения (справа).</a:t>
            </a:r>
            <a:endParaRPr lang="en-US" sz="14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1842DF5-87AF-4AFA-A45C-0EC2908FA86D}"/>
                  </a:ext>
                </a:extLst>
              </p:cNvPr>
              <p:cNvSpPr txBox="1"/>
              <p:nvPr/>
            </p:nvSpPr>
            <p:spPr>
              <a:xfrm>
                <a:off x="1132724" y="2969700"/>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xmlns="">
          <p:sp>
            <p:nvSpPr>
              <p:cNvPr id="20" name="TextBox 19">
                <a:extLst>
                  <a:ext uri="{FF2B5EF4-FFF2-40B4-BE49-F238E27FC236}">
                    <a16:creationId xmlns:a16="http://schemas.microsoft.com/office/drawing/2014/main" id="{21842DF5-87AF-4AFA-A45C-0EC2908FA86D}"/>
                  </a:ext>
                </a:extLst>
              </p:cNvPr>
              <p:cNvSpPr txBox="1">
                <a:spLocks noRot="1" noChangeAspect="1" noMove="1" noResize="1" noEditPoints="1" noAdjustHandles="1" noChangeArrowheads="1" noChangeShapeType="1" noTextEdit="1"/>
              </p:cNvSpPr>
              <p:nvPr/>
            </p:nvSpPr>
            <p:spPr>
              <a:xfrm>
                <a:off x="1132724" y="2969700"/>
                <a:ext cx="2050754" cy="626325"/>
              </a:xfrm>
              <a:prstGeom prst="rect">
                <a:avLst/>
              </a:prstGeom>
              <a:blipFill>
                <a:blip r:embed="rId4"/>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5E1332E-B1D6-4008-82C1-20AC426FB8D6}"/>
                  </a:ext>
                </a:extLst>
              </p:cNvPr>
              <p:cNvSpPr txBox="1"/>
              <p:nvPr/>
            </p:nvSpPr>
            <p:spPr>
              <a:xfrm>
                <a:off x="784513" y="2094241"/>
                <a:ext cx="2647969" cy="397096"/>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m:oMathPara>
                </a14:m>
                <a:endParaRPr lang="ru-RU" sz="1800" dirty="0"/>
              </a:p>
            </p:txBody>
          </p:sp>
        </mc:Choice>
        <mc:Fallback xmlns="">
          <p:sp>
            <p:nvSpPr>
              <p:cNvPr id="21" name="TextBox 20">
                <a:extLst>
                  <a:ext uri="{FF2B5EF4-FFF2-40B4-BE49-F238E27FC236}">
                    <a16:creationId xmlns:a16="http://schemas.microsoft.com/office/drawing/2014/main" id="{65E1332E-B1D6-4008-82C1-20AC426FB8D6}"/>
                  </a:ext>
                </a:extLst>
              </p:cNvPr>
              <p:cNvSpPr txBox="1">
                <a:spLocks noRot="1" noChangeAspect="1" noMove="1" noResize="1" noEditPoints="1" noAdjustHandles="1" noChangeArrowheads="1" noChangeShapeType="1" noTextEdit="1"/>
              </p:cNvSpPr>
              <p:nvPr/>
            </p:nvSpPr>
            <p:spPr>
              <a:xfrm>
                <a:off x="784513" y="2094241"/>
                <a:ext cx="2647969" cy="397096"/>
              </a:xfrm>
              <a:prstGeom prst="rect">
                <a:avLst/>
              </a:prstGeom>
              <a:blipFill>
                <a:blip r:embed="rId5"/>
                <a:stretch>
                  <a:fillRect b="-4286"/>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3418041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9B5F04-FCBC-5209-434E-27F2C7DED54B}"/>
              </a:ext>
            </a:extLst>
          </p:cNvPr>
          <p:cNvSpPr txBox="1"/>
          <p:nvPr/>
        </p:nvSpPr>
        <p:spPr>
          <a:xfrm>
            <a:off x="3564467" y="1193800"/>
            <a:ext cx="5808133" cy="1169551"/>
          </a:xfrm>
          <a:prstGeom prst="rect">
            <a:avLst/>
          </a:prstGeom>
          <a:noFill/>
        </p:spPr>
        <p:txBody>
          <a:bodyPr wrap="square" rtlCol="0">
            <a:spAutoFit/>
          </a:bodyPr>
          <a:lstStyle/>
          <a:p>
            <a:r>
              <a:rPr lang="ru-RU" dirty="0"/>
              <a:t>На данном же слайде представлены результате регистрации сигнала атомного </a:t>
            </a:r>
            <a:r>
              <a:rPr lang="ru-RU" dirty="0" err="1"/>
              <a:t>интерферомтера</a:t>
            </a:r>
            <a:r>
              <a:rPr lang="ru-RU" dirty="0"/>
              <a:t>. Ранее чувствительность гравиметра составляла 38.5 </a:t>
            </a:r>
            <a:r>
              <a:rPr lang="ru-RU" dirty="0" err="1"/>
              <a:t>мГал</a:t>
            </a:r>
            <a:r>
              <a:rPr lang="en-US" dirty="0"/>
              <a:t>/</a:t>
            </a:r>
            <a:r>
              <a:rPr lang="ru-RU" dirty="0"/>
              <a:t>Гц</a:t>
            </a:r>
            <a:r>
              <a:rPr lang="en-US" dirty="0"/>
              <a:t>^1/2, </a:t>
            </a:r>
            <a:r>
              <a:rPr lang="ru-RU" dirty="0"/>
              <a:t>сейчас же, после внедрения в цикл оптической накачки и других процедур чувствительность выросла до 5.2 </a:t>
            </a:r>
            <a:r>
              <a:rPr lang="ru-RU" dirty="0" err="1"/>
              <a:t>мГал</a:t>
            </a:r>
            <a:r>
              <a:rPr lang="en-US" dirty="0"/>
              <a:t>/</a:t>
            </a:r>
            <a:r>
              <a:rPr lang="ru-RU" dirty="0"/>
              <a:t>Гц</a:t>
            </a:r>
            <a:r>
              <a:rPr lang="en-US" dirty="0"/>
              <a:t>^1/2</a:t>
            </a:r>
            <a:r>
              <a:rPr lang="ru-RU" dirty="0"/>
              <a:t> (правый рисунок).</a:t>
            </a:r>
          </a:p>
        </p:txBody>
      </p:sp>
    </p:spTree>
    <p:extLst>
      <p:ext uri="{BB962C8B-B14F-4D97-AF65-F5344CB8AC3E}">
        <p14:creationId xmlns:p14="http://schemas.microsoft.com/office/powerpoint/2010/main" val="15128077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rotWithShape="1">
          <a:blip r:embed="rId2"/>
          <a:srcRect t="4191"/>
          <a:stretch/>
        </p:blipFill>
        <p:spPr>
          <a:xfrm>
            <a:off x="2313708" y="915605"/>
            <a:ext cx="911540" cy="2203764"/>
          </a:xfrm>
          <a:prstGeom prst="rect">
            <a:avLst/>
          </a:prstGeom>
        </p:spPr>
      </p:pic>
      <p:pic>
        <p:nvPicPr>
          <p:cNvPr id="58" name="Рисунок 57">
            <a:extLst>
              <a:ext uri="{FF2B5EF4-FFF2-40B4-BE49-F238E27FC236}">
                <a16:creationId xmlns:a16="http://schemas.microsoft.com/office/drawing/2014/main" id="{D6D133B6-FCC8-4C58-A203-3759379D37EE}"/>
              </a:ext>
            </a:extLst>
          </p:cNvPr>
          <p:cNvPicPr>
            <a:picLocks noChangeAspect="1"/>
          </p:cNvPicPr>
          <p:nvPr/>
        </p:nvPicPr>
        <p:blipFill rotWithShape="1">
          <a:blip r:embed="rId3"/>
          <a:srcRect l="9363" t="10044" r="6469" b="9599"/>
          <a:stretch/>
        </p:blipFill>
        <p:spPr>
          <a:xfrm>
            <a:off x="8345660" y="1143528"/>
            <a:ext cx="3263240" cy="2355310"/>
          </a:xfrm>
          <a:prstGeom prst="rect">
            <a:avLst/>
          </a:prstGeom>
        </p:spPr>
      </p:pic>
      <p:sp>
        <p:nvSpPr>
          <p:cNvPr id="2" name="Google Shape;136;p21">
            <a:extLst>
              <a:ext uri="{FF2B5EF4-FFF2-40B4-BE49-F238E27FC236}">
                <a16:creationId xmlns:a16="http://schemas.microsoft.com/office/drawing/2014/main" id="{1E7CF083-A787-4F48-A93A-E44DFC78373A}"/>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Влияние вибрационных возмущений</a:t>
            </a:r>
            <a:endParaRPr sz="1400" b="0"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3A8042C-E52E-4288-B49A-5DABBD83A1A0}"/>
              </a:ext>
            </a:extLst>
          </p:cNvPr>
          <p:cNvSpPr txBox="1"/>
          <p:nvPr/>
        </p:nvSpPr>
        <p:spPr>
          <a:xfrm>
            <a:off x="690460" y="4285476"/>
            <a:ext cx="4928664"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Разность фаз между плечами интерферометра</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C228A56-F53C-4040-AA74-A750668FC7D9}"/>
              </a:ext>
            </a:extLst>
          </p:cNvPr>
          <p:cNvSpPr txBox="1"/>
          <p:nvPr/>
        </p:nvSpPr>
        <p:spPr>
          <a:xfrm>
            <a:off x="7971039" y="757980"/>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5F76187-A348-4512-AFBD-6EA014B794F8}"/>
                  </a:ext>
                </a:extLst>
              </p:cNvPr>
              <p:cNvSpPr txBox="1"/>
              <p:nvPr/>
            </p:nvSpPr>
            <p:spPr>
              <a:xfrm>
                <a:off x="1418598" y="4705738"/>
                <a:ext cx="3198953" cy="363241"/>
              </a:xfrm>
              <a:prstGeom prst="rect">
                <a:avLst/>
              </a:prstGeom>
              <a:noFill/>
              <a:ln w="28575">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ru-RU" sz="1600" i="1" dirty="0" smtClean="0">
                          <a:latin typeface="Cambria Math" panose="02040503050406030204" pitchFamily="18" charset="0"/>
                          <a:sym typeface="Symbol"/>
                        </a:rPr>
                        <m:t></m:t>
                      </m:r>
                      <m:r>
                        <a:rPr lang="ru-RU" sz="1600" i="1" dirty="0" smtClean="0">
                          <a:latin typeface="Cambria Math" panose="02040503050406030204" pitchFamily="18" charset="0"/>
                        </a:rPr>
                        <m:t>Ф=</m:t>
                      </m:r>
                      <m:sSub>
                        <m:sSubPr>
                          <m:ctrlPr>
                            <a:rPr lang="en-US" sz="1600" b="0" i="1" dirty="0" smtClean="0">
                              <a:latin typeface="Cambria Math" panose="02040503050406030204" pitchFamily="18" charset="0"/>
                            </a:rPr>
                          </m:ctrlPr>
                        </m:sSubPr>
                        <m:e>
                          <m:r>
                            <a:rPr lang="en-US" sz="1600" i="1" dirty="0">
                              <a:latin typeface="Cambria Math" panose="02040503050406030204" pitchFamily="18" charset="0"/>
                            </a:rPr>
                            <m:t>2</m:t>
                          </m:r>
                          <m:r>
                            <a:rPr lang="en-US" sz="1600" i="1" dirty="0">
                              <a:latin typeface="Cambria Math" panose="02040503050406030204" pitchFamily="18" charset="0"/>
                            </a:rPr>
                            <m:t>𝜋</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𝛼</m:t>
                              </m:r>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en-US" sz="1600" b="0" i="1" dirty="0" smtClean="0">
                              <a:latin typeface="Cambria Math" panose="02040503050406030204" pitchFamily="18" charset="0"/>
                            </a:rPr>
                            <m:t>−</m:t>
                          </m:r>
                          <m:r>
                            <a:rPr lang="en-US" sz="1600" b="0" i="1" dirty="0" smtClean="0">
                              <a:latin typeface="Cambria Math" panose="02040503050406030204" pitchFamily="18" charset="0"/>
                            </a:rPr>
                            <m:t>𝑘</m:t>
                          </m:r>
                        </m:e>
                        <m:sub>
                          <m:r>
                            <a:rPr lang="en-US" sz="1600" b="0" i="1" dirty="0" smtClean="0">
                              <a:latin typeface="Cambria Math" panose="02040503050406030204" pitchFamily="18" charset="0"/>
                            </a:rPr>
                            <m:t>𝑒𝑓𝑓</m:t>
                          </m:r>
                        </m:sub>
                      </m:sSub>
                      <m:r>
                        <a:rPr lang="en-US" sz="1600" i="1" dirty="0" smtClean="0">
                          <a:latin typeface="Cambria Math" panose="02040503050406030204" pitchFamily="18" charset="0"/>
                        </a:rPr>
                        <m:t>𝑔</m:t>
                      </m:r>
                      <m:sSup>
                        <m:sSupPr>
                          <m:ctrlPr>
                            <a:rPr lang="en-US" sz="1600" b="0" i="1" dirty="0" smtClean="0">
                              <a:latin typeface="Cambria Math" panose="02040503050406030204" pitchFamily="18" charset="0"/>
                            </a:rPr>
                          </m:ctrlPr>
                        </m:sSupPr>
                        <m:e>
                          <m:r>
                            <a:rPr lang="en-US" sz="1600" i="1" dirty="0" smtClean="0">
                              <a:latin typeface="Cambria Math" panose="02040503050406030204" pitchFamily="18" charset="0"/>
                            </a:rPr>
                            <m:t>𝑇</m:t>
                          </m:r>
                        </m:e>
                        <m:sup>
                          <m:r>
                            <a:rPr lang="en-US" sz="1600" b="0" i="1" dirty="0" smtClean="0">
                              <a:latin typeface="Cambria Math" panose="02040503050406030204" pitchFamily="18" charset="0"/>
                            </a:rPr>
                            <m:t>2</m:t>
                          </m:r>
                        </m:sup>
                      </m:sSup>
                      <m:r>
                        <a:rPr lang="ru-RU" sz="1600" b="0" i="1" dirty="0" smtClean="0">
                          <a:latin typeface="Cambria Math" panose="02040503050406030204" pitchFamily="18" charset="0"/>
                        </a:rPr>
                        <m:t>+ </m:t>
                      </m:r>
                      <m:sSub>
                        <m:sSubPr>
                          <m:ctrlPr>
                            <a:rPr lang="ru-RU" sz="1600" b="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b="0" i="1" dirty="0" smtClean="0">
                              <a:solidFill>
                                <a:schemeClr val="tx1"/>
                              </a:solidFill>
                              <a:latin typeface="Cambria Math" panose="02040503050406030204" pitchFamily="18" charset="0"/>
                            </a:rPr>
                            <m:t>виб</m:t>
                          </m:r>
                        </m:sub>
                      </m:sSub>
                      <m:r>
                        <a:rPr lang="ru-RU" sz="1600" b="0" i="1" dirty="0" smtClean="0">
                          <a:solidFill>
                            <a:schemeClr val="tx1"/>
                          </a:solidFill>
                          <a:latin typeface="Cambria Math" panose="02040503050406030204" pitchFamily="18" charset="0"/>
                        </a:rPr>
                        <m:t>,</m:t>
                      </m:r>
                    </m:oMath>
                  </m:oMathPara>
                </a14:m>
                <a:endParaRPr lang="ru-RU" sz="1600" dirty="0"/>
              </a:p>
            </p:txBody>
          </p:sp>
        </mc:Choice>
        <mc:Fallback xmlns="">
          <p:sp>
            <p:nvSpPr>
              <p:cNvPr id="15" name="TextBox 14">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1418598" y="4705738"/>
                <a:ext cx="3198953" cy="363241"/>
              </a:xfrm>
              <a:prstGeom prst="rect">
                <a:avLst/>
              </a:prstGeom>
              <a:blipFill rotWithShape="0">
                <a:blip r:embed="rId4"/>
                <a:stretch>
                  <a:fillRect b="-3333"/>
                </a:stretch>
              </a:blipFill>
              <a:ln w="28575">
                <a:noFill/>
              </a:ln>
            </p:spPr>
            <p:txBody>
              <a:bodyPr/>
              <a:lstStyle/>
              <a:p>
                <a:r>
                  <a:rPr lang="ru-RU">
                    <a:noFill/>
                  </a:rPr>
                  <a:t> </a:t>
                </a:r>
              </a:p>
            </p:txBody>
          </p:sp>
        </mc:Fallback>
      </mc:AlternateContent>
      <p:sp>
        <p:nvSpPr>
          <p:cNvPr id="16" name="TextBox 15"/>
          <p:cNvSpPr txBox="1"/>
          <p:nvPr/>
        </p:nvSpPr>
        <p:spPr>
          <a:xfrm>
            <a:off x="1289889" y="5121949"/>
            <a:ext cx="4185346"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b="1" dirty="0">
                <a:latin typeface="Times New Roman" panose="02020603050405020304" pitchFamily="18" charset="0"/>
                <a:cs typeface="Times New Roman" panose="02020603050405020304" pitchFamily="18" charset="0"/>
              </a:rPr>
              <a:t>k</a:t>
            </a:r>
            <a:r>
              <a:rPr lang="en-US" sz="1600" b="1" baseline="-25000" dirty="0">
                <a:latin typeface="Times New Roman" panose="02020603050405020304" pitchFamily="18" charset="0"/>
                <a:cs typeface="Times New Roman" panose="02020603050405020304" pitchFamily="18" charset="0"/>
              </a:rPr>
              <a:t>eff</a:t>
            </a:r>
            <a:r>
              <a:rPr lang="en-US" sz="1600" b="1" dirty="0">
                <a:latin typeface="Times New Roman" panose="02020603050405020304" pitchFamily="18" charset="0"/>
                <a:cs typeface="Times New Roman" panose="02020603050405020304" pitchFamily="18" charset="0"/>
              </a:rPr>
              <a:t> = k</a:t>
            </a:r>
            <a:r>
              <a:rPr lang="en-US" sz="1600" b="1" baseline="-25000" dirty="0">
                <a:latin typeface="Times New Roman" panose="02020603050405020304" pitchFamily="18" charset="0"/>
                <a:cs typeface="Times New Roman" panose="02020603050405020304" pitchFamily="18" charset="0"/>
              </a:rPr>
              <a:t>1</a:t>
            </a:r>
            <a:r>
              <a:rPr lang="ru-RU" sz="1600" b="1" baseline="-250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a:t>
            </a:r>
            <a:r>
              <a:rPr lang="ru-RU" sz="1600" b="1"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k</a:t>
            </a:r>
            <a:r>
              <a:rPr lang="en-US" sz="1600" b="1" baseline="-25000" dirty="0">
                <a:latin typeface="Times New Roman" panose="02020603050405020304" pitchFamily="18" charset="0"/>
                <a:cs typeface="Times New Roman" panose="02020603050405020304" pitchFamily="18" charset="0"/>
              </a:rPr>
              <a:t>2</a:t>
            </a:r>
            <a:r>
              <a:rPr lang="en-US" sz="1600" b="1"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эффективный волновой вектор, </a:t>
            </a:r>
            <a:r>
              <a:rPr lang="el-GR" sz="1600" dirty="0">
                <a:latin typeface="Times New Roman" panose="02020603050405020304" pitchFamily="18" charset="0"/>
                <a:cs typeface="Times New Roman" panose="02020603050405020304" pitchFamily="18" charset="0"/>
              </a:rPr>
              <a:t>α</a:t>
            </a:r>
            <a:r>
              <a:rPr lang="ru-RU" sz="1600" dirty="0">
                <a:latin typeface="Times New Roman" panose="02020603050405020304" pitchFamily="18" charset="0"/>
                <a:cs typeface="Times New Roman" panose="02020603050405020304" pitchFamily="18" charset="0"/>
              </a:rPr>
              <a:t> – скорость чирпирования, </a:t>
            </a:r>
            <a:r>
              <a:rPr lang="ru-RU" sz="1600" dirty="0" err="1">
                <a:latin typeface="Times New Roman" panose="02020603050405020304" pitchFamily="18" charset="0"/>
                <a:cs typeface="Times New Roman" panose="02020603050405020304" pitchFamily="18" charset="0"/>
              </a:rPr>
              <a:t>Ф</a:t>
            </a:r>
            <a:r>
              <a:rPr lang="ru-RU" sz="1600" baseline="-25000" dirty="0" err="1">
                <a:latin typeface="Times New Roman" panose="02020603050405020304" pitchFamily="18" charset="0"/>
                <a:cs typeface="Times New Roman" panose="02020603050405020304" pitchFamily="18" charset="0"/>
              </a:rPr>
              <a:t>виб</a:t>
            </a:r>
            <a:r>
              <a:rPr lang="ru-RU" sz="1600" dirty="0">
                <a:latin typeface="Times New Roman" panose="02020603050405020304" pitchFamily="18" charset="0"/>
                <a:cs typeface="Times New Roman" panose="02020603050405020304" pitchFamily="18" charset="0"/>
              </a:rPr>
              <a:t> – вибрационная фаза</a:t>
            </a:r>
            <a:r>
              <a:rPr lang="en-US" sz="1600" dirty="0">
                <a:latin typeface="Times New Roman" panose="02020603050405020304" pitchFamily="18" charset="0"/>
                <a:cs typeface="Times New Roman" panose="02020603050405020304" pitchFamily="18" charset="0"/>
              </a:rPr>
              <a:t>;</a:t>
            </a:r>
            <a:endParaRPr lang="ru-RU"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  </a:t>
            </a:r>
            <a:endParaRPr lang="ru-RU" sz="1600" b="1"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53A8042C-E52E-4288-B49A-5DABBD83A1A0}"/>
              </a:ext>
            </a:extLst>
          </p:cNvPr>
          <p:cNvSpPr txBox="1"/>
          <p:nvPr/>
        </p:nvSpPr>
        <p:spPr>
          <a:xfrm>
            <a:off x="6927491" y="4252219"/>
            <a:ext cx="3933319"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Населённость атомных состояний</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5F76187-A348-4512-AFBD-6EA014B794F8}"/>
                  </a:ext>
                </a:extLst>
              </p:cNvPr>
              <p:cNvSpPr txBox="1"/>
              <p:nvPr/>
            </p:nvSpPr>
            <p:spPr>
              <a:xfrm>
                <a:off x="7100779" y="4603799"/>
                <a:ext cx="3647730" cy="1701235"/>
              </a:xfrm>
              <a:prstGeom prst="rect">
                <a:avLst/>
              </a:prstGeom>
              <a:noFill/>
              <a:ln w="28575">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𝑃</m:t>
                      </m:r>
                      <m:r>
                        <a:rPr lang="en-US" sz="1600" b="0" i="1" smtClean="0">
                          <a:latin typeface="Cambria Math" panose="02040503050406030204" pitchFamily="18" charset="0"/>
                        </a:rPr>
                        <m:t>=</m:t>
                      </m: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r>
                            <m:rPr>
                              <m:sty m:val="p"/>
                            </m:rPr>
                            <a:rPr lang="en-US" sz="1600" b="0" i="0" smtClean="0">
                              <a:latin typeface="Cambria Math" panose="02040503050406030204" pitchFamily="18" charset="0"/>
                            </a:rPr>
                            <m:t>cos</m:t>
                          </m:r>
                          <m:r>
                            <a:rPr lang="en-US" sz="1600" b="0" i="1" smtClean="0">
                              <a:latin typeface="Cambria Math" panose="02040503050406030204" pitchFamily="18" charset="0"/>
                            </a:rPr>
                            <m:t>⁡(</m:t>
                          </m:r>
                          <m:r>
                            <a:rPr lang="ru-RU" sz="1600" i="1" dirty="0">
                              <a:latin typeface="Cambria Math" panose="02040503050406030204" pitchFamily="18" charset="0"/>
                              <a:sym typeface="Symbol"/>
                            </a:rPr>
                            <m:t></m:t>
                          </m:r>
                          <m:r>
                            <a:rPr lang="ru-RU" sz="1600" i="1" dirty="0">
                              <a:latin typeface="Cambria Math" panose="02040503050406030204" pitchFamily="18" charset="0"/>
                            </a:rPr>
                            <m:t>Ф</m:t>
                          </m:r>
                          <m:r>
                            <a:rPr lang="en-US" sz="1600" b="0" i="1" smtClean="0">
                              <a:latin typeface="Cambria Math" panose="02040503050406030204" pitchFamily="18" charset="0"/>
                            </a:rPr>
                            <m:t>)</m:t>
                          </m:r>
                        </m:num>
                        <m:den>
                          <m:r>
                            <a:rPr lang="en-US" sz="1600" b="0" i="1" smtClean="0">
                              <a:latin typeface="Cambria Math" panose="02040503050406030204" pitchFamily="18" charset="0"/>
                            </a:rPr>
                            <m:t>2</m:t>
                          </m:r>
                        </m:den>
                      </m:f>
                      <m:r>
                        <a:rPr lang="en-US" sz="1600" b="0" i="1" smtClean="0">
                          <a:latin typeface="Cambria Math" panose="02040503050406030204" pitchFamily="18" charset="0"/>
                        </a:rPr>
                        <m:t>=</m:t>
                      </m:r>
                    </m:oMath>
                  </m:oMathPara>
                </a14:m>
                <a:endParaRPr lang="en-US" sz="16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1</m:t>
                          </m:r>
                          <m:r>
                            <a:rPr lang="en-US" sz="1600" i="1">
                              <a:latin typeface="Cambria Math" panose="02040503050406030204" pitchFamily="18" charset="0"/>
                              <a:ea typeface="Cambria Math" panose="02040503050406030204" pitchFamily="18" charset="0"/>
                            </a:rPr>
                            <m:t>±</m:t>
                          </m:r>
                          <m:r>
                            <m:rPr>
                              <m:sty m:val="p"/>
                            </m:rPr>
                            <a:rPr lang="en-US" sz="1600">
                              <a:latin typeface="Cambria Math" panose="02040503050406030204" pitchFamily="18" charset="0"/>
                            </a:rPr>
                            <m:t>cos</m:t>
                          </m:r>
                          <m:r>
                            <a:rPr lang="en-US" sz="1600" i="1">
                              <a:latin typeface="Cambria Math" panose="02040503050406030204" pitchFamily="18" charset="0"/>
                            </a:rPr>
                            <m:t>⁡(</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2</m:t>
                              </m:r>
                              <m:r>
                                <a:rPr lang="en-US" sz="1600" i="1" dirty="0">
                                  <a:latin typeface="Cambria Math" panose="02040503050406030204" pitchFamily="18" charset="0"/>
                                </a:rPr>
                                <m:t>𝜋</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𝛼</m:t>
                                  </m:r>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en-US" sz="1600" i="1" dirty="0">
                                  <a:latin typeface="Cambria Math" panose="02040503050406030204" pitchFamily="18" charset="0"/>
                                </a:rPr>
                                <m:t>−</m:t>
                              </m:r>
                              <m:r>
                                <a:rPr lang="en-US" sz="1600" i="1" dirty="0">
                                  <a:latin typeface="Cambria Math" panose="02040503050406030204" pitchFamily="18" charset="0"/>
                                </a:rPr>
                                <m:t>𝑘</m:t>
                              </m:r>
                            </m:e>
                            <m:sub>
                              <m:r>
                                <a:rPr lang="en-US" sz="1600" i="1" dirty="0">
                                  <a:latin typeface="Cambria Math" panose="02040503050406030204" pitchFamily="18" charset="0"/>
                                </a:rPr>
                                <m:t>𝑒𝑓𝑓</m:t>
                              </m:r>
                            </m:sub>
                          </m:sSub>
                          <m:r>
                            <a:rPr lang="en-US" sz="1600" i="1" dirty="0">
                              <a:latin typeface="Cambria Math" panose="02040503050406030204" pitchFamily="18" charset="0"/>
                            </a:rPr>
                            <m:t>𝑔</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ru-RU" sz="1600" i="1" dirty="0">
                              <a:latin typeface="Cambria Math" panose="02040503050406030204" pitchFamily="18" charset="0"/>
                            </a:rPr>
                            <m:t>+ </m:t>
                          </m:r>
                          <m:sSub>
                            <m:sSubPr>
                              <m:ctrlPr>
                                <a:rPr lang="ru-RU" sz="1600" i="1" dirty="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m:rPr>
                              <m:nor/>
                            </m:rPr>
                            <a:rPr lang="ru-RU" sz="1600" dirty="0"/>
                            <m:t> </m:t>
                          </m:r>
                          <m:r>
                            <a:rPr lang="en-US" sz="1600" i="1">
                              <a:latin typeface="Cambria Math" panose="02040503050406030204" pitchFamily="18" charset="0"/>
                            </a:rPr>
                            <m:t>)</m:t>
                          </m:r>
                        </m:num>
                        <m:den>
                          <m:r>
                            <a:rPr lang="en-US" sz="1600" i="1">
                              <a:latin typeface="Cambria Math" panose="02040503050406030204" pitchFamily="18" charset="0"/>
                            </a:rPr>
                            <m:t>2</m:t>
                          </m:r>
                        </m:den>
                      </m:f>
                    </m:oMath>
                  </m:oMathPara>
                </a14:m>
                <a:endParaRPr lang="ru-RU" sz="1600" dirty="0"/>
              </a:p>
              <a:p>
                <a:pPr/>
                <a14:m>
                  <m:oMathPara xmlns:m="http://schemas.openxmlformats.org/officeDocument/2006/math">
                    <m:oMathParaPr>
                      <m:jc m:val="centerGroup"/>
                    </m:oMathParaPr>
                    <m:oMath xmlns:m="http://schemas.openxmlformats.org/officeDocument/2006/math">
                      <m:r>
                        <a:rPr lang="ru-RU" sz="1600" b="0" i="1" smtClean="0">
                          <a:latin typeface="Cambria Math" panose="02040503050406030204" pitchFamily="18" charset="0"/>
                        </a:rPr>
                        <m:t>=</m:t>
                      </m:r>
                      <m:f>
                        <m:fPr>
                          <m:ctrlPr>
                            <a:rPr lang="en-US" sz="1600" i="1" smtClean="0">
                              <a:latin typeface="Cambria Math" panose="02040503050406030204" pitchFamily="18" charset="0"/>
                            </a:rPr>
                          </m:ctrlPr>
                        </m:fPr>
                        <m:num>
                          <m:r>
                            <a:rPr lang="en-US" sz="1600" i="1">
                              <a:latin typeface="Cambria Math" panose="02040503050406030204" pitchFamily="18" charset="0"/>
                            </a:rPr>
                            <m:t>1</m:t>
                          </m:r>
                          <m:r>
                            <a:rPr lang="en-US" sz="1600" i="1">
                              <a:latin typeface="Cambria Math" panose="02040503050406030204" pitchFamily="18" charset="0"/>
                              <a:ea typeface="Cambria Math" panose="02040503050406030204" pitchFamily="18" charset="0"/>
                            </a:rPr>
                            <m:t>±</m:t>
                          </m:r>
                          <m:r>
                            <m:rPr>
                              <m:sty m:val="p"/>
                            </m:rPr>
                            <a:rPr lang="en-US" sz="1600">
                              <a:latin typeface="Cambria Math" panose="02040503050406030204" pitchFamily="18" charset="0"/>
                            </a:rPr>
                            <m:t>cos</m:t>
                          </m:r>
                          <m:r>
                            <a:rPr lang="en-US" sz="1600" i="1">
                              <a:latin typeface="Cambria Math" panose="02040503050406030204" pitchFamily="18" charset="0"/>
                            </a:rPr>
                            <m:t>⁡(</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2</m:t>
                              </m:r>
                              <m:r>
                                <a:rPr lang="en-US" sz="1600" i="1" dirty="0">
                                  <a:latin typeface="Cambria Math" panose="02040503050406030204" pitchFamily="18" charset="0"/>
                                </a:rPr>
                                <m:t>𝜋</m:t>
                              </m:r>
                              <m:sSup>
                                <m:sSupPr>
                                  <m:ctrlPr>
                                    <a:rPr lang="en-US" sz="1600" i="1" dirty="0">
                                      <a:latin typeface="Cambria Math" panose="02040503050406030204" pitchFamily="18" charset="0"/>
                                    </a:rPr>
                                  </m:ctrlPr>
                                </m:sSupPr>
                                <m:e>
                                  <m:r>
                                    <a:rPr lang="ru-RU" sz="1600" b="0" i="1" dirty="0" smtClean="0">
                                      <a:latin typeface="Cambria Math" panose="02040503050406030204" pitchFamily="18" charset="0"/>
                                    </a:rPr>
                                    <m:t>(</m:t>
                                  </m:r>
                                  <m:r>
                                    <a:rPr lang="en-US" sz="1600" i="1" dirty="0">
                                      <a:latin typeface="Cambria Math" panose="02040503050406030204" pitchFamily="18" charset="0"/>
                                    </a:rPr>
                                    <m:t>𝛼</m:t>
                                  </m:r>
                                  <m:r>
                                    <a:rPr lang="en-US" sz="1600" b="0" i="1" dirty="0" smtClean="0">
                                      <a:latin typeface="Cambria Math" panose="02040503050406030204" pitchFamily="18" charset="0"/>
                                    </a:rPr>
                                    <m:t>+</m:t>
                                  </m:r>
                                  <m:f>
                                    <m:fPr>
                                      <m:ctrlPr>
                                        <a:rPr lang="en-US" sz="1600" b="0" i="1" dirty="0" smtClean="0">
                                          <a:latin typeface="Cambria Math" panose="02040503050406030204" pitchFamily="18" charset="0"/>
                                        </a:rPr>
                                      </m:ctrlPr>
                                    </m:fPr>
                                    <m:num>
                                      <m:sSub>
                                        <m:sSubPr>
                                          <m:ctrlPr>
                                            <a:rPr lang="ru-RU" sz="1600" i="1" dirty="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num>
                                    <m:den>
                                      <m:r>
                                        <a:rPr lang="en-US" sz="1600" b="0" i="1" dirty="0" smtClean="0">
                                          <a:latin typeface="Cambria Math" panose="02040503050406030204" pitchFamily="18" charset="0"/>
                                        </a:rPr>
                                        <m:t>2</m:t>
                                      </m:r>
                                      <m:r>
                                        <a:rPr lang="en-US" sz="1600" b="0" i="1" dirty="0" smtClean="0">
                                          <a:latin typeface="Cambria Math" panose="02040503050406030204" pitchFamily="18" charset="0"/>
                                          <a:ea typeface="Cambria Math" panose="02040503050406030204" pitchFamily="18" charset="0"/>
                                        </a:rPr>
                                        <m:t>𝜋</m:t>
                                      </m:r>
                                      <m:sSup>
                                        <m:sSupPr>
                                          <m:ctrlPr>
                                            <a:rPr lang="en-US" sz="1600" b="0" i="1" dirty="0" smtClean="0">
                                              <a:latin typeface="Cambria Math" panose="02040503050406030204" pitchFamily="18" charset="0"/>
                                              <a:ea typeface="Cambria Math" panose="02040503050406030204" pitchFamily="18" charset="0"/>
                                            </a:rPr>
                                          </m:ctrlPr>
                                        </m:sSupPr>
                                        <m:e>
                                          <m:r>
                                            <a:rPr lang="en-US" sz="1600" b="0" i="1" dirty="0" smtClean="0">
                                              <a:latin typeface="Cambria Math" panose="02040503050406030204" pitchFamily="18" charset="0"/>
                                              <a:ea typeface="Cambria Math" panose="02040503050406030204" pitchFamily="18" charset="0"/>
                                            </a:rPr>
                                            <m:t>𝑇</m:t>
                                          </m:r>
                                        </m:e>
                                        <m:sup>
                                          <m:r>
                                            <a:rPr lang="en-US" sz="1600" b="0" i="1" dirty="0" smtClean="0">
                                              <a:latin typeface="Cambria Math" panose="02040503050406030204" pitchFamily="18" charset="0"/>
                                              <a:ea typeface="Cambria Math" panose="02040503050406030204" pitchFamily="18" charset="0"/>
                                            </a:rPr>
                                            <m:t>2</m:t>
                                          </m:r>
                                        </m:sup>
                                      </m:sSup>
                                    </m:den>
                                  </m:f>
                                  <m:r>
                                    <a:rPr lang="ru-RU" sz="1600" b="0" i="1" dirty="0" smtClean="0">
                                      <a:latin typeface="Cambria Math" panose="02040503050406030204" pitchFamily="18" charset="0"/>
                                    </a:rPr>
                                    <m:t>)</m:t>
                                  </m:r>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en-US" sz="1600" i="1" dirty="0">
                                  <a:latin typeface="Cambria Math" panose="02040503050406030204" pitchFamily="18" charset="0"/>
                                </a:rPr>
                                <m:t>−</m:t>
                              </m:r>
                              <m:r>
                                <a:rPr lang="en-US" sz="1600" i="1" dirty="0">
                                  <a:latin typeface="Cambria Math" panose="02040503050406030204" pitchFamily="18" charset="0"/>
                                </a:rPr>
                                <m:t>𝑘</m:t>
                              </m:r>
                            </m:e>
                            <m:sub>
                              <m:r>
                                <a:rPr lang="en-US" sz="1600" i="1" dirty="0">
                                  <a:latin typeface="Cambria Math" panose="02040503050406030204" pitchFamily="18" charset="0"/>
                                </a:rPr>
                                <m:t>𝑒𝑓𝑓</m:t>
                              </m:r>
                            </m:sub>
                          </m:sSub>
                          <m:r>
                            <a:rPr lang="en-US" sz="1600" i="1" dirty="0">
                              <a:latin typeface="Cambria Math" panose="02040503050406030204" pitchFamily="18" charset="0"/>
                            </a:rPr>
                            <m:t>𝑔</m:t>
                          </m:r>
                          <m:sSup>
                            <m:sSupPr>
                              <m:ctrlPr>
                                <a:rPr lang="en-US" sz="1600" i="1" dirty="0">
                                  <a:latin typeface="Cambria Math" panose="02040503050406030204" pitchFamily="18" charset="0"/>
                                </a:rPr>
                              </m:ctrlPr>
                            </m:sSupPr>
                            <m:e>
                              <m:r>
                                <a:rPr lang="en-US" sz="1600" i="1" dirty="0">
                                  <a:latin typeface="Cambria Math" panose="02040503050406030204" pitchFamily="18" charset="0"/>
                                </a:rPr>
                                <m:t>𝑇</m:t>
                              </m:r>
                            </m:e>
                            <m:sup>
                              <m:r>
                                <a:rPr lang="en-US" sz="1600" i="1" dirty="0">
                                  <a:latin typeface="Cambria Math" panose="02040503050406030204" pitchFamily="18" charset="0"/>
                                </a:rPr>
                                <m:t>2</m:t>
                              </m:r>
                            </m:sup>
                          </m:sSup>
                          <m:r>
                            <a:rPr lang="en-US" sz="1600" i="1">
                              <a:latin typeface="Cambria Math" panose="02040503050406030204" pitchFamily="18" charset="0"/>
                            </a:rPr>
                            <m:t>)</m:t>
                          </m:r>
                        </m:num>
                        <m:den>
                          <m:r>
                            <a:rPr lang="en-US" sz="1600" i="1">
                              <a:latin typeface="Cambria Math" panose="02040503050406030204" pitchFamily="18" charset="0"/>
                            </a:rPr>
                            <m:t>2</m:t>
                          </m:r>
                        </m:den>
                      </m:f>
                    </m:oMath>
                  </m:oMathPara>
                </a14:m>
                <a:endParaRPr lang="ru-RU" sz="1600" dirty="0"/>
              </a:p>
            </p:txBody>
          </p:sp>
        </mc:Choice>
        <mc:Fallback xmlns="">
          <p:sp>
            <p:nvSpPr>
              <p:cNvPr id="19" name="TextBox 18">
                <a:extLst>
                  <a:ext uri="{FF2B5EF4-FFF2-40B4-BE49-F238E27FC236}">
                    <a16:creationId xmlns:a16="http://schemas.microsoft.com/office/drawing/2014/main" xmlns:a14="http://schemas.microsoft.com/office/drawing/2010/main" xmlns="" id="{A5F76187-A348-4512-AFBD-6EA014B794F8}"/>
                  </a:ext>
                </a:extLst>
              </p:cNvPr>
              <p:cNvSpPr txBox="1">
                <a:spLocks noRot="1" noChangeAspect="1" noMove="1" noResize="1" noEditPoints="1" noAdjustHandles="1" noChangeArrowheads="1" noChangeShapeType="1" noTextEdit="1"/>
              </p:cNvSpPr>
              <p:nvPr/>
            </p:nvSpPr>
            <p:spPr>
              <a:xfrm>
                <a:off x="7100779" y="4603799"/>
                <a:ext cx="3647730" cy="1701235"/>
              </a:xfrm>
              <a:prstGeom prst="rect">
                <a:avLst/>
              </a:prstGeom>
              <a:blipFill rotWithShape="0">
                <a:blip r:embed="rId5"/>
                <a:stretch>
                  <a:fillRect/>
                </a:stretch>
              </a:blipFill>
              <a:ln w="28575">
                <a:noFill/>
              </a:ln>
            </p:spPr>
            <p:txBody>
              <a:bodyPr/>
              <a:lstStyle/>
              <a:p>
                <a:r>
                  <a:rPr lang="ru-RU">
                    <a:noFill/>
                  </a:rPr>
                  <a:t> </a:t>
                </a:r>
              </a:p>
            </p:txBody>
          </p:sp>
        </mc:Fallback>
      </mc:AlternateContent>
      <p:sp>
        <p:nvSpPr>
          <p:cNvPr id="20" name="Google Shape;139;p21">
            <a:extLst>
              <a:ext uri="{FF2B5EF4-FFF2-40B4-BE49-F238E27FC236}">
                <a16:creationId xmlns:a16="http://schemas.microsoft.com/office/drawing/2014/main" id="{B7A8C424-1497-4145-B7C5-C8EA445193E9}"/>
              </a:ext>
            </a:extLst>
          </p:cNvPr>
          <p:cNvSpPr txBox="1"/>
          <p:nvPr/>
        </p:nvSpPr>
        <p:spPr>
          <a:xfrm>
            <a:off x="690460" y="3705337"/>
            <a:ext cx="10790908" cy="584735"/>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 Демонстрация влияни</a:t>
            </a:r>
            <a:r>
              <a:rPr lang="ru-RU" sz="1600" dirty="0">
                <a:latin typeface="Times New Roman"/>
                <a:ea typeface="Times New Roman"/>
                <a:cs typeface="Times New Roman"/>
                <a:sym typeface="Times New Roman"/>
              </a:rPr>
              <a:t>я вибраций зеркала на фазу лазерного излучения</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иллюстрация принципа работы атомного интерферометра в гравитационном поле</a:t>
            </a:r>
            <a:r>
              <a:rPr lang="en-US" sz="1600" dirty="0">
                <a:latin typeface="Times New Roman"/>
                <a:ea typeface="Times New Roman"/>
                <a:cs typeface="Times New Roman"/>
                <a:sym typeface="Times New Roman"/>
              </a:rPr>
              <a:t> </a:t>
            </a:r>
            <a:r>
              <a:rPr lang="ru-RU" sz="1600" b="0" i="0" u="none" strike="noStrike" cap="none" dirty="0">
                <a:solidFill>
                  <a:srgbClr val="000000"/>
                </a:solidFill>
                <a:latin typeface="Times New Roman"/>
                <a:ea typeface="Times New Roman"/>
                <a:cs typeface="Times New Roman"/>
                <a:sym typeface="Times New Roman"/>
              </a:rPr>
              <a:t>(б), </a:t>
            </a:r>
            <a:r>
              <a:rPr lang="ru-RU" sz="1600" dirty="0">
                <a:latin typeface="Times New Roman"/>
                <a:ea typeface="Times New Roman"/>
                <a:cs typeface="Times New Roman"/>
                <a:sym typeface="Times New Roman"/>
              </a:rPr>
              <a:t>демонстрация смешения интерференционной картины из-за вибрация</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в</a:t>
            </a:r>
            <a:r>
              <a:rPr lang="en-US" sz="1600" dirty="0">
                <a:latin typeface="Times New Roman"/>
                <a:ea typeface="Times New Roman"/>
                <a:cs typeface="Times New Roman"/>
                <a:sym typeface="Times New Roman"/>
              </a:rPr>
              <a:t>)</a:t>
            </a:r>
            <a:r>
              <a:rPr lang="ru-RU" sz="1600" dirty="0">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p:txBody>
      </p:sp>
      <p:sp>
        <p:nvSpPr>
          <p:cNvPr id="25" name="TextBox 24">
            <a:extLst>
              <a:ext uri="{FF2B5EF4-FFF2-40B4-BE49-F238E27FC236}">
                <a16:creationId xmlns:a16="http://schemas.microsoft.com/office/drawing/2014/main" id="{C7C7F885-9814-4E89-91F6-B6347CA79E74}"/>
              </a:ext>
            </a:extLst>
          </p:cNvPr>
          <p:cNvSpPr txBox="1"/>
          <p:nvPr/>
        </p:nvSpPr>
        <p:spPr>
          <a:xfrm>
            <a:off x="11571298" y="6440400"/>
            <a:ext cx="510074" cy="307777"/>
          </a:xfrm>
          <a:prstGeom prst="rect">
            <a:avLst/>
          </a:prstGeom>
          <a:noFill/>
        </p:spPr>
        <p:txBody>
          <a:bodyPr wrap="square" rtlCol="0">
            <a:spAutoFit/>
          </a:bodyPr>
          <a:lstStyle/>
          <a:p>
            <a:r>
              <a:rPr lang="ru-RU" dirty="0"/>
              <a:t>12</a:t>
            </a:r>
          </a:p>
        </p:txBody>
      </p:sp>
      <p:pic>
        <p:nvPicPr>
          <p:cNvPr id="6" name="Рисунок 5">
            <a:extLst>
              <a:ext uri="{FF2B5EF4-FFF2-40B4-BE49-F238E27FC236}">
                <a16:creationId xmlns:a16="http://schemas.microsoft.com/office/drawing/2014/main" id="{A6D079D9-E0B6-4B34-9A4C-E1FEA0DE6010}"/>
              </a:ext>
            </a:extLst>
          </p:cNvPr>
          <p:cNvPicPr>
            <a:picLocks noChangeAspect="1"/>
          </p:cNvPicPr>
          <p:nvPr/>
        </p:nvPicPr>
        <p:blipFill rotWithShape="1">
          <a:blip r:embed="rId6"/>
          <a:srcRect l="5614" t="4947" r="2762" b="4591"/>
          <a:stretch/>
        </p:blipFill>
        <p:spPr>
          <a:xfrm>
            <a:off x="4180898" y="1022063"/>
            <a:ext cx="3602192" cy="2503445"/>
          </a:xfrm>
          <a:prstGeom prst="rect">
            <a:avLst/>
          </a:prstGeom>
        </p:spPr>
      </p:pic>
      <p:sp>
        <p:nvSpPr>
          <p:cNvPr id="13" name="TextBox 12">
            <a:extLst>
              <a:ext uri="{FF2B5EF4-FFF2-40B4-BE49-F238E27FC236}">
                <a16:creationId xmlns:a16="http://schemas.microsoft.com/office/drawing/2014/main" id="{FC228A56-F53C-4040-AA74-A750668FC7D9}"/>
              </a:ext>
            </a:extLst>
          </p:cNvPr>
          <p:cNvSpPr txBox="1"/>
          <p:nvPr/>
        </p:nvSpPr>
        <p:spPr>
          <a:xfrm>
            <a:off x="1392699"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F084374-756E-4C7D-93D4-4F9875A29030}"/>
                  </a:ext>
                </a:extLst>
              </p:cNvPr>
              <p:cNvSpPr txBox="1"/>
              <p:nvPr/>
            </p:nvSpPr>
            <p:spPr>
              <a:xfrm>
                <a:off x="2421985" y="2540296"/>
                <a:ext cx="271228"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b="0" i="1" smtClean="0">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8" name="TextBox 7">
                <a:extLst>
                  <a:ext uri="{FF2B5EF4-FFF2-40B4-BE49-F238E27FC236}">
                    <a16:creationId xmlns="" xmlns:a16="http://schemas.microsoft.com/office/drawing/2014/main" xmlns:a14="http://schemas.microsoft.com/office/drawing/2010/main" id="{1F084374-756E-4C7D-93D4-4F9875A29030}"/>
                  </a:ext>
                </a:extLst>
              </p:cNvPr>
              <p:cNvSpPr txBox="1">
                <a:spLocks noRot="1" noChangeAspect="1" noMove="1" noResize="1" noEditPoints="1" noAdjustHandles="1" noChangeArrowheads="1" noChangeShapeType="1" noTextEdit="1"/>
              </p:cNvSpPr>
              <p:nvPr/>
            </p:nvSpPr>
            <p:spPr>
              <a:xfrm>
                <a:off x="2421985" y="2540296"/>
                <a:ext cx="271228" cy="246221"/>
              </a:xfrm>
              <a:prstGeom prst="rect">
                <a:avLst/>
              </a:prstGeom>
              <a:blipFill rotWithShape="0">
                <a:blip r:embed="rId7"/>
                <a:stretch>
                  <a:fillRect l="-15556" r="-6667" b="-1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5AB15FA-B823-45BE-9719-060BB92C4C75}"/>
                  </a:ext>
                </a:extLst>
              </p:cNvPr>
              <p:cNvSpPr txBox="1"/>
              <p:nvPr/>
            </p:nvSpPr>
            <p:spPr>
              <a:xfrm>
                <a:off x="2156394" y="3445722"/>
                <a:ext cx="1226168" cy="2659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ru-RU" sz="1600" i="1" smtClean="0">
                          <a:latin typeface="Cambria Math" panose="02040503050406030204" pitchFamily="18" charset="0"/>
                          <a:ea typeface="Cambria Math" panose="02040503050406030204" pitchFamily="18" charset="0"/>
                        </a:rPr>
                        <m:t>𝛿</m:t>
                      </m:r>
                      <m:r>
                        <a:rPr lang="en-US" sz="1600" i="1" smtClean="0">
                          <a:latin typeface="Cambria Math" panose="02040503050406030204" pitchFamily="18" charset="0"/>
                          <a:ea typeface="Cambria Math" panose="02040503050406030204" pitchFamily="18" charset="0"/>
                        </a:rPr>
                        <m:t>𝜑</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r>
                        <a:rPr lang="ru-RU" sz="1600" i="1">
                          <a:latin typeface="Cambria Math" panose="02040503050406030204" pitchFamily="18" charset="0"/>
                          <a:ea typeface="Cambria Math" panose="02040503050406030204" pitchFamily="18" charset="0"/>
                        </a:rPr>
                        <m:t>𝛿</m:t>
                      </m:r>
                      <m:r>
                        <a:rPr lang="en-US" sz="1600" i="1">
                          <a:latin typeface="Cambria Math" panose="02040503050406030204" pitchFamily="18" charset="0"/>
                          <a:ea typeface="Cambria Math" panose="02040503050406030204" pitchFamily="18" charset="0"/>
                        </a:rPr>
                        <m:t>𝑧</m:t>
                      </m:r>
                    </m:oMath>
                  </m:oMathPara>
                </a14:m>
                <a:endParaRPr lang="ru-RU" sz="1600" dirty="0"/>
              </a:p>
            </p:txBody>
          </p:sp>
        </mc:Choice>
        <mc:Fallback xmlns="">
          <p:sp>
            <p:nvSpPr>
              <p:cNvPr id="39" name="TextBox 38">
                <a:extLst>
                  <a:ext uri="{FF2B5EF4-FFF2-40B4-BE49-F238E27FC236}">
                    <a16:creationId xmlns:a16="http://schemas.microsoft.com/office/drawing/2014/main" xmlns:a14="http://schemas.microsoft.com/office/drawing/2010/main" xmlns="" id="{75AB15FA-B823-45BE-9719-060BB92C4C75}"/>
                  </a:ext>
                </a:extLst>
              </p:cNvPr>
              <p:cNvSpPr txBox="1">
                <a:spLocks noRot="1" noChangeAspect="1" noMove="1" noResize="1" noEditPoints="1" noAdjustHandles="1" noChangeArrowheads="1" noChangeShapeType="1" noTextEdit="1"/>
              </p:cNvSpPr>
              <p:nvPr/>
            </p:nvSpPr>
            <p:spPr>
              <a:xfrm>
                <a:off x="2156394" y="3445722"/>
                <a:ext cx="1226168" cy="265970"/>
              </a:xfrm>
              <a:prstGeom prst="rect">
                <a:avLst/>
              </a:prstGeom>
              <a:blipFill rotWithShape="0">
                <a:blip r:embed="rId8"/>
                <a:stretch>
                  <a:fillRect l="-2985" r="-995" b="-25000"/>
                </a:stretch>
              </a:blipFill>
            </p:spPr>
            <p:txBody>
              <a:bodyPr/>
              <a:lstStyle/>
              <a:p>
                <a:r>
                  <a:rPr lang="ru-RU">
                    <a:noFill/>
                  </a:rPr>
                  <a:t> </a:t>
                </a:r>
              </a:p>
            </p:txBody>
          </p:sp>
        </mc:Fallback>
      </mc:AlternateContent>
      <p:sp>
        <p:nvSpPr>
          <p:cNvPr id="40" name="TextBox 39">
            <a:extLst>
              <a:ext uri="{FF2B5EF4-FFF2-40B4-BE49-F238E27FC236}">
                <a16:creationId xmlns:a16="http://schemas.microsoft.com/office/drawing/2014/main" id="{3DE66B3E-91DE-4731-B98D-DD8CA74B0925}"/>
              </a:ext>
            </a:extLst>
          </p:cNvPr>
          <p:cNvSpPr txBox="1"/>
          <p:nvPr/>
        </p:nvSpPr>
        <p:spPr>
          <a:xfrm>
            <a:off x="1920629" y="3097228"/>
            <a:ext cx="1697699"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Набег фазы</a:t>
            </a:r>
            <a:r>
              <a:rPr lang="en-US" sz="1600" b="1" dirty="0">
                <a:latin typeface="Times New Roman" panose="02020603050405020304" pitchFamily="18" charset="0"/>
                <a:cs typeface="Times New Roman" panose="02020603050405020304" pitchFamily="18" charset="0"/>
              </a:rPr>
              <a:t>:</a:t>
            </a:r>
            <a:endParaRPr lang="ru-RU" sz="1600" b="1"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05B47A22-8C1F-491D-8F65-97B9F142E382}"/>
              </a:ext>
            </a:extLst>
          </p:cNvPr>
          <p:cNvSpPr txBox="1"/>
          <p:nvPr/>
        </p:nvSpPr>
        <p:spPr>
          <a:xfrm>
            <a:off x="3990271" y="768545"/>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A26391C-3869-43E7-8BEF-0BA904BE89BE}"/>
                  </a:ext>
                </a:extLst>
              </p:cNvPr>
              <p:cNvSpPr txBox="1"/>
              <p:nvPr/>
            </p:nvSpPr>
            <p:spPr>
              <a:xfrm>
                <a:off x="8669744" y="6228801"/>
                <a:ext cx="2332653" cy="50058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latin typeface="Cambria Math" panose="02040503050406030204" pitchFamily="18" charset="0"/>
                            </a:rPr>
                          </m:ctrlPr>
                        </m:sSubPr>
                        <m:e>
                          <m:r>
                            <a:rPr lang="en-US" i="1" dirty="0">
                              <a:latin typeface="Cambria Math" panose="02040503050406030204" pitchFamily="18" charset="0"/>
                            </a:rPr>
                            <m:t>𝛼</m:t>
                          </m:r>
                        </m:e>
                        <m:sub>
                          <m:r>
                            <a:rPr lang="en-US" sz="1400" b="0" i="1" dirty="0" smtClean="0">
                              <a:latin typeface="Cambria Math" panose="02040503050406030204" pitchFamily="18" charset="0"/>
                            </a:rPr>
                            <m:t>𝑐</m:t>
                          </m:r>
                        </m:sub>
                      </m:sSub>
                      <m:r>
                        <a:rPr lang="en-US" sz="1400" b="0" i="1" dirty="0" smtClean="0">
                          <a:latin typeface="Cambria Math" panose="02040503050406030204" pitchFamily="18" charset="0"/>
                        </a:rPr>
                        <m:t>=</m:t>
                      </m:r>
                      <m:r>
                        <a:rPr lang="en-US" sz="1400" i="1" dirty="0">
                          <a:latin typeface="Cambria Math" panose="02040503050406030204" pitchFamily="18" charset="0"/>
                        </a:rPr>
                        <m:t>𝛼</m:t>
                      </m:r>
                      <m:r>
                        <a:rPr lang="en-US" sz="1400" b="0" i="1" dirty="0" smtClean="0">
                          <a:latin typeface="Cambria Math" panose="02040503050406030204" pitchFamily="18" charset="0"/>
                        </a:rPr>
                        <m:t>+</m:t>
                      </m:r>
                      <m:f>
                        <m:fPr>
                          <m:ctrlPr>
                            <a:rPr lang="en-US" sz="1400" b="0" i="1" dirty="0" smtClean="0">
                              <a:latin typeface="Cambria Math" panose="02040503050406030204" pitchFamily="18" charset="0"/>
                            </a:rPr>
                          </m:ctrlPr>
                        </m:fPr>
                        <m:num>
                          <m:sSub>
                            <m:sSubPr>
                              <m:ctrlPr>
                                <a:rPr lang="ru-RU" sz="1400" i="1" dirty="0">
                                  <a:solidFill>
                                    <a:schemeClr val="tx1"/>
                                  </a:solidFill>
                                  <a:latin typeface="Cambria Math" panose="02040503050406030204" pitchFamily="18" charset="0"/>
                                </a:rPr>
                              </m:ctrlPr>
                            </m:sSubPr>
                            <m:e>
                              <m:r>
                                <a:rPr lang="ru-RU" sz="1400" i="1" dirty="0">
                                  <a:solidFill>
                                    <a:schemeClr val="tx1"/>
                                  </a:solidFill>
                                  <a:latin typeface="Cambria Math" panose="02040503050406030204" pitchFamily="18" charset="0"/>
                                </a:rPr>
                                <m:t>Ф</m:t>
                              </m:r>
                            </m:e>
                            <m:sub>
                              <m:r>
                                <a:rPr lang="ru-RU" sz="1400" i="1" dirty="0">
                                  <a:solidFill>
                                    <a:schemeClr val="tx1"/>
                                  </a:solidFill>
                                  <a:latin typeface="Cambria Math" panose="02040503050406030204" pitchFamily="18" charset="0"/>
                                </a:rPr>
                                <m:t>виб</m:t>
                              </m:r>
                            </m:sub>
                          </m:sSub>
                        </m:num>
                        <m:den>
                          <m:r>
                            <a:rPr lang="en-US" sz="1400" b="0" i="1" dirty="0" smtClean="0">
                              <a:latin typeface="Cambria Math" panose="02040503050406030204" pitchFamily="18" charset="0"/>
                            </a:rPr>
                            <m:t>2</m:t>
                          </m:r>
                          <m:r>
                            <a:rPr lang="en-US" sz="1400" b="0" i="1" dirty="0" smtClean="0">
                              <a:latin typeface="Cambria Math" panose="02040503050406030204" pitchFamily="18" charset="0"/>
                              <a:ea typeface="Cambria Math" panose="02040503050406030204" pitchFamily="18" charset="0"/>
                            </a:rPr>
                            <m:t>𝜋</m:t>
                          </m:r>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𝑇</m:t>
                              </m:r>
                            </m:e>
                            <m:sup>
                              <m:r>
                                <a:rPr lang="en-US" sz="1400" b="0" i="1" dirty="0" smtClean="0">
                                  <a:latin typeface="Cambria Math" panose="02040503050406030204" pitchFamily="18" charset="0"/>
                                  <a:ea typeface="Cambria Math" panose="02040503050406030204" pitchFamily="18" charset="0"/>
                                </a:rPr>
                                <m:t>2</m:t>
                              </m:r>
                            </m:sup>
                          </m:sSup>
                        </m:den>
                      </m:f>
                    </m:oMath>
                  </m:oMathPara>
                </a14:m>
                <a:endParaRPr lang="ru-RU" dirty="0"/>
              </a:p>
            </p:txBody>
          </p:sp>
        </mc:Choice>
        <mc:Fallback xmlns="">
          <p:sp>
            <p:nvSpPr>
              <p:cNvPr id="49" name="TextBox 48">
                <a:extLst>
                  <a:ext uri="{FF2B5EF4-FFF2-40B4-BE49-F238E27FC236}">
                    <a16:creationId xmlns:a16="http://schemas.microsoft.com/office/drawing/2014/main" xmlns:a14="http://schemas.microsoft.com/office/drawing/2010/main" xmlns="" id="{2A26391C-3869-43E7-8BEF-0BA904BE89BE}"/>
                  </a:ext>
                </a:extLst>
              </p:cNvPr>
              <p:cNvSpPr txBox="1">
                <a:spLocks noRot="1" noChangeAspect="1" noMove="1" noResize="1" noEditPoints="1" noAdjustHandles="1" noChangeArrowheads="1" noChangeShapeType="1" noTextEdit="1"/>
              </p:cNvSpPr>
              <p:nvPr/>
            </p:nvSpPr>
            <p:spPr>
              <a:xfrm>
                <a:off x="8669744" y="6228801"/>
                <a:ext cx="2332653" cy="500586"/>
              </a:xfrm>
              <a:prstGeom prst="rect">
                <a:avLst/>
              </a:prstGeom>
              <a:blipFill rotWithShape="0">
                <a:blip r:embed="rId9"/>
                <a:stretch>
                  <a:fillRect b="-1220"/>
                </a:stretch>
              </a:blipFill>
            </p:spPr>
            <p:txBody>
              <a:bodyPr/>
              <a:lstStyle/>
              <a:p>
                <a:r>
                  <a:rPr lang="ru-RU">
                    <a:noFill/>
                  </a:rPr>
                  <a:t> </a:t>
                </a:r>
              </a:p>
            </p:txBody>
          </p:sp>
        </mc:Fallback>
      </mc:AlternateContent>
      <p:sp>
        <p:nvSpPr>
          <p:cNvPr id="50" name="TextBox 49">
            <a:extLst>
              <a:ext uri="{FF2B5EF4-FFF2-40B4-BE49-F238E27FC236}">
                <a16:creationId xmlns:a16="http://schemas.microsoft.com/office/drawing/2014/main" id="{E551286E-F6FF-4DE4-A290-380457F145C0}"/>
              </a:ext>
            </a:extLst>
          </p:cNvPr>
          <p:cNvSpPr txBox="1"/>
          <p:nvPr/>
        </p:nvSpPr>
        <p:spPr>
          <a:xfrm>
            <a:off x="7183377" y="6318060"/>
            <a:ext cx="2136407"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Корректировка </a:t>
            </a:r>
            <a:r>
              <a:rPr lang="en-US" sz="1600" b="1" dirty="0">
                <a:latin typeface="Times New Roman" panose="02020603050405020304" pitchFamily="18" charset="0"/>
                <a:cs typeface="Times New Roman" panose="02020603050405020304" pitchFamily="18" charset="0"/>
              </a:rPr>
              <a:t>α:</a:t>
            </a:r>
            <a:endParaRPr lang="ru-RU"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02723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47AD4A-9428-117F-629B-822110272D8B}"/>
              </a:ext>
            </a:extLst>
          </p:cNvPr>
          <p:cNvSpPr txBox="1"/>
          <p:nvPr/>
        </p:nvSpPr>
        <p:spPr>
          <a:xfrm>
            <a:off x="2540000" y="677333"/>
            <a:ext cx="6409267" cy="4616648"/>
          </a:xfrm>
          <a:prstGeom prst="rect">
            <a:avLst/>
          </a:prstGeom>
          <a:noFill/>
        </p:spPr>
        <p:txBody>
          <a:bodyPr wrap="square" rtlCol="0">
            <a:spAutoFit/>
          </a:bodyPr>
          <a:lstStyle/>
          <a:p>
            <a:r>
              <a:rPr lang="ru-RU" dirty="0"/>
              <a:t>Также в работе было проведено исследование по компенсации вибрационных шумов. Для начала немного теории. Как уже было рассказано ранее, населённость состояний атомов после атомной интерференции зависит от разности фаз между плечами интерферометра (б). Однако на разность фаз также могут оказывать различные шумы. Наибольшее влияние имеет вибрационный шум, который возникает из-за колебания зеркала, использующегося для создания встречных </a:t>
            </a:r>
            <a:r>
              <a:rPr lang="ru-RU" dirty="0" err="1"/>
              <a:t>рамановских</a:t>
            </a:r>
            <a:r>
              <a:rPr lang="ru-RU" dirty="0"/>
              <a:t> пучков. При смещение зеркала на величину </a:t>
            </a:r>
            <a:r>
              <a:rPr lang="en-US" dirty="0" err="1"/>
              <a:t>dz</a:t>
            </a:r>
            <a:r>
              <a:rPr lang="en-US" dirty="0"/>
              <a:t> </a:t>
            </a:r>
            <a:r>
              <a:rPr lang="ru-RU" dirty="0"/>
              <a:t>набег фазы </a:t>
            </a:r>
            <a:r>
              <a:rPr lang="ru-RU" dirty="0" err="1"/>
              <a:t>рамановское</a:t>
            </a:r>
            <a:r>
              <a:rPr lang="ru-RU" dirty="0"/>
              <a:t> излучение </a:t>
            </a:r>
            <a:r>
              <a:rPr lang="en-US" dirty="0" err="1"/>
              <a:t>dphi</a:t>
            </a:r>
            <a:r>
              <a:rPr lang="en-US" dirty="0"/>
              <a:t> </a:t>
            </a:r>
            <a:r>
              <a:rPr lang="ru-RU" dirty="0"/>
              <a:t>составляет </a:t>
            </a:r>
            <a:r>
              <a:rPr lang="en-US" dirty="0" err="1"/>
              <a:t>keffdz</a:t>
            </a:r>
            <a:r>
              <a:rPr lang="en-US" dirty="0"/>
              <a:t>, </a:t>
            </a:r>
            <a:r>
              <a:rPr lang="ru-RU" dirty="0"/>
              <a:t>и по итогу сложение набега фазы за весть процесс атомной интерференции приводит к появлению дополнительного интегрального слагаемого – вибрационной фазы в полную разность фаз дельта Ф.</a:t>
            </a:r>
          </a:p>
          <a:p>
            <a:endParaRPr lang="ru-RU" dirty="0"/>
          </a:p>
          <a:p>
            <a:r>
              <a:rPr lang="ru-RU" dirty="0"/>
              <a:t>Подставим получившееся выражение для разности фаз в формулу для населённости и получим то, что вибрационная фаза приводит к сдвигу точки вдоль оси альфа на интерференционной картине.</a:t>
            </a:r>
          </a:p>
          <a:p>
            <a:endParaRPr lang="ru-RU" dirty="0"/>
          </a:p>
          <a:p>
            <a:r>
              <a:rPr lang="ru-RU" dirty="0"/>
              <a:t>Данный сдвиг можно скомпенсировать, если сгруппировать альфа с вибрационной фазой следующим образом</a:t>
            </a:r>
            <a:r>
              <a:rPr lang="en-US" dirty="0"/>
              <a:t>: </a:t>
            </a:r>
            <a:r>
              <a:rPr lang="ru-RU" dirty="0"/>
              <a:t>и вместе заданного генератором значение скорости </a:t>
            </a:r>
            <a:r>
              <a:rPr lang="ru-RU" dirty="0" err="1"/>
              <a:t>чирпирования</a:t>
            </a:r>
            <a:r>
              <a:rPr lang="ru-RU" dirty="0"/>
              <a:t> использовать скорректированное следующим образом значения.</a:t>
            </a:r>
          </a:p>
        </p:txBody>
      </p:sp>
    </p:spTree>
    <p:extLst>
      <p:ext uri="{BB962C8B-B14F-4D97-AF65-F5344CB8AC3E}">
        <p14:creationId xmlns:p14="http://schemas.microsoft.com/office/powerpoint/2010/main" val="36623717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6;p21">
            <a:extLst>
              <a:ext uri="{FF2B5EF4-FFF2-40B4-BE49-F238E27FC236}">
                <a16:creationId xmlns:a16="http://schemas.microsoft.com/office/drawing/2014/main" id="{C92AC4AA-0032-4615-96ED-9EC44976FD96}"/>
              </a:ext>
            </a:extLst>
          </p:cNvPr>
          <p:cNvSpPr/>
          <p:nvPr/>
        </p:nvSpPr>
        <p:spPr>
          <a:xfrm>
            <a:off x="1619070" y="32347"/>
            <a:ext cx="8953860" cy="62364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Нахождение вибрационной фазы</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56B4533-F1DA-4E4E-8C53-BCC6CEFB8E14}"/>
                  </a:ext>
                </a:extLst>
              </p:cNvPr>
              <p:cNvSpPr txBox="1"/>
              <p:nvPr/>
            </p:nvSpPr>
            <p:spPr>
              <a:xfrm>
                <a:off x="4119079" y="1025723"/>
                <a:ext cx="2886269" cy="334515"/>
              </a:xfrm>
              <a:prstGeom prst="rect">
                <a:avLst/>
              </a:prstGeom>
              <a:noFill/>
              <a:ln w="19050">
                <a:noFill/>
              </a:ln>
            </p:spPr>
            <p:txBody>
              <a:bodyPr wrap="square" lIns="0" tIns="0" rIns="0" bIns="0" rtlCol="0">
                <a:spAutoFit/>
              </a:bodyPr>
              <a:lstStyle/>
              <a:p>
                <a14:m>
                  <m:oMath xmlns:m="http://schemas.openxmlformats.org/officeDocument/2006/math">
                    <m:sSub>
                      <m:sSubPr>
                        <m:ctrlPr>
                          <a:rPr lang="ru-RU" sz="1600" i="1" dirty="0" smtClean="0">
                            <a:solidFill>
                              <a:schemeClr val="tx1"/>
                            </a:solidFill>
                            <a:latin typeface="Cambria Math" panose="02040503050406030204" pitchFamily="18" charset="0"/>
                          </a:rPr>
                        </m:ctrlPr>
                      </m:sSubPr>
                      <m:e>
                        <m:r>
                          <a:rPr lang="ru-RU" sz="1600" i="1" dirty="0">
                            <a:solidFill>
                              <a:schemeClr val="tx1"/>
                            </a:solidFill>
                            <a:latin typeface="Cambria Math" panose="02040503050406030204" pitchFamily="18" charset="0"/>
                          </a:rPr>
                          <m:t>Ф</m:t>
                        </m:r>
                      </m:e>
                      <m:sub>
                        <m:r>
                          <a:rPr lang="ru-RU" sz="1600" i="1" dirty="0">
                            <a:solidFill>
                              <a:schemeClr val="tx1"/>
                            </a:solidFill>
                            <a:latin typeface="Cambria Math" panose="02040503050406030204" pitchFamily="18" charset="0"/>
                          </a:rPr>
                          <m:t>виб</m:t>
                        </m:r>
                      </m:sub>
                    </m:sSub>
                    <m:r>
                      <a:rPr lang="ru-RU" sz="1600" b="0" i="1" smtClean="0">
                        <a:latin typeface="Cambria Math" panose="02040503050406030204" pitchFamily="18" charset="0"/>
                        <a:ea typeface="Cambria Math" panose="02040503050406030204" pitchFamily="18" charset="0"/>
                      </a:rPr>
                      <m:t>=</m:t>
                    </m:r>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𝑘</m:t>
                        </m:r>
                      </m:e>
                      <m:sub>
                        <m:r>
                          <a:rPr lang="en-US" sz="1600" b="0" i="1" smtClean="0">
                            <a:latin typeface="Cambria Math" panose="02040503050406030204" pitchFamily="18" charset="0"/>
                            <a:ea typeface="Cambria Math" panose="02040503050406030204" pitchFamily="18" charset="0"/>
                          </a:rPr>
                          <m:t>𝑒𝑓𝑓</m:t>
                        </m:r>
                      </m:sub>
                    </m:sSub>
                    <m:nary>
                      <m:naryPr>
                        <m:ctrlPr>
                          <a:rPr lang="ru-RU" sz="1600" b="0" i="1" smtClean="0">
                            <a:latin typeface="Cambria Math" panose="02040503050406030204" pitchFamily="18" charset="0"/>
                            <a:ea typeface="Cambria Math" panose="02040503050406030204" pitchFamily="18" charset="0"/>
                          </a:rPr>
                        </m:ctrlPr>
                      </m:naryPr>
                      <m:sub>
                        <m:r>
                          <m:rPr>
                            <m:brk m:alnAt="23"/>
                          </m:rPr>
                          <a:rPr lang="en-US" sz="1600" b="0" i="1" smtClean="0">
                            <a:latin typeface="Cambria Math" panose="02040503050406030204" pitchFamily="18" charset="0"/>
                            <a:ea typeface="Cambria Math" panose="02040503050406030204" pitchFamily="18" charset="0"/>
                          </a:rPr>
                          <m:t>0</m:t>
                        </m:r>
                      </m:sub>
                      <m:sup>
                        <m:r>
                          <a:rPr lang="en-US" sz="1600" b="0" i="1" smtClean="0">
                            <a:latin typeface="Cambria Math" panose="02040503050406030204" pitchFamily="18" charset="0"/>
                            <a:ea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𝑇</m:t>
                        </m:r>
                        <m:r>
                          <a:rPr lang="en-US" sz="1600" b="0" i="1" smtClean="0">
                            <a:latin typeface="Cambria Math" panose="02040503050406030204" pitchFamily="18" charset="0"/>
                            <a:ea typeface="Cambria Math" panose="02040503050406030204" pitchFamily="18" charset="0"/>
                          </a:rPr>
                          <m:t>+4</m:t>
                        </m:r>
                        <m:r>
                          <a:rPr lang="en-US" sz="1600" b="0" i="1" smtClean="0">
                            <a:latin typeface="Cambria Math" panose="02040503050406030204" pitchFamily="18" charset="0"/>
                            <a:ea typeface="Cambria Math" panose="02040503050406030204" pitchFamily="18" charset="0"/>
                          </a:rPr>
                          <m:t>𝜏</m:t>
                        </m:r>
                      </m:sup>
                      <m:e>
                        <m:sSub>
                          <m:sSubPr>
                            <m:ctrlPr>
                              <a:rPr lang="ru-RU"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𝑎</m:t>
                            </m:r>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𝑔</m:t>
                            </m:r>
                          </m:e>
                          <m:sub>
                            <m:r>
                              <a:rPr lang="en-US" sz="1600" b="0" i="1" smtClean="0">
                                <a:latin typeface="Cambria Math" panose="02040503050406030204" pitchFamily="18" charset="0"/>
                                <a:ea typeface="Cambria Math" panose="02040503050406030204" pitchFamily="18" charset="0"/>
                              </a:rPr>
                              <m:t>𝑎</m:t>
                            </m:r>
                          </m:sub>
                        </m:sSub>
                        <m:d>
                          <m:dPr>
                            <m:ctrlPr>
                              <a:rPr lang="en-US" sz="1600" b="0" i="1" smtClean="0">
                                <a:latin typeface="Cambria Math" panose="02040503050406030204" pitchFamily="18" charset="0"/>
                                <a:ea typeface="Cambria Math" panose="02040503050406030204" pitchFamily="18" charset="0"/>
                              </a:rPr>
                            </m:ctrlPr>
                          </m:dPr>
                          <m:e>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ea typeface="Cambria Math" panose="02040503050406030204" pitchFamily="18" charset="0"/>
                          </a:rPr>
                          <m:t>𝑑𝑡</m:t>
                        </m:r>
                        <m:r>
                          <a:rPr lang="ru-RU" sz="1600" b="0" i="1" smtClean="0">
                            <a:latin typeface="Cambria Math" panose="02040503050406030204" pitchFamily="18" charset="0"/>
                            <a:ea typeface="Cambria Math" panose="02040503050406030204" pitchFamily="18" charset="0"/>
                          </a:rPr>
                          <m:t>,</m:t>
                        </m:r>
                      </m:e>
                    </m:nary>
                  </m:oMath>
                </a14:m>
                <a:r>
                  <a:rPr lang="ru-RU" sz="1600" dirty="0"/>
                  <a:t> </a:t>
                </a:r>
              </a:p>
            </p:txBody>
          </p:sp>
        </mc:Choice>
        <mc:Fallback xmlns="">
          <p:sp>
            <p:nvSpPr>
              <p:cNvPr id="3" name="TextBox 2">
                <a:extLst>
                  <a:ext uri="{FF2B5EF4-FFF2-40B4-BE49-F238E27FC236}">
                    <a16:creationId xmlns:a16="http://schemas.microsoft.com/office/drawing/2014/main" id="{656B4533-F1DA-4E4E-8C53-BCC6CEFB8E14}"/>
                  </a:ext>
                </a:extLst>
              </p:cNvPr>
              <p:cNvSpPr txBox="1">
                <a:spLocks noRot="1" noChangeAspect="1" noMove="1" noResize="1" noEditPoints="1" noAdjustHandles="1" noChangeArrowheads="1" noChangeShapeType="1" noTextEdit="1"/>
              </p:cNvSpPr>
              <p:nvPr/>
            </p:nvSpPr>
            <p:spPr>
              <a:xfrm>
                <a:off x="4119079" y="1025723"/>
                <a:ext cx="2886269" cy="334515"/>
              </a:xfrm>
              <a:prstGeom prst="rect">
                <a:avLst/>
              </a:prstGeom>
              <a:blipFill>
                <a:blip r:embed="rId2"/>
                <a:stretch>
                  <a:fillRect l="-2537" t="-140000" b="-220000"/>
                </a:stretch>
              </a:blipFill>
              <a:ln w="19050">
                <a:noFill/>
              </a:ln>
            </p:spPr>
            <p:txBody>
              <a:bodyPr/>
              <a:lstStyle/>
              <a:p>
                <a:r>
                  <a:rPr lang="ru-RU">
                    <a:noFill/>
                  </a:rPr>
                  <a:t> </a:t>
                </a:r>
              </a:p>
            </p:txBody>
          </p:sp>
        </mc:Fallback>
      </mc:AlternateContent>
      <p:sp>
        <p:nvSpPr>
          <p:cNvPr id="4" name="TextBox 3">
            <a:extLst>
              <a:ext uri="{FF2B5EF4-FFF2-40B4-BE49-F238E27FC236}">
                <a16:creationId xmlns:a16="http://schemas.microsoft.com/office/drawing/2014/main" id="{E0F4C38C-6509-4CBE-B2EB-9C3DBDE6CBCF}"/>
              </a:ext>
            </a:extLst>
          </p:cNvPr>
          <p:cNvSpPr txBox="1"/>
          <p:nvPr/>
        </p:nvSpPr>
        <p:spPr>
          <a:xfrm>
            <a:off x="3671813" y="1479462"/>
            <a:ext cx="5319787"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a:t>
            </a:r>
            <a:r>
              <a:rPr lang="ru-RU" sz="1600" dirty="0">
                <a:latin typeface="Times New Roman" panose="02020603050405020304" pitchFamily="18" charset="0"/>
                <a:cs typeface="Times New Roman" panose="02020603050405020304" pitchFamily="18" charset="0"/>
              </a:rPr>
              <a:t>– ускорение зеркала, </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время между рамановскими импульсами, </a:t>
            </a:r>
            <a:r>
              <a:rPr lang="el-GR" sz="1600" dirty="0">
                <a:latin typeface="Times New Roman" panose="02020603050405020304" pitchFamily="18" charset="0"/>
                <a:cs typeface="Times New Roman" panose="02020603050405020304" pitchFamily="18" charset="0"/>
              </a:rPr>
              <a:t>τ</a:t>
            </a:r>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 </a:t>
            </a:r>
            <a:r>
              <a:rPr lang="ru-RU" sz="1600" dirty="0">
                <a:latin typeface="Times New Roman" panose="02020603050405020304" pitchFamily="18" charset="0"/>
                <a:cs typeface="Times New Roman" panose="02020603050405020304" pitchFamily="18" charset="0"/>
              </a:rPr>
              <a:t>импульса,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a:t>
            </a:r>
          </a:p>
        </p:txBody>
      </p:sp>
      <p:sp>
        <p:nvSpPr>
          <p:cNvPr id="8" name="TextBox 7">
            <a:extLst>
              <a:ext uri="{FF2B5EF4-FFF2-40B4-BE49-F238E27FC236}">
                <a16:creationId xmlns:a16="http://schemas.microsoft.com/office/drawing/2014/main" id="{BC401C56-8DBA-49D4-A6F3-E46BAD8339E1}"/>
              </a:ext>
            </a:extLst>
          </p:cNvPr>
          <p:cNvSpPr txBox="1"/>
          <p:nvPr/>
        </p:nvSpPr>
        <p:spPr>
          <a:xfrm>
            <a:off x="1619070" y="5121576"/>
            <a:ext cx="8486149" cy="307777"/>
          </a:xfrm>
          <a:prstGeom prst="rect">
            <a:avLst/>
          </a:prstGeom>
          <a:noFill/>
        </p:spPr>
        <p:txBody>
          <a:bodyPr wrap="square" rtlCol="0">
            <a:spAutoFit/>
          </a:bodyPr>
          <a:lstStyle/>
          <a:p>
            <a:pPr algn="ctr"/>
            <a:r>
              <a:rPr lang="ru-RU" sz="1400" dirty="0">
                <a:latin typeface="Times New Roman" panose="02020603050405020304" pitchFamily="18" charset="0"/>
                <a:cs typeface="Times New Roman" panose="02020603050405020304" pitchFamily="18" charset="0"/>
              </a:rPr>
              <a:t>Рис.</a:t>
            </a:r>
            <a:r>
              <a:rPr lang="en-US"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Функция чувствительности квантового гравиметра.</a:t>
            </a:r>
            <a:r>
              <a:rPr lang="en-US"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3934DD6-F1BA-4777-9BC3-0D3C76795A93}"/>
              </a:ext>
            </a:extLst>
          </p:cNvPr>
          <p:cNvSpPr txBox="1"/>
          <p:nvPr/>
        </p:nvSpPr>
        <p:spPr>
          <a:xfrm>
            <a:off x="11571298" y="6440400"/>
            <a:ext cx="510074" cy="307777"/>
          </a:xfrm>
          <a:prstGeom prst="rect">
            <a:avLst/>
          </a:prstGeom>
          <a:noFill/>
        </p:spPr>
        <p:txBody>
          <a:bodyPr wrap="square" rtlCol="0">
            <a:spAutoFit/>
          </a:bodyPr>
          <a:lstStyle/>
          <a:p>
            <a:r>
              <a:rPr lang="ru-RU" dirty="0"/>
              <a:t>13</a:t>
            </a:r>
          </a:p>
        </p:txBody>
      </p:sp>
      <p:pic>
        <p:nvPicPr>
          <p:cNvPr id="11" name="Рисунок 10">
            <a:extLst>
              <a:ext uri="{FF2B5EF4-FFF2-40B4-BE49-F238E27FC236}">
                <a16:creationId xmlns:a16="http://schemas.microsoft.com/office/drawing/2014/main" id="{ED034DE6-742C-4A63-A520-C0E758161E8E}"/>
              </a:ext>
            </a:extLst>
          </p:cNvPr>
          <p:cNvPicPr>
            <a:picLocks noChangeAspect="1"/>
          </p:cNvPicPr>
          <p:nvPr/>
        </p:nvPicPr>
        <p:blipFill>
          <a:blip r:embed="rId3"/>
          <a:stretch>
            <a:fillRect/>
          </a:stretch>
        </p:blipFill>
        <p:spPr>
          <a:xfrm>
            <a:off x="4047959" y="2429683"/>
            <a:ext cx="3569345" cy="2572669"/>
          </a:xfrm>
          <a:prstGeom prst="rect">
            <a:avLst/>
          </a:prstGeom>
        </p:spPr>
      </p:pic>
    </p:spTree>
    <p:extLst>
      <p:ext uri="{BB962C8B-B14F-4D97-AF65-F5344CB8AC3E}">
        <p14:creationId xmlns:p14="http://schemas.microsoft.com/office/powerpoint/2010/main" val="1130015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E9181-8F73-0A66-6CA7-88A4257DDACC}"/>
              </a:ext>
            </a:extLst>
          </p:cNvPr>
          <p:cNvSpPr txBox="1"/>
          <p:nvPr/>
        </p:nvSpPr>
        <p:spPr>
          <a:xfrm>
            <a:off x="3666067" y="956733"/>
            <a:ext cx="4885266" cy="1169551"/>
          </a:xfrm>
          <a:prstGeom prst="rect">
            <a:avLst/>
          </a:prstGeom>
          <a:noFill/>
        </p:spPr>
        <p:txBody>
          <a:bodyPr wrap="square" rtlCol="0">
            <a:spAutoFit/>
          </a:bodyPr>
          <a:lstStyle/>
          <a:p>
            <a:r>
              <a:rPr lang="ru-RU" dirty="0"/>
              <a:t>Существую различные способы подсчёта величины вибрационный фазы. В данной работе для этого используется ускорение. Необходимо найти следующий интеграл. В нём содержится функция чувствительности квантового гравиметра, изображённая снизу.</a:t>
            </a:r>
          </a:p>
        </p:txBody>
      </p:sp>
    </p:spTree>
    <p:extLst>
      <p:ext uri="{BB962C8B-B14F-4D97-AF65-F5344CB8AC3E}">
        <p14:creationId xmlns:p14="http://schemas.microsoft.com/office/powerpoint/2010/main" val="3861522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DBFEE137-B594-6884-7C08-C71E07631E8A}"/>
              </a:ext>
            </a:extLst>
          </p:cNvPr>
          <p:cNvPicPr>
            <a:picLocks noChangeAspect="1"/>
          </p:cNvPicPr>
          <p:nvPr/>
        </p:nvPicPr>
        <p:blipFill>
          <a:blip r:embed="rId2"/>
          <a:srcRect b="406"/>
          <a:stretch/>
        </p:blipFill>
        <p:spPr>
          <a:xfrm>
            <a:off x="158598" y="711019"/>
            <a:ext cx="3258316" cy="2404561"/>
          </a:xfrm>
          <a:prstGeom prst="rect">
            <a:avLst/>
          </a:prstGeom>
        </p:spPr>
      </p:pic>
      <p:sp>
        <p:nvSpPr>
          <p:cNvPr id="2" name="Google Shape;136;p21">
            <a:extLst>
              <a:ext uri="{FF2B5EF4-FFF2-40B4-BE49-F238E27FC236}">
                <a16:creationId xmlns:a16="http://schemas.microsoft.com/office/drawing/2014/main" id="{535A5357-A41F-4385-8B97-66DA938677B8}"/>
              </a:ext>
            </a:extLst>
          </p:cNvPr>
          <p:cNvSpPr/>
          <p:nvPr/>
        </p:nvSpPr>
        <p:spPr>
          <a:xfrm>
            <a:off x="729552" y="100772"/>
            <a:ext cx="10324114" cy="48394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Arial"/>
                <a:cs typeface="Times New Roman"/>
                <a:sym typeface="Times New Roman"/>
              </a:rPr>
              <a:t>Экспериментальная система для нахождения вибрационной фазы</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9932C695-49B8-4572-9706-EB584FF3B2F0}"/>
              </a:ext>
            </a:extLst>
          </p:cNvPr>
          <p:cNvSpPr txBox="1"/>
          <p:nvPr/>
        </p:nvSpPr>
        <p:spPr>
          <a:xfrm>
            <a:off x="11591156" y="6446706"/>
            <a:ext cx="510074" cy="307777"/>
          </a:xfrm>
          <a:prstGeom prst="rect">
            <a:avLst/>
          </a:prstGeom>
          <a:noFill/>
        </p:spPr>
        <p:txBody>
          <a:bodyPr wrap="square" rtlCol="0">
            <a:spAutoFit/>
          </a:bodyPr>
          <a:lstStyle/>
          <a:p>
            <a:r>
              <a:rPr lang="ru-RU" dirty="0"/>
              <a:t>14</a:t>
            </a:r>
          </a:p>
        </p:txBody>
      </p:sp>
      <p:pic>
        <p:nvPicPr>
          <p:cNvPr id="50" name="Рисунок 49">
            <a:extLst>
              <a:ext uri="{FF2B5EF4-FFF2-40B4-BE49-F238E27FC236}">
                <a16:creationId xmlns:a16="http://schemas.microsoft.com/office/drawing/2014/main" id="{1B86CB88-0BFE-4864-B2EE-834FABF0D643}"/>
              </a:ext>
            </a:extLst>
          </p:cNvPr>
          <p:cNvPicPr>
            <a:picLocks noChangeAspect="1"/>
          </p:cNvPicPr>
          <p:nvPr/>
        </p:nvPicPr>
        <p:blipFill rotWithShape="1">
          <a:blip r:embed="rId3"/>
          <a:srcRect l="1367" t="2852" r="3812" b="3862"/>
          <a:stretch/>
        </p:blipFill>
        <p:spPr>
          <a:xfrm>
            <a:off x="3535438" y="762861"/>
            <a:ext cx="3704624" cy="2609175"/>
          </a:xfrm>
          <a:prstGeom prst="rect">
            <a:avLst/>
          </a:prstGeom>
        </p:spPr>
      </p:pic>
      <p:sp>
        <p:nvSpPr>
          <p:cNvPr id="51" name="Google Shape;139;p21">
            <a:extLst>
              <a:ext uri="{FF2B5EF4-FFF2-40B4-BE49-F238E27FC236}">
                <a16:creationId xmlns:a16="http://schemas.microsoft.com/office/drawing/2014/main" id="{DB31045B-64E8-4C95-921F-4E6125B3101B}"/>
              </a:ext>
            </a:extLst>
          </p:cNvPr>
          <p:cNvSpPr txBox="1"/>
          <p:nvPr/>
        </p:nvSpPr>
        <p:spPr>
          <a:xfrm>
            <a:off x="963530" y="3382817"/>
            <a:ext cx="10536307" cy="830956"/>
          </a:xfrm>
          <a:prstGeom prst="rect">
            <a:avLst/>
          </a:prstGeom>
          <a:noFill/>
          <a:ln>
            <a:noFill/>
          </a:ln>
        </p:spPr>
        <p:txBody>
          <a:bodyPr spcFirstLastPara="1" wrap="square" lIns="91425" tIns="45700" rIns="91425" bIns="45700" anchor="t" anchorCtr="0">
            <a:spAutoFit/>
          </a:bodyPr>
          <a:lstStyle/>
          <a:p>
            <a:pPr lvl="0" algn="ctr">
              <a:buSzPts val="1600"/>
            </a:pPr>
            <a:r>
              <a:rPr lang="ru-RU" sz="1600" b="0" i="0" u="none" strike="noStrike" cap="none" dirty="0">
                <a:solidFill>
                  <a:srgbClr val="000000"/>
                </a:solidFill>
                <a:latin typeface="Times New Roman"/>
                <a:ea typeface="Times New Roman"/>
                <a:cs typeface="Times New Roman"/>
                <a:sym typeface="Times New Roman"/>
              </a:rPr>
              <a:t>Рис. . Экспериментальная установка для измерения ускорения</a:t>
            </a:r>
            <a:r>
              <a:rPr lang="ru-RU" sz="1600" dirty="0">
                <a:latin typeface="Times New Roman"/>
                <a:ea typeface="Times New Roman"/>
                <a:cs typeface="Times New Roman"/>
                <a:sym typeface="Times New Roman"/>
              </a:rPr>
              <a:t> зеркала</a:t>
            </a:r>
            <a:r>
              <a:rPr lang="ru-RU" sz="1600" b="0" i="0" u="none" strike="noStrike" cap="none" dirty="0">
                <a:solidFill>
                  <a:srgbClr val="000000"/>
                </a:solidFill>
                <a:latin typeface="Times New Roman"/>
                <a:ea typeface="Times New Roman"/>
                <a:cs typeface="Times New Roman"/>
                <a:sym typeface="Times New Roman"/>
              </a:rPr>
              <a:t> (а)</a:t>
            </a:r>
            <a:r>
              <a:rPr lang="en-US" sz="1600" b="0" i="0" u="none" strike="noStrike" cap="none" dirty="0">
                <a:solidFill>
                  <a:srgbClr val="000000"/>
                </a:solidFill>
                <a:latin typeface="Times New Roman"/>
                <a:ea typeface="Times New Roman"/>
                <a:cs typeface="Times New Roman"/>
                <a:sym typeface="Times New Roman"/>
              </a:rPr>
              <a:t>;</a:t>
            </a:r>
            <a:r>
              <a:rPr lang="ru-RU" sz="1600" b="0" i="0" u="none" strike="noStrike" cap="none" dirty="0">
                <a:solidFill>
                  <a:srgbClr val="000000"/>
                </a:solidFill>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Окно программы для управления сбора данных с акселерометра с помощью </a:t>
            </a:r>
            <a:r>
              <a:rPr lang="en-US" sz="1600" dirty="0">
                <a:latin typeface="Times New Roman"/>
                <a:ea typeface="Times New Roman"/>
                <a:cs typeface="Times New Roman"/>
                <a:sym typeface="Times New Roman"/>
              </a:rPr>
              <a:t>Red pitaya (</a:t>
            </a:r>
            <a:r>
              <a:rPr lang="ru-RU" sz="1600" dirty="0">
                <a:latin typeface="Times New Roman"/>
                <a:ea typeface="Times New Roman"/>
                <a:cs typeface="Times New Roman"/>
                <a:sym typeface="Times New Roman"/>
              </a:rPr>
              <a:t>б</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сигнал акселерометра – синий, триггерный сигнал– красный</a:t>
            </a:r>
            <a:r>
              <a:rPr lang="en-US" sz="1600" dirty="0">
                <a:latin typeface="Times New Roman"/>
                <a:ea typeface="Times New Roman"/>
                <a:cs typeface="Times New Roman"/>
                <a:sym typeface="Times New Roman"/>
              </a:rPr>
              <a:t>; </a:t>
            </a:r>
            <a:r>
              <a:rPr lang="ru-RU" sz="1600" dirty="0">
                <a:latin typeface="Times New Roman"/>
                <a:ea typeface="Times New Roman"/>
                <a:cs typeface="Times New Roman"/>
                <a:sym typeface="Times New Roman"/>
              </a:rPr>
              <a:t>Подбор коэффициентов передаточной функции и демонстрация пост-коррекции интерференционного сигнала (в).</a:t>
            </a:r>
            <a:r>
              <a:rPr lang="en-US" sz="1600" dirty="0">
                <a:latin typeface="Times New Roman"/>
                <a:ea typeface="Times New Roman"/>
                <a:cs typeface="Times New Roman"/>
                <a:sym typeface="Times New Roman"/>
              </a:rPr>
              <a:t> </a:t>
            </a:r>
            <a:endParaRPr sz="1600" b="0" i="0" u="none" strike="noStrike" cap="none" dirty="0">
              <a:solidFill>
                <a:srgbClr val="000000"/>
              </a:solidFill>
              <a:latin typeface="Times New Roman"/>
              <a:ea typeface="Times New Roman"/>
              <a:cs typeface="Times New Roman"/>
              <a:sym typeface="Times New Roman"/>
            </a:endParaRPr>
          </a:p>
        </p:txBody>
      </p:sp>
      <p:sp>
        <p:nvSpPr>
          <p:cNvPr id="52" name="TextBox 51">
            <a:extLst>
              <a:ext uri="{FF2B5EF4-FFF2-40B4-BE49-F238E27FC236}">
                <a16:creationId xmlns:a16="http://schemas.microsoft.com/office/drawing/2014/main" id="{C123148B-D47B-4EE9-816D-57391A88CB09}"/>
              </a:ext>
            </a:extLst>
          </p:cNvPr>
          <p:cNvSpPr txBox="1"/>
          <p:nvPr/>
        </p:nvSpPr>
        <p:spPr>
          <a:xfrm>
            <a:off x="1587784" y="4236498"/>
            <a:ext cx="4841966"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Передаточная функция</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54F217A7-8A53-4051-B61A-46EE6B6E7593}"/>
                  </a:ext>
                </a:extLst>
              </p:cNvPr>
              <p:cNvSpPr txBox="1"/>
              <p:nvPr/>
            </p:nvSpPr>
            <p:spPr>
              <a:xfrm>
                <a:off x="1809268" y="4779972"/>
                <a:ext cx="1925142"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𝑎</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r>
                        <a:rPr lang="en-US" sz="1600" b="0" i="1" smtClean="0">
                          <a:latin typeface="Cambria Math" panose="02040503050406030204" pitchFamily="18" charset="0"/>
                        </a:rPr>
                        <m:t>=</m:t>
                      </m:r>
                      <m:r>
                        <a:rPr lang="en-US" sz="1600" b="0" i="1" smtClean="0">
                          <a:latin typeface="Cambria Math" panose="02040503050406030204" pitchFamily="18" charset="0"/>
                        </a:rPr>
                        <m:t>𝐾</m:t>
                      </m:r>
                      <m:r>
                        <a:rPr lang="en-US" sz="1600" b="0" i="1" smtClean="0">
                          <a:latin typeface="Cambria Math" panose="02040503050406030204" pitchFamily="18" charset="0"/>
                        </a:rPr>
                        <m:t>∗</m:t>
                      </m:r>
                      <m:r>
                        <a:rPr lang="en-US" sz="1600" b="0" i="1" smtClean="0">
                          <a:latin typeface="Cambria Math" panose="02040503050406030204" pitchFamily="18" charset="0"/>
                        </a:rPr>
                        <m:t>𝐴</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𝑡</m:t>
                          </m:r>
                        </m:e>
                      </m:d>
                      <m:r>
                        <a:rPr lang="en-US" sz="1600" b="0" i="1" smtClean="0">
                          <a:latin typeface="Cambria Math" panose="02040503050406030204" pitchFamily="18" charset="0"/>
                        </a:rPr>
                        <m:t>,</m:t>
                      </m:r>
                    </m:oMath>
                  </m:oMathPara>
                </a14:m>
                <a:endParaRPr lang="ru-RU" sz="1600" dirty="0"/>
              </a:p>
            </p:txBody>
          </p:sp>
        </mc:Choice>
        <mc:Fallback xmlns="">
          <p:sp>
            <p:nvSpPr>
              <p:cNvPr id="53" name="TextBox 52">
                <a:extLst>
                  <a:ext uri="{FF2B5EF4-FFF2-40B4-BE49-F238E27FC236}">
                    <a16:creationId xmlns:a16="http://schemas.microsoft.com/office/drawing/2014/main" id="{54F217A7-8A53-4051-B61A-46EE6B6E7593}"/>
                  </a:ext>
                </a:extLst>
              </p:cNvPr>
              <p:cNvSpPr txBox="1">
                <a:spLocks noRot="1" noChangeAspect="1" noMove="1" noResize="1" noEditPoints="1" noAdjustHandles="1" noChangeArrowheads="1" noChangeShapeType="1" noTextEdit="1"/>
              </p:cNvSpPr>
              <p:nvPr/>
            </p:nvSpPr>
            <p:spPr>
              <a:xfrm>
                <a:off x="1809268" y="4779972"/>
                <a:ext cx="1925142" cy="246221"/>
              </a:xfrm>
              <a:prstGeom prst="rect">
                <a:avLst/>
              </a:prstGeom>
              <a:blipFill>
                <a:blip r:embed="rId4"/>
                <a:stretch>
                  <a:fillRect l="-949" b="-7317"/>
                </a:stretch>
              </a:blipFill>
            </p:spPr>
            <p:txBody>
              <a:bodyPr/>
              <a:lstStyle/>
              <a:p>
                <a:r>
                  <a:rPr lang="ru-RU">
                    <a:noFill/>
                  </a:rPr>
                  <a:t> </a:t>
                </a:r>
              </a:p>
            </p:txBody>
          </p:sp>
        </mc:Fallback>
      </mc:AlternateContent>
      <p:sp>
        <p:nvSpPr>
          <p:cNvPr id="54" name="TextBox 53">
            <a:extLst>
              <a:ext uri="{FF2B5EF4-FFF2-40B4-BE49-F238E27FC236}">
                <a16:creationId xmlns:a16="http://schemas.microsoft.com/office/drawing/2014/main" id="{74EEC305-5116-49C6-A223-32088B9EBA3B}"/>
              </a:ext>
            </a:extLst>
          </p:cNvPr>
          <p:cNvSpPr txBox="1"/>
          <p:nvPr/>
        </p:nvSpPr>
        <p:spPr>
          <a:xfrm>
            <a:off x="821813" y="5097734"/>
            <a:ext cx="4551914" cy="830997"/>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зеркала, </a:t>
            </a:r>
            <a:r>
              <a:rPr lang="en-US" sz="1600" dirty="0">
                <a:latin typeface="Times New Roman" panose="02020603050405020304" pitchFamily="18" charset="0"/>
                <a:cs typeface="Times New Roman" panose="02020603050405020304" pitchFamily="18" charset="0"/>
              </a:rPr>
              <a:t>A – </a:t>
            </a:r>
            <a:r>
              <a:rPr lang="ru-RU" sz="1600" dirty="0">
                <a:latin typeface="Times New Roman" panose="02020603050405020304" pitchFamily="18" charset="0"/>
                <a:cs typeface="Times New Roman" panose="02020603050405020304" pitchFamily="18" charset="0"/>
              </a:rPr>
              <a:t>ускорение акселерометра, </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временная задержка сигнала, </a:t>
            </a:r>
            <a:r>
              <a:rPr lang="en-US" sz="1600" dirty="0">
                <a:latin typeface="Times New Roman" panose="02020603050405020304" pitchFamily="18" charset="0"/>
                <a:cs typeface="Times New Roman" panose="02020603050405020304" pitchFamily="18" charset="0"/>
              </a:rPr>
              <a:t>K – </a:t>
            </a:r>
            <a:r>
              <a:rPr lang="ru-RU" sz="1600" dirty="0">
                <a:latin typeface="Times New Roman" panose="02020603050405020304" pitchFamily="18" charset="0"/>
                <a:cs typeface="Times New Roman" panose="02020603050405020304" pitchFamily="18" charset="0"/>
              </a:rPr>
              <a:t>амплитудный коэффициент.</a:t>
            </a:r>
            <a:endParaRPr 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8F6EADB-B927-4550-9C49-1C7CCBBE09A2}"/>
                  </a:ext>
                </a:extLst>
              </p:cNvPr>
              <p:cNvSpPr txBox="1"/>
              <p:nvPr/>
            </p:nvSpPr>
            <p:spPr>
              <a:xfrm>
                <a:off x="8540621" y="4779972"/>
                <a:ext cx="2332653" cy="5143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latin typeface="Cambria Math" panose="02040503050406030204" pitchFamily="18" charset="0"/>
                            </a:rPr>
                          </m:ctrlPr>
                        </m:sSubPr>
                        <m:e>
                          <m:r>
                            <a:rPr lang="en-US" i="1" dirty="0">
                              <a:latin typeface="Cambria Math" panose="02040503050406030204" pitchFamily="18" charset="0"/>
                            </a:rPr>
                            <m:t>𝛼</m:t>
                          </m:r>
                        </m:e>
                        <m:sub>
                          <m:r>
                            <a:rPr lang="en-US" sz="1400" b="0" i="1" dirty="0" smtClean="0">
                              <a:latin typeface="Cambria Math" panose="02040503050406030204" pitchFamily="18" charset="0"/>
                            </a:rPr>
                            <m:t>𝑐</m:t>
                          </m:r>
                        </m:sub>
                      </m:sSub>
                      <m:r>
                        <a:rPr lang="en-US" sz="1400" b="0" i="1" dirty="0" smtClean="0">
                          <a:latin typeface="Cambria Math" panose="02040503050406030204" pitchFamily="18" charset="0"/>
                        </a:rPr>
                        <m:t>=</m:t>
                      </m:r>
                      <m:r>
                        <a:rPr lang="en-US" sz="1400" i="1" dirty="0">
                          <a:latin typeface="Cambria Math" panose="02040503050406030204" pitchFamily="18" charset="0"/>
                        </a:rPr>
                        <m:t>𝛼</m:t>
                      </m:r>
                      <m:r>
                        <a:rPr lang="en-US" sz="1400" b="0" i="1" dirty="0" smtClean="0">
                          <a:latin typeface="Cambria Math" panose="02040503050406030204" pitchFamily="18" charset="0"/>
                        </a:rPr>
                        <m:t>+</m:t>
                      </m:r>
                      <m:f>
                        <m:fPr>
                          <m:ctrlPr>
                            <a:rPr lang="en-US" sz="1400" b="0" i="1" dirty="0" smtClean="0">
                              <a:latin typeface="Cambria Math" panose="02040503050406030204" pitchFamily="18" charset="0"/>
                            </a:rPr>
                          </m:ctrlPr>
                        </m:fPr>
                        <m:num>
                          <m:sSub>
                            <m:sSubPr>
                              <m:ctrlPr>
                                <a:rPr lang="ru-RU" sz="1400" i="1" dirty="0">
                                  <a:solidFill>
                                    <a:schemeClr val="tx1"/>
                                  </a:solidFill>
                                  <a:latin typeface="Cambria Math" panose="02040503050406030204" pitchFamily="18" charset="0"/>
                                </a:rPr>
                              </m:ctrlPr>
                            </m:sSubPr>
                            <m:e>
                              <m:r>
                                <a:rPr lang="ru-RU" sz="1400" i="1" dirty="0">
                                  <a:solidFill>
                                    <a:schemeClr val="tx1"/>
                                  </a:solidFill>
                                  <a:latin typeface="Cambria Math" panose="02040503050406030204" pitchFamily="18" charset="0"/>
                                </a:rPr>
                                <m:t>Ф</m:t>
                              </m:r>
                            </m:e>
                            <m:sub>
                              <m:r>
                                <a:rPr lang="ru-RU" sz="1400" i="1" dirty="0">
                                  <a:solidFill>
                                    <a:schemeClr val="tx1"/>
                                  </a:solidFill>
                                  <a:latin typeface="Cambria Math" panose="02040503050406030204" pitchFamily="18" charset="0"/>
                                </a:rPr>
                                <m:t>виб</m:t>
                              </m:r>
                            </m:sub>
                          </m:sSub>
                          <m:r>
                            <a:rPr lang="ru-RU" sz="1400" b="0" i="1" dirty="0" smtClean="0">
                              <a:solidFill>
                                <a:schemeClr val="tx1"/>
                              </a:solidFill>
                              <a:latin typeface="Cambria Math" panose="02040503050406030204" pitchFamily="18" charset="0"/>
                            </a:rPr>
                            <m:t>(</m:t>
                          </m:r>
                          <m:r>
                            <a:rPr lang="en-US" sz="1400" b="0" i="1" dirty="0" smtClean="0">
                              <a:solidFill>
                                <a:schemeClr val="tx1"/>
                              </a:solidFill>
                              <a:latin typeface="Cambria Math" panose="02040503050406030204" pitchFamily="18" charset="0"/>
                            </a:rPr>
                            <m:t>𝐾</m:t>
                          </m:r>
                          <m:r>
                            <a:rPr lang="en-US" sz="1400" b="0" i="1" dirty="0" smtClean="0">
                              <a:solidFill>
                                <a:schemeClr val="tx1"/>
                              </a:solidFill>
                              <a:latin typeface="Cambria Math" panose="02040503050406030204" pitchFamily="18" charset="0"/>
                            </a:rPr>
                            <m:t>,</m:t>
                          </m:r>
                          <m:r>
                            <a:rPr lang="en-US" i="1">
                              <a:latin typeface="Cambria Math" panose="02040503050406030204" pitchFamily="18" charset="0"/>
                            </a:rPr>
                            <m:t>∆</m:t>
                          </m:r>
                          <m:r>
                            <a:rPr lang="en-US" b="0" i="1" smtClean="0">
                              <a:latin typeface="Cambria Math" panose="02040503050406030204" pitchFamily="18" charset="0"/>
                            </a:rPr>
                            <m:t>𝑡</m:t>
                          </m:r>
                          <m:r>
                            <a:rPr lang="ru-RU" sz="1400" b="0" i="1" dirty="0" smtClean="0">
                              <a:solidFill>
                                <a:schemeClr val="tx1"/>
                              </a:solidFill>
                              <a:latin typeface="Cambria Math" panose="02040503050406030204" pitchFamily="18" charset="0"/>
                            </a:rPr>
                            <m:t>)</m:t>
                          </m:r>
                        </m:num>
                        <m:den>
                          <m:r>
                            <a:rPr lang="en-US" sz="1400" b="0" i="1" dirty="0" smtClean="0">
                              <a:latin typeface="Cambria Math" panose="02040503050406030204" pitchFamily="18" charset="0"/>
                            </a:rPr>
                            <m:t>2</m:t>
                          </m:r>
                          <m:r>
                            <a:rPr lang="en-US" sz="1400" b="0" i="1" dirty="0" smtClean="0">
                              <a:latin typeface="Cambria Math" panose="02040503050406030204" pitchFamily="18" charset="0"/>
                              <a:ea typeface="Cambria Math" panose="02040503050406030204" pitchFamily="18" charset="0"/>
                            </a:rPr>
                            <m:t>𝜋</m:t>
                          </m:r>
                          <m:sSup>
                            <m:sSupPr>
                              <m:ctrlPr>
                                <a:rPr lang="en-US" sz="1400" b="0" i="1" dirty="0" smtClean="0">
                                  <a:latin typeface="Cambria Math" panose="02040503050406030204" pitchFamily="18" charset="0"/>
                                  <a:ea typeface="Cambria Math" panose="02040503050406030204" pitchFamily="18" charset="0"/>
                                </a:rPr>
                              </m:ctrlPr>
                            </m:sSupPr>
                            <m:e>
                              <m:r>
                                <a:rPr lang="en-US" sz="1400" b="0" i="1" dirty="0" smtClean="0">
                                  <a:latin typeface="Cambria Math" panose="02040503050406030204" pitchFamily="18" charset="0"/>
                                  <a:ea typeface="Cambria Math" panose="02040503050406030204" pitchFamily="18" charset="0"/>
                                </a:rPr>
                                <m:t>𝑇</m:t>
                              </m:r>
                            </m:e>
                            <m:sup>
                              <m:r>
                                <a:rPr lang="en-US" sz="1400" b="0" i="1" dirty="0" smtClean="0">
                                  <a:latin typeface="Cambria Math" panose="02040503050406030204" pitchFamily="18" charset="0"/>
                                  <a:ea typeface="Cambria Math" panose="02040503050406030204" pitchFamily="18" charset="0"/>
                                </a:rPr>
                                <m:t>2</m:t>
                              </m:r>
                            </m:sup>
                          </m:sSup>
                        </m:den>
                      </m:f>
                    </m:oMath>
                  </m:oMathPara>
                </a14:m>
                <a:endParaRPr lang="ru-RU" dirty="0"/>
              </a:p>
            </p:txBody>
          </p:sp>
        </mc:Choice>
        <mc:Fallback xmlns="">
          <p:sp>
            <p:nvSpPr>
              <p:cNvPr id="55" name="TextBox 54">
                <a:extLst>
                  <a:ext uri="{FF2B5EF4-FFF2-40B4-BE49-F238E27FC236}">
                    <a16:creationId xmlns:a16="http://schemas.microsoft.com/office/drawing/2014/main" id="{D8F6EADB-B927-4550-9C49-1C7CCBBE09A2}"/>
                  </a:ext>
                </a:extLst>
              </p:cNvPr>
              <p:cNvSpPr txBox="1">
                <a:spLocks noRot="1" noChangeAspect="1" noMove="1" noResize="1" noEditPoints="1" noAdjustHandles="1" noChangeArrowheads="1" noChangeShapeType="1" noTextEdit="1"/>
              </p:cNvSpPr>
              <p:nvPr/>
            </p:nvSpPr>
            <p:spPr>
              <a:xfrm>
                <a:off x="8540621" y="4779972"/>
                <a:ext cx="2332653" cy="514372"/>
              </a:xfrm>
              <a:prstGeom prst="rect">
                <a:avLst/>
              </a:prstGeom>
              <a:blipFill>
                <a:blip r:embed="rId5"/>
                <a:stretch>
                  <a:fillRect/>
                </a:stretch>
              </a:blipFill>
            </p:spPr>
            <p:txBody>
              <a:bodyPr/>
              <a:lstStyle/>
              <a:p>
                <a:r>
                  <a:rPr lang="ru-RU">
                    <a:noFill/>
                  </a:rPr>
                  <a:t> </a:t>
                </a:r>
              </a:p>
            </p:txBody>
          </p:sp>
        </mc:Fallback>
      </mc:AlternateContent>
      <p:sp>
        <p:nvSpPr>
          <p:cNvPr id="56" name="TextBox 55">
            <a:extLst>
              <a:ext uri="{FF2B5EF4-FFF2-40B4-BE49-F238E27FC236}">
                <a16:creationId xmlns:a16="http://schemas.microsoft.com/office/drawing/2014/main" id="{39075ACC-2926-4BAF-926A-C744BEEE2389}"/>
              </a:ext>
            </a:extLst>
          </p:cNvPr>
          <p:cNvSpPr txBox="1"/>
          <p:nvPr/>
        </p:nvSpPr>
        <p:spPr>
          <a:xfrm>
            <a:off x="6818275" y="4882346"/>
            <a:ext cx="2136407" cy="338554"/>
          </a:xfrm>
          <a:prstGeom prst="rect">
            <a:avLst/>
          </a:prstGeom>
          <a:noFill/>
        </p:spPr>
        <p:txBody>
          <a:bodyPr wrap="square" rtlCol="0">
            <a:spAutoFit/>
          </a:bodyPr>
          <a:lstStyle/>
          <a:p>
            <a:pPr indent="216000"/>
            <a:r>
              <a:rPr lang="ru-RU" sz="1600" b="1" dirty="0">
                <a:latin typeface="Times New Roman" panose="02020603050405020304" pitchFamily="18" charset="0"/>
                <a:cs typeface="Times New Roman" panose="02020603050405020304" pitchFamily="18" charset="0"/>
              </a:rPr>
              <a:t>Корректировка </a:t>
            </a:r>
            <a:r>
              <a:rPr lang="en-US" sz="1600" b="1" dirty="0">
                <a:latin typeface="Times New Roman" panose="02020603050405020304" pitchFamily="18" charset="0"/>
                <a:cs typeface="Times New Roman" panose="02020603050405020304" pitchFamily="18" charset="0"/>
              </a:rPr>
              <a:t>α:</a:t>
            </a:r>
            <a:endParaRPr lang="ru-RU" sz="1600" b="1" dirty="0">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2137EB49-2938-48C8-976D-CD72A01DB3CB}"/>
              </a:ext>
            </a:extLst>
          </p:cNvPr>
          <p:cNvSpPr txBox="1"/>
          <p:nvPr/>
        </p:nvSpPr>
        <p:spPr>
          <a:xfrm>
            <a:off x="5617029" y="4236498"/>
            <a:ext cx="6574971"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Подбор коэффициентов передаточной функции</a:t>
            </a:r>
            <a:r>
              <a:rPr lang="en-US" sz="1600" b="1" dirty="0">
                <a:latin typeface="Times New Roman" panose="02020603050405020304" pitchFamily="18" charset="0"/>
                <a:cs typeface="Times New Roman" panose="02020603050405020304" pitchFamily="18" charset="0"/>
              </a:rPr>
              <a:t> </a:t>
            </a:r>
            <a:r>
              <a:rPr lang="ru-RU" sz="1600" b="1" dirty="0">
                <a:latin typeface="Times New Roman" panose="02020603050405020304" pitchFamily="18" charset="0"/>
                <a:cs typeface="Times New Roman" panose="02020603050405020304" pitchFamily="18" charset="0"/>
              </a:rPr>
              <a:t>и пост-коррекция</a:t>
            </a:r>
            <a:r>
              <a:rPr lang="en-US" sz="1600" b="1" dirty="0">
                <a:latin typeface="Times New Roman" panose="02020603050405020304" pitchFamily="18" charset="0"/>
                <a:cs typeface="Times New Roman" panose="02020603050405020304" pitchFamily="18" charset="0"/>
              </a:rPr>
              <a:t>:</a:t>
            </a:r>
          </a:p>
        </p:txBody>
      </p:sp>
      <p:pic>
        <p:nvPicPr>
          <p:cNvPr id="65" name="Рисунок 64">
            <a:extLst>
              <a:ext uri="{FF2B5EF4-FFF2-40B4-BE49-F238E27FC236}">
                <a16:creationId xmlns:a16="http://schemas.microsoft.com/office/drawing/2014/main" id="{03EAB47F-A127-4F36-9FC1-BDC6A329A7DF}"/>
              </a:ext>
            </a:extLst>
          </p:cNvPr>
          <p:cNvPicPr>
            <a:picLocks noChangeAspect="1"/>
          </p:cNvPicPr>
          <p:nvPr/>
        </p:nvPicPr>
        <p:blipFill rotWithShape="1">
          <a:blip r:embed="rId6"/>
          <a:srcRect l="1167" t="5015" r="1585" b="4990"/>
          <a:stretch/>
        </p:blipFill>
        <p:spPr>
          <a:xfrm>
            <a:off x="7312661" y="1264138"/>
            <a:ext cx="4788569" cy="1439260"/>
          </a:xfrm>
          <a:prstGeom prst="rect">
            <a:avLst/>
          </a:prstGeom>
        </p:spPr>
      </p:pic>
      <p:cxnSp>
        <p:nvCxnSpPr>
          <p:cNvPr id="67" name="Прямая со стрелкой 66">
            <a:extLst>
              <a:ext uri="{FF2B5EF4-FFF2-40B4-BE49-F238E27FC236}">
                <a16:creationId xmlns:a16="http://schemas.microsoft.com/office/drawing/2014/main" id="{95661207-FD7C-4B8C-81F6-BA9919077A58}"/>
              </a:ext>
            </a:extLst>
          </p:cNvPr>
          <p:cNvCxnSpPr>
            <a:cxnSpLocks/>
          </p:cNvCxnSpPr>
          <p:nvPr/>
        </p:nvCxnSpPr>
        <p:spPr>
          <a:xfrm>
            <a:off x="8540620" y="1107317"/>
            <a:ext cx="25130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59144724-DE99-40F5-98CF-EB3900FD24E4}"/>
              </a:ext>
            </a:extLst>
          </p:cNvPr>
          <p:cNvSpPr txBox="1"/>
          <p:nvPr/>
        </p:nvSpPr>
        <p:spPr>
          <a:xfrm>
            <a:off x="8135977" y="711019"/>
            <a:ext cx="6574971" cy="338554"/>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Подбор (</a:t>
            </a:r>
            <a:r>
              <a:rPr lang="en-US" sz="1600" b="1" dirty="0">
                <a:latin typeface="Times New Roman" panose="02020603050405020304" pitchFamily="18" charset="0"/>
                <a:cs typeface="Times New Roman" panose="02020603050405020304" pitchFamily="18" charset="0"/>
              </a:rPr>
              <a:t>K, </a:t>
            </a:r>
            <a:r>
              <a:rPr lang="el-GR" sz="1600" b="1" dirty="0">
                <a:latin typeface="Times New Roman" panose="02020603050405020304" pitchFamily="18" charset="0"/>
                <a:cs typeface="Times New Roman" panose="02020603050405020304" pitchFamily="18" charset="0"/>
              </a:rPr>
              <a:t>Δ</a:t>
            </a:r>
            <a:r>
              <a:rPr lang="en-US" sz="1600" b="1" dirty="0">
                <a:latin typeface="Times New Roman" panose="02020603050405020304" pitchFamily="18" charset="0"/>
                <a:cs typeface="Times New Roman" panose="02020603050405020304" pitchFamily="18" charset="0"/>
              </a:rPr>
              <a:t>t</a:t>
            </a:r>
            <a:r>
              <a:rPr lang="ru-RU" sz="1600" b="1" dirty="0">
                <a:latin typeface="Times New Roman" panose="02020603050405020304" pitchFamily="18" charset="0"/>
                <a:cs typeface="Times New Roman" panose="02020603050405020304" pitchFamily="18" charset="0"/>
              </a:rPr>
              <a:t>) и пост-коррекция</a:t>
            </a:r>
            <a:endParaRPr lang="en-US" sz="1600" b="1" dirty="0">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C7485A22-BF4D-48AC-895F-DF74FD27014A}"/>
              </a:ext>
            </a:extLst>
          </p:cNvPr>
          <p:cNvSpPr txBox="1"/>
          <p:nvPr/>
        </p:nvSpPr>
        <p:spPr>
          <a:xfrm>
            <a:off x="3084864" y="537383"/>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б</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3ADBD3C2-D191-4F54-98DB-3146E94F5266}"/>
              </a:ext>
            </a:extLst>
          </p:cNvPr>
          <p:cNvSpPr txBox="1"/>
          <p:nvPr/>
        </p:nvSpPr>
        <p:spPr>
          <a:xfrm>
            <a:off x="52086" y="540754"/>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а</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D4BEB926-DBF2-4E58-9E83-99A4A921468F}"/>
              </a:ext>
            </a:extLst>
          </p:cNvPr>
          <p:cNvSpPr txBox="1"/>
          <p:nvPr/>
        </p:nvSpPr>
        <p:spPr>
          <a:xfrm>
            <a:off x="7287649" y="589323"/>
            <a:ext cx="839755" cy="369332"/>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t>
            </a:r>
            <a:r>
              <a:rPr lang="ru-RU" sz="1800" dirty="0">
                <a:latin typeface="Times New Roman" panose="02020603050405020304" pitchFamily="18" charset="0"/>
                <a:cs typeface="Times New Roman" panose="02020603050405020304" pitchFamily="18" charset="0"/>
              </a:rPr>
              <a:t>в</a:t>
            </a:r>
            <a:r>
              <a:rPr lang="en-US" sz="1800" dirty="0">
                <a:latin typeface="Times New Roman" panose="02020603050405020304" pitchFamily="18" charset="0"/>
                <a:cs typeface="Times New Roman" panose="02020603050405020304" pitchFamily="18" charset="0"/>
              </a:rPr>
              <a:t>)</a:t>
            </a:r>
            <a:endParaRPr lang="ru-RU"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33701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889BD2-E7D3-251F-A842-50EA3344BB1D}"/>
              </a:ext>
            </a:extLst>
          </p:cNvPr>
          <p:cNvSpPr txBox="1"/>
          <p:nvPr/>
        </p:nvSpPr>
        <p:spPr>
          <a:xfrm>
            <a:off x="2840566" y="203200"/>
            <a:ext cx="6510867" cy="5909310"/>
          </a:xfrm>
          <a:prstGeom prst="rect">
            <a:avLst/>
          </a:prstGeom>
          <a:noFill/>
        </p:spPr>
        <p:txBody>
          <a:bodyPr wrap="square" rtlCol="0">
            <a:spAutoFit/>
          </a:bodyPr>
          <a:lstStyle/>
          <a:p>
            <a:r>
              <a:rPr lang="ru-RU" dirty="0"/>
              <a:t>На данном слайде изображена схема экспериментальной установки по измерению ускорения зеркала (а). На платформе вместе с зеркалом находится акселерометр,</a:t>
            </a:r>
            <a:r>
              <a:rPr lang="en-US" dirty="0"/>
              <a:t> </a:t>
            </a:r>
            <a:r>
              <a:rPr lang="ru-RU" dirty="0"/>
              <a:t>аналоговый выход которого подключен к аналоговому входу платы сбора данных </a:t>
            </a:r>
            <a:r>
              <a:rPr lang="en-US" dirty="0"/>
              <a:t>red pitaya</a:t>
            </a:r>
            <a:r>
              <a:rPr lang="ru-RU" dirty="0"/>
              <a:t>, второй аналоговый вход </a:t>
            </a:r>
            <a:r>
              <a:rPr lang="en-US" dirty="0"/>
              <a:t>red pitaya </a:t>
            </a:r>
            <a:r>
              <a:rPr lang="ru-RU" dirty="0"/>
              <a:t>подключен к таймеру, который посылает триггерный сигнал для начала сбора данных, триггерный сигнал совпадает с триггерным сигналом для первого </a:t>
            </a:r>
            <a:r>
              <a:rPr lang="ru-RU" dirty="0" err="1"/>
              <a:t>рамановского</a:t>
            </a:r>
            <a:r>
              <a:rPr lang="ru-RU" dirty="0"/>
              <a:t> импульса. Управление экспериментальной системой осуществляется с помощью ПК, подключенного к </a:t>
            </a:r>
            <a:r>
              <a:rPr lang="en-US" dirty="0" err="1"/>
              <a:t>redpitaya</a:t>
            </a:r>
            <a:r>
              <a:rPr lang="ru-RU" dirty="0"/>
              <a:t>. Для управлением </a:t>
            </a:r>
            <a:r>
              <a:rPr lang="en-US" dirty="0"/>
              <a:t>red pitaya </a:t>
            </a:r>
            <a:r>
              <a:rPr lang="ru-RU" dirty="0"/>
              <a:t>была написана программа, интерфейс которой показана на рисунке (б). Синий сигнал – сигнал с акселерометра, красный сигнал – вспомогательный триггерный сигнал. </a:t>
            </a:r>
            <a:r>
              <a:rPr lang="ru-RU" dirty="0" err="1"/>
              <a:t>Т.е</a:t>
            </a:r>
            <a:r>
              <a:rPr lang="ru-RU" dirty="0"/>
              <a:t> подаётся триггер – первый красный пик, и начинается запись вместе с некоторыми фиксированными сэмплами до триггера.</a:t>
            </a:r>
          </a:p>
          <a:p>
            <a:endParaRPr lang="ru-RU" dirty="0"/>
          </a:p>
          <a:p>
            <a:r>
              <a:rPr lang="ru-RU" dirty="0"/>
              <a:t>Ускорение зеркала и акселерометра могут не совпадать, поэтому для нахождения ускорения зеркала используется следующая передаточная функция, которая содержит амплитудный коэффициент и временную задержу. Коэффициенты передаточной функции определяются на этапе пост-коррекции данных.</a:t>
            </a:r>
          </a:p>
          <a:p>
            <a:endParaRPr lang="ru-RU" dirty="0"/>
          </a:p>
          <a:p>
            <a:r>
              <a:rPr lang="ru-RU" dirty="0"/>
              <a:t>Теперь что касается пост-коррекции, она осуществляется согласно ранее приведённому выражению</a:t>
            </a:r>
            <a:r>
              <a:rPr lang="en-US" dirty="0"/>
              <a:t>: </a:t>
            </a:r>
            <a:r>
              <a:rPr lang="ru-RU" dirty="0"/>
              <a:t>При этом вибрационная фаза зависит от коэффициентов передаточной функции. Программа написанная для пост-коррекции осуществляет подбор коэффициентов таким образом, чтобы скорректированные данные ложились на аппроксимацию оптимальный образом, как это показано на рисунке в</a:t>
            </a:r>
            <a:r>
              <a:rPr lang="en-US" dirty="0"/>
              <a:t>: </a:t>
            </a:r>
            <a:r>
              <a:rPr lang="ru-RU" dirty="0"/>
              <a:t>слева – до пост-коррекции, справа – после.</a:t>
            </a:r>
          </a:p>
        </p:txBody>
      </p:sp>
    </p:spTree>
    <p:extLst>
      <p:ext uri="{BB962C8B-B14F-4D97-AF65-F5344CB8AC3E}">
        <p14:creationId xmlns:p14="http://schemas.microsoft.com/office/powerpoint/2010/main" val="3963014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5">
            <a:extLst>
              <a:ext uri="{FF2B5EF4-FFF2-40B4-BE49-F238E27FC236}">
                <a16:creationId xmlns:a16="http://schemas.microsoft.com/office/drawing/2014/main" id="{DB4FC92E-844B-140B-8E80-2C601527089C}"/>
              </a:ext>
            </a:extLst>
          </p:cNvPr>
          <p:cNvPicPr>
            <a:picLocks noChangeAspect="1"/>
          </p:cNvPicPr>
          <p:nvPr/>
        </p:nvPicPr>
        <p:blipFill>
          <a:blip r:embed="rId2"/>
          <a:stretch>
            <a:fillRect/>
          </a:stretch>
        </p:blipFill>
        <p:spPr>
          <a:xfrm>
            <a:off x="3475022" y="889188"/>
            <a:ext cx="5241956" cy="3809059"/>
          </a:xfrm>
          <a:prstGeom prst="rect">
            <a:avLst/>
          </a:prstGeom>
        </p:spPr>
      </p:pic>
      <p:sp>
        <p:nvSpPr>
          <p:cNvPr id="2" name="Google Shape;438;p41">
            <a:extLst>
              <a:ext uri="{FF2B5EF4-FFF2-40B4-BE49-F238E27FC236}">
                <a16:creationId xmlns:a16="http://schemas.microsoft.com/office/drawing/2014/main" id="{FD46C5F4-A971-4CA4-8EA1-62B295AC1E02}"/>
              </a:ext>
            </a:extLst>
          </p:cNvPr>
          <p:cNvSpPr/>
          <p:nvPr/>
        </p:nvSpPr>
        <p:spPr>
          <a:xfrm>
            <a:off x="1742753" y="74058"/>
            <a:ext cx="9169087"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Результаты компенсации вибрационных шумов</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7CFBBB85-1DFE-4038-BF35-8451EAA57176}"/>
              </a:ext>
            </a:extLst>
          </p:cNvPr>
          <p:cNvSpPr txBox="1"/>
          <p:nvPr/>
        </p:nvSpPr>
        <p:spPr>
          <a:xfrm>
            <a:off x="3514427" y="4681919"/>
            <a:ext cx="5625737" cy="584775"/>
          </a:xfrm>
          <a:prstGeom prst="rect">
            <a:avLst/>
          </a:prstGeom>
          <a:noFill/>
        </p:spPr>
        <p:txBody>
          <a:bodyPr wrap="square" rtlCol="0">
            <a:spAutoFit/>
          </a:bodyPr>
          <a:lstStyle/>
          <a:p>
            <a:pPr algn="ctr"/>
            <a:r>
              <a:rPr lang="ru-RU" sz="1600" dirty="0">
                <a:latin typeface="Times New Roman" panose="02020603050405020304" pitchFamily="18" charset="0"/>
                <a:cs typeface="Times New Roman" panose="02020603050405020304" pitchFamily="18" charset="0"/>
              </a:rPr>
              <a:t>Рис.</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 Интерференционная картина до</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и после</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компенсации вибрационных шумов.</a:t>
            </a:r>
            <a:r>
              <a:rPr lang="en-US" sz="1600"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604A0537-671D-4211-BE82-4434C00B09D1}"/>
              </a:ext>
            </a:extLst>
          </p:cNvPr>
          <p:cNvSpPr txBox="1"/>
          <p:nvPr/>
        </p:nvSpPr>
        <p:spPr>
          <a:xfrm>
            <a:off x="11591156" y="6446706"/>
            <a:ext cx="510074" cy="307777"/>
          </a:xfrm>
          <a:prstGeom prst="rect">
            <a:avLst/>
          </a:prstGeom>
          <a:noFill/>
        </p:spPr>
        <p:txBody>
          <a:bodyPr wrap="square" rtlCol="0">
            <a:spAutoFit/>
          </a:bodyPr>
          <a:lstStyle/>
          <a:p>
            <a:r>
              <a:rPr lang="ru-RU" dirty="0"/>
              <a:t>15</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F9714C1-0278-418E-9C5E-8C01C702F211}"/>
                  </a:ext>
                </a:extLst>
              </p:cNvPr>
              <p:cNvSpPr txBox="1"/>
              <p:nvPr/>
            </p:nvSpPr>
            <p:spPr>
              <a:xfrm>
                <a:off x="9294998" y="2269268"/>
                <a:ext cx="1832425"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𝑔𝑒</m:t>
                          </m:r>
                        </m:sub>
                      </m:sSub>
                      <m:r>
                        <a:rPr lang="en-US" sz="1600" b="0" i="1" smtClean="0">
                          <a:latin typeface="Cambria Math" panose="02040503050406030204" pitchFamily="18" charset="0"/>
                        </a:rPr>
                        <m:t>=21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p:sp>
            <p:nvSpPr>
              <p:cNvPr id="7" name="TextBox 6">
                <a:extLst>
                  <a:ext uri="{FF2B5EF4-FFF2-40B4-BE49-F238E27FC236}">
                    <a16:creationId xmlns:a16="http://schemas.microsoft.com/office/drawing/2014/main" id="{7F9714C1-0278-418E-9C5E-8C01C702F211}"/>
                  </a:ext>
                </a:extLst>
              </p:cNvPr>
              <p:cNvSpPr txBox="1">
                <a:spLocks noRot="1" noChangeAspect="1" noMove="1" noResize="1" noEditPoints="1" noAdjustHandles="1" noChangeArrowheads="1" noChangeShapeType="1" noTextEdit="1"/>
              </p:cNvSpPr>
              <p:nvPr/>
            </p:nvSpPr>
            <p:spPr>
              <a:xfrm>
                <a:off x="9294998" y="2269268"/>
                <a:ext cx="1832425" cy="307585"/>
              </a:xfrm>
              <a:prstGeom prst="rect">
                <a:avLst/>
              </a:prstGeom>
              <a:blipFill>
                <a:blip r:embed="rId3"/>
                <a:stretch>
                  <a:fillRect l="-1000" r="-3000" b="-19608"/>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AF027379-30AF-49FA-9C6A-2DC113651CF2}"/>
                  </a:ext>
                </a:extLst>
              </p:cNvPr>
              <p:cNvSpPr txBox="1"/>
              <p:nvPr/>
            </p:nvSpPr>
            <p:spPr>
              <a:xfrm>
                <a:off x="9294997" y="2639926"/>
                <a:ext cx="1842492" cy="3075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𝜎</m:t>
                          </m:r>
                        </m:e>
                        <m:sub>
                          <m:r>
                            <a:rPr lang="en-US" sz="1600" b="0" i="1" smtClean="0">
                              <a:latin typeface="Cambria Math" panose="02040503050406030204" pitchFamily="18" charset="0"/>
                            </a:rPr>
                            <m:t>𝑔𝑝</m:t>
                          </m:r>
                        </m:sub>
                      </m:sSub>
                      <m:r>
                        <a:rPr lang="en-US" sz="1600" b="0" i="1" smtClean="0">
                          <a:latin typeface="Cambria Math" panose="02040503050406030204" pitchFamily="18" charset="0"/>
                        </a:rPr>
                        <m:t>=10 </m:t>
                      </m:r>
                      <m:r>
                        <a:rPr lang="ru-RU" sz="1600" b="0" i="1" smtClean="0">
                          <a:latin typeface="Cambria Math" panose="02040503050406030204" pitchFamily="18" charset="0"/>
                        </a:rPr>
                        <m:t>мГал</m:t>
                      </m:r>
                      <m:r>
                        <a:rPr lang="en-US" sz="1600" b="0" i="1" smtClean="0">
                          <a:latin typeface="Cambria Math" panose="02040503050406030204" pitchFamily="18" charset="0"/>
                        </a:rPr>
                        <m:t>/</m:t>
                      </m:r>
                      <m:rad>
                        <m:radPr>
                          <m:degHide m:val="on"/>
                          <m:ctrlPr>
                            <a:rPr lang="en-US" sz="1600" b="0" i="1" smtClean="0">
                              <a:latin typeface="Cambria Math" panose="02040503050406030204" pitchFamily="18" charset="0"/>
                            </a:rPr>
                          </m:ctrlPr>
                        </m:radPr>
                        <m:deg/>
                        <m:e>
                          <m:r>
                            <a:rPr lang="ru-RU" sz="1600" b="0" i="1" smtClean="0">
                              <a:latin typeface="Cambria Math" panose="02040503050406030204" pitchFamily="18" charset="0"/>
                            </a:rPr>
                            <m:t>Гц</m:t>
                          </m:r>
                        </m:e>
                      </m:rad>
                    </m:oMath>
                  </m:oMathPara>
                </a14:m>
                <a:endParaRPr lang="ru-RU" sz="1600" dirty="0"/>
              </a:p>
            </p:txBody>
          </p:sp>
        </mc:Choice>
        <mc:Fallback>
          <p:sp>
            <p:nvSpPr>
              <p:cNvPr id="8" name="TextBox 7">
                <a:extLst>
                  <a:ext uri="{FF2B5EF4-FFF2-40B4-BE49-F238E27FC236}">
                    <a16:creationId xmlns:a16="http://schemas.microsoft.com/office/drawing/2014/main" id="{AF027379-30AF-49FA-9C6A-2DC113651CF2}"/>
                  </a:ext>
                </a:extLst>
              </p:cNvPr>
              <p:cNvSpPr txBox="1">
                <a:spLocks noRot="1" noChangeAspect="1" noMove="1" noResize="1" noEditPoints="1" noAdjustHandles="1" noChangeArrowheads="1" noChangeShapeType="1" noTextEdit="1"/>
              </p:cNvSpPr>
              <p:nvPr/>
            </p:nvSpPr>
            <p:spPr>
              <a:xfrm>
                <a:off x="9294997" y="2639926"/>
                <a:ext cx="1842492" cy="307585"/>
              </a:xfrm>
              <a:prstGeom prst="rect">
                <a:avLst/>
              </a:prstGeom>
              <a:blipFill>
                <a:blip r:embed="rId4"/>
                <a:stretch>
                  <a:fillRect l="-993" r="-2980" b="-19608"/>
                </a:stretch>
              </a:blipFill>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2067F7B2-4F17-4FA1-9BF5-0D4932780402}"/>
                  </a:ext>
                </a:extLst>
              </p:cNvPr>
              <p:cNvSpPr txBox="1"/>
              <p:nvPr/>
            </p:nvSpPr>
            <p:spPr>
              <a:xfrm>
                <a:off x="9749564" y="3218907"/>
                <a:ext cx="896592" cy="4969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1600" b="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𝑔𝑒</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ea typeface="Cambria Math" panose="02040503050406030204" pitchFamily="18" charset="0"/>
                                </a:rPr>
                                <m:t>𝜎</m:t>
                              </m:r>
                            </m:e>
                            <m:sub>
                              <m:r>
                                <a:rPr lang="en-US" sz="1600" i="1">
                                  <a:latin typeface="Cambria Math" panose="02040503050406030204" pitchFamily="18" charset="0"/>
                                </a:rPr>
                                <m:t>𝑔</m:t>
                              </m:r>
                              <m:r>
                                <a:rPr lang="en-US" sz="1600" b="0" i="1" smtClean="0">
                                  <a:latin typeface="Cambria Math" panose="02040503050406030204" pitchFamily="18" charset="0"/>
                                </a:rPr>
                                <m:t>𝑝</m:t>
                              </m:r>
                            </m:sub>
                          </m:sSub>
                        </m:den>
                      </m:f>
                      <m:r>
                        <a:rPr lang="en-US" sz="1600" b="0" i="1" smtClean="0">
                          <a:latin typeface="Cambria Math" panose="02040503050406030204" pitchFamily="18" charset="0"/>
                        </a:rPr>
                        <m:t>=2.1</m:t>
                      </m:r>
                    </m:oMath>
                  </m:oMathPara>
                </a14:m>
                <a:endParaRPr lang="ru-RU" sz="1600" dirty="0"/>
              </a:p>
            </p:txBody>
          </p:sp>
        </mc:Choice>
        <mc:Fallback>
          <p:sp>
            <p:nvSpPr>
              <p:cNvPr id="9" name="TextBox 8">
                <a:extLst>
                  <a:ext uri="{FF2B5EF4-FFF2-40B4-BE49-F238E27FC236}">
                    <a16:creationId xmlns:a16="http://schemas.microsoft.com/office/drawing/2014/main" id="{2067F7B2-4F17-4FA1-9BF5-0D4932780402}"/>
                  </a:ext>
                </a:extLst>
              </p:cNvPr>
              <p:cNvSpPr txBox="1">
                <a:spLocks noRot="1" noChangeAspect="1" noMove="1" noResize="1" noEditPoints="1" noAdjustHandles="1" noChangeArrowheads="1" noChangeShapeType="1" noTextEdit="1"/>
              </p:cNvSpPr>
              <p:nvPr/>
            </p:nvSpPr>
            <p:spPr>
              <a:xfrm>
                <a:off x="9749564" y="3218907"/>
                <a:ext cx="896592" cy="496931"/>
              </a:xfrm>
              <a:prstGeom prst="rect">
                <a:avLst/>
              </a:prstGeom>
              <a:blipFill>
                <a:blip r:embed="rId5"/>
                <a:stretch>
                  <a:fillRect l="-2041" r="-4082" b="-9756"/>
                </a:stretch>
              </a:blipFill>
            </p:spPr>
            <p:txBody>
              <a:bodyPr/>
              <a:lstStyle/>
              <a:p>
                <a:r>
                  <a:rPr lang="ru-RU">
                    <a:noFill/>
                  </a:rPr>
                  <a:t> </a:t>
                </a:r>
              </a:p>
            </p:txBody>
          </p:sp>
        </mc:Fallback>
      </mc:AlternateContent>
      <p:sp>
        <p:nvSpPr>
          <p:cNvPr id="10" name="TextBox 9">
            <a:extLst>
              <a:ext uri="{FF2B5EF4-FFF2-40B4-BE49-F238E27FC236}">
                <a16:creationId xmlns:a16="http://schemas.microsoft.com/office/drawing/2014/main" id="{2137EB49-2938-48C8-976D-CD72A01DB3CB}"/>
              </a:ext>
            </a:extLst>
          </p:cNvPr>
          <p:cNvSpPr txBox="1"/>
          <p:nvPr/>
        </p:nvSpPr>
        <p:spPr>
          <a:xfrm>
            <a:off x="8591017" y="1548795"/>
            <a:ext cx="3815013" cy="584775"/>
          </a:xfrm>
          <a:prstGeom prst="rect">
            <a:avLst/>
          </a:prstGeom>
          <a:noFill/>
        </p:spPr>
        <p:txBody>
          <a:bodyPr wrap="square" rtlCol="0">
            <a:spAutoFit/>
          </a:bodyPr>
          <a:lstStyle/>
          <a:p>
            <a:r>
              <a:rPr lang="ru-RU" sz="1600" b="1" dirty="0">
                <a:latin typeface="Times New Roman" panose="02020603050405020304" pitchFamily="18" charset="0"/>
                <a:cs typeface="Times New Roman" panose="02020603050405020304" pitchFamily="18" charset="0"/>
              </a:rPr>
              <a:t>Чувствительность гравиметра до и после пост-коррекции</a:t>
            </a:r>
            <a:r>
              <a:rPr lang="en-US" sz="1600" b="1" dirty="0">
                <a:latin typeface="Times New Roman" panose="02020603050405020304" pitchFamily="18" charset="0"/>
                <a:cs typeface="Times New Roman" panose="02020603050405020304" pitchFamily="18" charset="0"/>
              </a:rPr>
              <a:t>:</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1842DF5-87AF-4AFA-A45C-0EC2908FA86D}"/>
                  </a:ext>
                </a:extLst>
              </p:cNvPr>
              <p:cNvSpPr txBox="1"/>
              <p:nvPr/>
            </p:nvSpPr>
            <p:spPr>
              <a:xfrm>
                <a:off x="651161" y="2723271"/>
                <a:ext cx="2050754" cy="626325"/>
              </a:xfrm>
              <a:prstGeom prst="rect">
                <a:avLst/>
              </a:prstGeom>
              <a:noFill/>
              <a:ln w="28575">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𝑃</m:t>
                      </m:r>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a:rPr lang="ru-RU" sz="1800" i="1" dirty="0">
                              <a:latin typeface="Cambria Math" panose="02040503050406030204" pitchFamily="18" charset="0"/>
                              <a:sym typeface="Symbol"/>
                            </a:rPr>
                            <m:t></m:t>
                          </m:r>
                          <m:r>
                            <a:rPr lang="ru-RU" sz="1800" i="1" dirty="0">
                              <a:latin typeface="Cambria Math" panose="02040503050406030204" pitchFamily="18" charset="0"/>
                            </a:rPr>
                            <m:t>Ф</m:t>
                          </m:r>
                          <m:r>
                            <a:rPr lang="en-US" sz="1800" b="0" i="1" smtClean="0">
                              <a:latin typeface="Cambria Math" panose="02040503050406030204" pitchFamily="18" charset="0"/>
                            </a:rPr>
                            <m:t>)</m:t>
                          </m:r>
                        </m:num>
                        <m:den>
                          <m:r>
                            <a:rPr lang="en-US" sz="1800" b="0" i="1" smtClean="0">
                              <a:latin typeface="Cambria Math" panose="02040503050406030204" pitchFamily="18" charset="0"/>
                            </a:rPr>
                            <m:t>2</m:t>
                          </m:r>
                        </m:den>
                      </m:f>
                    </m:oMath>
                  </m:oMathPara>
                </a14:m>
                <a:endParaRPr lang="ru-RU" sz="1800" dirty="0"/>
              </a:p>
            </p:txBody>
          </p:sp>
        </mc:Choice>
        <mc:Fallback>
          <p:sp>
            <p:nvSpPr>
              <p:cNvPr id="11" name="TextBox 10">
                <a:extLst>
                  <a:ext uri="{FF2B5EF4-FFF2-40B4-BE49-F238E27FC236}">
                    <a16:creationId xmlns:a16="http://schemas.microsoft.com/office/drawing/2014/main" id="{21842DF5-87AF-4AFA-A45C-0EC2908FA86D}"/>
                  </a:ext>
                </a:extLst>
              </p:cNvPr>
              <p:cNvSpPr txBox="1">
                <a:spLocks noRot="1" noChangeAspect="1" noMove="1" noResize="1" noEditPoints="1" noAdjustHandles="1" noChangeArrowheads="1" noChangeShapeType="1" noTextEdit="1"/>
              </p:cNvSpPr>
              <p:nvPr/>
            </p:nvSpPr>
            <p:spPr>
              <a:xfrm>
                <a:off x="651161" y="2723271"/>
                <a:ext cx="2050754" cy="626325"/>
              </a:xfrm>
              <a:prstGeom prst="rect">
                <a:avLst/>
              </a:prstGeom>
              <a:blipFill>
                <a:blip r:embed="rId6"/>
                <a:stretch>
                  <a:fillRect/>
                </a:stretch>
              </a:blipFill>
              <a:ln w="28575">
                <a:solidFill>
                  <a:srgbClr val="FF0000"/>
                </a:solidFill>
              </a:ln>
            </p:spPr>
            <p:txBody>
              <a:bodyPr/>
              <a:lstStyle/>
              <a:p>
                <a:r>
                  <a:rPr lang="ru-RU">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65E1332E-B1D6-4008-82C1-20AC426FB8D6}"/>
                  </a:ext>
                </a:extLst>
              </p:cNvPr>
              <p:cNvSpPr txBox="1"/>
              <p:nvPr/>
            </p:nvSpPr>
            <p:spPr>
              <a:xfrm>
                <a:off x="157102" y="1900196"/>
                <a:ext cx="3171301" cy="397096"/>
              </a:xfrm>
              <a:prstGeom prst="rect">
                <a:avLst/>
              </a:prstGeom>
              <a:noFill/>
              <a:ln w="28575">
                <a:solidFill>
                  <a:srgbClr val="FF0000"/>
                </a:solidFill>
              </a:ln>
            </p:spPr>
            <p:txBody>
              <a:bodyPr wrap="square" rtlCol="0">
                <a:spAutoFit/>
              </a:bodyPr>
              <a:lstStyle/>
              <a:p>
                <a14:m>
                  <m:oMath xmlns:m="http://schemas.openxmlformats.org/officeDocument/2006/math">
                    <m:r>
                      <a:rPr lang="ru-RU" sz="1800" i="1" dirty="0" smtClean="0">
                        <a:latin typeface="Cambria Math" panose="02040503050406030204" pitchFamily="18" charset="0"/>
                        <a:sym typeface="Symbol"/>
                      </a:rPr>
                      <m:t></m:t>
                    </m:r>
                    <m:r>
                      <a:rPr lang="ru-RU" sz="1800" i="1" dirty="0" smtClean="0">
                        <a:latin typeface="Cambria Math" panose="02040503050406030204" pitchFamily="18" charset="0"/>
                      </a:rPr>
                      <m:t>Ф=</m:t>
                    </m:r>
                    <m:sSub>
                      <m:sSubPr>
                        <m:ctrlPr>
                          <a:rPr lang="en-US" sz="1800" b="0" i="1" dirty="0" smtClean="0">
                            <a:latin typeface="Cambria Math" panose="02040503050406030204" pitchFamily="18" charset="0"/>
                          </a:rPr>
                        </m:ctrlPr>
                      </m:sSubPr>
                      <m:e>
                        <m:r>
                          <a:rPr lang="en-US" sz="1800" i="1" dirty="0">
                            <a:latin typeface="Cambria Math" panose="02040503050406030204" pitchFamily="18" charset="0"/>
                          </a:rPr>
                          <m:t>2</m:t>
                        </m:r>
                        <m:r>
                          <a:rPr lang="en-US" sz="1800" i="1" dirty="0">
                            <a:latin typeface="Cambria Math" panose="02040503050406030204" pitchFamily="18" charset="0"/>
                          </a:rPr>
                          <m:t>𝜋</m:t>
                        </m:r>
                        <m:sSup>
                          <m:sSupPr>
                            <m:ctrlPr>
                              <a:rPr lang="en-US" sz="1800" i="1" dirty="0">
                                <a:latin typeface="Cambria Math" panose="02040503050406030204" pitchFamily="18" charset="0"/>
                              </a:rPr>
                            </m:ctrlPr>
                          </m:sSupPr>
                          <m:e>
                            <m:r>
                              <a:rPr lang="en-US" sz="1800" i="1" dirty="0">
                                <a:latin typeface="Cambria Math" panose="02040503050406030204" pitchFamily="18" charset="0"/>
                              </a:rPr>
                              <m:t>𝛼</m:t>
                            </m:r>
                            <m:r>
                              <a:rPr lang="en-US" sz="1800" i="1" dirty="0">
                                <a:latin typeface="Cambria Math" panose="02040503050406030204" pitchFamily="18" charset="0"/>
                              </a:rPr>
                              <m:t>𝑇</m:t>
                            </m:r>
                          </m:e>
                          <m:sup>
                            <m:r>
                              <a:rPr lang="en-US" sz="1800" i="1" dirty="0">
                                <a:latin typeface="Cambria Math" panose="02040503050406030204" pitchFamily="18" charset="0"/>
                              </a:rPr>
                              <m:t>2</m:t>
                            </m:r>
                          </m:sup>
                        </m:sSup>
                        <m:r>
                          <a:rPr lang="en-US" sz="1800" b="0" i="1" dirty="0" smtClean="0">
                            <a:latin typeface="Cambria Math" panose="02040503050406030204" pitchFamily="18" charset="0"/>
                          </a:rPr>
                          <m:t>−</m:t>
                        </m:r>
                        <m:r>
                          <a:rPr lang="en-US" sz="1800" b="0" i="1" dirty="0" smtClean="0">
                            <a:latin typeface="Cambria Math" panose="02040503050406030204" pitchFamily="18" charset="0"/>
                          </a:rPr>
                          <m:t>𝑘</m:t>
                        </m:r>
                      </m:e>
                      <m:sub>
                        <m:r>
                          <a:rPr lang="en-US" sz="1800" b="0" i="1" dirty="0" smtClean="0">
                            <a:latin typeface="Cambria Math" panose="02040503050406030204" pitchFamily="18" charset="0"/>
                          </a:rPr>
                          <m:t>𝑒𝑓𝑓</m:t>
                        </m:r>
                      </m:sub>
                    </m:sSub>
                    <m:r>
                      <a:rPr lang="en-US" sz="1800" i="1" dirty="0" smtClean="0">
                        <a:latin typeface="Cambria Math" panose="02040503050406030204" pitchFamily="18" charset="0"/>
                      </a:rPr>
                      <m:t>𝑔</m:t>
                    </m:r>
                    <m:sSup>
                      <m:sSupPr>
                        <m:ctrlPr>
                          <a:rPr lang="en-US" sz="1800" b="0" i="1" dirty="0" smtClean="0">
                            <a:latin typeface="Cambria Math" panose="02040503050406030204" pitchFamily="18" charset="0"/>
                          </a:rPr>
                        </m:ctrlPr>
                      </m:sSupPr>
                      <m:e>
                        <m:r>
                          <a:rPr lang="en-US" sz="1800" i="1" dirty="0" smtClean="0">
                            <a:latin typeface="Cambria Math" panose="02040503050406030204" pitchFamily="18" charset="0"/>
                          </a:rPr>
                          <m:t>𝑇</m:t>
                        </m:r>
                      </m:e>
                      <m:sup>
                        <m:r>
                          <a:rPr lang="en-US" sz="1800" b="0" i="1" dirty="0" smtClean="0">
                            <a:latin typeface="Cambria Math" panose="02040503050406030204" pitchFamily="18" charset="0"/>
                          </a:rPr>
                          <m:t>2</m:t>
                        </m:r>
                      </m:sup>
                    </m:sSup>
                  </m:oMath>
                </a14:m>
                <a:r>
                  <a:rPr lang="ru-RU" sz="1800" dirty="0"/>
                  <a:t>+</a:t>
                </a:r>
                <a14:m>
                  <m:oMath xmlns:m="http://schemas.openxmlformats.org/officeDocument/2006/math">
                    <m:sSub>
                      <m:sSubPr>
                        <m:ctrlPr>
                          <a:rPr lang="ru-RU" sz="1800" i="1" dirty="0">
                            <a:solidFill>
                              <a:schemeClr val="tx1"/>
                            </a:solidFill>
                            <a:latin typeface="Cambria Math" panose="02040503050406030204" pitchFamily="18" charset="0"/>
                          </a:rPr>
                        </m:ctrlPr>
                      </m:sSubPr>
                      <m:e>
                        <m:r>
                          <a:rPr lang="ru-RU" sz="1800" i="1" dirty="0">
                            <a:solidFill>
                              <a:schemeClr val="tx1"/>
                            </a:solidFill>
                            <a:latin typeface="Cambria Math" panose="02040503050406030204" pitchFamily="18" charset="0"/>
                          </a:rPr>
                          <m:t>Ф</m:t>
                        </m:r>
                      </m:e>
                      <m:sub>
                        <m:r>
                          <a:rPr lang="ru-RU" sz="1800" i="1" dirty="0">
                            <a:solidFill>
                              <a:schemeClr val="tx1"/>
                            </a:solidFill>
                            <a:latin typeface="Cambria Math" panose="02040503050406030204" pitchFamily="18" charset="0"/>
                          </a:rPr>
                          <m:t>виб</m:t>
                        </m:r>
                      </m:sub>
                    </m:sSub>
                  </m:oMath>
                </a14:m>
                <a:endParaRPr lang="ru-RU" sz="1800" dirty="0"/>
              </a:p>
            </p:txBody>
          </p:sp>
        </mc:Choice>
        <mc:Fallback>
          <p:sp>
            <p:nvSpPr>
              <p:cNvPr id="12" name="TextBox 11">
                <a:extLst>
                  <a:ext uri="{FF2B5EF4-FFF2-40B4-BE49-F238E27FC236}">
                    <a16:creationId xmlns:a16="http://schemas.microsoft.com/office/drawing/2014/main" id="{65E1332E-B1D6-4008-82C1-20AC426FB8D6}"/>
                  </a:ext>
                </a:extLst>
              </p:cNvPr>
              <p:cNvSpPr txBox="1">
                <a:spLocks noRot="1" noChangeAspect="1" noMove="1" noResize="1" noEditPoints="1" noAdjustHandles="1" noChangeArrowheads="1" noChangeShapeType="1" noTextEdit="1"/>
              </p:cNvSpPr>
              <p:nvPr/>
            </p:nvSpPr>
            <p:spPr>
              <a:xfrm>
                <a:off x="157102" y="1900196"/>
                <a:ext cx="3171301" cy="397096"/>
              </a:xfrm>
              <a:prstGeom prst="rect">
                <a:avLst/>
              </a:prstGeom>
              <a:blipFill>
                <a:blip r:embed="rId7"/>
                <a:stretch>
                  <a:fillRect t="-4286" b="-12857"/>
                </a:stretch>
              </a:blipFill>
              <a:ln w="28575">
                <a:solidFill>
                  <a:srgbClr val="FF0000"/>
                </a:solidFill>
              </a:ln>
            </p:spPr>
            <p:txBody>
              <a:bodyPr/>
              <a:lstStyle/>
              <a:p>
                <a:r>
                  <a:rPr lang="ru-RU">
                    <a:noFill/>
                  </a:rPr>
                  <a:t> </a:t>
                </a:r>
              </a:p>
            </p:txBody>
          </p:sp>
        </mc:Fallback>
      </mc:AlternateContent>
    </p:spTree>
    <p:extLst>
      <p:ext uri="{BB962C8B-B14F-4D97-AF65-F5344CB8AC3E}">
        <p14:creationId xmlns:p14="http://schemas.microsoft.com/office/powerpoint/2010/main" val="262087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CB82D0-5C6A-372B-D636-A5E7643A4EDC}"/>
              </a:ext>
            </a:extLst>
          </p:cNvPr>
          <p:cNvSpPr txBox="1"/>
          <p:nvPr/>
        </p:nvSpPr>
        <p:spPr>
          <a:xfrm>
            <a:off x="2878667" y="1209244"/>
            <a:ext cx="5723466" cy="1600438"/>
          </a:xfrm>
          <a:prstGeom prst="rect">
            <a:avLst/>
          </a:prstGeom>
          <a:noFill/>
        </p:spPr>
        <p:txBody>
          <a:bodyPr wrap="square" rtlCol="0">
            <a:spAutoFit/>
          </a:bodyPr>
          <a:lstStyle/>
          <a:p>
            <a:r>
              <a:rPr lang="ru-RU" dirty="0"/>
              <a:t>На данном слайде показана результаты пост-коррекции сигнала атомной интерференции гравиметра работающего в условиях сильных вибраций. Сигнал до пост-коррекции – оранжевый, после пост-коррекции – красный, аппроксимация – синий. На данном рисунке наглядно виден эффект от пост-коррекции. В результате пост-коррекции чувствительность гравиметра повысилась с 21 </a:t>
            </a:r>
            <a:r>
              <a:rPr lang="ru-RU" dirty="0" err="1"/>
              <a:t>мГал</a:t>
            </a:r>
            <a:r>
              <a:rPr lang="en-US" dirty="0"/>
              <a:t>/</a:t>
            </a:r>
            <a:r>
              <a:rPr lang="ru-RU" dirty="0"/>
              <a:t>Гц</a:t>
            </a:r>
            <a:r>
              <a:rPr lang="en-US" dirty="0"/>
              <a:t>^</a:t>
            </a:r>
            <a:r>
              <a:rPr lang="ru-RU" dirty="0"/>
              <a:t>1</a:t>
            </a:r>
            <a:r>
              <a:rPr lang="en-US" dirty="0"/>
              <a:t>/2 </a:t>
            </a:r>
            <a:r>
              <a:rPr lang="ru-RU" dirty="0"/>
              <a:t>до 10 </a:t>
            </a:r>
            <a:r>
              <a:rPr lang="ru-RU" dirty="0" err="1"/>
              <a:t>мГал</a:t>
            </a:r>
            <a:r>
              <a:rPr lang="en-US" dirty="0"/>
              <a:t>/</a:t>
            </a:r>
            <a:r>
              <a:rPr lang="ru-RU" dirty="0"/>
              <a:t>Гц</a:t>
            </a:r>
            <a:r>
              <a:rPr lang="en-US" dirty="0"/>
              <a:t>^</a:t>
            </a:r>
            <a:r>
              <a:rPr lang="ru-RU" dirty="0"/>
              <a:t>1</a:t>
            </a:r>
            <a:r>
              <a:rPr lang="en-US" dirty="0"/>
              <a:t>/2, </a:t>
            </a:r>
            <a:r>
              <a:rPr lang="ru-RU" dirty="0" err="1"/>
              <a:t>т.е</a:t>
            </a:r>
            <a:r>
              <a:rPr lang="ru-RU" dirty="0"/>
              <a:t> выросла в 2.1 раза.</a:t>
            </a:r>
          </a:p>
        </p:txBody>
      </p:sp>
    </p:spTree>
    <p:extLst>
      <p:ext uri="{BB962C8B-B14F-4D97-AF65-F5344CB8AC3E}">
        <p14:creationId xmlns:p14="http://schemas.microsoft.com/office/powerpoint/2010/main" val="30707715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sp>
        <p:nvSpPr>
          <p:cNvPr id="456" name="Google Shape;456;p43"/>
          <p:cNvSpPr/>
          <p:nvPr/>
        </p:nvSpPr>
        <p:spPr>
          <a:xfrm>
            <a:off x="2440631" y="329667"/>
            <a:ext cx="6910755" cy="670661"/>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ru-RU" sz="3200" b="1" i="0" u="none" strike="noStrike" cap="none">
                <a:solidFill>
                  <a:schemeClr val="lt1"/>
                </a:solidFill>
                <a:latin typeface="Times New Roman"/>
                <a:ea typeface="Times New Roman"/>
                <a:cs typeface="Times New Roman"/>
                <a:sym typeface="Times New Roman"/>
              </a:rPr>
              <a:t>Заключение</a:t>
            </a:r>
            <a:endParaRPr sz="1400" b="0" i="0" u="none" strike="noStrike" cap="none">
              <a:solidFill>
                <a:srgbClr val="000000"/>
              </a:solidFill>
              <a:latin typeface="Arial"/>
              <a:ea typeface="Arial"/>
              <a:cs typeface="Arial"/>
              <a:sym typeface="Arial"/>
            </a:endParaRPr>
          </a:p>
        </p:txBody>
      </p:sp>
      <p:sp>
        <p:nvSpPr>
          <p:cNvPr id="5" name="Google Shape;340;p8"/>
          <p:cNvSpPr txBox="1"/>
          <p:nvPr/>
        </p:nvSpPr>
        <p:spPr>
          <a:xfrm>
            <a:off x="1339847" y="1485755"/>
            <a:ext cx="9239321" cy="430883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Выполнено моделирование оптической накачки через переход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∣F=1⟩↔∣F=0’⟩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на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D</a:t>
            </a:r>
            <a:r>
              <a:rPr lang="en-US" sz="1800" baseline="-25000" dirty="0">
                <a:solidFill>
                  <a:schemeClr val="dk1"/>
                </a:solidFill>
                <a:latin typeface="Times New Roman" panose="02020603050405020304" pitchFamily="18" charset="0"/>
                <a:ea typeface="Times New Roman"/>
                <a:cs typeface="Times New Roman" panose="02020603050405020304" pitchFamily="18" charset="0"/>
                <a:sym typeface="Times New Roman"/>
              </a:rPr>
              <a:t>2</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линии </a:t>
            </a:r>
            <a:r>
              <a:rPr lang="en-US" sz="1800" baseline="30000" dirty="0">
                <a:solidFill>
                  <a:schemeClr val="dk1"/>
                </a:solidFill>
                <a:latin typeface="Times New Roman" panose="02020603050405020304" pitchFamily="18" charset="0"/>
                <a:ea typeface="Times New Roman"/>
                <a:cs typeface="Times New Roman" panose="02020603050405020304" pitchFamily="18" charset="0"/>
                <a:sym typeface="Times New Roman"/>
              </a:rPr>
              <a:t>87</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Rb.</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Моделирование показало нагрев атомного облака </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1 мкК</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a:t>
            </a:r>
          </a:p>
          <a:p>
            <a:pPr marL="342900" marR="0" lvl="0" indent="-342900" algn="just" rtl="0">
              <a:lnSpc>
                <a:spcPct val="100000"/>
              </a:lnSpc>
              <a:spcBef>
                <a:spcPts val="0"/>
              </a:spcBef>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Проведена оптическая накачка в магнито-нечувствительное состояние с эффективность более 9</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5</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 и нагревом в 1 мкК, что близко к результатам численного моделирования.</a:t>
            </a: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Применения оптической накачки на этапе подготовки атомов </a:t>
            </a:r>
            <a:r>
              <a:rPr lang="en-US" sz="1800" baseline="30000" dirty="0">
                <a:solidFill>
                  <a:schemeClr val="dk1"/>
                </a:solidFill>
                <a:latin typeface="Times New Roman" panose="02020603050405020304" pitchFamily="18" charset="0"/>
                <a:cs typeface="Times New Roman" panose="02020603050405020304" pitchFamily="18" charset="0"/>
                <a:sym typeface="Times New Roman"/>
              </a:rPr>
              <a:t>87</a:t>
            </a:r>
            <a:r>
              <a:rPr lang="en-US" sz="1800" dirty="0">
                <a:solidFill>
                  <a:schemeClr val="dk1"/>
                </a:solidFill>
                <a:latin typeface="Times New Roman" panose="02020603050405020304" pitchFamily="18" charset="0"/>
                <a:cs typeface="Times New Roman" panose="02020603050405020304" pitchFamily="18" charset="0"/>
                <a:sym typeface="Times New Roman"/>
              </a:rPr>
              <a:t>Rb</a:t>
            </a:r>
            <a:r>
              <a:rPr lang="ru-RU" sz="1800" dirty="0">
                <a:solidFill>
                  <a:schemeClr val="dk1"/>
                </a:solidFill>
                <a:latin typeface="Times New Roman" panose="02020603050405020304" pitchFamily="18" charset="0"/>
                <a:cs typeface="Times New Roman" panose="02020603050405020304" pitchFamily="18" charset="0"/>
                <a:sym typeface="Times New Roman"/>
              </a:rPr>
              <a:t> в немагнитном квантовом состоянии в сочетании с другими процедурами позволило достигнуть чувствительность 5.2 мГал</a:t>
            </a:r>
            <a:r>
              <a:rPr lang="en-US" sz="1800" dirty="0">
                <a:solidFill>
                  <a:schemeClr val="dk1"/>
                </a:solidFill>
                <a:latin typeface="Times New Roman" panose="02020603050405020304" pitchFamily="18" charset="0"/>
                <a:ea typeface="Cambria Math" panose="02040503050406030204" pitchFamily="18" charset="0"/>
                <a:cs typeface="Times New Roman"/>
                <a:sym typeface="Times New Roman"/>
              </a:rPr>
              <a:t>/</a:t>
            </a:r>
            <a:r>
              <a:rPr lang="ru-RU" sz="1800" dirty="0">
                <a:latin typeface="Times New Roman"/>
                <a:ea typeface="Times New Roman"/>
                <a:cs typeface="Times New Roman"/>
                <a:sym typeface="Times New Roman"/>
              </a:rPr>
              <a:t>Гц</a:t>
            </a:r>
            <a:r>
              <a:rPr lang="ru-RU" sz="1800" baseline="30000" dirty="0">
                <a:latin typeface="Times New Roman"/>
                <a:ea typeface="Times New Roman"/>
                <a:cs typeface="Times New Roman"/>
                <a:sym typeface="Times New Roman"/>
              </a:rPr>
              <a:t>1</a:t>
            </a:r>
            <a:r>
              <a:rPr lang="en-US" sz="1800" baseline="30000" dirty="0">
                <a:latin typeface="Times New Roman"/>
                <a:ea typeface="Times New Roman"/>
                <a:cs typeface="Times New Roman"/>
                <a:sym typeface="Times New Roman"/>
              </a:rPr>
              <a:t>/2</a:t>
            </a:r>
            <a:r>
              <a:rPr lang="ru-RU" sz="1800" dirty="0">
                <a:solidFill>
                  <a:schemeClr val="dk1"/>
                </a:solidFill>
                <a:latin typeface="Times New Roman" panose="02020603050405020304" pitchFamily="18" charset="0"/>
                <a:cs typeface="Times New Roman" panose="02020603050405020304" pitchFamily="18" charset="0"/>
                <a:sym typeface="Times New Roman"/>
              </a:rPr>
              <a:t>.</a:t>
            </a:r>
          </a:p>
          <a:p>
            <a:pPr marL="342900" lvl="0" indent="-342900" algn="just">
              <a:spcAft>
                <a:spcPts val="1200"/>
              </a:spcAft>
              <a:buClr>
                <a:schemeClr val="dk1"/>
              </a:buClr>
              <a:buSzPts val="2400"/>
              <a:buFont typeface="Times New Roman"/>
              <a:buChar char="-"/>
            </a:pP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Реализована система пост-коррекции измерений квантового гравиметра на основе измерений акселерометра и платы сбора данных</a:t>
            </a:r>
            <a:r>
              <a:rPr lang="en-US" sz="1800" dirty="0">
                <a:solidFill>
                  <a:schemeClr val="dk1"/>
                </a:solidFill>
                <a:latin typeface="Times New Roman" panose="02020603050405020304" pitchFamily="18" charset="0"/>
                <a:ea typeface="Times New Roman"/>
                <a:cs typeface="Times New Roman" panose="02020603050405020304" pitchFamily="18" charset="0"/>
                <a:sym typeface="Times New Roman"/>
              </a:rPr>
              <a:t> Red Pitaya</a:t>
            </a:r>
            <a:r>
              <a:rPr lang="ru-RU" sz="1800" dirty="0">
                <a:solidFill>
                  <a:schemeClr val="dk1"/>
                </a:solidFill>
                <a:latin typeface="Times New Roman" panose="02020603050405020304" pitchFamily="18" charset="0"/>
                <a:ea typeface="Times New Roman"/>
                <a:cs typeface="Times New Roman" panose="02020603050405020304" pitchFamily="18" charset="0"/>
                <a:sym typeface="Times New Roman"/>
              </a:rPr>
              <a:t> с целью компенсации фазового сдвига в сигнале атомной интерференции, вызванного вибрациями установки. Реализовано программное обеспечение для сбора и анализа данных для расчета и применения данной поправки. Использование данного алгоритма позволило увеличить чувствительности квантового гравиметра в два раза.</a:t>
            </a:r>
          </a:p>
        </p:txBody>
      </p:sp>
      <p:sp>
        <p:nvSpPr>
          <p:cNvPr id="6" name="TextBox 5">
            <a:extLst>
              <a:ext uri="{FF2B5EF4-FFF2-40B4-BE49-F238E27FC236}">
                <a16:creationId xmlns:a16="http://schemas.microsoft.com/office/drawing/2014/main" id="{A7EB3360-CB57-4ACC-9572-5FD9B50D06F8}"/>
              </a:ext>
            </a:extLst>
          </p:cNvPr>
          <p:cNvSpPr txBox="1"/>
          <p:nvPr/>
        </p:nvSpPr>
        <p:spPr>
          <a:xfrm>
            <a:off x="11681926" y="6408575"/>
            <a:ext cx="510074" cy="307777"/>
          </a:xfrm>
          <a:prstGeom prst="rect">
            <a:avLst/>
          </a:prstGeom>
          <a:noFill/>
        </p:spPr>
        <p:txBody>
          <a:bodyPr wrap="square" rtlCol="0">
            <a:spAutoFit/>
          </a:bodyPr>
          <a:lstStyle/>
          <a:p>
            <a:r>
              <a:rPr lang="ru-RU" dirty="0"/>
              <a:t>16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40;p8">
            <a:extLst>
              <a:ext uri="{FF2B5EF4-FFF2-40B4-BE49-F238E27FC236}">
                <a16:creationId xmlns:a16="http://schemas.microsoft.com/office/drawing/2014/main" id="{29231A27-E450-41D8-A924-F74AF49F383D}"/>
              </a:ext>
            </a:extLst>
          </p:cNvPr>
          <p:cNvSpPr txBox="1"/>
          <p:nvPr/>
        </p:nvSpPr>
        <p:spPr>
          <a:xfrm>
            <a:off x="2108129" y="874495"/>
            <a:ext cx="8410322" cy="110795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Статьи:</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Интерференция ультрахолодных атомов 87 Rb в квантовом гравиметре / Д. Н. Капуста, А. 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 Н. Гончаров [и др.]. — Текст : непосредственный // ЖЭТФ. — 2025. — № 1. — С. 47-54.</a:t>
            </a:r>
          </a:p>
        </p:txBody>
      </p:sp>
      <p:sp>
        <p:nvSpPr>
          <p:cNvPr id="4" name="Google Shape;340;p8">
            <a:extLst>
              <a:ext uri="{FF2B5EF4-FFF2-40B4-BE49-F238E27FC236}">
                <a16:creationId xmlns:a16="http://schemas.microsoft.com/office/drawing/2014/main" id="{29231A27-E450-41D8-A924-F74AF49F383D}"/>
              </a:ext>
            </a:extLst>
          </p:cNvPr>
          <p:cNvSpPr txBox="1"/>
          <p:nvPr/>
        </p:nvSpPr>
        <p:spPr>
          <a:xfrm>
            <a:off x="3781678" y="147329"/>
            <a:ext cx="8410322" cy="615513"/>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2400" b="1" dirty="0">
                <a:solidFill>
                  <a:schemeClr val="dk1"/>
                </a:solidFill>
                <a:latin typeface="Times New Roman" panose="02020603050405020304" pitchFamily="18" charset="0"/>
                <a:ea typeface="Times New Roman"/>
                <a:cs typeface="Times New Roman" panose="02020603050405020304" pitchFamily="18" charset="0"/>
                <a:sym typeface="Times New Roman"/>
              </a:rPr>
              <a:t>Апробация результатов</a:t>
            </a:r>
          </a:p>
        </p:txBody>
      </p:sp>
      <p:sp>
        <p:nvSpPr>
          <p:cNvPr id="5" name="Google Shape;340;p8">
            <a:extLst>
              <a:ext uri="{FF2B5EF4-FFF2-40B4-BE49-F238E27FC236}">
                <a16:creationId xmlns:a16="http://schemas.microsoft.com/office/drawing/2014/main" id="{29231A27-E450-41D8-A924-F74AF49F383D}"/>
              </a:ext>
            </a:extLst>
          </p:cNvPr>
          <p:cNvSpPr txBox="1"/>
          <p:nvPr/>
        </p:nvSpPr>
        <p:spPr>
          <a:xfrm>
            <a:off x="2108129" y="1982450"/>
            <a:ext cx="8410322" cy="2923837"/>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rtl="0">
              <a:lnSpc>
                <a:spcPct val="100000"/>
              </a:lnSpc>
              <a:spcBef>
                <a:spcPts val="0"/>
              </a:spcBef>
              <a:spcAft>
                <a:spcPts val="1200"/>
              </a:spcAft>
              <a:buClr>
                <a:schemeClr val="dk1"/>
              </a:buClr>
              <a:buSzPts val="2400"/>
            </a:pPr>
            <a:r>
              <a:rPr lang="ru-RU" sz="1800" b="1" dirty="0">
                <a:solidFill>
                  <a:schemeClr val="dk1"/>
                </a:solidFill>
                <a:latin typeface="Times New Roman" panose="02020603050405020304" pitchFamily="18" charset="0"/>
                <a:ea typeface="Times New Roman"/>
                <a:cs typeface="Times New Roman" panose="02020603050405020304" pitchFamily="18" charset="0"/>
                <a:sym typeface="Times New Roman"/>
              </a:rPr>
              <a:t>Конференции</a:t>
            </a:r>
          </a:p>
          <a:p>
            <a:pPr marL="285750" lvl="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ФУХА-2024 (Новосибирск). – 2024 декабрь. – с. 29.</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Интерференция ультрахолодных атомов 87Rb в квантовом гравиметре </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КВНО-2025 (Санкт-Петербург). – 2025 апрель.</a:t>
            </a:r>
          </a:p>
          <a:p>
            <a:pPr marL="285750" indent="-285750">
              <a:spcAft>
                <a:spcPts val="1200"/>
              </a:spcAft>
              <a:buClr>
                <a:schemeClr val="dk1"/>
              </a:buClr>
              <a:buSzPts val="2400"/>
              <a:buFont typeface="Arial" panose="020B0604020202020204" pitchFamily="34" charset="0"/>
              <a:buChar char="•"/>
            </a:pP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Д.Н. Капуста, А.Э.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Бонерт</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А.Н. Гончаров, К.Н. Адамов, О.Н. Прудников, А.В. </a:t>
            </a:r>
            <a:r>
              <a:rPr lang="ru-RU" dirty="0" err="1">
                <a:solidFill>
                  <a:schemeClr val="dk1"/>
                </a:solidFill>
                <a:latin typeface="Times New Roman" panose="02020603050405020304" pitchFamily="18" charset="0"/>
                <a:ea typeface="Times New Roman"/>
                <a:cs typeface="Times New Roman" panose="02020603050405020304" pitchFamily="18" charset="0"/>
                <a:sym typeface="Times New Roman"/>
              </a:rPr>
              <a:t>Тайченачев</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 / Подготовка начального волнового пакета для квантового интерферометра-гравиметра</a:t>
            </a: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r>
              <a:rPr lang="ru-RU" dirty="0">
                <a:solidFill>
                  <a:schemeClr val="dk1"/>
                </a:solidFill>
                <a:latin typeface="Times New Roman" panose="02020603050405020304" pitchFamily="18" charset="0"/>
                <a:ea typeface="Times New Roman"/>
                <a:cs typeface="Times New Roman" panose="02020603050405020304" pitchFamily="18" charset="0"/>
                <a:sym typeface="Times New Roman"/>
              </a:rPr>
              <a:t>Материалы конференции МНСК-2025 (Новосибирск). – 2025 апрель.</a:t>
            </a:r>
          </a:p>
        </p:txBody>
      </p:sp>
      <p:sp>
        <p:nvSpPr>
          <p:cNvPr id="6" name="TextBox 5">
            <a:extLst>
              <a:ext uri="{FF2B5EF4-FFF2-40B4-BE49-F238E27FC236}">
                <a16:creationId xmlns:a16="http://schemas.microsoft.com/office/drawing/2014/main" id="{5836EB2D-2CF5-452C-9CE6-0A5E961FBED9}"/>
              </a:ext>
            </a:extLst>
          </p:cNvPr>
          <p:cNvSpPr txBox="1"/>
          <p:nvPr/>
        </p:nvSpPr>
        <p:spPr>
          <a:xfrm>
            <a:off x="11681925" y="6408575"/>
            <a:ext cx="553617" cy="307777"/>
          </a:xfrm>
          <a:prstGeom prst="rect">
            <a:avLst/>
          </a:prstGeom>
          <a:noFill/>
        </p:spPr>
        <p:txBody>
          <a:bodyPr wrap="square" rtlCol="0">
            <a:spAutoFit/>
          </a:bodyPr>
          <a:lstStyle/>
          <a:p>
            <a:r>
              <a:rPr lang="ru-RU" dirty="0"/>
              <a:t>16</a:t>
            </a:r>
          </a:p>
        </p:txBody>
      </p:sp>
    </p:spTree>
    <p:extLst>
      <p:ext uri="{BB962C8B-B14F-4D97-AF65-F5344CB8AC3E}">
        <p14:creationId xmlns:p14="http://schemas.microsoft.com/office/powerpoint/2010/main" val="8789058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9" name="Google Shape;389;p39"/>
          <p:cNvSpPr/>
          <p:nvPr/>
        </p:nvSpPr>
        <p:spPr>
          <a:xfrm>
            <a:off x="2640622" y="83724"/>
            <a:ext cx="6910755" cy="53931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ru-RU" sz="2400" b="1" i="0" u="none" strike="noStrike" cap="none" dirty="0">
                <a:solidFill>
                  <a:schemeClr val="lt1"/>
                </a:solidFill>
                <a:latin typeface="Times New Roman"/>
                <a:ea typeface="Times New Roman"/>
                <a:cs typeface="Times New Roman"/>
                <a:sym typeface="Times New Roman"/>
              </a:rPr>
              <a:t>Моделирование оптической накачки</a:t>
            </a:r>
            <a:endParaRPr sz="1400" b="0" i="0" u="none" strike="noStrike" cap="none" dirty="0">
              <a:solidFill>
                <a:srgbClr val="000000"/>
              </a:solidFill>
              <a:latin typeface="Arial"/>
              <a:ea typeface="Arial"/>
              <a:cs typeface="Arial"/>
              <a:sym typeface="Arial"/>
            </a:endParaRPr>
          </a:p>
        </p:txBody>
      </p:sp>
      <p:sp>
        <p:nvSpPr>
          <p:cNvPr id="390" name="Google Shape;390;p39"/>
          <p:cNvSpPr txBox="1"/>
          <p:nvPr/>
        </p:nvSpPr>
        <p:spPr>
          <a:xfrm>
            <a:off x="5847081" y="817199"/>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(1)</a:t>
            </a:r>
            <a:endParaRPr dirty="0"/>
          </a:p>
        </p:txBody>
      </p:sp>
      <p:sp>
        <p:nvSpPr>
          <p:cNvPr id="391" name="Google Shape;391;p39"/>
          <p:cNvSpPr txBox="1"/>
          <p:nvPr/>
        </p:nvSpPr>
        <p:spPr>
          <a:xfrm>
            <a:off x="5855796" y="1528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(2)</a:t>
            </a:r>
            <a:endParaRPr dirty="0"/>
          </a:p>
        </p:txBody>
      </p:sp>
      <p:sp>
        <p:nvSpPr>
          <p:cNvPr id="392" name="Google Shape;392;p39"/>
          <p:cNvSpPr txBox="1"/>
          <p:nvPr/>
        </p:nvSpPr>
        <p:spPr>
          <a:xfrm>
            <a:off x="5821509" y="2133478"/>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(3)</a:t>
            </a:r>
            <a:endParaRPr dirty="0"/>
          </a:p>
        </p:txBody>
      </p:sp>
      <p:sp>
        <p:nvSpPr>
          <p:cNvPr id="394" name="Google Shape;394;p39"/>
          <p:cNvSpPr txBox="1"/>
          <p:nvPr/>
        </p:nvSpPr>
        <p:spPr>
          <a:xfrm>
            <a:off x="4204746" y="6517813"/>
            <a:ext cx="634161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*F. </a:t>
            </a:r>
            <a:r>
              <a:rPr lang="ru-RU" sz="1400" b="0" i="0" u="none" strike="noStrike" cap="none" dirty="0" err="1">
                <a:solidFill>
                  <a:srgbClr val="000000"/>
                </a:solidFill>
                <a:latin typeface="Times New Roman"/>
                <a:ea typeface="Times New Roman"/>
                <a:cs typeface="Times New Roman"/>
                <a:sym typeface="Times New Roman"/>
              </a:rPr>
              <a:t>Atoneche</a:t>
            </a:r>
            <a:r>
              <a:rPr lang="ru-RU" sz="1400" b="0" i="0" u="none" strike="noStrike" cap="none" dirty="0">
                <a:solidFill>
                  <a:srgbClr val="000000"/>
                </a:solidFill>
                <a:latin typeface="Times New Roman"/>
                <a:ea typeface="Times New Roman"/>
                <a:cs typeface="Times New Roman"/>
                <a:sym typeface="Times New Roman"/>
              </a:rPr>
              <a:t>, A. </a:t>
            </a:r>
            <a:r>
              <a:rPr lang="ru-RU" sz="1400" b="0" i="0" u="none" strike="noStrike" cap="none" dirty="0" err="1">
                <a:solidFill>
                  <a:srgbClr val="000000"/>
                </a:solidFill>
                <a:latin typeface="Times New Roman"/>
                <a:ea typeface="Times New Roman"/>
                <a:cs typeface="Times New Roman"/>
                <a:sym typeface="Times New Roman"/>
              </a:rPr>
              <a:t>Kastberg</a:t>
            </a:r>
            <a:r>
              <a:rPr lang="ru-RU" sz="1400" b="0" i="0" u="none" strike="noStrike" cap="none" dirty="0">
                <a:solidFill>
                  <a:srgbClr val="000000"/>
                </a:solidFill>
                <a:latin typeface="Times New Roman"/>
                <a:ea typeface="Times New Roman"/>
                <a:cs typeface="Times New Roman"/>
                <a:sym typeface="Times New Roman"/>
              </a:rPr>
              <a:t>, European Journal </a:t>
            </a:r>
            <a:r>
              <a:rPr lang="ru-RU" sz="1400" b="0" i="0" u="none" strike="noStrike" cap="none" dirty="0" err="1">
                <a:solidFill>
                  <a:srgbClr val="000000"/>
                </a:solidFill>
                <a:latin typeface="Times New Roman"/>
                <a:ea typeface="Times New Roman"/>
                <a:cs typeface="Times New Roman"/>
                <a:sym typeface="Times New Roman"/>
              </a:rPr>
              <a:t>of</a:t>
            </a:r>
            <a:r>
              <a:rPr lang="ru-RU" sz="1400" b="0" i="0" u="none" strike="noStrike" cap="none" dirty="0">
                <a:solidFill>
                  <a:srgbClr val="000000"/>
                </a:solidFill>
                <a:latin typeface="Times New Roman"/>
                <a:ea typeface="Times New Roman"/>
                <a:cs typeface="Times New Roman"/>
                <a:sym typeface="Times New Roman"/>
              </a:rPr>
              <a:t> </a:t>
            </a:r>
            <a:r>
              <a:rPr lang="ru-RU" sz="1400" b="0" i="0" u="none" strike="noStrike" cap="none" dirty="0" err="1">
                <a:solidFill>
                  <a:srgbClr val="000000"/>
                </a:solidFill>
                <a:latin typeface="Times New Roman"/>
                <a:ea typeface="Times New Roman"/>
                <a:cs typeface="Times New Roman"/>
                <a:sym typeface="Times New Roman"/>
              </a:rPr>
              <a:t>Physics</a:t>
            </a:r>
            <a:r>
              <a:rPr lang="ru-RU" sz="1400" b="0" i="0" u="none" strike="noStrike" cap="none" dirty="0">
                <a:solidFill>
                  <a:srgbClr val="000000"/>
                </a:solidFill>
                <a:latin typeface="Times New Roman"/>
                <a:ea typeface="Times New Roman"/>
                <a:cs typeface="Times New Roman"/>
                <a:sym typeface="Times New Roman"/>
              </a:rPr>
              <a:t> 38.4, 045703 (2017).</a:t>
            </a:r>
            <a:endParaRPr sz="1400" b="0" i="0" u="none" strike="noStrike" cap="none" dirty="0">
              <a:solidFill>
                <a:srgbClr val="000000"/>
              </a:solidFill>
              <a:latin typeface="Times New Roman"/>
              <a:ea typeface="Times New Roman"/>
              <a:cs typeface="Times New Roman"/>
              <a:sym typeface="Times New Roman"/>
            </a:endParaRPr>
          </a:p>
        </p:txBody>
      </p:sp>
      <p:grpSp>
        <p:nvGrpSpPr>
          <p:cNvPr id="398" name="Google Shape;398;p39"/>
          <p:cNvGrpSpPr/>
          <p:nvPr/>
        </p:nvGrpSpPr>
        <p:grpSpPr>
          <a:xfrm>
            <a:off x="8257414" y="1369553"/>
            <a:ext cx="2288943" cy="2386967"/>
            <a:chOff x="7675472" y="1286220"/>
            <a:chExt cx="2288943" cy="2386967"/>
          </a:xfrm>
        </p:grpSpPr>
        <p:cxnSp>
          <p:nvCxnSpPr>
            <p:cNvPr id="399" name="Google Shape;399;p39"/>
            <p:cNvCxnSpPr/>
            <p:nvPr/>
          </p:nvCxnSpPr>
          <p:spPr>
            <a:xfrm>
              <a:off x="7675472" y="3309245"/>
              <a:ext cx="927946" cy="1349"/>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0" name="Google Shape;400;p39"/>
            <p:cNvSpPr txBox="1"/>
            <p:nvPr/>
          </p:nvSpPr>
          <p:spPr>
            <a:xfrm>
              <a:off x="7973080" y="3365410"/>
              <a:ext cx="54186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cxnSp>
          <p:nvCxnSpPr>
            <p:cNvPr id="401" name="Google Shape;401;p39"/>
            <p:cNvCxnSpPr/>
            <p:nvPr/>
          </p:nvCxnSpPr>
          <p:spPr>
            <a:xfrm>
              <a:off x="9243498" y="2821794"/>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2" name="Google Shape;402;p39"/>
            <p:cNvSpPr txBox="1"/>
            <p:nvPr/>
          </p:nvSpPr>
          <p:spPr>
            <a:xfrm>
              <a:off x="9342103" y="2845792"/>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g</a:t>
              </a:r>
              <a:r>
                <a:rPr lang="ru-RU" sz="1400" b="0" i="0" u="none" strike="noStrike" cap="none" baseline="-25000" dirty="0">
                  <a:solidFill>
                    <a:srgbClr val="000000"/>
                  </a:solidFill>
                  <a:latin typeface="Arial"/>
                  <a:ea typeface="Arial"/>
                  <a:cs typeface="Arial"/>
                  <a:sym typeface="Arial"/>
                </a:rPr>
                <a:t>2</a:t>
              </a:r>
              <a:endParaRPr sz="1400" b="0" i="0" u="none" strike="noStrike" cap="none" baseline="-25000" dirty="0">
                <a:solidFill>
                  <a:srgbClr val="000000"/>
                </a:solidFill>
                <a:latin typeface="Arial"/>
                <a:ea typeface="Arial"/>
                <a:cs typeface="Arial"/>
                <a:sym typeface="Arial"/>
              </a:endParaRPr>
            </a:p>
          </p:txBody>
        </p:sp>
        <p:cxnSp>
          <p:nvCxnSpPr>
            <p:cNvPr id="403" name="Google Shape;403;p39"/>
            <p:cNvCxnSpPr/>
            <p:nvPr/>
          </p:nvCxnSpPr>
          <p:spPr>
            <a:xfrm>
              <a:off x="8447631" y="1620378"/>
              <a:ext cx="494454"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404" name="Google Shape;404;p39"/>
            <p:cNvSpPr txBox="1"/>
            <p:nvPr/>
          </p:nvSpPr>
          <p:spPr>
            <a:xfrm>
              <a:off x="8560576" y="1286220"/>
              <a:ext cx="62231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Arial"/>
                  <a:ea typeface="Arial"/>
                  <a:cs typeface="Arial"/>
                  <a:sym typeface="Arial"/>
                </a:rPr>
                <a:t>e</a:t>
              </a:r>
              <a:r>
                <a:rPr lang="ru-RU" sz="1400" b="0" i="0" u="none" strike="noStrike" cap="none" baseline="-25000" dirty="0">
                  <a:solidFill>
                    <a:srgbClr val="000000"/>
                  </a:solidFill>
                  <a:latin typeface="Arial"/>
                  <a:ea typeface="Arial"/>
                  <a:cs typeface="Arial"/>
                  <a:sym typeface="Arial"/>
                </a:rPr>
                <a:t>1</a:t>
              </a:r>
              <a:endParaRPr sz="1400" b="0" i="0" u="none" strike="noStrike" cap="none" baseline="-25000" dirty="0">
                <a:solidFill>
                  <a:srgbClr val="000000"/>
                </a:solidFill>
                <a:latin typeface="Arial"/>
                <a:ea typeface="Arial"/>
                <a:cs typeface="Arial"/>
                <a:sym typeface="Arial"/>
              </a:endParaRPr>
            </a:p>
          </p:txBody>
        </p:sp>
        <p:grpSp>
          <p:nvGrpSpPr>
            <p:cNvPr id="405" name="Google Shape;405;p39"/>
            <p:cNvGrpSpPr/>
            <p:nvPr/>
          </p:nvGrpSpPr>
          <p:grpSpPr>
            <a:xfrm rot="1429140">
              <a:off x="8146741" y="1652422"/>
              <a:ext cx="0" cy="1623907"/>
              <a:chOff x="10160000" y="3429000"/>
              <a:chExt cx="0" cy="1623907"/>
            </a:xfrm>
          </p:grpSpPr>
          <p:cxnSp>
            <p:nvCxnSpPr>
              <p:cNvPr id="406" name="Google Shape;406;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08" name="Google Shape;408;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09" name="Google Shape;409;p39"/>
            <p:cNvGrpSpPr/>
            <p:nvPr/>
          </p:nvGrpSpPr>
          <p:grpSpPr>
            <a:xfrm rot="-1879641">
              <a:off x="9249827" y="1651472"/>
              <a:ext cx="0" cy="1192945"/>
              <a:chOff x="10160000" y="3429000"/>
              <a:chExt cx="0" cy="1623907"/>
            </a:xfrm>
          </p:grpSpPr>
          <p:cxnSp>
            <p:nvCxnSpPr>
              <p:cNvPr id="410" name="Google Shape;410;p39"/>
              <p:cNvCxnSpPr/>
              <p:nvPr/>
            </p:nvCxnSpPr>
            <p:spPr>
              <a:xfrm>
                <a:off x="10160000" y="4416213"/>
                <a:ext cx="0" cy="636694"/>
              </a:xfrm>
              <a:prstGeom prst="straightConnector1">
                <a:avLst/>
              </a:prstGeom>
              <a:noFill/>
              <a:ln w="28575" cap="flat" cmpd="sng">
                <a:solidFill>
                  <a:srgbClr val="00B050"/>
                </a:solidFill>
                <a:prstDash val="dash"/>
                <a:round/>
                <a:headEnd type="none" w="sm" len="sm"/>
                <a:tailEnd type="triangle" w="med" len="med"/>
              </a:ln>
            </p:spPr>
          </p:cxnSp>
          <p:cxnSp>
            <p:nvCxnSpPr>
              <p:cNvPr id="412" name="Google Shape;412;p39"/>
              <p:cNvCxnSpPr/>
              <p:nvPr/>
            </p:nvCxnSpPr>
            <p:spPr>
              <a:xfrm>
                <a:off x="10160000" y="3429000"/>
                <a:ext cx="0" cy="636694"/>
              </a:xfrm>
              <a:prstGeom prst="straightConnector1">
                <a:avLst/>
              </a:prstGeom>
              <a:noFill/>
              <a:ln w="28575" cap="flat" cmpd="sng">
                <a:solidFill>
                  <a:srgbClr val="00B050"/>
                </a:solidFill>
                <a:prstDash val="dash"/>
                <a:round/>
                <a:headEnd type="none" w="sm" len="sm"/>
                <a:tailEnd type="none" w="sm" len="sm"/>
              </a:ln>
            </p:spPr>
          </p:cxnSp>
        </p:grpSp>
        <p:grpSp>
          <p:nvGrpSpPr>
            <p:cNvPr id="413" name="Google Shape;413;p39"/>
            <p:cNvGrpSpPr/>
            <p:nvPr/>
          </p:nvGrpSpPr>
          <p:grpSpPr>
            <a:xfrm rot="-10320581">
              <a:off x="8599830" y="1691863"/>
              <a:ext cx="0" cy="1529262"/>
              <a:chOff x="10160000" y="3429000"/>
              <a:chExt cx="0" cy="1623907"/>
            </a:xfrm>
          </p:grpSpPr>
          <p:cxnSp>
            <p:nvCxnSpPr>
              <p:cNvPr id="414" name="Google Shape;414;p39"/>
              <p:cNvCxnSpPr/>
              <p:nvPr/>
            </p:nvCxnSpPr>
            <p:spPr>
              <a:xfrm>
                <a:off x="10160000" y="4416213"/>
                <a:ext cx="0" cy="636694"/>
              </a:xfrm>
              <a:prstGeom prst="straightConnector1">
                <a:avLst/>
              </a:prstGeom>
              <a:noFill/>
              <a:ln w="28575" cap="flat" cmpd="sng">
                <a:solidFill>
                  <a:srgbClr val="FF0000"/>
                </a:solidFill>
                <a:prstDash val="solid"/>
                <a:round/>
                <a:headEnd type="none" w="sm" len="sm"/>
                <a:tailEnd type="triangle" w="med" len="med"/>
              </a:ln>
            </p:spPr>
          </p:cxnSp>
          <p:cxnSp>
            <p:nvCxnSpPr>
              <p:cNvPr id="416" name="Google Shape;416;p39"/>
              <p:cNvCxnSpPr/>
              <p:nvPr/>
            </p:nvCxnSpPr>
            <p:spPr>
              <a:xfrm>
                <a:off x="10160000" y="3429000"/>
                <a:ext cx="0" cy="636694"/>
              </a:xfrm>
              <a:prstGeom prst="straightConnector1">
                <a:avLst/>
              </a:prstGeom>
              <a:noFill/>
              <a:ln w="28575" cap="flat" cmpd="sng">
                <a:solidFill>
                  <a:srgbClr val="FF0000"/>
                </a:solidFill>
                <a:prstDash val="solid"/>
                <a:round/>
                <a:headEnd type="stealth" w="med" len="med"/>
                <a:tailEnd type="none" w="sm" len="sm"/>
              </a:ln>
            </p:spPr>
          </p:cxnSp>
        </p:grpSp>
      </p:grpSp>
      <p:sp>
        <p:nvSpPr>
          <p:cNvPr id="417" name="Google Shape;417;p39"/>
          <p:cNvSpPr txBox="1"/>
          <p:nvPr/>
        </p:nvSpPr>
        <p:spPr>
          <a:xfrm>
            <a:off x="7000673" y="3741252"/>
            <a:ext cx="4838316"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ru-RU" b="0" i="0" u="none" strike="noStrike" cap="none" dirty="0">
                <a:solidFill>
                  <a:srgbClr val="000000"/>
                </a:solidFill>
                <a:latin typeface="Times New Roman"/>
                <a:ea typeface="Times New Roman"/>
                <a:cs typeface="Times New Roman"/>
                <a:sym typeface="Times New Roman"/>
              </a:rPr>
              <a:t>Рис. 7. Принципиальная схема оптической накачки в магнито-нечувствительное состояние.</a:t>
            </a:r>
            <a:endParaRPr b="0" i="0" u="none" strike="noStrike" cap="none" dirty="0">
              <a:solidFill>
                <a:srgbClr val="000000"/>
              </a:solidFill>
              <a:latin typeface="Arial"/>
              <a:ea typeface="Arial"/>
              <a:cs typeface="Arial"/>
              <a:sym typeface="Arial"/>
            </a:endParaRPr>
          </a:p>
        </p:txBody>
      </p:sp>
      <p:sp>
        <p:nvSpPr>
          <p:cNvPr id="418" name="Google Shape;418;p39"/>
          <p:cNvSpPr txBox="1"/>
          <p:nvPr/>
        </p:nvSpPr>
        <p:spPr>
          <a:xfrm>
            <a:off x="5807514" y="2815847"/>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(4)</a:t>
            </a:r>
            <a:endParaRPr sz="140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4F5967E-D4F9-4842-B0EB-39DB23D352F1}"/>
              </a:ext>
            </a:extLst>
          </p:cNvPr>
          <p:cNvSpPr txBox="1"/>
          <p:nvPr/>
        </p:nvSpPr>
        <p:spPr>
          <a:xfrm>
            <a:off x="8975152" y="2366927"/>
            <a:ext cx="1107233" cy="307777"/>
          </a:xfrm>
          <a:prstGeom prst="rect">
            <a:avLst/>
          </a:prstGeom>
          <a:noFill/>
        </p:spPr>
        <p:txBody>
          <a:bodyPr wrap="square" rtlCol="0">
            <a:spAutoFit/>
          </a:bodyPr>
          <a:lstStyle/>
          <a:p>
            <a:r>
              <a:rPr lang="en-US" dirty="0">
                <a:solidFill>
                  <a:srgbClr val="FF0000"/>
                </a:solidFill>
                <a:latin typeface="Times New Roman" panose="02020603050405020304" pitchFamily="18" charset="0"/>
                <a:cs typeface="Times New Roman" panose="02020603050405020304" pitchFamily="18" charset="0"/>
              </a:rPr>
              <a:t>R</a:t>
            </a:r>
            <a:r>
              <a:rPr lang="en-US" baseline="-25000" dirty="0">
                <a:solidFill>
                  <a:srgbClr val="FF0000"/>
                </a:solidFill>
                <a:latin typeface="Times New Roman" panose="02020603050405020304" pitchFamily="18" charset="0"/>
                <a:cs typeface="Times New Roman" panose="02020603050405020304" pitchFamily="18" charset="0"/>
              </a:rPr>
              <a:t>11</a:t>
            </a:r>
            <a:endParaRPr lang="ru-RU" baseline="-2500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A5C2B33-9DCB-4AFD-A255-467C2A05B4AF}"/>
              </a:ext>
            </a:extLst>
          </p:cNvPr>
          <p:cNvSpPr txBox="1"/>
          <p:nvPr/>
        </p:nvSpPr>
        <p:spPr>
          <a:xfrm>
            <a:off x="8491886" y="2396931"/>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ru-RU" baseline="-25000" dirty="0">
                <a:solidFill>
                  <a:srgbClr val="00B050"/>
                </a:solidFill>
                <a:latin typeface="Times New Roman" panose="02020603050405020304" pitchFamily="18" charset="0"/>
                <a:cs typeface="Times New Roman" panose="02020603050405020304" pitchFamily="18" charset="0"/>
              </a:rPr>
              <a:t>11</a:t>
            </a:r>
          </a:p>
        </p:txBody>
      </p:sp>
      <p:sp>
        <p:nvSpPr>
          <p:cNvPr id="38" name="TextBox 37">
            <a:extLst>
              <a:ext uri="{FF2B5EF4-FFF2-40B4-BE49-F238E27FC236}">
                <a16:creationId xmlns:a16="http://schemas.microsoft.com/office/drawing/2014/main" id="{4531E132-C4B3-421F-ADA7-7C75D186F689}"/>
              </a:ext>
            </a:extLst>
          </p:cNvPr>
          <p:cNvSpPr txBox="1"/>
          <p:nvPr/>
        </p:nvSpPr>
        <p:spPr>
          <a:xfrm>
            <a:off x="9618412" y="2166485"/>
            <a:ext cx="927945" cy="307777"/>
          </a:xfrm>
          <a:prstGeom prst="rect">
            <a:avLst/>
          </a:prstGeom>
          <a:noFill/>
        </p:spPr>
        <p:txBody>
          <a:bodyPr wrap="square" rtlCol="0">
            <a:spAutoFit/>
          </a:bodyPr>
          <a:lstStyle/>
          <a:p>
            <a:r>
              <a:rPr lang="ru-RU" dirty="0">
                <a:solidFill>
                  <a:srgbClr val="00B050"/>
                </a:solidFill>
                <a:latin typeface="Times New Roman" panose="02020603050405020304" pitchFamily="18" charset="0"/>
                <a:cs typeface="Times New Roman" panose="02020603050405020304" pitchFamily="18" charset="0"/>
              </a:rPr>
              <a:t>Г</a:t>
            </a:r>
            <a:r>
              <a:rPr lang="ru-RU" b="1" dirty="0">
                <a:solidFill>
                  <a:srgbClr val="00B050"/>
                </a:solidFill>
                <a:latin typeface="Times New Roman" panose="02020603050405020304" pitchFamily="18" charset="0"/>
                <a:cs typeface="Times New Roman" panose="02020603050405020304" pitchFamily="18" charset="0"/>
              </a:rPr>
              <a:t>⋅</a:t>
            </a:r>
            <a:r>
              <a:rPr lang="ru-RU" dirty="0">
                <a:solidFill>
                  <a:srgbClr val="00B050"/>
                </a:solidFill>
                <a:latin typeface="Times New Roman" panose="02020603050405020304" pitchFamily="18" charset="0"/>
                <a:cs typeface="Times New Roman" panose="02020603050405020304" pitchFamily="18" charset="0"/>
              </a:rPr>
              <a:t>β</a:t>
            </a:r>
            <a:r>
              <a:rPr lang="en-US" baseline="-25000" dirty="0">
                <a:solidFill>
                  <a:srgbClr val="00B050"/>
                </a:solidFill>
                <a:latin typeface="Times New Roman" panose="02020603050405020304" pitchFamily="18" charset="0"/>
                <a:cs typeface="Times New Roman" panose="02020603050405020304" pitchFamily="18" charset="0"/>
              </a:rPr>
              <a:t>2</a:t>
            </a:r>
            <a:r>
              <a:rPr lang="ru-RU" baseline="-25000" dirty="0">
                <a:solidFill>
                  <a:srgbClr val="00B050"/>
                </a:solidFill>
                <a:latin typeface="Times New Roman" panose="02020603050405020304" pitchFamily="18" charset="0"/>
                <a:cs typeface="Times New Roman" panose="02020603050405020304" pitchFamily="18" charset="0"/>
              </a:rPr>
              <a:t>1</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9BE1B8A-953A-40F9-8B17-DD9A0A91F65D}"/>
                  </a:ext>
                </a:extLst>
              </p:cNvPr>
              <p:cNvSpPr txBox="1"/>
              <p:nvPr/>
            </p:nvSpPr>
            <p:spPr>
              <a:xfrm>
                <a:off x="867197" y="631446"/>
                <a:ext cx="1683184" cy="7225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a:latin typeface="Cambria Math" panose="02040503050406030204" pitchFamily="18" charset="0"/>
                            </a:rPr>
                            <m:t>Г</m:t>
                          </m:r>
                        </m:e>
                        <m:sub>
                          <m:r>
                            <a:rPr lang="ru-RU" i="1">
                              <a:latin typeface="Cambria Math" panose="02040503050406030204" pitchFamily="18" charset="0"/>
                            </a:rPr>
                            <m:t>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=1</m:t>
                          </m:r>
                        </m:sub>
                        <m:sup>
                          <m:r>
                            <a:rPr lang="ru-RU" i="1">
                              <a:latin typeface="Cambria Math" panose="02040503050406030204" pitchFamily="18" charset="0"/>
                            </a:rPr>
                            <m:t>𝑁</m:t>
                          </m:r>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e>
                      </m:nary>
                      <m:r>
                        <a:rPr lang="ru-RU" b="0" i="1" smtClean="0">
                          <a:latin typeface="Cambria Math" panose="02040503050406030204" pitchFamily="18" charset="0"/>
                        </a:rPr>
                        <m:t>,</m:t>
                      </m:r>
                    </m:oMath>
                  </m:oMathPara>
                </a14:m>
                <a:endParaRPr lang="ru-RU" dirty="0"/>
              </a:p>
            </p:txBody>
          </p:sp>
        </mc:Choice>
        <mc:Fallback xmlns="">
          <p:sp>
            <p:nvSpPr>
              <p:cNvPr id="35" name="TextBox 34">
                <a:extLst>
                  <a:ext uri="{FF2B5EF4-FFF2-40B4-BE49-F238E27FC236}">
                    <a16:creationId xmlns:a16="http://schemas.microsoft.com/office/drawing/2014/main" id="{29BE1B8A-953A-40F9-8B17-DD9A0A91F65D}"/>
                  </a:ext>
                </a:extLst>
              </p:cNvPr>
              <p:cNvSpPr txBox="1">
                <a:spLocks noRot="1" noChangeAspect="1" noMove="1" noResize="1" noEditPoints="1" noAdjustHandles="1" noChangeArrowheads="1" noChangeShapeType="1" noTextEdit="1"/>
              </p:cNvSpPr>
              <p:nvPr/>
            </p:nvSpPr>
            <p:spPr>
              <a:xfrm>
                <a:off x="867197" y="631446"/>
                <a:ext cx="1683184" cy="722505"/>
              </a:xfrm>
              <a:prstGeom prst="rect">
                <a:avLst/>
              </a:prstGeom>
              <a:blipFill>
                <a:blip r:embed="rId3"/>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9B134FA-BCAE-424B-8058-92E1B494C264}"/>
                  </a:ext>
                </a:extLst>
              </p:cNvPr>
              <p:cNvSpPr txBox="1"/>
              <p:nvPr/>
            </p:nvSpPr>
            <p:spPr>
              <a:xfrm>
                <a:off x="913918" y="2624514"/>
                <a:ext cx="4613300" cy="6904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i="1">
                              <a:latin typeface="Cambria Math" panose="02040503050406030204" pitchFamily="18" charset="0"/>
                            </a:rPr>
                            <m:t>𝑑</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um>
                        <m:den>
                          <m:r>
                            <a:rPr lang="ru-RU" i="1">
                              <a:latin typeface="Cambria Math" panose="02040503050406030204" pitchFamily="18" charset="0"/>
                            </a:rPr>
                            <m:t>𝑑𝑡</m:t>
                          </m:r>
                        </m:den>
                      </m:f>
                      <m:r>
                        <a:rPr lang="ru-RU" i="0">
                          <a:latin typeface="Cambria Math" panose="02040503050406030204" pitchFamily="18" charset="0"/>
                        </a:rPr>
                        <m:t>=</m:t>
                      </m:r>
                      <m:nary>
                        <m:naryPr>
                          <m:chr m:val="∑"/>
                          <m:limLoc m:val="undOvr"/>
                          <m:supHide m:val="on"/>
                          <m:ctrlPr>
                            <a:rPr lang="ru-RU" i="1" smtClean="0">
                              <a:latin typeface="Cambria Math" panose="02040503050406030204" pitchFamily="18" charset="0"/>
                            </a:rPr>
                          </m:ctrlPr>
                        </m:naryPr>
                        <m:sub>
                          <m:r>
                            <a:rPr lang="ru-RU" i="1">
                              <a:latin typeface="Cambria Math" panose="02040503050406030204" pitchFamily="18" charset="0"/>
                            </a:rPr>
                            <m:t>𝑗</m:t>
                          </m:r>
                          <m:r>
                            <a:rPr lang="ru-RU" i="0">
                              <a:latin typeface="Cambria Math" panose="02040503050406030204" pitchFamily="18" charset="0"/>
                            </a:rPr>
                            <m:t>≠</m:t>
                          </m:r>
                          <m:r>
                            <a:rPr lang="ru-RU" i="1">
                              <a:latin typeface="Cambria Math" panose="02040503050406030204" pitchFamily="18" charset="0"/>
                            </a:rPr>
                            <m:t>𝑛</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𝑗</m:t>
                              </m:r>
                            </m:sub>
                          </m:sSub>
                          <m:d>
                            <m:dPr>
                              <m:ctrlPr>
                                <a:rPr lang="ru-RU" i="1">
                                  <a:solidFill>
                                    <a:srgbClr val="836967"/>
                                  </a:solidFill>
                                  <a:latin typeface="Cambria Math" panose="02040503050406030204" pitchFamily="18" charset="0"/>
                                </a:rPr>
                              </m:ctrlPr>
                            </m:dPr>
                            <m:e>
                              <m:r>
                                <a:rPr lang="ru-RU" i="1">
                                  <a:latin typeface="Cambria Math" panose="02040503050406030204" pitchFamily="18" charset="0"/>
                                </a:rPr>
                                <m:t>𝑡</m:t>
                              </m:r>
                            </m:e>
                          </m:d>
                          <m:d>
                            <m:dPr>
                              <m:begChr m:val="["/>
                              <m:endChr m:val="]"/>
                              <m:ctrlPr>
                                <a:rPr lang="ru-RU" i="1">
                                  <a:solidFill>
                                    <a:srgbClr val="836967"/>
                                  </a:solidFill>
                                  <a:latin typeface="Cambria Math" panose="02040503050406030204" pitchFamily="18" charset="0"/>
                                </a:rPr>
                              </m:ctrlPr>
                            </m:dPr>
                            <m:e>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nary>
                            </m:e>
                          </m:d>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nary>
                            <m:naryPr>
                              <m:chr m:val="∑"/>
                              <m:limLoc m:val="undOvr"/>
                              <m:supHide m:val="on"/>
                              <m:ctrlPr>
                                <a:rPr lang="ru-RU" i="1">
                                  <a:latin typeface="Cambria Math" panose="02040503050406030204" pitchFamily="18" charset="0"/>
                                </a:rPr>
                              </m:ctrlPr>
                            </m:naryPr>
                            <m:sub>
                              <m:r>
                                <a:rPr lang="ru-RU" i="1">
                                  <a:latin typeface="Cambria Math" panose="02040503050406030204" pitchFamily="18" charset="0"/>
                                </a:rPr>
                                <m:t>𝑘</m:t>
                              </m: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d>
                                <m:dPr>
                                  <m:ctrlPr>
                                    <a:rPr lang="ru-RU" i="1">
                                      <a:solidFill>
                                        <a:srgbClr val="836967"/>
                                      </a:solidFill>
                                      <a:latin typeface="Cambria Math" panose="02040503050406030204" pitchFamily="18" charset="0"/>
                                    </a:rPr>
                                  </m:ctrlPr>
                                </m:dPr>
                                <m:e>
                                  <m:r>
                                    <a:rPr lang="ru-RU" i="0">
                                      <a:latin typeface="Cambria Math" panose="02040503050406030204" pitchFamily="18" charset="0"/>
                                    </a:rPr>
                                    <m:t>1−</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𝑛𝑘</m:t>
                                      </m:r>
                                    </m:sub>
                                  </m:sSub>
                                </m:e>
                              </m:d>
                            </m:e>
                          </m:nary>
                          <m:r>
                            <a:rPr lang="ru-RU" b="0" i="1" smtClean="0">
                              <a:latin typeface="Cambria Math" panose="02040503050406030204" pitchFamily="18" charset="0"/>
                            </a:rPr>
                            <m:t>,</m:t>
                          </m:r>
                        </m:e>
                      </m:nary>
                    </m:oMath>
                  </m:oMathPara>
                </a14:m>
                <a:endParaRPr lang="ru-RU" dirty="0"/>
              </a:p>
            </p:txBody>
          </p:sp>
        </mc:Choice>
        <mc:Fallback xmlns="">
          <p:sp>
            <p:nvSpPr>
              <p:cNvPr id="37" name="TextBox 36">
                <a:extLst>
                  <a:ext uri="{FF2B5EF4-FFF2-40B4-BE49-F238E27FC236}">
                    <a16:creationId xmlns:a16="http://schemas.microsoft.com/office/drawing/2014/main" id="{A9B134FA-BCAE-424B-8058-92E1B494C264}"/>
                  </a:ext>
                </a:extLst>
              </p:cNvPr>
              <p:cNvSpPr txBox="1">
                <a:spLocks noRot="1" noChangeAspect="1" noMove="1" noResize="1" noEditPoints="1" noAdjustHandles="1" noChangeArrowheads="1" noChangeShapeType="1" noTextEdit="1"/>
              </p:cNvSpPr>
              <p:nvPr/>
            </p:nvSpPr>
            <p:spPr>
              <a:xfrm>
                <a:off x="913918" y="2624514"/>
                <a:ext cx="4613300" cy="690445"/>
              </a:xfrm>
              <a:prstGeom prst="rect">
                <a:avLst/>
              </a:prstGeom>
              <a:blipFill>
                <a:blip r:embed="rId4"/>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B3F2F19-6460-4369-BABA-AA6847BB5756}"/>
                  </a:ext>
                </a:extLst>
              </p:cNvPr>
              <p:cNvSpPr txBox="1"/>
              <p:nvPr/>
            </p:nvSpPr>
            <p:spPr>
              <a:xfrm>
                <a:off x="1021326" y="1391137"/>
                <a:ext cx="2450786" cy="7742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𝛽</m:t>
                          </m:r>
                        </m:e>
                        <m:sub>
                          <m:r>
                            <a:rPr lang="ru-RU" i="1">
                              <a:latin typeface="Cambria Math" panose="02040503050406030204" pitchFamily="18" charset="0"/>
                            </a:rPr>
                            <m:t>𝑗𝑘</m:t>
                          </m:r>
                        </m:sub>
                      </m:sSub>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num>
                        <m:den>
                          <m:r>
                            <a:rPr lang="ru-RU" i="0">
                              <a:latin typeface="Cambria Math" panose="02040503050406030204" pitchFamily="18" charset="0"/>
                            </a:rPr>
                            <m:t>2</m:t>
                          </m:r>
                        </m:den>
                      </m:f>
                      <m:f>
                        <m:fPr>
                          <m:ctrlPr>
                            <a:rPr lang="ru-RU" i="1">
                              <a:solidFill>
                                <a:srgbClr val="836967"/>
                              </a:solidFill>
                              <a:latin typeface="Cambria Math" panose="02040503050406030204" pitchFamily="18" charset="0"/>
                            </a:rPr>
                          </m:ctrlPr>
                        </m:fPr>
                        <m:num>
                          <m:r>
                            <a:rPr lang="ru-RU" i="1">
                              <a:latin typeface="Cambria Math" panose="02040503050406030204" pitchFamily="18" charset="0"/>
                            </a:rPr>
                            <m:t>𝑆</m:t>
                          </m:r>
                        </m:num>
                        <m:den>
                          <m:r>
                            <a:rPr lang="ru-RU" i="0">
                              <a:latin typeface="Cambria Math" panose="02040503050406030204" pitchFamily="18" charset="0"/>
                            </a:rPr>
                            <m:t>1+</m:t>
                          </m:r>
                          <m:r>
                            <a:rPr lang="ru-RU" i="1">
                              <a:latin typeface="Cambria Math" panose="02040503050406030204" pitchFamily="18" charset="0"/>
                            </a:rPr>
                            <m:t>𝑆</m:t>
                          </m:r>
                          <m:r>
                            <a:rPr lang="ru-RU" i="0">
                              <a:latin typeface="Cambria Math" panose="02040503050406030204" pitchFamily="18" charset="0"/>
                            </a:rPr>
                            <m:t>+</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f>
                                    <m:fPr>
                                      <m:ctrlPr>
                                        <a:rPr lang="ru-RU" i="1">
                                          <a:solidFill>
                                            <a:srgbClr val="836967"/>
                                          </a:solidFill>
                                          <a:latin typeface="Cambria Math" panose="02040503050406030204" pitchFamily="18" charset="0"/>
                                        </a:rPr>
                                      </m:ctrlPr>
                                    </m:fPr>
                                    <m:num>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2∆</m:t>
                                          </m:r>
                                        </m:e>
                                        <m:sub>
                                          <m:r>
                                            <a:rPr lang="ru-RU" i="1">
                                              <a:latin typeface="Cambria Math" panose="02040503050406030204" pitchFamily="18" charset="0"/>
                                            </a:rPr>
                                            <m:t>𝑗𝑘</m:t>
                                          </m:r>
                                        </m:sub>
                                      </m:sSub>
                                    </m:num>
                                    <m:den>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0">
                                              <a:latin typeface="Cambria Math" panose="02040503050406030204" pitchFamily="18" charset="0"/>
                                            </a:rPr>
                                            <m:t>к</m:t>
                                          </m:r>
                                        </m:sub>
                                      </m:sSub>
                                    </m:den>
                                  </m:f>
                                </m:e>
                              </m:d>
                            </m:e>
                            <m:sup>
                              <m:r>
                                <a:rPr lang="ru-RU" i="0">
                                  <a:latin typeface="Cambria Math" panose="02040503050406030204" pitchFamily="18" charset="0"/>
                                </a:rPr>
                                <m:t>2</m:t>
                              </m:r>
                            </m:sup>
                          </m:sSup>
                        </m:den>
                      </m:f>
                      <m:r>
                        <a:rPr lang="ru-RU" b="0" i="1" smtClean="0">
                          <a:latin typeface="Cambria Math" panose="02040503050406030204" pitchFamily="18" charset="0"/>
                        </a:rPr>
                        <m:t>,</m:t>
                      </m:r>
                    </m:oMath>
                  </m:oMathPara>
                </a14:m>
                <a:endParaRPr lang="ru-RU" dirty="0"/>
              </a:p>
            </p:txBody>
          </p:sp>
        </mc:Choice>
        <mc:Fallback xmlns="">
          <p:sp>
            <p:nvSpPr>
              <p:cNvPr id="39" name="TextBox 38">
                <a:extLst>
                  <a:ext uri="{FF2B5EF4-FFF2-40B4-BE49-F238E27FC236}">
                    <a16:creationId xmlns:a16="http://schemas.microsoft.com/office/drawing/2014/main" id="{9B3F2F19-6460-4369-BABA-AA6847BB5756}"/>
                  </a:ext>
                </a:extLst>
              </p:cNvPr>
              <p:cNvSpPr txBox="1">
                <a:spLocks noRot="1" noChangeAspect="1" noMove="1" noResize="1" noEditPoints="1" noAdjustHandles="1" noChangeArrowheads="1" noChangeShapeType="1" noTextEdit="1"/>
              </p:cNvSpPr>
              <p:nvPr/>
            </p:nvSpPr>
            <p:spPr>
              <a:xfrm>
                <a:off x="1021326" y="1391137"/>
                <a:ext cx="2450786" cy="774251"/>
              </a:xfrm>
              <a:prstGeom prst="rect">
                <a:avLst/>
              </a:prstGeom>
              <a:blipFill>
                <a:blip r:embed="rId5"/>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02CB737A-7F63-452A-A4F0-ADB5F62E6118}"/>
                  </a:ext>
                </a:extLst>
              </p:cNvPr>
              <p:cNvSpPr txBox="1"/>
              <p:nvPr/>
            </p:nvSpPr>
            <p:spPr>
              <a:xfrm>
                <a:off x="689387" y="2135321"/>
                <a:ext cx="1557332"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ru-RU" i="1" smtClean="0">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𝑗𝑘</m:t>
                          </m:r>
                        </m:sub>
                      </m:sSub>
                      <m:r>
                        <a:rPr lang="ru-RU" i="0">
                          <a:latin typeface="Cambria Math" panose="02040503050406030204" pitchFamily="18" charset="0"/>
                        </a:rPr>
                        <m:t>≪</m:t>
                      </m:r>
                      <m:sSub>
                        <m:sSubPr>
                          <m:ctrlPr>
                            <a:rPr lang="ru-RU" i="1">
                              <a:solidFill>
                                <a:srgbClr val="836967"/>
                              </a:solidFill>
                              <a:latin typeface="Cambria Math" panose="02040503050406030204" pitchFamily="18" charset="0"/>
                            </a:rPr>
                          </m:ctrlPr>
                        </m:sSubPr>
                        <m:e>
                          <m:r>
                            <a:rPr lang="ru-RU" i="0">
                              <a:latin typeface="Cambria Math" panose="02040503050406030204" pitchFamily="18" charset="0"/>
                            </a:rPr>
                            <m:t>Г</m:t>
                          </m:r>
                        </m:e>
                        <m:sub>
                          <m:r>
                            <a:rPr lang="ru-RU" i="1">
                              <a:latin typeface="Cambria Math" panose="02040503050406030204" pitchFamily="18" charset="0"/>
                            </a:rPr>
                            <m:t>𝑘</m:t>
                          </m:r>
                        </m:sub>
                      </m:sSub>
                      <m:r>
                        <a:rPr lang="ru-RU" b="0" i="1" smtClean="0">
                          <a:latin typeface="Cambria Math" panose="02040503050406030204" pitchFamily="18" charset="0"/>
                        </a:rPr>
                        <m:t>.</m:t>
                      </m:r>
                    </m:oMath>
                  </m:oMathPara>
                </a14:m>
                <a:endParaRPr lang="ru-RU" dirty="0"/>
              </a:p>
            </p:txBody>
          </p:sp>
        </mc:Choice>
        <mc:Fallback xmlns="">
          <p:sp>
            <p:nvSpPr>
              <p:cNvPr id="41" name="TextBox 40">
                <a:extLst>
                  <a:ext uri="{FF2B5EF4-FFF2-40B4-BE49-F238E27FC236}">
                    <a16:creationId xmlns:a16="http://schemas.microsoft.com/office/drawing/2014/main" id="{02CB737A-7F63-452A-A4F0-ADB5F62E6118}"/>
                  </a:ext>
                </a:extLst>
              </p:cNvPr>
              <p:cNvSpPr txBox="1">
                <a:spLocks noRot="1" noChangeAspect="1" noMove="1" noResize="1" noEditPoints="1" noAdjustHandles="1" noChangeArrowheads="1" noChangeShapeType="1" noTextEdit="1"/>
              </p:cNvSpPr>
              <p:nvPr/>
            </p:nvSpPr>
            <p:spPr>
              <a:xfrm>
                <a:off x="689387" y="2135321"/>
                <a:ext cx="1557332" cy="325089"/>
              </a:xfrm>
              <a:prstGeom prst="rect">
                <a:avLst/>
              </a:prstGeom>
              <a:blipFill>
                <a:blip r:embed="rId6"/>
                <a:stretch>
                  <a:fillRect b="-1852"/>
                </a:stretch>
              </a:blipFill>
            </p:spPr>
            <p:txBody>
              <a:bodyPr/>
              <a:lstStyle/>
              <a:p>
                <a:r>
                  <a:rPr lang="ru-RU">
                    <a:noFill/>
                  </a:rPr>
                  <a:t> </a:t>
                </a:r>
              </a:p>
            </p:txBody>
          </p:sp>
        </mc:Fallback>
      </mc:AlternateContent>
      <p:sp>
        <p:nvSpPr>
          <p:cNvPr id="9" name="TextBox 8">
            <a:extLst>
              <a:ext uri="{FF2B5EF4-FFF2-40B4-BE49-F238E27FC236}">
                <a16:creationId xmlns:a16="http://schemas.microsoft.com/office/drawing/2014/main" id="{CC1FFB71-6BBE-4169-8FB5-1E179654E9EC}"/>
              </a:ext>
            </a:extLst>
          </p:cNvPr>
          <p:cNvSpPr txBox="1"/>
          <p:nvPr/>
        </p:nvSpPr>
        <p:spPr>
          <a:xfrm>
            <a:off x="837021" y="4629134"/>
            <a:ext cx="4767094" cy="1815882"/>
          </a:xfrm>
          <a:prstGeom prst="rect">
            <a:avLst/>
          </a:prstGeom>
          <a:noFill/>
        </p:spPr>
        <p:txBody>
          <a:bodyPr wrap="square" rtlCol="0">
            <a:spAutoFit/>
          </a:bodyPr>
          <a:lstStyle/>
          <a:p>
            <a:r>
              <a:rPr lang="ru-RU" dirty="0">
                <a:latin typeface="Times New Roman" panose="02020603050405020304" pitchFamily="18" charset="0"/>
                <a:cs typeface="Times New Roman" panose="02020603050405020304" pitchFamily="18" charset="0"/>
              </a:rPr>
              <a:t>где </a:t>
            </a:r>
            <a:r>
              <a:rPr lang="en-US" dirty="0" err="1">
                <a:latin typeface="Times New Roman" panose="02020603050405020304" pitchFamily="18" charset="0"/>
                <a:cs typeface="Times New Roman" panose="02020603050405020304" pitchFamily="18" charset="0"/>
              </a:rPr>
              <a:t>G</a:t>
            </a:r>
            <a:r>
              <a:rPr lang="en-US" baseline="-25000" dirty="0" err="1">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населённость нижнего </a:t>
            </a:r>
            <a:r>
              <a:rPr lang="en-US" dirty="0">
                <a:latin typeface="Times New Roman" panose="02020603050405020304" pitchFamily="18" charset="0"/>
                <a:cs typeface="Times New Roman" panose="02020603050405020304" pitchFamily="18" charset="0"/>
              </a:rPr>
              <a:t>n-</a:t>
            </a:r>
            <a:r>
              <a:rPr lang="ru-RU" dirty="0">
                <a:latin typeface="Times New Roman" panose="02020603050405020304" pitchFamily="18" charset="0"/>
                <a:cs typeface="Times New Roman" panose="02020603050405020304" pitchFamily="18" charset="0"/>
              </a:rPr>
              <a:t>го уровня,</a:t>
            </a:r>
          </a:p>
          <a:p>
            <a:r>
              <a:rPr lang="en-US" dirty="0">
                <a:latin typeface="Times New Roman" panose="02020603050405020304" pitchFamily="18" charset="0"/>
                <a:cs typeface="Times New Roman" panose="02020603050405020304" pitchFamily="18" charset="0"/>
              </a:rPr>
              <a:t>R</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скорость поглощения для</a:t>
            </a:r>
            <a:r>
              <a:rPr lang="en-US" dirty="0">
                <a:latin typeface="Times New Roman" panose="02020603050405020304" pitchFamily="18" charset="0"/>
                <a:cs typeface="Times New Roman" panose="02020603050405020304" pitchFamily="18" charset="0"/>
              </a:rPr>
              <a:t> jk-</a:t>
            </a:r>
            <a:r>
              <a:rPr lang="ru-RU" dirty="0">
                <a:latin typeface="Times New Roman" panose="02020603050405020304" pitchFamily="18" charset="0"/>
                <a:cs typeface="Times New Roman" panose="02020603050405020304" pitchFamily="18" charset="0"/>
              </a:rPr>
              <a:t>перехода,</a:t>
            </a:r>
          </a:p>
          <a:p>
            <a:r>
              <a:rPr lang="el-GR" dirty="0">
                <a:latin typeface="Times New Roman" panose="02020603050405020304" pitchFamily="18" charset="0"/>
                <a:cs typeface="Times New Roman" panose="02020603050405020304" pitchFamily="18" charset="0"/>
              </a:rPr>
              <a:t>β</a:t>
            </a:r>
            <a:r>
              <a:rPr lang="en-US" baseline="-25000" dirty="0">
                <a:latin typeface="Times New Roman" panose="02020603050405020304" pitchFamily="18" charset="0"/>
                <a:cs typeface="Times New Roman" panose="02020603050405020304" pitchFamily="18" charset="0"/>
              </a:rPr>
              <a:t>jk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относительная скорость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ru-RU" dirty="0">
                <a:latin typeface="Times New Roman" panose="02020603050405020304" pitchFamily="18" charset="0"/>
                <a:cs typeface="Times New Roman" panose="02020603050405020304" pitchFamily="18" charset="0"/>
              </a:rPr>
              <a:t>Г</a:t>
            </a:r>
            <a:r>
              <a:rPr lang="en-US" baseline="-25000" dirty="0">
                <a:latin typeface="Times New Roman" panose="02020603050405020304" pitchFamily="18" charset="0"/>
                <a:cs typeface="Times New Roman" panose="02020603050405020304" pitchFamily="18" charset="0"/>
              </a:rPr>
              <a:t>k</a:t>
            </a:r>
            <a:r>
              <a:rPr lang="en-US" dirty="0">
                <a:latin typeface="Times New Roman" panose="02020603050405020304" pitchFamily="18" charset="0"/>
                <a:cs typeface="Times New Roman" panose="02020603050405020304" pitchFamily="18" charset="0"/>
              </a:rPr>
              <a:t> – </a:t>
            </a:r>
            <a:r>
              <a:rPr lang="ru-RU" dirty="0">
                <a:latin typeface="Times New Roman" panose="02020603050405020304" pitchFamily="18" charset="0"/>
                <a:cs typeface="Times New Roman" panose="02020603050405020304" pitchFamily="18" charset="0"/>
              </a:rPr>
              <a:t>естественная ширина линии,</a:t>
            </a:r>
          </a:p>
          <a:p>
            <a:r>
              <a:rPr lang="en-US" dirty="0">
                <a:latin typeface="Times New Roman" panose="02020603050405020304" pitchFamily="18" charset="0"/>
                <a:cs typeface="Times New Roman" panose="02020603050405020304" pitchFamily="18" charset="0"/>
              </a:rPr>
              <a:t>S – </a:t>
            </a:r>
            <a:r>
              <a:rPr lang="ru-RU" dirty="0">
                <a:latin typeface="Times New Roman" panose="02020603050405020304" pitchFamily="18" charset="0"/>
                <a:cs typeface="Times New Roman" panose="02020603050405020304" pitchFamily="18" charset="0"/>
              </a:rPr>
              <a:t>показатель насыщения,</a:t>
            </a:r>
          </a:p>
          <a:p>
            <a:r>
              <a:rPr lang="ru-RU" dirty="0">
                <a:latin typeface="Times New Roman" panose="02020603050405020304" pitchFamily="18" charset="0"/>
                <a:cs typeface="Times New Roman" panose="02020603050405020304" pitchFamily="18" charset="0"/>
              </a:rPr>
              <a:t>Δ</a:t>
            </a:r>
            <a:r>
              <a:rPr lang="en-US" baseline="-25000"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 – отстройка частоты излучения от частоты </a:t>
            </a:r>
            <a:r>
              <a:rPr lang="en-US" dirty="0">
                <a:latin typeface="Times New Roman" panose="02020603050405020304" pitchFamily="18" charset="0"/>
                <a:cs typeface="Times New Roman" panose="02020603050405020304" pitchFamily="18" charset="0"/>
              </a:rPr>
              <a:t>jk-</a:t>
            </a:r>
            <a:r>
              <a:rPr lang="ru-RU" dirty="0">
                <a:latin typeface="Times New Roman" panose="02020603050405020304" pitchFamily="18" charset="0"/>
                <a:cs typeface="Times New Roman" panose="02020603050405020304" pitchFamily="18" charset="0"/>
              </a:rPr>
              <a:t>перехода,</a:t>
            </a:r>
          </a:p>
          <a:p>
            <a:r>
              <a:rPr lang="en-US" dirty="0">
                <a:latin typeface="Times New Roman" panose="02020603050405020304" pitchFamily="18" charset="0"/>
                <a:cs typeface="Times New Roman" panose="02020603050405020304" pitchFamily="18" charset="0"/>
              </a:rPr>
              <a:t>N – </a:t>
            </a:r>
            <a:r>
              <a:rPr lang="ru-RU" dirty="0">
                <a:latin typeface="Times New Roman" panose="02020603050405020304" pitchFamily="18" charset="0"/>
                <a:cs typeface="Times New Roman" panose="02020603050405020304" pitchFamily="18" charset="0"/>
              </a:rPr>
              <a:t>количество </a:t>
            </a:r>
            <a:r>
              <a:rPr lang="ru-RU" dirty="0" err="1">
                <a:latin typeface="Times New Roman" panose="02020603050405020304" pitchFamily="18" charset="0"/>
                <a:cs typeface="Times New Roman" panose="02020603050405020304" pitchFamily="18" charset="0"/>
              </a:rPr>
              <a:t>рассеяных</a:t>
            </a:r>
            <a:r>
              <a:rPr lang="ru-RU" dirty="0">
                <a:latin typeface="Times New Roman" panose="02020603050405020304" pitchFamily="18" charset="0"/>
                <a:cs typeface="Times New Roman" panose="02020603050405020304" pitchFamily="18" charset="0"/>
              </a:rPr>
              <a:t> атомом фотонов,</a:t>
            </a:r>
          </a:p>
          <a:p>
            <a:r>
              <a:rPr lang="en-US" dirty="0">
                <a:latin typeface="Times New Roman" panose="02020603050405020304" pitchFamily="18" charset="0"/>
                <a:cs typeface="Times New Roman" panose="02020603050405020304" pitchFamily="18" charset="0"/>
              </a:rPr>
              <a:t>ΔT – </a:t>
            </a:r>
            <a:r>
              <a:rPr lang="ru-RU" dirty="0">
                <a:latin typeface="Times New Roman" panose="02020603050405020304" pitchFamily="18" charset="0"/>
                <a:cs typeface="Times New Roman" panose="02020603050405020304" pitchFamily="18" charset="0"/>
              </a:rPr>
              <a:t>нагрев атома.</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AE0082C-540F-46FC-9C43-AFAC0234EA26}"/>
                  </a:ext>
                </a:extLst>
              </p:cNvPr>
              <p:cNvSpPr txBox="1"/>
              <p:nvPr/>
            </p:nvSpPr>
            <p:spPr>
              <a:xfrm>
                <a:off x="514935" y="3342816"/>
                <a:ext cx="3131740" cy="74033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ru-RU" i="1" smtClean="0">
                          <a:latin typeface="Cambria Math" panose="02040503050406030204" pitchFamily="18" charset="0"/>
                        </a:rPr>
                        <m:t>𝑁</m:t>
                      </m:r>
                      <m:r>
                        <a:rPr lang="ru-RU" i="0">
                          <a:latin typeface="Cambria Math" panose="02040503050406030204" pitchFamily="18" charset="0"/>
                        </a:rPr>
                        <m:t>= </m:t>
                      </m:r>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𝑛</m:t>
                          </m:r>
                        </m:sub>
                        <m:sup/>
                        <m:e>
                          <m:nary>
                            <m:naryPr>
                              <m:chr m:val="∑"/>
                              <m:limLoc m:val="undOvr"/>
                              <m:ctrlPr>
                                <a:rPr lang="ru-RU" i="1">
                                  <a:latin typeface="Cambria Math" panose="02040503050406030204" pitchFamily="18" charset="0"/>
                                </a:rPr>
                              </m:ctrlPr>
                            </m:naryPr>
                            <m:sub>
                              <m:r>
                                <a:rPr lang="ru-RU" i="1">
                                  <a:latin typeface="Cambria Math" panose="02040503050406030204" pitchFamily="18" charset="0"/>
                                </a:rPr>
                                <m:t>𝑘</m:t>
                              </m:r>
                            </m:sub>
                            <m:sup/>
                            <m:e>
                              <m:nary>
                                <m:naryPr>
                                  <m:limLoc m:val="subSup"/>
                                  <m:ctrlPr>
                                    <a:rPr lang="ru-RU" i="1">
                                      <a:latin typeface="Cambria Math" panose="02040503050406030204" pitchFamily="18" charset="0"/>
                                    </a:rPr>
                                  </m:ctrlPr>
                                </m:naryPr>
                                <m:sub/>
                                <m:sup/>
                                <m:e>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𝑅</m:t>
                                      </m:r>
                                    </m:e>
                                    <m:sub>
                                      <m:r>
                                        <a:rPr lang="ru-RU" i="1">
                                          <a:latin typeface="Cambria Math" panose="02040503050406030204" pitchFamily="18" charset="0"/>
                                        </a:rPr>
                                        <m:t>𝑛𝑘</m:t>
                                      </m:r>
                                    </m:sub>
                                  </m:sSub>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𝐺</m:t>
                                      </m:r>
                                    </m:e>
                                    <m:sub>
                                      <m:r>
                                        <a:rPr lang="ru-RU" i="1">
                                          <a:latin typeface="Cambria Math" panose="02040503050406030204" pitchFamily="18" charset="0"/>
                                        </a:rPr>
                                        <m:t>𝑛</m:t>
                                      </m:r>
                                    </m:sub>
                                  </m:sSub>
                                  <m:d>
                                    <m:dPr>
                                      <m:ctrlPr>
                                        <a:rPr lang="ru-RU" i="1">
                                          <a:latin typeface="Cambria Math" panose="02040503050406030204" pitchFamily="18" charset="0"/>
                                        </a:rPr>
                                      </m:ctrlPr>
                                    </m:dPr>
                                    <m:e>
                                      <m:r>
                                        <a:rPr lang="ru-RU" i="1">
                                          <a:latin typeface="Cambria Math" panose="02040503050406030204" pitchFamily="18" charset="0"/>
                                        </a:rPr>
                                        <m:t>𝑡</m:t>
                                      </m:r>
                                    </m:e>
                                  </m:d>
                                  <m:r>
                                    <a:rPr lang="ru-RU" i="1">
                                      <a:latin typeface="Cambria Math" panose="02040503050406030204" pitchFamily="18" charset="0"/>
                                    </a:rPr>
                                    <m:t>𝑑𝑡</m:t>
                                  </m:r>
                                </m:e>
                              </m:nary>
                            </m:e>
                          </m:nary>
                          <m:r>
                            <a:rPr lang="ru-RU" b="0" i="0" smtClean="0">
                              <a:latin typeface="Cambria Math" panose="02040503050406030204" pitchFamily="18" charset="0"/>
                            </a:rPr>
                            <m:t>,</m:t>
                          </m:r>
                        </m:e>
                      </m:nary>
                    </m:oMath>
                  </m:oMathPara>
                </a14:m>
                <a:endParaRPr lang="ru-RU" dirty="0"/>
              </a:p>
            </p:txBody>
          </p:sp>
        </mc:Choice>
        <mc:Fallback xmlns="">
          <p:sp>
            <p:nvSpPr>
              <p:cNvPr id="36" name="TextBox 35">
                <a:extLst>
                  <a:ext uri="{FF2B5EF4-FFF2-40B4-BE49-F238E27FC236}">
                    <a16:creationId xmlns:a16="http://schemas.microsoft.com/office/drawing/2014/main" id="{DAE0082C-540F-46FC-9C43-AFAC0234EA26}"/>
                  </a:ext>
                </a:extLst>
              </p:cNvPr>
              <p:cNvSpPr txBox="1">
                <a:spLocks noRot="1" noChangeAspect="1" noMove="1" noResize="1" noEditPoints="1" noAdjustHandles="1" noChangeArrowheads="1" noChangeShapeType="1" noTextEdit="1"/>
              </p:cNvSpPr>
              <p:nvPr/>
            </p:nvSpPr>
            <p:spPr>
              <a:xfrm>
                <a:off x="514935" y="3342816"/>
                <a:ext cx="3131740" cy="740331"/>
              </a:xfrm>
              <a:prstGeom prst="rect">
                <a:avLst/>
              </a:prstGeom>
              <a:blipFill>
                <a:blip r:embed="rId7"/>
                <a:stretch>
                  <a:fillRect/>
                </a:stretch>
              </a:blipFill>
            </p:spPr>
            <p:txBody>
              <a:bodyPr/>
              <a:lstStyle/>
              <a:p>
                <a:r>
                  <a:rPr lang="ru-RU">
                    <a:noFill/>
                  </a:rPr>
                  <a:t> </a:t>
                </a:r>
              </a:p>
            </p:txBody>
          </p:sp>
        </mc:Fallback>
      </mc:AlternateContent>
      <p:sp>
        <p:nvSpPr>
          <p:cNvPr id="40" name="Google Shape;418;p39">
            <a:extLst>
              <a:ext uri="{FF2B5EF4-FFF2-40B4-BE49-F238E27FC236}">
                <a16:creationId xmlns:a16="http://schemas.microsoft.com/office/drawing/2014/main" id="{D2A9A03C-6C0A-4874-A8D5-6C3DFEA81824}"/>
              </a:ext>
            </a:extLst>
          </p:cNvPr>
          <p:cNvSpPr txBox="1"/>
          <p:nvPr/>
        </p:nvSpPr>
        <p:spPr>
          <a:xfrm>
            <a:off x="5821509" y="3559092"/>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(5)</a:t>
            </a:r>
            <a:endParaRPr sz="1400" b="0" i="0" u="none" strike="noStrike" cap="none" dirty="0">
              <a:solidFill>
                <a:srgbClr val="000000"/>
              </a:solidFill>
              <a:latin typeface="Times New Roman"/>
              <a:ea typeface="Times New Roman"/>
              <a:cs typeface="Times New Roman"/>
              <a:sym typeface="Times New Roman"/>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56F8552-3D85-40B7-B09A-9E64C1933AB2}"/>
                  </a:ext>
                </a:extLst>
              </p:cNvPr>
              <p:cNvSpPr txBox="1"/>
              <p:nvPr/>
            </p:nvSpPr>
            <p:spPr>
              <a:xfrm>
                <a:off x="541902" y="4093857"/>
                <a:ext cx="2333774" cy="52456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ru-RU" i="1" smtClean="0">
                              <a:solidFill>
                                <a:srgbClr val="836967"/>
                              </a:solidFill>
                              <a:latin typeface="Cambria Math" panose="02040503050406030204" pitchFamily="18" charset="0"/>
                            </a:rPr>
                          </m:ctrlPr>
                        </m:fPr>
                        <m:num>
                          <m:r>
                            <a:rPr lang="ru-RU">
                              <a:latin typeface="Cambria Math" panose="02040503050406030204" pitchFamily="18" charset="0"/>
                            </a:rPr>
                            <m:t>3</m:t>
                          </m:r>
                          <m:sSub>
                            <m:sSubPr>
                              <m:ctrlPr>
                                <a:rPr lang="ru-RU" i="1">
                                  <a:solidFill>
                                    <a:srgbClr val="836967"/>
                                  </a:solidFill>
                                  <a:latin typeface="Cambria Math" panose="02040503050406030204" pitchFamily="18" charset="0"/>
                                </a:rPr>
                              </m:ctrlPr>
                            </m:sSubPr>
                            <m:e>
                              <m:r>
                                <a:rPr lang="ru-RU" i="1">
                                  <a:latin typeface="Cambria Math" panose="02040503050406030204" pitchFamily="18" charset="0"/>
                                </a:rPr>
                                <m:t>𝑘</m:t>
                              </m:r>
                            </m:e>
                            <m:sub>
                              <m:r>
                                <a:rPr lang="ru-RU" i="1">
                                  <a:latin typeface="Cambria Math" panose="02040503050406030204" pitchFamily="18" charset="0"/>
                                </a:rPr>
                                <m:t>𝑏</m:t>
                              </m:r>
                            </m:sub>
                          </m:sSub>
                          <m:r>
                            <a:rPr lang="ru-RU" i="0">
                              <a:latin typeface="Cambria Math" panose="02040503050406030204" pitchFamily="18" charset="0"/>
                            </a:rPr>
                            <m:t>∆</m:t>
                          </m:r>
                          <m:r>
                            <a:rPr lang="ru-RU" i="1">
                              <a:latin typeface="Cambria Math" panose="02040503050406030204" pitchFamily="18" charset="0"/>
                            </a:rPr>
                            <m:t>𝑇</m:t>
                          </m:r>
                        </m:num>
                        <m:den>
                          <m:r>
                            <a:rPr lang="ru-RU" i="1">
                              <a:latin typeface="Cambria Math" panose="02040503050406030204" pitchFamily="18" charset="0"/>
                            </a:rPr>
                            <m:t>𝑚</m:t>
                          </m:r>
                        </m:den>
                      </m:f>
                      <m:r>
                        <a:rPr lang="ru-RU" i="0">
                          <a:latin typeface="Cambria Math" panose="02040503050406030204" pitchFamily="18" charset="0"/>
                        </a:rPr>
                        <m:t>=</m:t>
                      </m:r>
                      <m:f>
                        <m:fPr>
                          <m:ctrlPr>
                            <a:rPr lang="ru-RU" i="1">
                              <a:solidFill>
                                <a:srgbClr val="836967"/>
                              </a:solidFill>
                              <a:latin typeface="Cambria Math" panose="02040503050406030204" pitchFamily="18" charset="0"/>
                            </a:rPr>
                          </m:ctrlPr>
                        </m:fPr>
                        <m:num>
                          <m:r>
                            <a:rPr lang="ru-RU" i="0">
                              <a:latin typeface="Cambria Math" panose="02040503050406030204" pitchFamily="18" charset="0"/>
                            </a:rPr>
                            <m:t>2</m:t>
                          </m:r>
                          <m:sSup>
                            <m:sSupPr>
                              <m:ctrlPr>
                                <a:rPr lang="ru-RU" i="1">
                                  <a:solidFill>
                                    <a:srgbClr val="836967"/>
                                  </a:solidFill>
                                  <a:latin typeface="Cambria Math" panose="02040503050406030204" pitchFamily="18" charset="0"/>
                                </a:rPr>
                              </m:ctrlPr>
                            </m:sSupPr>
                            <m:e>
                              <m:d>
                                <m:dPr>
                                  <m:ctrlPr>
                                    <a:rPr lang="ru-RU" i="1">
                                      <a:solidFill>
                                        <a:srgbClr val="836967"/>
                                      </a:solidFill>
                                      <a:latin typeface="Cambria Math" panose="02040503050406030204" pitchFamily="18" charset="0"/>
                                    </a:rPr>
                                  </m:ctrlPr>
                                </m:dPr>
                                <m:e>
                                  <m:r>
                                    <m:rPr>
                                      <m:sty m:val="p"/>
                                    </m:rPr>
                                    <a:rPr lang="ru-RU" i="0">
                                      <a:latin typeface="Cambria Math" panose="02040503050406030204" pitchFamily="18" charset="0"/>
                                    </a:rPr>
                                    <m:t>hk</m:t>
                                  </m:r>
                                </m:e>
                              </m:d>
                            </m:e>
                            <m:sup>
                              <m:r>
                                <a:rPr lang="ru-RU" i="0">
                                  <a:latin typeface="Cambria Math" panose="02040503050406030204" pitchFamily="18" charset="0"/>
                                </a:rPr>
                                <m:t>2</m:t>
                              </m:r>
                            </m:sup>
                          </m:sSup>
                        </m:num>
                        <m:den>
                          <m:r>
                            <a:rPr lang="ru-RU" i="0">
                              <a:latin typeface="Cambria Math" panose="02040503050406030204" pitchFamily="18" charset="0"/>
                            </a:rPr>
                            <m:t>2</m:t>
                          </m:r>
                          <m:r>
                            <m:rPr>
                              <m:sty m:val="p"/>
                            </m:rPr>
                            <a:rPr lang="ru-RU" i="0">
                              <a:latin typeface="Cambria Math" panose="02040503050406030204" pitchFamily="18" charset="0"/>
                            </a:rPr>
                            <m:t>m</m:t>
                          </m:r>
                        </m:den>
                      </m:f>
                      <m:r>
                        <m:rPr>
                          <m:sty m:val="p"/>
                        </m:rPr>
                        <a:rPr lang="ru-RU" i="0">
                          <a:latin typeface="Cambria Math" panose="02040503050406030204" pitchFamily="18" charset="0"/>
                        </a:rPr>
                        <m:t>N</m:t>
                      </m:r>
                      <m:r>
                        <a:rPr lang="ru-RU" b="0" i="0" smtClean="0">
                          <a:latin typeface="Cambria Math" panose="02040503050406030204" pitchFamily="18" charset="0"/>
                        </a:rPr>
                        <m:t>,</m:t>
                      </m:r>
                    </m:oMath>
                  </m:oMathPara>
                </a14:m>
                <a:endParaRPr lang="ru-RU" dirty="0"/>
              </a:p>
            </p:txBody>
          </p:sp>
        </mc:Choice>
        <mc:Fallback xmlns="">
          <p:sp>
            <p:nvSpPr>
              <p:cNvPr id="42" name="TextBox 41">
                <a:extLst>
                  <a:ext uri="{FF2B5EF4-FFF2-40B4-BE49-F238E27FC236}">
                    <a16:creationId xmlns:a16="http://schemas.microsoft.com/office/drawing/2014/main" id="{056F8552-3D85-40B7-B09A-9E64C1933AB2}"/>
                  </a:ext>
                </a:extLst>
              </p:cNvPr>
              <p:cNvSpPr txBox="1">
                <a:spLocks noRot="1" noChangeAspect="1" noMove="1" noResize="1" noEditPoints="1" noAdjustHandles="1" noChangeArrowheads="1" noChangeShapeType="1" noTextEdit="1"/>
              </p:cNvSpPr>
              <p:nvPr/>
            </p:nvSpPr>
            <p:spPr>
              <a:xfrm>
                <a:off x="541902" y="4093857"/>
                <a:ext cx="2333774" cy="524567"/>
              </a:xfrm>
              <a:prstGeom prst="rect">
                <a:avLst/>
              </a:prstGeom>
              <a:blipFill>
                <a:blip r:embed="rId8"/>
                <a:stretch>
                  <a:fillRect/>
                </a:stretch>
              </a:blipFill>
            </p:spPr>
            <p:txBody>
              <a:bodyPr/>
              <a:lstStyle/>
              <a:p>
                <a:r>
                  <a:rPr lang="ru-RU">
                    <a:noFill/>
                  </a:rPr>
                  <a:t> </a:t>
                </a:r>
              </a:p>
            </p:txBody>
          </p:sp>
        </mc:Fallback>
      </mc:AlternateContent>
      <p:sp>
        <p:nvSpPr>
          <p:cNvPr id="43" name="Google Shape;418;p39">
            <a:extLst>
              <a:ext uri="{FF2B5EF4-FFF2-40B4-BE49-F238E27FC236}">
                <a16:creationId xmlns:a16="http://schemas.microsoft.com/office/drawing/2014/main" id="{D9E07F0D-D8D6-4961-B75B-70C78DAB38E6}"/>
              </a:ext>
            </a:extLst>
          </p:cNvPr>
          <p:cNvSpPr txBox="1"/>
          <p:nvPr/>
        </p:nvSpPr>
        <p:spPr>
          <a:xfrm>
            <a:off x="5810691" y="4202251"/>
            <a:ext cx="5706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ru-RU" sz="1400" b="0" i="0" u="none" strike="noStrike" cap="none" dirty="0">
                <a:solidFill>
                  <a:srgbClr val="000000"/>
                </a:solidFill>
                <a:latin typeface="Times New Roman"/>
                <a:ea typeface="Times New Roman"/>
                <a:cs typeface="Times New Roman"/>
                <a:sym typeface="Times New Roman"/>
              </a:rPr>
              <a:t>(6)</a:t>
            </a:r>
            <a:endParaRPr sz="1400" b="0" i="0" u="none" strike="noStrike" cap="none" dirty="0">
              <a:solidFill>
                <a:srgbClr val="000000"/>
              </a:solidFill>
              <a:latin typeface="Times New Roman"/>
              <a:ea typeface="Times New Roman"/>
              <a:cs typeface="Times New Roman"/>
              <a:sym typeface="Times New Roman"/>
            </a:endParaRPr>
          </a:p>
        </p:txBody>
      </p:sp>
      <p:sp>
        <p:nvSpPr>
          <p:cNvPr id="44" name="TextBox 43">
            <a:extLst>
              <a:ext uri="{FF2B5EF4-FFF2-40B4-BE49-F238E27FC236}">
                <a16:creationId xmlns:a16="http://schemas.microsoft.com/office/drawing/2014/main" id="{D1D74A28-7D6C-4CFE-ADD8-63365A444680}"/>
              </a:ext>
            </a:extLst>
          </p:cNvPr>
          <p:cNvSpPr txBox="1"/>
          <p:nvPr/>
        </p:nvSpPr>
        <p:spPr>
          <a:xfrm>
            <a:off x="11681926" y="6408575"/>
            <a:ext cx="360784" cy="312570"/>
          </a:xfrm>
          <a:prstGeom prst="rect">
            <a:avLst/>
          </a:prstGeom>
          <a:noFill/>
        </p:spPr>
        <p:txBody>
          <a:bodyPr wrap="square" rtlCol="0">
            <a:spAutoFit/>
          </a:bodyPr>
          <a:lstStyle/>
          <a:p>
            <a:r>
              <a:rPr lang="en-US" dirty="0"/>
              <a:t>8</a:t>
            </a:r>
            <a:endParaRPr lang="ru-RU"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38;p41">
            <a:extLst>
              <a:ext uri="{FF2B5EF4-FFF2-40B4-BE49-F238E27FC236}">
                <a16:creationId xmlns:a16="http://schemas.microsoft.com/office/drawing/2014/main" id="{52BC617F-5E2D-4580-9506-94A652B0244A}"/>
              </a:ext>
            </a:extLst>
          </p:cNvPr>
          <p:cNvSpPr/>
          <p:nvPr/>
        </p:nvSpPr>
        <p:spPr>
          <a:xfrm>
            <a:off x="2456856" y="56641"/>
            <a:ext cx="6910755" cy="35684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ru-RU" sz="2400" b="1" dirty="0">
                <a:solidFill>
                  <a:schemeClr val="lt1"/>
                </a:solidFill>
                <a:latin typeface="Times New Roman"/>
                <a:cs typeface="Times New Roman"/>
                <a:sym typeface="Times New Roman"/>
              </a:rPr>
              <a:t>Функция чувствительности гравиметра</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mc:Choice xmlns:a14="http://schemas.microsoft.com/office/drawing/2010/main" Requires="a14">
          <p:sp>
            <p:nvSpPr>
              <p:cNvPr id="4" name="TextBox 3"/>
              <p:cNvSpPr txBox="1"/>
              <p:nvPr/>
            </p:nvSpPr>
            <p:spPr>
              <a:xfrm>
                <a:off x="1917597" y="936610"/>
                <a:ext cx="3087897" cy="376321"/>
              </a:xfrm>
              <a:prstGeom prst="rect">
                <a:avLst/>
              </a:prstGeom>
              <a:noFill/>
            </p:spPr>
            <p:txBody>
              <a:bodyPr wrap="none" lIns="0" tIns="0" rIns="0" bIns="0" rtlCol="0">
                <a:spAutoFit/>
              </a:bodyPr>
              <a:lstStyle/>
              <a:p>
                <a14:m>
                  <m:oMath xmlns:m="http://schemas.openxmlformats.org/officeDocument/2006/math">
                    <m:r>
                      <a:rPr lang="ru-RU" sz="1800" i="1" smtClean="0">
                        <a:latin typeface="Cambria Math" panose="02040503050406030204" pitchFamily="18" charset="0"/>
                        <a:ea typeface="Cambria Math" panose="02040503050406030204" pitchFamily="18" charset="0"/>
                      </a:rPr>
                      <m:t>∆</m:t>
                    </m:r>
                    <m:r>
                      <m:rPr>
                        <m:sty m:val="p"/>
                      </m:rPr>
                      <a:rPr lang="el-GR" sz="1800" i="1" smtClean="0">
                        <a:latin typeface="Cambria Math" panose="02040503050406030204" pitchFamily="18" charset="0"/>
                        <a:ea typeface="Cambria Math" panose="02040503050406030204" pitchFamily="18" charset="0"/>
                      </a:rPr>
                      <m:t>Φ</m:t>
                    </m:r>
                    <m:r>
                      <a:rPr lang="ru-RU" sz="1800" b="0" i="1" smtClean="0">
                        <a:latin typeface="Cambria Math" panose="02040503050406030204" pitchFamily="18" charset="0"/>
                        <a:ea typeface="Cambria Math" panose="02040503050406030204" pitchFamily="18" charset="0"/>
                      </a:rPr>
                      <m:t>=</m:t>
                    </m:r>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𝑘</m:t>
                        </m:r>
                      </m:e>
                      <m:sub>
                        <m:r>
                          <a:rPr lang="en-US" sz="1800" b="0" i="1" smtClean="0">
                            <a:latin typeface="Cambria Math" panose="02040503050406030204" pitchFamily="18" charset="0"/>
                            <a:ea typeface="Cambria Math" panose="02040503050406030204" pitchFamily="18" charset="0"/>
                          </a:rPr>
                          <m:t>𝑒𝑓𝑓</m:t>
                        </m:r>
                      </m:sub>
                    </m:sSub>
                    <m:nary>
                      <m:naryPr>
                        <m:ctrlPr>
                          <a:rPr lang="ru-RU" sz="1800" b="0" i="1" smtClean="0">
                            <a:latin typeface="Cambria Math" panose="02040503050406030204" pitchFamily="18" charset="0"/>
                            <a:ea typeface="Cambria Math" panose="02040503050406030204" pitchFamily="18" charset="0"/>
                          </a:rPr>
                        </m:ctrlPr>
                      </m:naryPr>
                      <m:sub>
                        <m:r>
                          <m:rPr>
                            <m:brk m:alnAt="23"/>
                          </m:rPr>
                          <a:rPr lang="en-US" sz="1800" b="0" i="1" smtClean="0">
                            <a:latin typeface="Cambria Math" panose="02040503050406030204" pitchFamily="18" charset="0"/>
                            <a:ea typeface="Cambria Math" panose="02040503050406030204" pitchFamily="18" charset="0"/>
                          </a:rPr>
                          <m:t>0</m:t>
                        </m:r>
                      </m:sub>
                      <m:sup>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+4</m:t>
                        </m:r>
                        <m:r>
                          <a:rPr lang="en-US" sz="1800" b="0" i="1" smtClean="0">
                            <a:latin typeface="Cambria Math" panose="02040503050406030204" pitchFamily="18" charset="0"/>
                            <a:ea typeface="Cambria Math" panose="02040503050406030204" pitchFamily="18" charset="0"/>
                          </a:rPr>
                          <m:t>𝜏</m:t>
                        </m:r>
                      </m:sup>
                      <m:e>
                        <m:sSub>
                          <m:sSubPr>
                            <m:ctrlPr>
                              <a:rPr lang="ru-RU" sz="1800" b="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𝑎</m:t>
                            </m:r>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𝑔</m:t>
                            </m:r>
                          </m:e>
                          <m:sub>
                            <m:r>
                              <a:rPr lang="en-US" sz="1800" b="0" i="1" smtClean="0">
                                <a:latin typeface="Cambria Math" panose="02040503050406030204" pitchFamily="18" charset="0"/>
                                <a:ea typeface="Cambria Math" panose="02040503050406030204" pitchFamily="18" charset="0"/>
                              </a:rPr>
                              <m:t>𝑎</m:t>
                            </m:r>
                          </m:sub>
                        </m:sSub>
                        <m:d>
                          <m:dPr>
                            <m:ctrlPr>
                              <a:rPr lang="en-US" sz="1800" b="0" i="1" smtClean="0">
                                <a:latin typeface="Cambria Math" panose="02040503050406030204" pitchFamily="18" charset="0"/>
                                <a:ea typeface="Cambria Math" panose="02040503050406030204" pitchFamily="18" charset="0"/>
                              </a:rPr>
                            </m:ctrlPr>
                          </m:dPr>
                          <m:e>
                            <m:r>
                              <a:rPr lang="en-US" sz="1800" b="0" i="1" smtClean="0">
                                <a:latin typeface="Cambria Math" panose="02040503050406030204" pitchFamily="18" charset="0"/>
                                <a:ea typeface="Cambria Math" panose="02040503050406030204" pitchFamily="18" charset="0"/>
                              </a:rPr>
                              <m:t>𝑡</m:t>
                            </m:r>
                          </m:e>
                        </m:d>
                        <m:r>
                          <a:rPr lang="en-US" sz="1800" b="0" i="1" smtClean="0">
                            <a:latin typeface="Cambria Math" panose="02040503050406030204" pitchFamily="18" charset="0"/>
                            <a:ea typeface="Cambria Math" panose="02040503050406030204" pitchFamily="18" charset="0"/>
                          </a:rPr>
                          <m:t>𝑑𝑡</m:t>
                        </m:r>
                        <m:r>
                          <a:rPr lang="ru-RU" sz="1800" b="0" i="1" smtClean="0">
                            <a:latin typeface="Cambria Math" panose="02040503050406030204" pitchFamily="18" charset="0"/>
                            <a:ea typeface="Cambria Math" panose="02040503050406030204" pitchFamily="18" charset="0"/>
                          </a:rPr>
                          <m:t>,</m:t>
                        </m:r>
                      </m:e>
                    </m:nary>
                  </m:oMath>
                </a14:m>
                <a:r>
                  <a:rPr lang="ru-RU" sz="1800" dirty="0"/>
                  <a:t> </a:t>
                </a:r>
              </a:p>
            </p:txBody>
          </p:sp>
        </mc:Choice>
        <mc:Fallback>
          <p:sp>
            <p:nvSpPr>
              <p:cNvPr id="4" name="TextBox 3"/>
              <p:cNvSpPr txBox="1">
                <a:spLocks noRot="1" noChangeAspect="1" noMove="1" noResize="1" noEditPoints="1" noAdjustHandles="1" noChangeArrowheads="1" noChangeShapeType="1" noTextEdit="1"/>
              </p:cNvSpPr>
              <p:nvPr/>
            </p:nvSpPr>
            <p:spPr>
              <a:xfrm>
                <a:off x="1917597" y="936610"/>
                <a:ext cx="3087897" cy="376321"/>
              </a:xfrm>
              <a:prstGeom prst="rect">
                <a:avLst/>
              </a:prstGeom>
              <a:blipFill>
                <a:blip r:embed="rId2"/>
                <a:stretch>
                  <a:fillRect l="-2767" t="-145902" b="-226230"/>
                </a:stretch>
              </a:blipFill>
            </p:spPr>
            <p:txBody>
              <a:bodyPr/>
              <a:lstStyle/>
              <a:p>
                <a:r>
                  <a:rPr lang="ru-RU">
                    <a:noFill/>
                  </a:rPr>
                  <a:t> </a:t>
                </a:r>
              </a:p>
            </p:txBody>
          </p:sp>
        </mc:Fallback>
      </mc:AlternateContent>
      <p:sp>
        <p:nvSpPr>
          <p:cNvPr id="10" name="TextBox 9"/>
          <p:cNvSpPr txBox="1"/>
          <p:nvPr/>
        </p:nvSpPr>
        <p:spPr>
          <a:xfrm>
            <a:off x="1487258" y="1288002"/>
            <a:ext cx="4406537" cy="1077218"/>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 T – </a:t>
            </a:r>
            <a:r>
              <a:rPr lang="ru-RU" sz="1600" dirty="0">
                <a:latin typeface="Times New Roman" panose="02020603050405020304" pitchFamily="18" charset="0"/>
                <a:cs typeface="Times New Roman" panose="02020603050405020304" pitchFamily="18" charset="0"/>
              </a:rPr>
              <a:t>время между рамановскими импульсами, </a:t>
            </a:r>
            <a:r>
              <a:rPr lang="el-GR" sz="1600" dirty="0">
                <a:latin typeface="Times New Roman" panose="02020603050405020304" pitchFamily="18" charset="0"/>
                <a:cs typeface="Times New Roman" panose="02020603050405020304" pitchFamily="18" charset="0"/>
              </a:rPr>
              <a:t>τ</a:t>
            </a:r>
            <a:r>
              <a:rPr lang="ru-RU" sz="1600" dirty="0">
                <a:latin typeface="Times New Roman" panose="02020603050405020304" pitchFamily="18" charset="0"/>
                <a:cs typeface="Times New Roman" panose="02020603050405020304" pitchFamily="18" charset="0"/>
              </a:rPr>
              <a:t> – длительность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 </a:t>
            </a:r>
            <a:r>
              <a:rPr lang="ru-RU" sz="1600" dirty="0">
                <a:latin typeface="Times New Roman" panose="02020603050405020304" pitchFamily="18" charset="0"/>
                <a:cs typeface="Times New Roman" panose="02020603050405020304" pitchFamily="18" charset="0"/>
              </a:rPr>
              <a:t>импульса, </a:t>
            </a:r>
            <a:r>
              <a:rPr lang="en-US" sz="1600" dirty="0" err="1">
                <a:latin typeface="Times New Roman" panose="02020603050405020304" pitchFamily="18" charset="0"/>
                <a:cs typeface="Times New Roman" panose="02020603050405020304" pitchFamily="18" charset="0"/>
              </a:rPr>
              <a:t>g</a:t>
            </a:r>
            <a:r>
              <a:rPr lang="en-US" sz="1600" baseline="-25000" dirty="0" err="1">
                <a:latin typeface="Times New Roman" panose="02020603050405020304" pitchFamily="18" charset="0"/>
                <a:cs typeface="Times New Roman" panose="02020603050405020304" pitchFamily="18" charset="0"/>
              </a:rPr>
              <a:t>a</a:t>
            </a:r>
            <a:r>
              <a:rPr lang="en-US" sz="1600" dirty="0">
                <a:latin typeface="Times New Roman" panose="02020603050405020304" pitchFamily="18" charset="0"/>
                <a:cs typeface="Times New Roman" panose="02020603050405020304" pitchFamily="18" charset="0"/>
              </a:rPr>
              <a:t>(t) – </a:t>
            </a:r>
            <a:r>
              <a:rPr lang="ru-RU" sz="1600" dirty="0">
                <a:latin typeface="Times New Roman" panose="02020603050405020304" pitchFamily="18" charset="0"/>
                <a:cs typeface="Times New Roman" panose="02020603050405020304" pitchFamily="18" charset="0"/>
              </a:rPr>
              <a:t>функция чувствительность гравиметра для ускорения</a:t>
            </a:r>
            <a:r>
              <a:rPr lang="en-US" sz="1600" dirty="0">
                <a:latin typeface="Times New Roman" panose="02020603050405020304" pitchFamily="18" charset="0"/>
                <a:cs typeface="Times New Roman" panose="02020603050405020304" pitchFamily="18" charset="0"/>
              </a:rPr>
              <a:t>:</a:t>
            </a:r>
            <a:r>
              <a:rPr lang="ru-RU" sz="1600" dirty="0">
                <a:latin typeface="Times New Roman" panose="02020603050405020304" pitchFamily="18"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3" name="TextBox 12"/>
              <p:cNvSpPr txBox="1"/>
              <p:nvPr/>
            </p:nvSpPr>
            <p:spPr>
              <a:xfrm>
                <a:off x="5893795" y="2652468"/>
                <a:ext cx="6055889" cy="29434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ru-RU" sz="1800" i="1" smtClean="0">
                              <a:latin typeface="Cambria Math" panose="02040503050406030204" pitchFamily="18" charset="0"/>
                            </a:rPr>
                          </m:ctrlPr>
                        </m:sSubPr>
                        <m:e>
                          <m:r>
                            <a:rPr lang="en-US" sz="1800" b="0" i="1" smtClean="0">
                              <a:latin typeface="Cambria Math" panose="02040503050406030204" pitchFamily="18" charset="0"/>
                            </a:rPr>
                            <m:t>𝑔</m:t>
                          </m:r>
                        </m:e>
                        <m:sub>
                          <m:r>
                            <a:rPr lang="en-US" sz="1800" b="0" i="1" smtClean="0">
                              <a:latin typeface="Cambria Math" panose="02040503050406030204" pitchFamily="18" charset="0"/>
                            </a:rPr>
                            <m:t>𝑎</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 </m:t>
                      </m:r>
                      <m:d>
                        <m:dPr>
                          <m:begChr m:val="{"/>
                          <m:endChr m:val=""/>
                          <m:ctrlPr>
                            <a:rPr lang="en-US" sz="1800" b="0" i="1" smtClean="0">
                              <a:latin typeface="Cambria Math" panose="02040503050406030204" pitchFamily="18" charset="0"/>
                            </a:rPr>
                          </m:ctrlPr>
                        </m:dPr>
                        <m:e>
                          <m:eqArr>
                            <m:eqArrPr>
                              <m:ctrlPr>
                                <a:rPr lang="en-US" sz="1800" b="0" i="1" smtClean="0">
                                  <a:latin typeface="Cambria Math" panose="02040503050406030204" pitchFamily="18" charset="0"/>
                                </a:rPr>
                              </m:ctrlPr>
                            </m:eqArrPr>
                            <m:e>
                              <m:f>
                                <m:fPr>
                                  <m:ctrlPr>
                                    <a:rPr lang="en-US" sz="1800" b="0" i="1" smtClean="0">
                                      <a:latin typeface="Cambria Math" panose="02040503050406030204" pitchFamily="18" charset="0"/>
                                    </a:rPr>
                                  </m:ctrlPr>
                                </m:fPr>
                                <m:num>
                                  <m:r>
                                    <m:rPr>
                                      <m:sty m:val="p"/>
                                    </m:rPr>
                                    <a:rPr lang="en-US" sz="1800" b="0" i="0" smtClean="0">
                                      <a:latin typeface="Cambria Math" panose="02040503050406030204" pitchFamily="18" charset="0"/>
                                    </a:rPr>
                                    <m:t>cos</m:t>
                                  </m:r>
                                  <m:r>
                                    <a:rPr lang="en-US" sz="1800" b="0" i="1" smtClean="0">
                                      <a:latin typeface="Cambria Math" panose="02040503050406030204" pitchFamily="18" charset="0"/>
                                    </a:rPr>
                                    <m:t>⁡(</m:t>
                                  </m:r>
                                  <m:r>
                                    <m:rPr>
                                      <m:sty m:val="p"/>
                                    </m:rPr>
                                    <a:rPr lang="el-GR" sz="1800" b="0" i="1" smtClean="0">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e>
                                  </m:d>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i="1">
                                  <a:latin typeface="Cambria Math" panose="02040503050406030204" pitchFamily="18" charset="0"/>
                                </a:rPr>
                                <m:t>, </m:t>
                              </m:r>
                              <m:r>
                                <a:rPr lang="en-US" sz="1800" i="1">
                                  <a:latin typeface="Cambria Math" panose="02040503050406030204" pitchFamily="18" charset="0"/>
                                </a:rPr>
                                <m:t>𝑡</m:t>
                              </m:r>
                              <m:r>
                                <a:rPr lang="en-US" sz="1800" i="1">
                                  <a:latin typeface="Cambria Math" panose="02040503050406030204" pitchFamily="18" charset="0"/>
                                </a:rPr>
                                <m:t> &lt;</m:t>
                              </m:r>
                              <m:r>
                                <a:rPr lang="en-US" sz="1800" i="1">
                                  <a:latin typeface="Cambria Math" panose="02040503050406030204" pitchFamily="18" charset="0"/>
                                  <a:ea typeface="Cambria Math" panose="02040503050406030204" pitchFamily="18" charset="0"/>
                                </a:rPr>
                                <m:t>𝜏</m:t>
                              </m:r>
                              <m:r>
                                <m:rPr>
                                  <m:nor/>
                                </m:rPr>
                                <a:rPr lang="ru-RU" sz="1800" dirty="0"/>
                                <m:t> </m:t>
                              </m:r>
                            </m:e>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func>
                                    <m:funcPr>
                                      <m:ctrlPr>
                                        <a:rPr lang="en-US" sz="1800" b="0" i="1" smtClean="0">
                                          <a:latin typeface="Cambria Math" panose="02040503050406030204" pitchFamily="18" charset="0"/>
                                          <a:ea typeface="Cambria Math" panose="02040503050406030204" pitchFamily="18" charset="0"/>
                                        </a:rPr>
                                      </m:ctrlPr>
                                    </m:funcPr>
                                    <m:fName>
                                      <m:r>
                                        <m:rPr>
                                          <m:sty m:val="p"/>
                                        </m:rPr>
                                        <a:rPr lang="en-US" sz="1800" b="0" i="0" smtClean="0">
                                          <a:latin typeface="Cambria Math" panose="02040503050406030204" pitchFamily="18" charset="0"/>
                                          <a:ea typeface="Cambria Math" panose="02040503050406030204" pitchFamily="18" charset="0"/>
                                        </a:rPr>
                                        <m:t>cos</m:t>
                                      </m:r>
                                    </m:fName>
                                    <m:e>
                                      <m:d>
                                        <m:dPr>
                                          <m:ctrlPr>
                                            <a:rPr lang="en-US" sz="1800" b="0" i="1" smtClean="0">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e>
                                          </m:d>
                                        </m:e>
                                      </m:d>
                                    </m:e>
                                  </m:func>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𝑡</m:t>
                              </m:r>
                              <m:r>
                                <a:rPr lang="en-US" sz="1800" b="0" i="1" smtClean="0">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e>
                            <m:e>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m:t>
                              </m:r>
                              <m:r>
                                <a:rPr lang="en-US" sz="1800" b="0" i="1" smtClean="0">
                                  <a:latin typeface="Cambria Math" panose="02040503050406030204" pitchFamily="18" charset="0"/>
                                </a:rPr>
                                <m:t>𝑡</m:t>
                              </m:r>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b="0" i="1" smtClean="0">
                                  <a:latin typeface="Cambria Math" panose="02040503050406030204" pitchFamily="18" charset="0"/>
                                  <a:ea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𝑇</m:t>
                              </m:r>
                              <m:r>
                                <a:rPr lang="en-US" sz="1800" b="0" i="1" smtClean="0">
                                  <a:latin typeface="Cambria Math" panose="02040503050406030204" pitchFamily="18" charset="0"/>
                                  <a:ea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
                              <m:f>
                                <m:fPr>
                                  <m:ctrlPr>
                                    <a:rPr lang="en-US" sz="1800" i="1">
                                      <a:latin typeface="Cambria Math" panose="02040503050406030204" pitchFamily="18" charset="0"/>
                                      <a:ea typeface="Cambria Math" panose="02040503050406030204" pitchFamily="18" charset="0"/>
                                    </a:rPr>
                                  </m:ctrlPr>
                                </m:fPr>
                                <m:num>
                                  <m:func>
                                    <m:funcPr>
                                      <m:ctrlPr>
                                        <a:rPr lang="en-US" sz="1800" i="1">
                                          <a:latin typeface="Cambria Math" panose="02040503050406030204" pitchFamily="18" charset="0"/>
                                          <a:ea typeface="Cambria Math" panose="02040503050406030204" pitchFamily="18" charset="0"/>
                                        </a:rPr>
                                      </m:ctrlPr>
                                    </m:funcPr>
                                    <m:fName>
                                      <m:r>
                                        <m:rPr>
                                          <m:sty m:val="p"/>
                                        </m:rPr>
                                        <a:rPr lang="en-US" sz="1800">
                                          <a:latin typeface="Cambria Math" panose="02040503050406030204" pitchFamily="18" charset="0"/>
                                          <a:ea typeface="Cambria Math" panose="02040503050406030204" pitchFamily="18" charset="0"/>
                                        </a:rPr>
                                        <m:t>cos</m:t>
                                      </m:r>
                                    </m:fName>
                                    <m:e>
                                      <m:d>
                                        <m:dPr>
                                          <m:ctrlPr>
                                            <a:rPr lang="en-US" sz="1800" i="1">
                                              <a:latin typeface="Cambria Math" panose="02040503050406030204" pitchFamily="18" charset="0"/>
                                              <a:ea typeface="Cambria Math" panose="02040503050406030204" pitchFamily="18" charset="0"/>
                                            </a:rPr>
                                          </m:ctrlPr>
                                        </m:dPr>
                                        <m:e>
                                          <m:r>
                                            <m:rPr>
                                              <m:sty m:val="p"/>
                                            </m:rPr>
                                            <a:rPr lang="el-GR" sz="1800" i="1">
                                              <a:latin typeface="Cambria Math" panose="02040503050406030204" pitchFamily="18" charset="0"/>
                                            </a:rPr>
                                            <m:t>Ω</m:t>
                                          </m:r>
                                          <m:d>
                                            <m:dPr>
                                              <m:ctrlPr>
                                                <a:rPr lang="en-US" sz="1800" i="1">
                                                  <a:latin typeface="Cambria Math" panose="02040503050406030204" pitchFamily="18" charset="0"/>
                                                </a:rPr>
                                              </m:ctrlPr>
                                            </m:dPr>
                                            <m:e>
                                              <m:r>
                                                <a:rPr lang="en-US" sz="1800" i="1">
                                                  <a:latin typeface="Cambria Math" panose="02040503050406030204" pitchFamily="18" charset="0"/>
                                                </a:rPr>
                                                <m:t>𝑡</m:t>
                                              </m:r>
                                              <m:r>
                                                <a:rPr lang="en-US" sz="1800" i="1">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d>
                                        </m:e>
                                      </m:d>
                                    </m:e>
                                  </m:func>
                                  <m:r>
                                    <a:rPr lang="en-US" sz="1800" i="1">
                                      <a:latin typeface="Cambria Math" panose="02040503050406030204" pitchFamily="18" charset="0"/>
                                      <a:ea typeface="Cambria Math" panose="02040503050406030204" pitchFamily="18" charset="0"/>
                                    </a:rPr>
                                    <m:t>+1</m:t>
                                  </m:r>
                                </m:num>
                                <m:den>
                                  <m:r>
                                    <m:rPr>
                                      <m:sty m:val="p"/>
                                    </m:rPr>
                                    <a:rPr lang="el-GR" sz="1800" i="1">
                                      <a:latin typeface="Cambria Math" panose="02040503050406030204" pitchFamily="18" charset="0"/>
                                    </a:rPr>
                                    <m:t>Ω</m:t>
                                  </m:r>
                                </m:den>
                              </m:f>
                              <m:r>
                                <a:rPr lang="en-US" sz="1800" b="0" i="1" smtClean="0">
                                  <a:latin typeface="Cambria Math" panose="02040503050406030204" pitchFamily="18" charset="0"/>
                                </a:rPr>
                                <m:t>,3</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r>
                                <a:rPr lang="en-US" sz="1800" i="1">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𝑡</m:t>
                              </m:r>
                              <m:r>
                                <a:rPr lang="en-US" sz="1800" i="1">
                                  <a:latin typeface="Cambria Math" panose="02040503050406030204" pitchFamily="18" charset="0"/>
                                  <a:ea typeface="Cambria Math" panose="02040503050406030204" pitchFamily="18" charset="0"/>
                                </a:rPr>
                                <m:t> ≤4</m:t>
                              </m:r>
                              <m:r>
                                <a:rPr lang="en-US" sz="1800" i="1">
                                  <a:latin typeface="Cambria Math" panose="02040503050406030204" pitchFamily="18" charset="0"/>
                                  <a:ea typeface="Cambria Math" panose="02040503050406030204" pitchFamily="18" charset="0"/>
                                </a:rPr>
                                <m:t>𝜏</m:t>
                              </m:r>
                              <m:r>
                                <a:rPr lang="en-US" sz="1800" i="1">
                                  <a:latin typeface="Cambria Math" panose="02040503050406030204" pitchFamily="18" charset="0"/>
                                  <a:ea typeface="Cambria Math" panose="02040503050406030204" pitchFamily="18" charset="0"/>
                                </a:rPr>
                                <m:t>+2</m:t>
                              </m:r>
                              <m:r>
                                <a:rPr lang="en-US" sz="1800" i="1">
                                  <a:latin typeface="Cambria Math" panose="02040503050406030204" pitchFamily="18" charset="0"/>
                                  <a:ea typeface="Cambria Math" panose="02040503050406030204" pitchFamily="18" charset="0"/>
                                </a:rPr>
                                <m:t>𝑇</m:t>
                              </m:r>
                            </m:e>
                          </m:eqArr>
                        </m:e>
                      </m:d>
                    </m:oMath>
                  </m:oMathPara>
                </a14:m>
                <a:endParaRPr lang="ru-RU" dirty="0"/>
              </a:p>
            </p:txBody>
          </p:sp>
        </mc:Choice>
        <mc:Fallback xmlns="">
          <p:sp>
            <p:nvSpPr>
              <p:cNvPr id="13" name="TextBox 12"/>
              <p:cNvSpPr txBox="1">
                <a:spLocks noRot="1" noChangeAspect="1" noMove="1" noResize="1" noEditPoints="1" noAdjustHandles="1" noChangeArrowheads="1" noChangeShapeType="1" noTextEdit="1"/>
              </p:cNvSpPr>
              <p:nvPr/>
            </p:nvSpPr>
            <p:spPr>
              <a:xfrm>
                <a:off x="5893795" y="2652468"/>
                <a:ext cx="6055889" cy="2943498"/>
              </a:xfrm>
              <a:prstGeom prst="rect">
                <a:avLst/>
              </a:prstGeom>
              <a:blipFill rotWithShape="0">
                <a:blip r:embed="rId4"/>
                <a:stretch>
                  <a:fillRect/>
                </a:stretch>
              </a:blipFill>
            </p:spPr>
            <p:txBody>
              <a:bodyPr/>
              <a:lstStyle/>
              <a:p>
                <a:r>
                  <a:rPr lang="ru-RU">
                    <a:noFill/>
                  </a:rPr>
                  <a:t> </a:t>
                </a:r>
              </a:p>
            </p:txBody>
          </p:sp>
        </mc:Fallback>
      </mc:AlternateContent>
      <p:sp>
        <p:nvSpPr>
          <p:cNvPr id="14" name="TextBox 13"/>
          <p:cNvSpPr txBox="1"/>
          <p:nvPr/>
        </p:nvSpPr>
        <p:spPr>
          <a:xfrm>
            <a:off x="6985798" y="5713343"/>
            <a:ext cx="4406537" cy="338554"/>
          </a:xfrm>
          <a:prstGeom prst="rect">
            <a:avLst/>
          </a:prstGeom>
          <a:noFill/>
        </p:spPr>
        <p:txBody>
          <a:bodyPr wrap="square" rtlCol="0">
            <a:spAutoFit/>
          </a:bodyPr>
          <a:lstStyle/>
          <a:p>
            <a:r>
              <a:rPr lang="ru-RU" sz="1600" dirty="0">
                <a:latin typeface="Times New Roman" panose="02020603050405020304" pitchFamily="18" charset="0"/>
                <a:cs typeface="Times New Roman" panose="02020603050405020304" pitchFamily="18" charset="0"/>
              </a:rPr>
              <a:t>где</a:t>
            </a:r>
            <a:r>
              <a:rPr lang="en-US" sz="1600" dirty="0">
                <a:latin typeface="Times New Roman" panose="02020603050405020304" pitchFamily="18" charset="0"/>
                <a:cs typeface="Times New Roman" panose="02020603050405020304" pitchFamily="18" charset="0"/>
              </a:rPr>
              <a:t> </a:t>
            </a:r>
            <a:r>
              <a:rPr lang="el-GR" sz="1600" dirty="0">
                <a:latin typeface="Times New Roman" panose="02020603050405020304" pitchFamily="18" charset="0"/>
                <a:cs typeface="Times New Roman" panose="02020603050405020304" pitchFamily="18" charset="0"/>
              </a:rPr>
              <a:t>Ω</a:t>
            </a:r>
            <a:r>
              <a:rPr lang="en-US" sz="1600" dirty="0">
                <a:latin typeface="Times New Roman" panose="02020603050405020304" pitchFamily="18" charset="0"/>
                <a:cs typeface="Times New Roman" panose="02020603050405020304" pitchFamily="18" charset="0"/>
              </a:rPr>
              <a:t> = </a:t>
            </a:r>
            <a:r>
              <a:rPr lang="el-GR" sz="1600" dirty="0">
                <a:latin typeface="Times New Roman" panose="02020603050405020304" pitchFamily="18" charset="0"/>
                <a:cs typeface="Times New Roman" panose="02020603050405020304" pitchFamily="18" charset="0"/>
              </a:rPr>
              <a:t>π</a:t>
            </a:r>
            <a:r>
              <a:rPr lang="en-US" sz="1600" dirty="0">
                <a:latin typeface="Times New Roman" panose="02020603050405020304" pitchFamily="18" charset="0"/>
                <a:cs typeface="Times New Roman" panose="02020603050405020304" pitchFamily="18" charset="0"/>
              </a:rPr>
              <a:t>/2</a:t>
            </a:r>
            <a:r>
              <a:rPr lang="el-GR" sz="1600" dirty="0">
                <a:latin typeface="Times New Roman" panose="02020603050405020304" pitchFamily="18" charset="0"/>
                <a:cs typeface="Times New Roman" panose="02020603050405020304" pitchFamily="18" charset="0"/>
              </a:rPr>
              <a:t>τ</a:t>
            </a:r>
            <a:r>
              <a:rPr lang="en-US" sz="1600" dirty="0">
                <a:latin typeface="Times New Roman" panose="02020603050405020304" pitchFamily="18" charset="0"/>
                <a:cs typeface="Times New Roman" panose="02020603050405020304" pitchFamily="18" charset="0"/>
              </a:rPr>
              <a:t>, – </a:t>
            </a:r>
            <a:r>
              <a:rPr lang="ru-RU" sz="1600" dirty="0">
                <a:latin typeface="Times New Roman" panose="02020603050405020304" pitchFamily="18" charset="0"/>
                <a:cs typeface="Times New Roman" panose="02020603050405020304" pitchFamily="18" charset="0"/>
              </a:rPr>
              <a:t>частота </a:t>
            </a:r>
            <a:r>
              <a:rPr lang="ru-RU" sz="1600" dirty="0" err="1">
                <a:latin typeface="Times New Roman" panose="02020603050405020304" pitchFamily="18" charset="0"/>
                <a:cs typeface="Times New Roman" panose="02020603050405020304" pitchFamily="18" charset="0"/>
              </a:rPr>
              <a:t>раби</a:t>
            </a:r>
            <a:r>
              <a:rPr lang="ru-RU" sz="1600" dirty="0">
                <a:latin typeface="Times New Roman" panose="02020603050405020304" pitchFamily="18" charset="0"/>
                <a:cs typeface="Times New Roman" panose="02020603050405020304" pitchFamily="18" charset="0"/>
              </a:rPr>
              <a:t>.</a:t>
            </a:r>
          </a:p>
        </p:txBody>
      </p:sp>
      <p:sp>
        <p:nvSpPr>
          <p:cNvPr id="16" name="Прямоугольник 15"/>
          <p:cNvSpPr/>
          <p:nvPr/>
        </p:nvSpPr>
        <p:spPr>
          <a:xfrm>
            <a:off x="621739" y="4216252"/>
            <a:ext cx="587020" cy="369332"/>
          </a:xfrm>
          <a:prstGeom prst="rect">
            <a:avLst/>
          </a:prstGeom>
        </p:spPr>
        <p:txBody>
          <a:bodyPr wrap="none">
            <a:spAutoFit/>
          </a:bodyPr>
          <a:lstStyle/>
          <a:p>
            <a:r>
              <a:rPr lang="en-US" sz="1800" dirty="0" err="1">
                <a:latin typeface="Times New Roman" panose="02020603050405020304" pitchFamily="18" charset="0"/>
                <a:cs typeface="Times New Roman" panose="02020603050405020304" pitchFamily="18" charset="0"/>
              </a:rPr>
              <a:t>g</a:t>
            </a:r>
            <a:r>
              <a:rPr lang="en-US" sz="1800" baseline="-25000" dirty="0" err="1">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(t)</a:t>
            </a:r>
            <a:endParaRPr lang="ru-RU" sz="1800" dirty="0"/>
          </a:p>
        </p:txBody>
      </p:sp>
      <p:pic>
        <p:nvPicPr>
          <p:cNvPr id="17" name="Рисунок 16"/>
          <p:cNvPicPr>
            <a:picLocks noChangeAspect="1"/>
          </p:cNvPicPr>
          <p:nvPr/>
        </p:nvPicPr>
        <p:blipFill rotWithShape="1">
          <a:blip r:embed="rId5"/>
          <a:srcRect l="2261" t="6649" r="4618" b="8482"/>
          <a:stretch/>
        </p:blipFill>
        <p:spPr>
          <a:xfrm>
            <a:off x="1235273" y="3001964"/>
            <a:ext cx="4088730" cy="2797909"/>
          </a:xfrm>
          <a:prstGeom prst="rect">
            <a:avLst/>
          </a:prstGeom>
        </p:spPr>
      </p:pic>
      <p:sp>
        <p:nvSpPr>
          <p:cNvPr id="28" name="Прямоугольник 27"/>
          <p:cNvSpPr/>
          <p:nvPr/>
        </p:nvSpPr>
        <p:spPr>
          <a:xfrm>
            <a:off x="4767978" y="5882620"/>
            <a:ext cx="779381" cy="369332"/>
          </a:xfrm>
          <a:prstGeom prst="rect">
            <a:avLst/>
          </a:prstGeom>
        </p:spPr>
        <p:txBody>
          <a:bodyPr wrap="none">
            <a:spAutoFit/>
          </a:bodyPr>
          <a:lstStyle/>
          <a:p>
            <a:r>
              <a:rPr lang="en-US" sz="1800" dirty="0">
                <a:latin typeface="Times New Roman" panose="02020603050405020304" pitchFamily="18" charset="0"/>
                <a:cs typeface="Times New Roman" panose="02020603050405020304" pitchFamily="18" charset="0"/>
              </a:rPr>
              <a:t>2T+4</a:t>
            </a:r>
            <a:r>
              <a:rPr lang="el-GR" sz="1800" dirty="0">
                <a:latin typeface="Times New Roman" panose="02020603050405020304" pitchFamily="18" charset="0"/>
                <a:cs typeface="Times New Roman" panose="02020603050405020304" pitchFamily="18" charset="0"/>
              </a:rPr>
              <a:t>τ</a:t>
            </a:r>
            <a:endParaRPr lang="ru-RU" sz="1800" dirty="0"/>
          </a:p>
        </p:txBody>
      </p:sp>
      <p:sp>
        <p:nvSpPr>
          <p:cNvPr id="30" name="TextBox 29">
            <a:extLst>
              <a:ext uri="{FF2B5EF4-FFF2-40B4-BE49-F238E27FC236}">
                <a16:creationId xmlns:a16="http://schemas.microsoft.com/office/drawing/2014/main" id="{F2ADCC68-35D1-46EB-B0D8-184DCA14D90F}"/>
              </a:ext>
            </a:extLst>
          </p:cNvPr>
          <p:cNvSpPr txBox="1"/>
          <p:nvPr/>
        </p:nvSpPr>
        <p:spPr>
          <a:xfrm>
            <a:off x="-750937" y="6436617"/>
            <a:ext cx="8486149" cy="307777"/>
          </a:xfrm>
          <a:prstGeom prst="rect">
            <a:avLst/>
          </a:prstGeom>
          <a:noFill/>
        </p:spPr>
        <p:txBody>
          <a:bodyPr wrap="square" rtlCol="0">
            <a:spAutoFit/>
          </a:bodyPr>
          <a:lstStyle/>
          <a:p>
            <a:pPr algn="ctr"/>
            <a:r>
              <a:rPr lang="ru-RU" sz="1400" dirty="0">
                <a:latin typeface="Times New Roman" panose="02020603050405020304" pitchFamily="18" charset="0"/>
                <a:cs typeface="Times New Roman" panose="02020603050405020304" pitchFamily="18" charset="0"/>
              </a:rPr>
              <a:t>Рис.</a:t>
            </a:r>
            <a:r>
              <a:rPr lang="en-US" dirty="0">
                <a:latin typeface="Times New Roman" panose="02020603050405020304" pitchFamily="18" charset="0"/>
                <a:cs typeface="Times New Roman" panose="02020603050405020304" pitchFamily="18" charset="0"/>
              </a:rPr>
              <a:t> </a:t>
            </a:r>
            <a:r>
              <a:rPr lang="ru-RU" sz="1400" dirty="0">
                <a:latin typeface="Times New Roman" panose="02020603050405020304" pitchFamily="18" charset="0"/>
                <a:cs typeface="Times New Roman" panose="02020603050405020304" pitchFamily="18" charset="0"/>
              </a:rPr>
              <a:t>. Функция чувствительности квантового гравиметра для ускорения.</a:t>
            </a:r>
            <a:r>
              <a:rPr lang="en-US"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3022621"/>
      </p:ext>
    </p:extLst>
  </p:cSld>
  <p:clrMapOvr>
    <a:masterClrMapping/>
  </p:clrMapOvr>
</p:sld>
</file>

<file path=ppt/theme/theme1.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5583</TotalTime>
  <Words>3729</Words>
  <Application>Microsoft Office PowerPoint</Application>
  <PresentationFormat>Широкоэкранный</PresentationFormat>
  <Paragraphs>376</Paragraphs>
  <Slides>39</Slides>
  <Notes>8</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39</vt:i4>
      </vt:variant>
    </vt:vector>
  </HeadingPairs>
  <TitlesOfParts>
    <vt:vector size="45" baseType="lpstr">
      <vt:lpstr>Arial</vt:lpstr>
      <vt:lpstr>Calibri</vt:lpstr>
      <vt:lpstr>Cambria Math</vt:lpstr>
      <vt:lpstr>Century Gothic</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kilrealladam@gmail.com</dc:creator>
  <cp:lastModifiedBy>Kirill</cp:lastModifiedBy>
  <cp:revision>280</cp:revision>
  <dcterms:created xsi:type="dcterms:W3CDTF">2023-12-21T05:49:20Z</dcterms:created>
  <dcterms:modified xsi:type="dcterms:W3CDTF">2025-11-11T07:06:45Z</dcterms:modified>
</cp:coreProperties>
</file>