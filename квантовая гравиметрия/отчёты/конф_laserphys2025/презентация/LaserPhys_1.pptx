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305" r:id="rId2"/>
    <p:sldId id="306" r:id="rId3"/>
    <p:sldId id="293" r:id="rId4"/>
    <p:sldId id="307" r:id="rId5"/>
    <p:sldId id="258" r:id="rId6"/>
    <p:sldId id="294" r:id="rId7"/>
    <p:sldId id="308" r:id="rId8"/>
    <p:sldId id="259" r:id="rId9"/>
    <p:sldId id="292" r:id="rId10"/>
    <p:sldId id="261" r:id="rId11"/>
    <p:sldId id="302" r:id="rId12"/>
    <p:sldId id="266" r:id="rId13"/>
    <p:sldId id="297" r:id="rId14"/>
    <p:sldId id="268" r:id="rId15"/>
    <p:sldId id="298" r:id="rId16"/>
    <p:sldId id="303" r:id="rId17"/>
    <p:sldId id="309" r:id="rId18"/>
    <p:sldId id="310" r:id="rId19"/>
    <p:sldId id="311" r:id="rId20"/>
    <p:sldId id="270" r:id="rId21"/>
    <p:sldId id="296" r:id="rId2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5" roundtripDataSignature="AMtx7mhBqtUg9D33KGP93h8hXToFf3vrq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F9F"/>
    <a:srgbClr val="FF5B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78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88" y="12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35" Type="http://customschemas.google.com/relationships/presentationmetadata" Target="meta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="" xmlns:a16="http://schemas.microsoft.com/office/drawing/2014/main" id="{53C5C78D-3493-4AB6-B6C4-71977B81EE7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="" xmlns:a16="http://schemas.microsoft.com/office/drawing/2014/main" id="{3349AD0A-FD81-4209-B751-6B835D3BD58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97F42C-05F7-408C-B103-96C0C10292EF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="" xmlns:a16="http://schemas.microsoft.com/office/drawing/2014/main" id="{C77F5D0C-A26F-41B4-A78D-D513AA88C0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="" xmlns:a16="http://schemas.microsoft.com/office/drawing/2014/main" id="{77CC604D-54B8-4AC3-A942-D3AE5890514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61B033-AC90-43D5-B19D-E9E1564030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240203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68492247"/>
      </p:ext>
    </p:extLst>
  </p:cSld>
  <p:clrMap bg1="lt1" tx1="dk1" bg2="dk2" tx2="lt2" accent1="accent1" accent2="accent2" accent3="accent3" accent4="accent4" accent5="accent5" accent6="accent6" hlink="hlink" folHlink="folHlink"/>
  <p:hf sldNum="0"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1" name="Google Shape;8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801561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569200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406328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946886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Корректировки:</a:t>
            </a:r>
            <a:br>
              <a:rPr lang="ru-RU"/>
            </a:br>
            <a:r>
              <a:rPr lang="ru-RU"/>
              <a:t>1. Много текста</a:t>
            </a:r>
            <a:endParaRPr/>
          </a:p>
        </p:txBody>
      </p:sp>
      <p:sp>
        <p:nvSpPr>
          <p:cNvPr id="184" name="Google Shape;184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075839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958687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417572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4" name="Google Shape;454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886010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1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1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1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6" name="Google Shape;56;p1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7" name="Google Shape;57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Титульный слайд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37987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7" r:id="rId7"/>
    <p:sldLayoutId id="2147483658" r:id="rId8"/>
    <p:sldLayoutId id="214748365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png"/><Relationship Id="rId3" Type="http://schemas.openxmlformats.org/officeDocument/2006/relationships/image" Target="../media/image100.png"/><Relationship Id="rId7" Type="http://schemas.openxmlformats.org/officeDocument/2006/relationships/image" Target="../media/image14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0.png"/><Relationship Id="rId5" Type="http://schemas.openxmlformats.org/officeDocument/2006/relationships/image" Target="../media/image120.png"/><Relationship Id="rId4" Type="http://schemas.openxmlformats.org/officeDocument/2006/relationships/image" Target="../media/image1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"/>
          <p:cNvSpPr txBox="1"/>
          <p:nvPr/>
        </p:nvSpPr>
        <p:spPr>
          <a:xfrm>
            <a:off x="880131" y="3185368"/>
            <a:ext cx="10362068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2400" b="0" i="0" u="sng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К.Н. Адамов</a:t>
            </a:r>
            <a:r>
              <a:rPr lang="ru-RU" sz="2400" b="0" i="0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1,2</a:t>
            </a:r>
            <a:r>
              <a:rPr lang="ru-RU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Д.Н. Капуста</a:t>
            </a:r>
            <a:r>
              <a:rPr lang="ru-RU" sz="2400" b="0" i="0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1,2</a:t>
            </a:r>
            <a:r>
              <a:rPr lang="ru-RU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А.Э.Бонерт</a:t>
            </a:r>
            <a:r>
              <a:rPr lang="ru-RU" sz="2400" b="0" i="0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ru-RU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А.Н. Гончаров</a:t>
            </a:r>
            <a:r>
              <a:rPr lang="ru-RU" sz="2400" b="0" i="0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1,2,3</a:t>
            </a:r>
            <a:endParaRPr sz="2400" b="0" i="0" u="sng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"/>
          <p:cNvSpPr txBox="1"/>
          <p:nvPr/>
        </p:nvSpPr>
        <p:spPr>
          <a:xfrm>
            <a:off x="-55685" y="1042072"/>
            <a:ext cx="1230337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ru-RU" sz="32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Подготовка начального волнового пакета для квантового интерферометра-гравиметра</a:t>
            </a:r>
            <a:endParaRPr sz="32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4156140" y="80866"/>
            <a:ext cx="4149011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Институт лазерной физики СО РАН</a:t>
            </a: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Новосибирск, Россия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2720805" y="3737956"/>
            <a:ext cx="7850156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ru-RU" sz="1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Институт лазерной физики СО РАН, Новосибирск, Россия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ru-RU" sz="1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Новосибирский государственный университет, Новосибирск, Россия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ru-RU" sz="1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Новосибирский государственный технический университет, Новосибирск, Россия</a:t>
            </a:r>
            <a:endParaRPr sz="1600" b="0" i="1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261256" y="5984033"/>
            <a:ext cx="309776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email: ofadamovkirill@gmail.com</a:t>
            </a: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89225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2549" y="104154"/>
            <a:ext cx="7889965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Содержание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Введение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Общие принципы работы квантового гравиметра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Исследование о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птической накачки</a:t>
            </a: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Исследование по компенсации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вибрационных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шумов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Итоги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3970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="" xmlns:a16="http://schemas.microsoft.com/office/drawing/2014/main" id="{FE091DE1-B535-4FC9-9AD3-BD071369B18D}"/>
              </a:ext>
            </a:extLst>
          </p:cNvPr>
          <p:cNvSpPr/>
          <p:nvPr/>
        </p:nvSpPr>
        <p:spPr>
          <a:xfrm>
            <a:off x="1718775" y="481915"/>
            <a:ext cx="9055713" cy="1639070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Google Shape;94;p16">
            <a:extLst>
              <a:ext uri="{FF2B5EF4-FFF2-40B4-BE49-F238E27FC236}">
                <a16:creationId xmlns="" xmlns:a16="http://schemas.microsoft.com/office/drawing/2014/main" id="{C5767328-1785-46B5-813F-A312F3382CC4}"/>
              </a:ext>
            </a:extLst>
          </p:cNvPr>
          <p:cNvSpPr/>
          <p:nvPr/>
        </p:nvSpPr>
        <p:spPr>
          <a:xfrm>
            <a:off x="2495423" y="44900"/>
            <a:ext cx="6910755" cy="3541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Введение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96;p16">
            <a:extLst>
              <a:ext uri="{FF2B5EF4-FFF2-40B4-BE49-F238E27FC236}">
                <a16:creationId xmlns="" xmlns:a16="http://schemas.microsoft.com/office/drawing/2014/main" id="{EEEB39D2-1717-499D-AABD-CE3D4215D1F0}"/>
              </a:ext>
            </a:extLst>
          </p:cNvPr>
          <p:cNvSpPr txBox="1"/>
          <p:nvPr/>
        </p:nvSpPr>
        <p:spPr>
          <a:xfrm>
            <a:off x="2172010" y="889918"/>
            <a:ext cx="4680590" cy="1231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spcBef>
                <a:spcPts val="300"/>
              </a:spcBef>
              <a:buSzPts val="1600"/>
              <a:buFont typeface="Arial"/>
              <a:buChar char="•"/>
            </a:pP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Фундаментальные физические исследования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Археология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Навигация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Оценка подземной инфраструктуры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Google Shape;97;p16">
            <a:extLst>
              <a:ext uri="{FF2B5EF4-FFF2-40B4-BE49-F238E27FC236}">
                <a16:creationId xmlns="" xmlns:a16="http://schemas.microsoft.com/office/drawing/2014/main" id="{CD82ED78-7456-4B52-98E7-80A8C6A5BEDC}"/>
              </a:ext>
            </a:extLst>
          </p:cNvPr>
          <p:cNvSpPr txBox="1"/>
          <p:nvPr/>
        </p:nvSpPr>
        <p:spPr>
          <a:xfrm>
            <a:off x="6454494" y="928390"/>
            <a:ext cx="4548674" cy="1192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buSzPts val="1600"/>
              <a:buFont typeface="Arial"/>
              <a:buChar char="•"/>
            </a:pP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Разведка полезных ископаемых 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Поиск скрытых объектов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Вулканы, исследования землетрясений и пр.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lvl="0" indent="-285750">
              <a:spcBef>
                <a:spcPts val="300"/>
              </a:spcBef>
              <a:buSzPts val="1600"/>
              <a:buFont typeface="Arial"/>
              <a:buChar char="•"/>
            </a:pP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Геодезия</a:t>
            </a:r>
            <a:endParaRPr sz="16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" name="Google Shape;98;p16">
            <a:extLst>
              <a:ext uri="{FF2B5EF4-FFF2-40B4-BE49-F238E27FC236}">
                <a16:creationId xmlns="" xmlns:a16="http://schemas.microsoft.com/office/drawing/2014/main" id="{B3EC5AD5-1F1A-4FC6-97BC-67E6BFC47E78}"/>
              </a:ext>
            </a:extLst>
          </p:cNvPr>
          <p:cNvSpPr txBox="1"/>
          <p:nvPr/>
        </p:nvSpPr>
        <p:spPr>
          <a:xfrm>
            <a:off x="2092569" y="468219"/>
            <a:ext cx="7888374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Сферы</a:t>
            </a:r>
            <a:r>
              <a:rPr lang="en-US" sz="18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18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деятельности, требующие прецизионных измерений гравитации</a:t>
            </a:r>
          </a:p>
        </p:txBody>
      </p:sp>
      <p:sp>
        <p:nvSpPr>
          <p:cNvPr id="7" name="Google Shape;98;p16">
            <a:extLst>
              <a:ext uri="{FF2B5EF4-FFF2-40B4-BE49-F238E27FC236}">
                <a16:creationId xmlns="" xmlns:a16="http://schemas.microsoft.com/office/drawing/2014/main" id="{4E75E353-DF79-4DB5-A7B0-A1D4A6E8BB60}"/>
              </a:ext>
            </a:extLst>
          </p:cNvPr>
          <p:cNvSpPr txBox="1"/>
          <p:nvPr/>
        </p:nvSpPr>
        <p:spPr>
          <a:xfrm>
            <a:off x="4986420" y="2185816"/>
            <a:ext cx="398291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 b="1" u="sng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Типы гравиметров</a:t>
            </a:r>
            <a:endParaRPr sz="1800" b="1" u="sng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" name="Google Shape;98;p16">
            <a:extLst>
              <a:ext uri="{FF2B5EF4-FFF2-40B4-BE49-F238E27FC236}">
                <a16:creationId xmlns="" xmlns:a16="http://schemas.microsoft.com/office/drawing/2014/main" id="{1086032B-BA6C-4A64-9D33-2CD509DCF239}"/>
              </a:ext>
            </a:extLst>
          </p:cNvPr>
          <p:cNvSpPr txBox="1"/>
          <p:nvPr/>
        </p:nvSpPr>
        <p:spPr>
          <a:xfrm>
            <a:off x="538273" y="2555148"/>
            <a:ext cx="229888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Относительные</a:t>
            </a:r>
            <a:endParaRPr sz="18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Google Shape;98;p16">
            <a:extLst>
              <a:ext uri="{FF2B5EF4-FFF2-40B4-BE49-F238E27FC236}">
                <a16:creationId xmlns="" xmlns:a16="http://schemas.microsoft.com/office/drawing/2014/main" id="{24EBEB25-0395-4165-91F4-10652C83D9FC}"/>
              </a:ext>
            </a:extLst>
          </p:cNvPr>
          <p:cNvSpPr txBox="1"/>
          <p:nvPr/>
        </p:nvSpPr>
        <p:spPr>
          <a:xfrm>
            <a:off x="6689168" y="2547502"/>
            <a:ext cx="177467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Абсолютные</a:t>
            </a:r>
            <a:endParaRPr lang="en-US" sz="18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Google Shape;96;p16">
            <a:extLst>
              <a:ext uri="{FF2B5EF4-FFF2-40B4-BE49-F238E27FC236}">
                <a16:creationId xmlns="" xmlns:a16="http://schemas.microsoft.com/office/drawing/2014/main" id="{A47ECCA6-3609-4444-992A-3DB4E49DA438}"/>
              </a:ext>
            </a:extLst>
          </p:cNvPr>
          <p:cNvSpPr txBox="1"/>
          <p:nvPr/>
        </p:nvSpPr>
        <p:spPr>
          <a:xfrm>
            <a:off x="-16406" y="2835376"/>
            <a:ext cx="3495337" cy="661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spcBef>
                <a:spcPts val="300"/>
              </a:spcBef>
              <a:buSzPts val="1600"/>
              <a:buFont typeface="Arial"/>
              <a:buChar char="•"/>
            </a:pP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Пружинные гравиметры</a:t>
            </a:r>
          </a:p>
          <a:p>
            <a:pPr marL="285750" lvl="0" indent="-285750">
              <a:spcBef>
                <a:spcPts val="300"/>
              </a:spcBef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Сверхп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роводниковые гравиметры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" name="Google Shape;96;p16">
            <a:extLst>
              <a:ext uri="{FF2B5EF4-FFF2-40B4-BE49-F238E27FC236}">
                <a16:creationId xmlns="" xmlns:a16="http://schemas.microsoft.com/office/drawing/2014/main" id="{58658A3C-A388-41F8-8E42-41E86982E85C}"/>
              </a:ext>
            </a:extLst>
          </p:cNvPr>
          <p:cNvSpPr txBox="1"/>
          <p:nvPr/>
        </p:nvSpPr>
        <p:spPr>
          <a:xfrm>
            <a:off x="4265466" y="2839969"/>
            <a:ext cx="4680590" cy="376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spcBef>
                <a:spcPts val="300"/>
              </a:spcBef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Баллистические грав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иметры</a:t>
            </a:r>
          </a:p>
        </p:txBody>
      </p:sp>
      <p:sp>
        <p:nvSpPr>
          <p:cNvPr id="13" name="Google Shape;96;p16">
            <a:extLst>
              <a:ext uri="{FF2B5EF4-FFF2-40B4-BE49-F238E27FC236}">
                <a16:creationId xmlns="" xmlns:a16="http://schemas.microsoft.com/office/drawing/2014/main" id="{8F17DF3A-5B75-4E63-9C99-F44CB4E95665}"/>
              </a:ext>
            </a:extLst>
          </p:cNvPr>
          <p:cNvSpPr txBox="1"/>
          <p:nvPr/>
        </p:nvSpPr>
        <p:spPr>
          <a:xfrm>
            <a:off x="7966346" y="2845558"/>
            <a:ext cx="3461638" cy="376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spcBef>
                <a:spcPts val="300"/>
              </a:spcBef>
              <a:buSzPts val="1600"/>
              <a:buFont typeface="Arial"/>
              <a:buChar char="•"/>
            </a:pPr>
            <a:r>
              <a:rPr lang="ru-RU" sz="1600" u="sng" dirty="0">
                <a:latin typeface="Times New Roman"/>
                <a:ea typeface="Times New Roman"/>
                <a:cs typeface="Times New Roman"/>
                <a:sym typeface="Times New Roman"/>
              </a:rPr>
              <a:t>Квантовые атомные</a:t>
            </a:r>
            <a:r>
              <a:rPr lang="ru-RU" sz="1600" b="0" u="sng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грав</a:t>
            </a:r>
            <a:r>
              <a:rPr lang="ru-RU" sz="1600" u="sng" dirty="0">
                <a:latin typeface="Times New Roman"/>
                <a:ea typeface="Times New Roman"/>
                <a:cs typeface="Times New Roman"/>
                <a:sym typeface="Times New Roman"/>
              </a:rPr>
              <a:t>иметры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Google Shape;100;p16">
                <a:extLst>
                  <a:ext uri="{FF2B5EF4-FFF2-40B4-BE49-F238E27FC236}">
                    <a16:creationId xmlns="" xmlns:a16="http://schemas.microsoft.com/office/drawing/2014/main" id="{ED318F69-74F9-49BA-8877-00BC91AF42EB}"/>
                  </a:ext>
                </a:extLst>
              </p:cNvPr>
              <p:cNvSpPr txBox="1"/>
              <p:nvPr/>
            </p:nvSpPr>
            <p:spPr>
              <a:xfrm>
                <a:off x="7556732" y="3274132"/>
                <a:ext cx="4580662" cy="2500644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FF0000"/>
                </a:solidFill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285750" marR="0" lvl="0" indent="-285750" algn="l" rtl="0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Wingdings" panose="05000000000000000000" pitchFamily="2" charset="2"/>
                  <a:buChar char="ü"/>
                </a:pPr>
                <a:r>
                  <a:rPr lang="ru-RU" sz="1600" b="0" i="0" u="none" strike="noStrike" cap="none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Отсу</a:t>
                </a:r>
                <a:r>
                  <a:rPr lang="ru-RU" sz="1600" dirty="0">
                    <a:latin typeface="Times New Roman"/>
                    <a:ea typeface="Times New Roman"/>
                    <a:cs typeface="Times New Roman"/>
                    <a:sym typeface="Times New Roman"/>
                  </a:rPr>
                  <a:t>тствие дрейфа</a:t>
                </a:r>
              </a:p>
              <a:p>
                <a:pPr marL="285750" marR="0" lvl="0" indent="-2857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Wingdings" panose="05000000000000000000" pitchFamily="2" charset="2"/>
                  <a:buChar char="ü"/>
                </a:pPr>
                <a:r>
                  <a:rPr lang="ru-RU" sz="1600" b="0" i="0" u="none" strike="noStrike" cap="none" dirty="0">
                    <a:solidFill>
                      <a:schemeClr val="tx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Отсутствие подвижных элементов в конструкции</a:t>
                </a:r>
                <a:endParaRPr lang="ru-RU" sz="1400" b="0" i="0" u="none" strike="noStrike" cap="none" dirty="0">
                  <a:solidFill>
                    <a:schemeClr val="tx1"/>
                  </a:solidFill>
                  <a:sym typeface="Arial"/>
                </a:endParaRPr>
              </a:p>
              <a:p>
                <a:pPr marL="285750" marR="0" lvl="0" indent="-285750" algn="l" rtl="0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Wingdings" panose="05000000000000000000" pitchFamily="2" charset="2"/>
                  <a:buChar char="ü"/>
                </a:pPr>
                <a:r>
                  <a:rPr lang="ru-RU" sz="1600" b="0" i="0" u="none" strike="noStrike" cap="none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Высокая частота измерений, 1-2 Гц.</a:t>
                </a:r>
              </a:p>
              <a:p>
                <a:pPr marL="285750" marR="0" lvl="0" indent="-285750" algn="l" rtl="0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Wingdings" panose="05000000000000000000" pitchFamily="2" charset="2"/>
                  <a:buChar char="ü"/>
                </a:pPr>
                <a:r>
                  <a:rPr lang="ru-RU" sz="1600" dirty="0">
                    <a:latin typeface="Times New Roman"/>
                    <a:ea typeface="Times New Roman"/>
                    <a:cs typeface="Times New Roman"/>
                    <a:sym typeface="Times New Roman"/>
                  </a:rPr>
                  <a:t>Возможность реализации акселерометра и гироскопа в одном устройстве </a:t>
                </a:r>
              </a:p>
              <a:p>
                <a:pPr marL="285750" marR="0" lvl="0" indent="-285750" algn="l" rtl="0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ourier New" panose="02070309020205020404" pitchFamily="49" charset="0"/>
                  <a:buChar char="o"/>
                </a:pPr>
                <a:r>
                  <a:rPr lang="ru-RU" sz="1600" b="0" i="0" u="none" strike="noStrike" cap="none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Точность </a:t>
                </a:r>
                <a:r>
                  <a:rPr lang="en-US" sz="1600" dirty="0">
                    <a:latin typeface="Times New Roman"/>
                    <a:ea typeface="Times New Roman"/>
                    <a:cs typeface="Times New Roman"/>
                    <a:sym typeface="Times New Roman"/>
                  </a:rPr>
                  <a:t>~ </a:t>
                </a:r>
                <a:r>
                  <a:rPr lang="ru-RU" sz="1600" dirty="0">
                    <a:latin typeface="Times New Roman"/>
                    <a:ea typeface="Times New Roman"/>
                    <a:cs typeface="Times New Roman"/>
                    <a:sym typeface="Times New Roman"/>
                  </a:rPr>
                  <a:t>2 мкГал</a:t>
                </a:r>
                <a:r>
                  <a:rPr lang="ru-RU" sz="1600" b="0" i="0" u="none" strike="noStrike" cap="none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(</a:t>
                </a:r>
                <a:r>
                  <a:rPr lang="ru-RU" sz="1600" dirty="0">
                    <a:latin typeface="Times New Roman"/>
                    <a:ea typeface="Times New Roman"/>
                    <a:cs typeface="Times New Roman"/>
                    <a:sym typeface="Times New Roman"/>
                  </a:rPr>
                  <a:t>Рекордная </a:t>
                </a:r>
                <a:r>
                  <a:rPr lang="en-US" sz="1600" dirty="0">
                    <a:latin typeface="Times New Roman"/>
                    <a:ea typeface="Times New Roman"/>
                    <a:cs typeface="Times New Roman"/>
                    <a:sym typeface="Times New Roman"/>
                  </a:rPr>
                  <a:t>~ </a:t>
                </a:r>
                <a:r>
                  <a:rPr lang="ru-RU" sz="1600" dirty="0" err="1">
                    <a:latin typeface="Times New Roman"/>
                    <a:ea typeface="Times New Roman"/>
                    <a:cs typeface="Times New Roman"/>
                    <a:sym typeface="Times New Roman"/>
                  </a:rPr>
                  <a:t>нГал</a:t>
                </a:r>
                <a:r>
                  <a:rPr lang="ru-RU" sz="1600" dirty="0">
                    <a:latin typeface="Times New Roman"/>
                    <a:ea typeface="Times New Roman"/>
                    <a:cs typeface="Times New Roman"/>
                    <a:sym typeface="Times New Roman"/>
                  </a:rPr>
                  <a:t>)</a:t>
                </a:r>
                <a:endParaRPr lang="en-US" sz="1600" dirty="0"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285750" indent="-285750">
                  <a:spcBef>
                    <a:spcPts val="300"/>
                  </a:spcBef>
                  <a:buSzPts val="1600"/>
                  <a:buFont typeface="Courier New" panose="02070309020205020404" pitchFamily="49" charset="0"/>
                  <a:buChar char="o"/>
                </a:pPr>
                <a:r>
                  <a:rPr lang="ru-RU" sz="1600" b="0" i="0" u="none" strike="noStrike" cap="none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Чувствительность ~ 15 мкГал</a:t>
                </a:r>
                <a:r>
                  <a:rPr lang="ru-RU" sz="1600" dirty="0">
                    <a:ea typeface="Cambria Math" panose="02040503050406030204" pitchFamily="18" charset="0"/>
                    <a:cs typeface="Times New Roman"/>
                    <a:sym typeface="Times New Roman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/>
                        <a:sym typeface="Times New Roman"/>
                      </a:rPr>
                      <m:t>/</m:t>
                    </m:r>
                    <m:r>
                      <a:rPr lang="ru-RU" sz="1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/>
                        <a:sym typeface="Times New Roman"/>
                      </a:rPr>
                      <m:t> </m:t>
                    </m:r>
                  </m:oMath>
                </a14:m>
                <a:r>
                  <a:rPr lang="ru-RU" sz="1600" dirty="0">
                    <a:latin typeface="Times New Roman"/>
                    <a:ea typeface="Times New Roman"/>
                    <a:cs typeface="Times New Roman"/>
                    <a:sym typeface="Times New Roman"/>
                  </a:rPr>
                  <a:t>Гц</a:t>
                </a:r>
                <a:r>
                  <a:rPr lang="ru-RU" sz="1600" baseline="30000" dirty="0">
                    <a:latin typeface="Times New Roman"/>
                    <a:ea typeface="Times New Roman"/>
                    <a:cs typeface="Times New Roman"/>
                    <a:sym typeface="Times New Roman"/>
                  </a:rPr>
                  <a:t>1/2 </a:t>
                </a:r>
                <a:r>
                  <a:rPr lang="ru-RU" sz="1600" dirty="0">
                    <a:latin typeface="Times New Roman"/>
                    <a:ea typeface="Times New Roman"/>
                    <a:cs typeface="Times New Roman"/>
                    <a:sym typeface="Times New Roman"/>
                  </a:rPr>
                  <a:t>(Рекордная </a:t>
                </a:r>
                <a:r>
                  <a:rPr lang="en-US" sz="1600" dirty="0">
                    <a:latin typeface="Times New Roman"/>
                    <a:ea typeface="Times New Roman"/>
                    <a:cs typeface="Times New Roman"/>
                    <a:sym typeface="Times New Roman"/>
                  </a:rPr>
                  <a:t>~ 0,3 </a:t>
                </a:r>
                <a:r>
                  <a:rPr lang="ru-RU" sz="1600" dirty="0">
                    <a:latin typeface="Times New Roman"/>
                    <a:ea typeface="Times New Roman"/>
                    <a:cs typeface="Times New Roman"/>
                    <a:sym typeface="Times New Roman"/>
                  </a:rPr>
                  <a:t>мкГал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ea typeface="Times New Roman"/>
                        <a:cs typeface="Times New Roman"/>
                        <a:sym typeface="Times New Roman"/>
                      </a:rPr>
                      <m:t>/</m:t>
                    </m:r>
                  </m:oMath>
                </a14:m>
                <a:r>
                  <a:rPr lang="ru-RU" sz="1600" dirty="0">
                    <a:latin typeface="Times New Roman"/>
                    <a:ea typeface="Times New Roman"/>
                    <a:cs typeface="Times New Roman"/>
                    <a:sym typeface="Times New Roman"/>
                  </a:rPr>
                  <a:t>Гц</a:t>
                </a:r>
                <a:r>
                  <a:rPr lang="ru-RU" sz="1600" baseline="30000" dirty="0">
                    <a:latin typeface="Times New Roman"/>
                    <a:ea typeface="Times New Roman"/>
                    <a:cs typeface="Times New Roman"/>
                    <a:sym typeface="Times New Roman"/>
                  </a:rPr>
                  <a:t>1</a:t>
                </a:r>
                <a:r>
                  <a:rPr lang="en-US" sz="1600" baseline="30000" dirty="0">
                    <a:latin typeface="Times New Roman"/>
                    <a:ea typeface="Times New Roman"/>
                    <a:cs typeface="Times New Roman"/>
                    <a:sym typeface="Times New Roman"/>
                  </a:rPr>
                  <a:t>/2</a:t>
                </a:r>
                <a:r>
                  <a:rPr lang="ru-RU" sz="1600" dirty="0">
                    <a:latin typeface="Times New Roman"/>
                    <a:ea typeface="Times New Roman"/>
                    <a:cs typeface="Times New Roman"/>
                    <a:sym typeface="Times New Roman"/>
                  </a:rPr>
                  <a:t>)</a:t>
                </a:r>
              </a:p>
            </p:txBody>
          </p:sp>
        </mc:Choice>
        <mc:Fallback xmlns="">
          <p:sp>
            <p:nvSpPr>
              <p:cNvPr id="14" name="Google Shape;100;p16">
                <a:extLst>
                  <a:ext uri="{FF2B5EF4-FFF2-40B4-BE49-F238E27FC236}">
                    <a16:creationId xmlns:a16="http://schemas.microsoft.com/office/drawing/2014/main" id="{ED318F69-74F9-49BA-8877-00BC91AF42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6732" y="3274132"/>
                <a:ext cx="4580662" cy="2500644"/>
              </a:xfrm>
              <a:prstGeom prst="rect">
                <a:avLst/>
              </a:prstGeom>
              <a:blipFill>
                <a:blip r:embed="rId3"/>
                <a:stretch>
                  <a:fillRect l="-132" b="-1442"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Прямая соединительная линия 16">
            <a:extLst>
              <a:ext uri="{FF2B5EF4-FFF2-40B4-BE49-F238E27FC236}">
                <a16:creationId xmlns="" xmlns:a16="http://schemas.microsoft.com/office/drawing/2014/main" id="{4CB59316-5A11-4065-AC4E-FACACF5690D7}"/>
              </a:ext>
            </a:extLst>
          </p:cNvPr>
          <p:cNvCxnSpPr>
            <a:cxnSpLocks/>
          </p:cNvCxnSpPr>
          <p:nvPr/>
        </p:nvCxnSpPr>
        <p:spPr>
          <a:xfrm>
            <a:off x="3478931" y="2555148"/>
            <a:ext cx="0" cy="2633642"/>
          </a:xfrm>
          <a:prstGeom prst="line">
            <a:avLst/>
          </a:prstGeom>
          <a:ln w="285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Google Shape;100;p16">
                <a:extLst>
                  <a:ext uri="{FF2B5EF4-FFF2-40B4-BE49-F238E27FC236}">
                    <a16:creationId xmlns="" xmlns:a16="http://schemas.microsoft.com/office/drawing/2014/main" id="{27E9DD57-96EF-4791-9AA5-D15C8F5E0FD7}"/>
                  </a:ext>
                </a:extLst>
              </p:cNvPr>
              <p:cNvSpPr txBox="1"/>
              <p:nvPr/>
            </p:nvSpPr>
            <p:spPr>
              <a:xfrm>
                <a:off x="3618360" y="3497055"/>
                <a:ext cx="3799539" cy="1477287"/>
              </a:xfrm>
              <a:prstGeom prst="rect">
                <a:avLst/>
              </a:prstGeom>
              <a:noFill/>
              <a:ln w="19050">
                <a:solidFill>
                  <a:srgbClr val="00B0F0"/>
                </a:solidFill>
                <a:prstDash val="sysDash"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285750" marR="0" lvl="0" indent="-285750" algn="l" rtl="0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Wingdings" panose="05000000000000000000" pitchFamily="2" charset="2"/>
                  <a:buChar char="ü"/>
                </a:pPr>
                <a:r>
                  <a:rPr lang="ru-RU" sz="1600" b="0" i="0" u="none" strike="noStrike" cap="none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Отсу</a:t>
                </a:r>
                <a:r>
                  <a:rPr lang="ru-RU" sz="1600" dirty="0">
                    <a:latin typeface="Times New Roman"/>
                    <a:ea typeface="Times New Roman"/>
                    <a:cs typeface="Times New Roman"/>
                    <a:sym typeface="Times New Roman"/>
                  </a:rPr>
                  <a:t>тствие дрифта</a:t>
                </a:r>
              </a:p>
              <a:p>
                <a:pPr marL="285750" marR="0" lvl="0" indent="-2857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Wingdings" panose="05000000000000000000" pitchFamily="2" charset="2"/>
                  <a:buChar char="§"/>
                </a:pPr>
                <a:r>
                  <a:rPr lang="ru-RU" sz="1600" dirty="0">
                    <a:solidFill>
                      <a:schemeClr val="tx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П</a:t>
                </a:r>
                <a:r>
                  <a:rPr lang="ru-RU" sz="1600" b="0" i="0" u="none" strike="noStrike" cap="none" dirty="0">
                    <a:solidFill>
                      <a:schemeClr val="tx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одвижные элементы в конструкции</a:t>
                </a:r>
                <a:endParaRPr lang="ru-RU" sz="1400" b="0" i="0" u="none" strike="noStrike" cap="none" dirty="0">
                  <a:solidFill>
                    <a:schemeClr val="tx1"/>
                  </a:solidFill>
                  <a:sym typeface="Arial"/>
                </a:endParaRPr>
              </a:p>
              <a:p>
                <a:pPr marL="285750" marR="0" lvl="0" indent="-285750" algn="l" rtl="0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Wingdings" panose="05000000000000000000" pitchFamily="2" charset="2"/>
                  <a:buChar char="§"/>
                </a:pPr>
                <a:r>
                  <a:rPr lang="ru-RU" sz="1600" dirty="0">
                    <a:latin typeface="Times New Roman"/>
                    <a:ea typeface="Times New Roman"/>
                    <a:cs typeface="Times New Roman"/>
                    <a:sym typeface="Times New Roman"/>
                  </a:rPr>
                  <a:t>Низкая</a:t>
                </a:r>
                <a:r>
                  <a:rPr lang="ru-RU" sz="1600" b="0" i="0" u="none" strike="noStrike" cap="none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частота </a:t>
                </a:r>
                <a:endParaRPr lang="ru-RU" sz="1600" dirty="0"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285750" marR="0" lvl="0" indent="-285750" algn="l" rtl="0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ourier New" panose="02070309020205020404" pitchFamily="49" charset="0"/>
                  <a:buChar char="o"/>
                </a:pPr>
                <a:r>
                  <a:rPr lang="ru-RU" sz="1600" b="0" i="0" u="none" strike="noStrike" cap="none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Точность </a:t>
                </a:r>
                <a:r>
                  <a:rPr lang="en-US" sz="1600" dirty="0">
                    <a:latin typeface="Times New Roman"/>
                    <a:ea typeface="Times New Roman"/>
                    <a:cs typeface="Times New Roman"/>
                    <a:sym typeface="Times New Roman"/>
                  </a:rPr>
                  <a:t>~ </a:t>
                </a:r>
                <a:r>
                  <a:rPr lang="ru-RU" sz="1600" dirty="0">
                    <a:latin typeface="Times New Roman"/>
                    <a:ea typeface="Times New Roman"/>
                    <a:cs typeface="Times New Roman"/>
                    <a:sym typeface="Times New Roman"/>
                  </a:rPr>
                  <a:t>2 </a:t>
                </a:r>
                <a:r>
                  <a:rPr lang="ru-RU" sz="1600" dirty="0" err="1">
                    <a:latin typeface="Times New Roman"/>
                    <a:ea typeface="Times New Roman"/>
                    <a:cs typeface="Times New Roman"/>
                    <a:sym typeface="Times New Roman"/>
                  </a:rPr>
                  <a:t>мкГал</a:t>
                </a:r>
                <a:endParaRPr lang="ru-RU" sz="1600" dirty="0"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285750" marR="0" lvl="0" indent="-285750" algn="l" rtl="0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ourier New" panose="02070309020205020404" pitchFamily="49" charset="0"/>
                  <a:buChar char="o"/>
                </a:pPr>
                <a:r>
                  <a:rPr lang="ru-RU" sz="1600" b="0" i="0" u="none" strike="noStrike" cap="none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Чувствительность </a:t>
                </a:r>
                <a:r>
                  <a:rPr lang="en-US" sz="1600" b="0" i="0" u="none" strike="noStrike" cap="none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~ 15 </a:t>
                </a:r>
                <a:r>
                  <a:rPr lang="ru-RU" sz="1600" b="0" i="0" u="none" strike="noStrike" cap="none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мкГал</a:t>
                </a:r>
                <a:r>
                  <a:rPr lang="ru-RU" sz="1600" dirty="0">
                    <a:ea typeface="Cambria Math" panose="02040503050406030204" pitchFamily="18" charset="0"/>
                    <a:cs typeface="Times New Roman"/>
                    <a:sym typeface="Times New Roman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/>
                        <a:sym typeface="Times New Roman"/>
                      </a:rPr>
                      <m:t>/</m:t>
                    </m:r>
                    <m:r>
                      <a:rPr lang="ru-RU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/>
                        <a:sym typeface="Times New Roman"/>
                      </a:rPr>
                      <m:t> </m:t>
                    </m:r>
                  </m:oMath>
                </a14:m>
                <a:r>
                  <a:rPr lang="ru-RU" sz="1600" dirty="0">
                    <a:latin typeface="Times New Roman"/>
                    <a:ea typeface="Times New Roman"/>
                    <a:cs typeface="Times New Roman"/>
                    <a:sym typeface="Times New Roman"/>
                  </a:rPr>
                  <a:t>Гц</a:t>
                </a:r>
                <a:r>
                  <a:rPr lang="ru-RU" sz="1600" baseline="30000" dirty="0">
                    <a:latin typeface="Times New Roman"/>
                    <a:ea typeface="Times New Roman"/>
                    <a:cs typeface="Times New Roman"/>
                    <a:sym typeface="Times New Roman"/>
                  </a:rPr>
                  <a:t>1</a:t>
                </a:r>
                <a:r>
                  <a:rPr lang="en-US" sz="1600" baseline="30000" dirty="0">
                    <a:latin typeface="Times New Roman"/>
                    <a:ea typeface="Times New Roman"/>
                    <a:cs typeface="Times New Roman"/>
                    <a:sym typeface="Times New Roman"/>
                  </a:rPr>
                  <a:t>/2</a:t>
                </a:r>
                <a:endParaRPr sz="1600" b="0" i="0" u="none" strike="noStrike" cap="none" baseline="300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mc:Choice>
        <mc:Fallback xmlns="">
          <p:sp>
            <p:nvSpPr>
              <p:cNvPr id="21" name="Google Shape;100;p16">
                <a:extLst>
                  <a:ext uri="{FF2B5EF4-FFF2-40B4-BE49-F238E27FC236}">
                    <a16:creationId xmlns:a16="http://schemas.microsoft.com/office/drawing/2014/main" id="{27E9DD57-96EF-4791-9AA5-D15C8F5E0F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8360" y="3497055"/>
                <a:ext cx="3799539" cy="1477287"/>
              </a:xfrm>
              <a:prstGeom prst="rect">
                <a:avLst/>
              </a:prstGeom>
              <a:blipFill>
                <a:blip r:embed="rId4"/>
                <a:stretch>
                  <a:fillRect l="-479" b="-3673"/>
                </a:stretch>
              </a:blipFill>
              <a:ln w="19050">
                <a:solidFill>
                  <a:srgbClr val="00B0F0"/>
                </a:solidFill>
                <a:prstDash val="sysDash"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Google Shape;100;p16">
            <a:extLst>
              <a:ext uri="{FF2B5EF4-FFF2-40B4-BE49-F238E27FC236}">
                <a16:creationId xmlns="" xmlns:a16="http://schemas.microsoft.com/office/drawing/2014/main" id="{9038E280-FF44-43F8-80F2-B49102D93479}"/>
              </a:ext>
            </a:extLst>
          </p:cNvPr>
          <p:cNvSpPr txBox="1"/>
          <p:nvPr/>
        </p:nvSpPr>
        <p:spPr>
          <a:xfrm>
            <a:off x="255916" y="3498370"/>
            <a:ext cx="3083586" cy="1231066"/>
          </a:xfrm>
          <a:prstGeom prst="rect">
            <a:avLst/>
          </a:prstGeom>
          <a:noFill/>
          <a:ln w="19050">
            <a:solidFill>
              <a:srgbClr val="00B0F0"/>
            </a:solidFill>
            <a:prstDash val="sysDash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Wingdings" panose="05000000000000000000" pitchFamily="2" charset="2"/>
              <a:buChar char="ü"/>
            </a:pP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Высокая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частота измерений 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Wingdings" panose="05000000000000000000" pitchFamily="2" charset="2"/>
              <a:buChar char="§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Дрейф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Wingdings" panose="05000000000000000000" pitchFamily="2" charset="2"/>
              <a:buChar char="§"/>
            </a:pP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Необходимость калибровки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urier New" panose="02070309020205020404" pitchFamily="49" charset="0"/>
              <a:buChar char="o"/>
            </a:pP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Т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очность 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~ 1 </a:t>
            </a:r>
            <a:r>
              <a:rPr lang="ru-RU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нГал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10352214" y="37284"/>
            <a:ext cx="16193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800" dirty="0" smtClean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ru-RU" sz="1800" dirty="0" err="1" smtClean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Гал</a:t>
            </a:r>
            <a:r>
              <a:rPr lang="ru-RU" sz="1800" dirty="0" smtClean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 см</a:t>
            </a:r>
            <a:r>
              <a:rPr lang="en-US" sz="1800" dirty="0" smtClean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/c</a:t>
            </a:r>
            <a:r>
              <a:rPr lang="en-US" sz="1800" baseline="30000" dirty="0" smtClean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lang="ru-RU" sz="1800" baseline="30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744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538844"/>
              </p:ext>
            </p:extLst>
          </p:nvPr>
        </p:nvGraphicFramePr>
        <p:xfrm>
          <a:off x="708298" y="2637127"/>
          <a:ext cx="10490925" cy="34986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0383"/>
                <a:gridCol w="2394701"/>
                <a:gridCol w="2015098"/>
                <a:gridCol w="3040743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800" b="1" u="sng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Типы гравиметров</a:t>
                      </a:r>
                      <a:endParaRPr lang="ru-RU" sz="1800" b="1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Относительные</a:t>
                      </a:r>
                      <a:endParaRPr lang="ru-RU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6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Абсолютные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600" b="1" i="1" u="sng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Виды гравиметров</a:t>
                      </a:r>
                      <a:endParaRPr lang="ru-RU" sz="1600" b="1" i="1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600" b="1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Пружинные, Сверхпроводниковые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Баллистические</a:t>
                      </a:r>
                      <a:endParaRPr lang="ru-RU" sz="1600" b="1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Квантовые</a:t>
                      </a:r>
                      <a:endParaRPr lang="ru-RU" sz="1600" b="1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600" b="0" u="sng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Частота опроса</a:t>
                      </a:r>
                      <a:endParaRPr lang="ru-RU" sz="1600" b="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ru-RU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600" b="0" u="sng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Дрейф</a:t>
                      </a:r>
                      <a:endParaRPr lang="ru-RU" sz="1600" b="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Присутствует</a:t>
                      </a:r>
                      <a:endParaRPr lang="ru-RU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Отсутствует</a:t>
                      </a:r>
                      <a:endParaRPr lang="ru-RU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Отсутствует</a:t>
                      </a:r>
                      <a:endParaRPr lang="ru-RU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algn="ctr"/>
                      <a:r>
                        <a:rPr lang="ru-RU" sz="1600" b="0" u="sng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Необходимость калибровки</a:t>
                      </a:r>
                      <a:endParaRPr lang="ru-RU" sz="1600" b="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Присутствует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Отсутствует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Отсутствует</a:t>
                      </a:r>
                      <a:endParaRPr lang="ru-RU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algn="ctr"/>
                      <a:r>
                        <a:rPr lang="ru-RU" sz="1600" b="0" u="sng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Подвижные элементы</a:t>
                      </a:r>
                      <a:r>
                        <a:rPr lang="ru-RU" sz="1600" b="0" u="sng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в конструкции</a:t>
                      </a:r>
                      <a:endParaRPr lang="ru-RU" sz="1600" b="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ru-RU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Присутствуют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Отсутствуют</a:t>
                      </a:r>
                      <a:endParaRPr lang="ru-RU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algn="ctr"/>
                      <a:r>
                        <a:rPr lang="ru-RU" sz="1600" b="0" u="sng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Точность</a:t>
                      </a:r>
                      <a:endParaRPr lang="ru-RU" sz="1600" b="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</a:t>
                      </a:r>
                      <a:r>
                        <a:rPr lang="ru-RU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1</a:t>
                      </a:r>
                      <a:r>
                        <a:rPr lang="ru-RU" b="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b="0" baseline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нГал</a:t>
                      </a:r>
                      <a:endParaRPr lang="ru-RU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</a:t>
                      </a:r>
                      <a:r>
                        <a:rPr lang="ru-RU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</a:t>
                      </a:r>
                      <a:r>
                        <a:rPr lang="ru-RU" b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мкГал</a:t>
                      </a:r>
                      <a:endParaRPr lang="ru-RU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</a:t>
                      </a:r>
                      <a:r>
                        <a:rPr lang="en-US" b="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2 </a:t>
                      </a:r>
                      <a:r>
                        <a:rPr lang="ru-RU" b="0" baseline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мкГал</a:t>
                      </a:r>
                      <a:r>
                        <a:rPr lang="ru-RU" b="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(рекордная </a:t>
                      </a:r>
                      <a:r>
                        <a:rPr lang="en-US" b="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  </a:t>
                      </a:r>
                      <a:r>
                        <a:rPr lang="ru-RU" b="0" baseline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нГал</a:t>
                      </a:r>
                      <a:r>
                        <a:rPr lang="ru-RU" b="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ru-RU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/>
                      <a:r>
                        <a:rPr lang="ru-RU" sz="1600" b="0" u="sng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Чувствительность</a:t>
                      </a:r>
                      <a:endParaRPr lang="ru-RU" sz="1600" b="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</a:t>
                      </a:r>
                      <a:r>
                        <a:rPr lang="ru-RU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b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мкГал</a:t>
                      </a:r>
                      <a:r>
                        <a:rPr lang="en-US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ru-RU" sz="1400" dirty="0" smtClean="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Гц</a:t>
                      </a:r>
                      <a:r>
                        <a:rPr lang="ru-RU" sz="1400" baseline="30000" dirty="0" smtClean="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1</a:t>
                      </a:r>
                      <a:r>
                        <a:rPr lang="en-US" sz="1400" baseline="30000" dirty="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/2</a:t>
                      </a:r>
                      <a:endParaRPr lang="ru-RU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</a:t>
                      </a:r>
                      <a:r>
                        <a:rPr lang="ru-RU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 </a:t>
                      </a:r>
                      <a:r>
                        <a:rPr lang="ru-RU" b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мкГал</a:t>
                      </a:r>
                      <a:r>
                        <a:rPr lang="en-US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ru-RU" sz="1400" dirty="0" smtClean="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Гц</a:t>
                      </a:r>
                      <a:r>
                        <a:rPr lang="ru-RU" sz="1400" baseline="30000" dirty="0" smtClean="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1</a:t>
                      </a:r>
                      <a:r>
                        <a:rPr lang="en-US" sz="1400" baseline="30000" dirty="0" smtClean="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/2</a:t>
                      </a:r>
                      <a:endParaRPr lang="ru-RU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400" dirty="0" smtClean="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Рекордная 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~ 0,3 </a:t>
                      </a:r>
                      <a:r>
                        <a:rPr lang="ru-RU" sz="1400" dirty="0" err="1" smtClean="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мкГал</a:t>
                      </a:r>
                      <a:r>
                        <a:rPr lang="en-US" sz="1400" dirty="0" smtClean="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/</a:t>
                      </a:r>
                      <a:r>
                        <a:rPr lang="ru-RU" sz="1400" dirty="0" smtClean="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Гц</a:t>
                      </a:r>
                      <a:r>
                        <a:rPr lang="ru-RU" sz="1400" baseline="30000" dirty="0" smtClean="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1</a:t>
                      </a:r>
                      <a:r>
                        <a:rPr lang="en-US" sz="1400" baseline="30000" dirty="0" smtClean="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/2</a:t>
                      </a:r>
                      <a:endParaRPr lang="ru-RU" sz="14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Google Shape;94;p16">
            <a:extLst>
              <a:ext uri="{FF2B5EF4-FFF2-40B4-BE49-F238E27FC236}">
                <a16:creationId xmlns="" xmlns:a16="http://schemas.microsoft.com/office/drawing/2014/main" id="{C5767328-1785-46B5-813F-A312F3382CC4}"/>
              </a:ext>
            </a:extLst>
          </p:cNvPr>
          <p:cNvSpPr/>
          <p:nvPr/>
        </p:nvSpPr>
        <p:spPr>
          <a:xfrm>
            <a:off x="2495423" y="44900"/>
            <a:ext cx="6910755" cy="3541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Введение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3849230" y="6218610"/>
            <a:ext cx="449353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buSzPts val="1600"/>
            </a:pPr>
            <a:r>
              <a:rPr lang="ru-RU" sz="1600" dirty="0" smtClean="0">
                <a:latin typeface="Times New Roman"/>
                <a:ea typeface="Times New Roman"/>
                <a:cs typeface="Times New Roman"/>
                <a:sym typeface="Times New Roman"/>
              </a:rPr>
              <a:t>Табл. 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lang="ru-RU" sz="1600" dirty="0" smtClean="0">
                <a:latin typeface="Times New Roman"/>
                <a:ea typeface="Times New Roman"/>
                <a:cs typeface="Times New Roman"/>
                <a:sym typeface="Times New Roman"/>
              </a:rPr>
              <a:t>Типы гравиметров и их характеристики.</a:t>
            </a:r>
            <a:endParaRPr lang="ru-RU" sz="16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="" xmlns:a16="http://schemas.microsoft.com/office/drawing/2014/main" id="{FE091DE1-B535-4FC9-9AD3-BD071369B18D}"/>
              </a:ext>
            </a:extLst>
          </p:cNvPr>
          <p:cNvSpPr/>
          <p:nvPr/>
        </p:nvSpPr>
        <p:spPr>
          <a:xfrm>
            <a:off x="1736193" y="717046"/>
            <a:ext cx="9055713" cy="1639070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Google Shape;96;p16">
            <a:extLst>
              <a:ext uri="{FF2B5EF4-FFF2-40B4-BE49-F238E27FC236}">
                <a16:creationId xmlns="" xmlns:a16="http://schemas.microsoft.com/office/drawing/2014/main" id="{EEEB39D2-1717-499D-AABD-CE3D4215D1F0}"/>
              </a:ext>
            </a:extLst>
          </p:cNvPr>
          <p:cNvSpPr txBox="1"/>
          <p:nvPr/>
        </p:nvSpPr>
        <p:spPr>
          <a:xfrm>
            <a:off x="1997839" y="1072641"/>
            <a:ext cx="4680590" cy="1231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spcBef>
                <a:spcPts val="300"/>
              </a:spcBef>
              <a:buSzPts val="1600"/>
              <a:buFont typeface="Arial"/>
              <a:buChar char="•"/>
            </a:pP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Фундаментальные физические исследования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Археология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Навигация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Оценка подземной инфраструктуры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Google Shape;97;p16">
            <a:extLst>
              <a:ext uri="{FF2B5EF4-FFF2-40B4-BE49-F238E27FC236}">
                <a16:creationId xmlns="" xmlns:a16="http://schemas.microsoft.com/office/drawing/2014/main" id="{CD82ED78-7456-4B52-98E7-80A8C6A5BEDC}"/>
              </a:ext>
            </a:extLst>
          </p:cNvPr>
          <p:cNvSpPr txBox="1"/>
          <p:nvPr/>
        </p:nvSpPr>
        <p:spPr>
          <a:xfrm>
            <a:off x="6425068" y="1077922"/>
            <a:ext cx="4548674" cy="1192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buSzPts val="1600"/>
              <a:buFont typeface="Arial"/>
              <a:buChar char="•"/>
            </a:pP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Разведка полезных ископаемых 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Поиск скрытых объектов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Вулканы, исследования землетрясений и пр.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lvl="0" indent="-285750">
              <a:spcBef>
                <a:spcPts val="300"/>
              </a:spcBef>
              <a:buSzPts val="1600"/>
              <a:buFont typeface="Arial"/>
              <a:buChar char="•"/>
            </a:pP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Геодезия</a:t>
            </a:r>
            <a:endParaRPr sz="16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2" name="Google Shape;98;p16">
            <a:extLst>
              <a:ext uri="{FF2B5EF4-FFF2-40B4-BE49-F238E27FC236}">
                <a16:creationId xmlns="" xmlns:a16="http://schemas.microsoft.com/office/drawing/2014/main" id="{B3EC5AD5-1F1A-4FC6-97BC-67E6BFC47E78}"/>
              </a:ext>
            </a:extLst>
          </p:cNvPr>
          <p:cNvSpPr txBox="1"/>
          <p:nvPr/>
        </p:nvSpPr>
        <p:spPr>
          <a:xfrm>
            <a:off x="2109987" y="703350"/>
            <a:ext cx="7888374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Сферы</a:t>
            </a:r>
            <a:r>
              <a:rPr lang="en-US" sz="18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18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деятельности, требующие прецизионных измерений гравитации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593EC11A-A157-487D-ADF7-8A978D0305FA}"/>
              </a:ext>
            </a:extLst>
          </p:cNvPr>
          <p:cNvSpPr txBox="1"/>
          <p:nvPr/>
        </p:nvSpPr>
        <p:spPr>
          <a:xfrm>
            <a:off x="11681926" y="6408575"/>
            <a:ext cx="360784" cy="312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14" name="Прямоугольник 13"/>
          <p:cNvSpPr/>
          <p:nvPr/>
        </p:nvSpPr>
        <p:spPr>
          <a:xfrm>
            <a:off x="10262367" y="44900"/>
            <a:ext cx="16193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800" dirty="0" smtClean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ru-RU" sz="1800" dirty="0" err="1" smtClean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Гал</a:t>
            </a:r>
            <a:r>
              <a:rPr lang="ru-RU" sz="1800" dirty="0" smtClean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 см</a:t>
            </a:r>
            <a:r>
              <a:rPr lang="en-US" sz="1800" dirty="0" smtClean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/c</a:t>
            </a:r>
            <a:r>
              <a:rPr lang="en-US" sz="1800" baseline="30000" dirty="0" smtClean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lang="ru-RU" sz="1800" baseline="30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0177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"/>
          <p:cNvSpPr txBox="1"/>
          <p:nvPr/>
        </p:nvSpPr>
        <p:spPr>
          <a:xfrm>
            <a:off x="1056931" y="5894872"/>
            <a:ext cx="4038192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1. Принципиальная схема работы абсолютного атомного гравиметра.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" name="Google Shape;135;p3"/>
          <p:cNvSpPr/>
          <p:nvPr/>
        </p:nvSpPr>
        <p:spPr>
          <a:xfrm>
            <a:off x="2504131" y="94718"/>
            <a:ext cx="6910755" cy="471186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Принцип работы гравиметра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3"/>
          <p:cNvSpPr txBox="1"/>
          <p:nvPr/>
        </p:nvSpPr>
        <p:spPr>
          <a:xfrm>
            <a:off x="6096000" y="1658031"/>
            <a:ext cx="5801519" cy="255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</a:t>
            </a:r>
            <a:r>
              <a:rPr lang="ru-RU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оследовательность</a:t>
            </a:r>
            <a:r>
              <a:rPr lang="ru-RU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работы гравиметра:</a:t>
            </a: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ru-RU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Магнито-оптическая ловушка (МОЛ)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ru-RU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Субдоплеровское охлаждение</a:t>
            </a:r>
            <a:endParaRPr lang="ru-RU"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Подготовка начального атомного волнового пакета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ru-RU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</a:t>
            </a:r>
            <a:r>
              <a:rPr lang="ru-RU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томная интерференция</a:t>
            </a:r>
            <a:endParaRPr sz="18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ru-RU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Детектирование</a:t>
            </a:r>
            <a:endParaRPr sz="18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12768A1C-0EF5-462D-9F3E-871D6D7DCD89}"/>
              </a:ext>
            </a:extLst>
          </p:cNvPr>
          <p:cNvSpPr txBox="1"/>
          <p:nvPr/>
        </p:nvSpPr>
        <p:spPr>
          <a:xfrm>
            <a:off x="11681926" y="6408575"/>
            <a:ext cx="360784" cy="312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  <a:endParaRPr lang="ru-RU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3"/>
          <a:srcRect l="5491" t="3944" r="6029" b="1019"/>
          <a:stretch/>
        </p:blipFill>
        <p:spPr>
          <a:xfrm>
            <a:off x="1425448" y="1227078"/>
            <a:ext cx="4302035" cy="466779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Рисунок 4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886" y="1352070"/>
            <a:ext cx="4095177" cy="2762111"/>
          </a:xfrm>
          <a:prstGeom prst="rect">
            <a:avLst/>
          </a:prstGeom>
        </p:spPr>
      </p:pic>
      <p:sp>
        <p:nvSpPr>
          <p:cNvPr id="46" name="Google Shape;136;p21">
            <a:extLst>
              <a:ext uri="{FF2B5EF4-FFF2-40B4-BE49-F238E27FC236}">
                <a16:creationId xmlns="" xmlns:a16="http://schemas.microsoft.com/office/drawing/2014/main" id="{1E7CF083-A787-4F48-A93A-E44DFC78373A}"/>
              </a:ext>
            </a:extLst>
          </p:cNvPr>
          <p:cNvSpPr/>
          <p:nvPr/>
        </p:nvSpPr>
        <p:spPr>
          <a:xfrm>
            <a:off x="1619070" y="136525"/>
            <a:ext cx="8953860" cy="62364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Принцип работы атомного интерферометра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139;p21">
            <a:extLst>
              <a:ext uri="{FF2B5EF4-FFF2-40B4-BE49-F238E27FC236}">
                <a16:creationId xmlns="" xmlns:a16="http://schemas.microsoft.com/office/drawing/2014/main" id="{B7A8C424-1497-4145-B7C5-C8EA445193E9}"/>
              </a:ext>
            </a:extLst>
          </p:cNvPr>
          <p:cNvSpPr txBox="1"/>
          <p:nvPr/>
        </p:nvSpPr>
        <p:spPr>
          <a:xfrm>
            <a:off x="581873" y="5310215"/>
            <a:ext cx="10790908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1600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2. Иллюстрация принципа работы атомного интерферометра в гравитационном поле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схема уровней </a:t>
            </a:r>
            <a:r>
              <a:rPr lang="en-US" sz="1600" b="0" i="0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87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Rb, 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используемых для рамановских пучков (б), и 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зависимость величины </a:t>
            </a:r>
            <a:r>
              <a:rPr lang="ru-RU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интерфернционного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 сигнала от скорости чирпирования </a:t>
            </a:r>
            <a:r>
              <a:rPr lang="el-GR" sz="1600" dirty="0">
                <a:latin typeface="Times New Roman"/>
                <a:ea typeface="Times New Roman"/>
                <a:cs typeface="Times New Roman"/>
                <a:sym typeface="Times New Roman"/>
              </a:rPr>
              <a:t>α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в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="" xmlns:a16="http://schemas.microsoft.com/office/drawing/2014/main" id="{A5F76187-A348-4512-AFBD-6EA014B794F8}"/>
                  </a:ext>
                </a:extLst>
              </p:cNvPr>
              <p:cNvSpPr txBox="1"/>
              <p:nvPr/>
            </p:nvSpPr>
            <p:spPr>
              <a:xfrm>
                <a:off x="8397768" y="4210691"/>
                <a:ext cx="2050754" cy="626325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ru-RU" sz="1800" i="1" dirty="0">
                              <a:latin typeface="Cambria Math" panose="02040503050406030204" pitchFamily="18" charset="0"/>
                              <a:sym typeface="Symbol"/>
                            </a:rPr>
                            <m:t></m:t>
                          </m:r>
                          <m:sSub>
                            <m:sSubPr>
                              <m:ctrlPr>
                                <a:rPr lang="en-US" sz="1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800" i="1" dirty="0">
                                  <a:latin typeface="Cambria Math" panose="02040503050406030204" pitchFamily="18" charset="0"/>
                                </a:rPr>
                                <m:t>Ф</m:t>
                              </m:r>
                            </m:e>
                            <m:sub>
                              <m:r>
                                <a:rPr lang="en-US" sz="1800" i="1" dirty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b>
                          </m:s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ru-RU" sz="1800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A5F76187-A348-4512-AFBD-6EA014B794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7768" y="4210691"/>
                <a:ext cx="2050754" cy="6263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6" name="Google Shape;142;p6">
            <a:extLst>
              <a:ext uri="{FF2B5EF4-FFF2-40B4-BE49-F238E27FC236}">
                <a16:creationId xmlns="" xmlns:a16="http://schemas.microsoft.com/office/drawing/2014/main" id="{0C2799BD-4A61-4BD1-B270-B6884E001D0B}"/>
              </a:ext>
            </a:extLst>
          </p:cNvPr>
          <p:cNvCxnSpPr>
            <a:cxnSpLocks/>
          </p:cNvCxnSpPr>
          <p:nvPr/>
        </p:nvCxnSpPr>
        <p:spPr>
          <a:xfrm>
            <a:off x="5054064" y="2387390"/>
            <a:ext cx="992932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cxnSp>
        <p:nvCxnSpPr>
          <p:cNvPr id="67" name="Google Shape;143;p6">
            <a:extLst>
              <a:ext uri="{FF2B5EF4-FFF2-40B4-BE49-F238E27FC236}">
                <a16:creationId xmlns="" xmlns:a16="http://schemas.microsoft.com/office/drawing/2014/main" id="{3304A4F6-D880-41B6-8634-C82AB047A469}"/>
              </a:ext>
            </a:extLst>
          </p:cNvPr>
          <p:cNvCxnSpPr>
            <a:cxnSpLocks/>
          </p:cNvCxnSpPr>
          <p:nvPr/>
        </p:nvCxnSpPr>
        <p:spPr>
          <a:xfrm>
            <a:off x="5054064" y="2794827"/>
            <a:ext cx="992932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sp>
        <p:nvSpPr>
          <p:cNvPr id="68" name="Google Shape;144;p6">
            <a:extLst>
              <a:ext uri="{FF2B5EF4-FFF2-40B4-BE49-F238E27FC236}">
                <a16:creationId xmlns="" xmlns:a16="http://schemas.microsoft.com/office/drawing/2014/main" id="{947C4ECC-E7C3-484E-891A-4ED675BCDBA4}"/>
              </a:ext>
            </a:extLst>
          </p:cNvPr>
          <p:cNvSpPr txBox="1"/>
          <p:nvPr/>
        </p:nvSpPr>
        <p:spPr>
          <a:xfrm>
            <a:off x="4464252" y="2640742"/>
            <a:ext cx="82731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= 1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" name="Google Shape;145;p6">
            <a:extLst>
              <a:ext uri="{FF2B5EF4-FFF2-40B4-BE49-F238E27FC236}">
                <a16:creationId xmlns="" xmlns:a16="http://schemas.microsoft.com/office/drawing/2014/main" id="{0F40A775-CCE9-4D00-96B4-8992C304ED1C}"/>
              </a:ext>
            </a:extLst>
          </p:cNvPr>
          <p:cNvSpPr txBox="1"/>
          <p:nvPr/>
        </p:nvSpPr>
        <p:spPr>
          <a:xfrm>
            <a:off x="4464252" y="2241351"/>
            <a:ext cx="93425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= 2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0" name="Google Shape;149;p6">
            <a:extLst>
              <a:ext uri="{FF2B5EF4-FFF2-40B4-BE49-F238E27FC236}">
                <a16:creationId xmlns="" xmlns:a16="http://schemas.microsoft.com/office/drawing/2014/main" id="{CBDF5FA5-4B75-4DF0-A96D-3978B01DCF22}"/>
              </a:ext>
            </a:extLst>
          </p:cNvPr>
          <p:cNvCxnSpPr>
            <a:cxnSpLocks/>
          </p:cNvCxnSpPr>
          <p:nvPr/>
        </p:nvCxnSpPr>
        <p:spPr>
          <a:xfrm>
            <a:off x="5047110" y="1241727"/>
            <a:ext cx="992932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sp>
        <p:nvSpPr>
          <p:cNvPr id="71" name="Google Shape;150;p6">
            <a:extLst>
              <a:ext uri="{FF2B5EF4-FFF2-40B4-BE49-F238E27FC236}">
                <a16:creationId xmlns="" xmlns:a16="http://schemas.microsoft.com/office/drawing/2014/main" id="{0EC0196D-606E-42BC-AEB4-6B2870C51EAA}"/>
              </a:ext>
            </a:extLst>
          </p:cNvPr>
          <p:cNvSpPr txBox="1"/>
          <p:nvPr/>
        </p:nvSpPr>
        <p:spPr>
          <a:xfrm>
            <a:off x="4464252" y="1084883"/>
            <a:ext cx="93425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F’ = 1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2" name="Прямая со стрелкой 71">
            <a:extLst>
              <a:ext uri="{FF2B5EF4-FFF2-40B4-BE49-F238E27FC236}">
                <a16:creationId xmlns="" xmlns:a16="http://schemas.microsoft.com/office/drawing/2014/main" id="{5F267223-D419-48DD-9BDC-0C3F8AC712E5}"/>
              </a:ext>
            </a:extLst>
          </p:cNvPr>
          <p:cNvCxnSpPr>
            <a:cxnSpLocks/>
          </p:cNvCxnSpPr>
          <p:nvPr/>
        </p:nvCxnSpPr>
        <p:spPr>
          <a:xfrm flipH="1" flipV="1">
            <a:off x="5256557" y="1800096"/>
            <a:ext cx="2087" cy="97953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Прямая со стрелкой 72">
            <a:extLst>
              <a:ext uri="{FF2B5EF4-FFF2-40B4-BE49-F238E27FC236}">
                <a16:creationId xmlns="" xmlns:a16="http://schemas.microsoft.com/office/drawing/2014/main" id="{782ECC40-E3F4-42BC-A866-5EFEEDBD3DE5}"/>
              </a:ext>
            </a:extLst>
          </p:cNvPr>
          <p:cNvCxnSpPr>
            <a:cxnSpLocks/>
          </p:cNvCxnSpPr>
          <p:nvPr/>
        </p:nvCxnSpPr>
        <p:spPr>
          <a:xfrm>
            <a:off x="5505820" y="1800096"/>
            <a:ext cx="0" cy="337243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Прямая соединительная линия 73">
            <a:extLst>
              <a:ext uri="{FF2B5EF4-FFF2-40B4-BE49-F238E27FC236}">
                <a16:creationId xmlns="" xmlns:a16="http://schemas.microsoft.com/office/drawing/2014/main" id="{006621F9-61AE-4F90-A5A2-5554D0B83C3F}"/>
              </a:ext>
            </a:extLst>
          </p:cNvPr>
          <p:cNvCxnSpPr>
            <a:cxnSpLocks/>
          </p:cNvCxnSpPr>
          <p:nvPr/>
        </p:nvCxnSpPr>
        <p:spPr>
          <a:xfrm>
            <a:off x="5115877" y="1781006"/>
            <a:ext cx="779883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5" name="Прямая со стрелкой 74">
            <a:extLst>
              <a:ext uri="{FF2B5EF4-FFF2-40B4-BE49-F238E27FC236}">
                <a16:creationId xmlns="" xmlns:a16="http://schemas.microsoft.com/office/drawing/2014/main" id="{EE646790-5EF4-4C85-B854-F1B0A701D815}"/>
              </a:ext>
            </a:extLst>
          </p:cNvPr>
          <p:cNvCxnSpPr>
            <a:cxnSpLocks/>
          </p:cNvCxnSpPr>
          <p:nvPr/>
        </p:nvCxnSpPr>
        <p:spPr>
          <a:xfrm>
            <a:off x="5792423" y="1271439"/>
            <a:ext cx="0" cy="484511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6" name="Google Shape;160;p6">
            <a:extLst>
              <a:ext uri="{FF2B5EF4-FFF2-40B4-BE49-F238E27FC236}">
                <a16:creationId xmlns="" xmlns:a16="http://schemas.microsoft.com/office/drawing/2014/main" id="{EBF5F518-0F4F-4003-A36A-7C95EF362CDB}"/>
              </a:ext>
            </a:extLst>
          </p:cNvPr>
          <p:cNvSpPr txBox="1"/>
          <p:nvPr/>
        </p:nvSpPr>
        <p:spPr>
          <a:xfrm>
            <a:off x="5728509" y="1334495"/>
            <a:ext cx="1093979" cy="297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-RU" sz="2000" baseline="-25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Δ</a:t>
            </a:r>
            <a:r>
              <a:rPr lang="en-US" sz="2000" baseline="-25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~ 1 </a:t>
            </a:r>
            <a:r>
              <a:rPr lang="ru-RU" sz="2000" baseline="-25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ГГц</a:t>
            </a:r>
            <a:r>
              <a:rPr lang="en-US" sz="2000" baseline="-25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i="0" u="none" strike="noStrike" cap="none" baseline="-250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7" name="Google Shape;159;p6">
            <a:extLst>
              <a:ext uri="{FF2B5EF4-FFF2-40B4-BE49-F238E27FC236}">
                <a16:creationId xmlns="" xmlns:a16="http://schemas.microsoft.com/office/drawing/2014/main" id="{A447CEED-E98F-4A15-9B47-AC6712783144}"/>
              </a:ext>
            </a:extLst>
          </p:cNvPr>
          <p:cNvCxnSpPr>
            <a:cxnSpLocks/>
          </p:cNvCxnSpPr>
          <p:nvPr/>
        </p:nvCxnSpPr>
        <p:spPr>
          <a:xfrm>
            <a:off x="5505820" y="2137339"/>
            <a:ext cx="0" cy="22500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stealth" w="sm" len="sm"/>
            <a:tailEnd type="stealth" w="sm" len="sm"/>
          </a:ln>
        </p:spPr>
      </p:cxnSp>
      <p:sp>
        <p:nvSpPr>
          <p:cNvPr id="78" name="Google Shape;160;p6">
            <a:extLst>
              <a:ext uri="{FF2B5EF4-FFF2-40B4-BE49-F238E27FC236}">
                <a16:creationId xmlns="" xmlns:a16="http://schemas.microsoft.com/office/drawing/2014/main" id="{90B58903-12BD-46C2-ABD1-C4CF59F906D4}"/>
              </a:ext>
            </a:extLst>
          </p:cNvPr>
          <p:cNvSpPr txBox="1"/>
          <p:nvPr/>
        </p:nvSpPr>
        <p:spPr>
          <a:xfrm>
            <a:off x="5449268" y="2102687"/>
            <a:ext cx="426202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-RU" sz="12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δ</a:t>
            </a:r>
            <a:r>
              <a:rPr lang="en-US" sz="1200" b="1" baseline="-25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sz="1400" b="0" i="0" u="none" strike="noStrike" cap="none" baseline="-250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="" xmlns:a16="http://schemas.microsoft.com/office/drawing/2014/main" id="{394F3048-97DC-47B0-ACEF-7B47E4323029}"/>
              </a:ext>
            </a:extLst>
          </p:cNvPr>
          <p:cNvSpPr txBox="1"/>
          <p:nvPr/>
        </p:nvSpPr>
        <p:spPr>
          <a:xfrm>
            <a:off x="4923798" y="1911057"/>
            <a:ext cx="12867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sz="1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ru-RU" sz="12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="" xmlns:a16="http://schemas.microsoft.com/office/drawing/2014/main" id="{78BA1F56-49FE-4913-B96A-2F2BAE38F388}"/>
              </a:ext>
            </a:extLst>
          </p:cNvPr>
          <p:cNvSpPr txBox="1"/>
          <p:nvPr/>
        </p:nvSpPr>
        <p:spPr>
          <a:xfrm>
            <a:off x="5431651" y="1766676"/>
            <a:ext cx="69372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sz="1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ru-RU" dirty="0"/>
          </a:p>
        </p:txBody>
      </p:sp>
      <p:cxnSp>
        <p:nvCxnSpPr>
          <p:cNvPr id="81" name="Google Shape;164;p6">
            <a:extLst>
              <a:ext uri="{FF2B5EF4-FFF2-40B4-BE49-F238E27FC236}">
                <a16:creationId xmlns="" xmlns:a16="http://schemas.microsoft.com/office/drawing/2014/main" id="{55BB4D7D-F350-4975-B012-850A458D7F7E}"/>
              </a:ext>
            </a:extLst>
          </p:cNvPr>
          <p:cNvCxnSpPr>
            <a:cxnSpLocks/>
          </p:cNvCxnSpPr>
          <p:nvPr/>
        </p:nvCxnSpPr>
        <p:spPr>
          <a:xfrm flipV="1">
            <a:off x="5767831" y="2431370"/>
            <a:ext cx="0" cy="338029"/>
          </a:xfrm>
          <a:prstGeom prst="straightConnector1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2" name="Прямоугольник 81">
            <a:extLst>
              <a:ext uri="{FF2B5EF4-FFF2-40B4-BE49-F238E27FC236}">
                <a16:creationId xmlns="" xmlns:a16="http://schemas.microsoft.com/office/drawing/2014/main" id="{C8ABFE2C-9764-4FCE-BDF2-3989C2B9C5E7}"/>
              </a:ext>
            </a:extLst>
          </p:cNvPr>
          <p:cNvSpPr/>
          <p:nvPr/>
        </p:nvSpPr>
        <p:spPr>
          <a:xfrm>
            <a:off x="5767831" y="2446497"/>
            <a:ext cx="75854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>
                <a:latin typeface="Times New Roman"/>
                <a:ea typeface="Times New Roman"/>
                <a:cs typeface="Times New Roman"/>
                <a:sym typeface="Times New Roman"/>
              </a:rPr>
              <a:t>6.8 ГГц</a:t>
            </a:r>
            <a:endParaRPr lang="ru-RU" sz="1400" dirty="0"/>
          </a:p>
        </p:txBody>
      </p:sp>
      <p:sp>
        <p:nvSpPr>
          <p:cNvPr id="83" name="TextBox 82">
            <a:extLst>
              <a:ext uri="{FF2B5EF4-FFF2-40B4-BE49-F238E27FC236}">
                <a16:creationId xmlns="" xmlns:a16="http://schemas.microsoft.com/office/drawing/2014/main" id="{5B363D8B-4970-43DE-BCF6-8B91DEC4358D}"/>
              </a:ext>
            </a:extLst>
          </p:cNvPr>
          <p:cNvSpPr txBox="1"/>
          <p:nvPr/>
        </p:nvSpPr>
        <p:spPr>
          <a:xfrm>
            <a:off x="384915" y="760168"/>
            <a:ext cx="839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="" xmlns:a16="http://schemas.microsoft.com/office/drawing/2014/main" id="{FC228A56-F53C-4040-AA74-A750668FC7D9}"/>
              </a:ext>
            </a:extLst>
          </p:cNvPr>
          <p:cNvSpPr txBox="1"/>
          <p:nvPr/>
        </p:nvSpPr>
        <p:spPr>
          <a:xfrm>
            <a:off x="4214309" y="787543"/>
            <a:ext cx="839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="" xmlns:a16="http://schemas.microsoft.com/office/drawing/2014/main" id="{53A8042C-E52E-4288-B49A-5DABBD83A1A0}"/>
              </a:ext>
            </a:extLst>
          </p:cNvPr>
          <p:cNvSpPr txBox="1"/>
          <p:nvPr/>
        </p:nvSpPr>
        <p:spPr>
          <a:xfrm>
            <a:off x="3890770" y="2879382"/>
            <a:ext cx="31169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216000"/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Разность фаз между плечами интерферометра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="" xmlns:a16="http://schemas.microsoft.com/office/drawing/2014/main" id="{A5F76187-A348-4512-AFBD-6EA014B794F8}"/>
                  </a:ext>
                </a:extLst>
              </p:cNvPr>
              <p:cNvSpPr txBox="1"/>
              <p:nvPr/>
            </p:nvSpPr>
            <p:spPr>
              <a:xfrm>
                <a:off x="4030113" y="3851120"/>
                <a:ext cx="2761140" cy="397416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800" i="1" dirty="0" smtClean="0">
                          <a:latin typeface="Cambria Math" panose="02040503050406030204" pitchFamily="18" charset="0"/>
                          <a:sym typeface="Symbol"/>
                        </a:rPr>
                        <m:t></m:t>
                      </m:r>
                      <m:sSub>
                        <m:sSub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800" i="1" dirty="0" smtClean="0">
                              <a:latin typeface="Cambria Math" panose="02040503050406030204" pitchFamily="18" charset="0"/>
                            </a:rPr>
                            <m:t>Ф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ru-RU" sz="180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𝑒𝑓𝑓</m:t>
                          </m:r>
                        </m:sub>
                      </m:sSub>
                      <m:r>
                        <a:rPr lang="en-US" sz="1800" i="1" dirty="0" smtClean="0">
                          <a:latin typeface="Cambria Math" panose="02040503050406030204" pitchFamily="18" charset="0"/>
                        </a:rPr>
                        <m:t>𝑔</m:t>
                      </m:r>
                      <m:sSup>
                        <m:sSup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ru-RU" sz="18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800" i="1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800" i="1" dirty="0">
                          <a:latin typeface="Cambria Math" panose="02040503050406030204" pitchFamily="18" charset="0"/>
                        </a:rPr>
                        <m:t>𝜋</m:t>
                      </m:r>
                      <m:sSup>
                        <m:sSupPr>
                          <m:ctrlPr>
                            <a:rPr lang="en-US" sz="1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i="1" dirty="0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sz="1800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en-US" sz="18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ru-RU" sz="1800" dirty="0"/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A5F76187-A348-4512-AFBD-6EA014B794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0113" y="3851120"/>
                <a:ext cx="2761140" cy="397416"/>
              </a:xfrm>
              <a:prstGeom prst="rect">
                <a:avLst/>
              </a:prstGeom>
              <a:blipFill>
                <a:blip r:embed="rId4"/>
                <a:stretch>
                  <a:fillRect b="-4286"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/>
          <p:cNvSpPr txBox="1"/>
          <p:nvPr/>
        </p:nvSpPr>
        <p:spPr>
          <a:xfrm>
            <a:off x="4026836" y="4354577"/>
            <a:ext cx="30473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16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eff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k</a:t>
            </a:r>
            <a:r>
              <a:rPr lang="en-US" sz="1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-k</a:t>
            </a:r>
            <a:r>
              <a:rPr lang="en-US" sz="1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ru-RU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4026836" y="4731265"/>
            <a:ext cx="30473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скорость чирпирования.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="" xmlns:a16="http://schemas.microsoft.com/office/drawing/2014/main" id="{FC228A56-F53C-4040-AA74-A750668FC7D9}"/>
              </a:ext>
            </a:extLst>
          </p:cNvPr>
          <p:cNvSpPr txBox="1"/>
          <p:nvPr/>
        </p:nvSpPr>
        <p:spPr>
          <a:xfrm>
            <a:off x="7220839" y="787543"/>
            <a:ext cx="839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4" name="Рисунок 33">
            <a:extLst>
              <a:ext uri="{FF2B5EF4-FFF2-40B4-BE49-F238E27FC236}">
                <a16:creationId xmlns="" xmlns:a16="http://schemas.microsoft.com/office/drawing/2014/main" id="{9DC49608-F075-45EE-B99F-74118DF86BB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60" t="11510" r="9186" b="6527"/>
          <a:stretch/>
        </p:blipFill>
        <p:spPr>
          <a:xfrm>
            <a:off x="7866787" y="1233367"/>
            <a:ext cx="2935178" cy="2519362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11254C38-06C3-4463-A8CA-18B0328ED185}"/>
              </a:ext>
            </a:extLst>
          </p:cNvPr>
          <p:cNvSpPr txBox="1"/>
          <p:nvPr/>
        </p:nvSpPr>
        <p:spPr>
          <a:xfrm>
            <a:off x="7756133" y="3722062"/>
            <a:ext cx="339538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900" dirty="0">
                <a:latin typeface="Century Gothic" panose="020B0502020202020204" pitchFamily="34" charset="0"/>
              </a:rPr>
              <a:t>Отстройка скорости чирпирования </a:t>
            </a:r>
            <a:r>
              <a:rPr lang="el-GR" sz="900" dirty="0">
                <a:latin typeface="Century Gothic" panose="020B0502020202020204" pitchFamily="34" charset="0"/>
              </a:rPr>
              <a:t>α</a:t>
            </a:r>
            <a:r>
              <a:rPr lang="ru-RU" sz="900" dirty="0">
                <a:latin typeface="Century Gothic" panose="020B0502020202020204" pitchFamily="34" charset="0"/>
              </a:rPr>
              <a:t> –</a:t>
            </a:r>
            <a:r>
              <a:rPr lang="el-GR" sz="900" dirty="0">
                <a:latin typeface="Century Gothic" panose="020B0502020202020204" pitchFamily="34" charset="0"/>
              </a:rPr>
              <a:t> α</a:t>
            </a:r>
            <a:r>
              <a:rPr lang="ru-RU" sz="900" baseline="-25000" dirty="0">
                <a:latin typeface="Century Gothic" panose="020B0502020202020204" pitchFamily="34" charset="0"/>
              </a:rPr>
              <a:t>0</a:t>
            </a:r>
            <a:r>
              <a:rPr lang="ru-RU" sz="900" dirty="0">
                <a:latin typeface="Century Gothic" panose="020B0502020202020204" pitchFamily="34" charset="0"/>
              </a:rPr>
              <a:t>, </a:t>
            </a:r>
            <a:r>
              <a:rPr lang="en-US" sz="900" dirty="0">
                <a:latin typeface="Century Gothic" panose="020B0502020202020204" pitchFamily="34" charset="0"/>
              </a:rPr>
              <a:t>[</a:t>
            </a:r>
            <a:r>
              <a:rPr lang="ru-RU" sz="900" dirty="0" err="1">
                <a:latin typeface="Century Gothic" panose="020B0502020202020204" pitchFamily="34" charset="0"/>
              </a:rPr>
              <a:t>отн</a:t>
            </a:r>
            <a:r>
              <a:rPr lang="ru-RU" sz="900" dirty="0">
                <a:latin typeface="Century Gothic" panose="020B0502020202020204" pitchFamily="34" charset="0"/>
              </a:rPr>
              <a:t>. </a:t>
            </a:r>
            <a:r>
              <a:rPr lang="ru-RU" sz="900" dirty="0" err="1">
                <a:latin typeface="Century Gothic" panose="020B0502020202020204" pitchFamily="34" charset="0"/>
              </a:rPr>
              <a:t>ед</a:t>
            </a:r>
            <a:r>
              <a:rPr lang="en-US" sz="900" dirty="0">
                <a:latin typeface="Century Gothic" panose="020B0502020202020204" pitchFamily="34" charset="0"/>
              </a:rPr>
              <a:t>]</a:t>
            </a:r>
            <a:r>
              <a:rPr lang="ru-RU" sz="900" dirty="0">
                <a:latin typeface="Century Gothic" panose="020B0502020202020204" pitchFamily="34" charset="0"/>
              </a:rPr>
              <a:t> 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="" xmlns:a16="http://schemas.microsoft.com/office/drawing/2014/main" id="{B060F35F-F2EC-4B75-ABF0-CE1AFE44B520}"/>
              </a:ext>
            </a:extLst>
          </p:cNvPr>
          <p:cNvSpPr txBox="1"/>
          <p:nvPr/>
        </p:nvSpPr>
        <p:spPr>
          <a:xfrm rot="16200000">
            <a:off x="6627817" y="2331016"/>
            <a:ext cx="225663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900" dirty="0">
                <a:latin typeface="Century Gothic" panose="020B0502020202020204" pitchFamily="34" charset="0"/>
              </a:rPr>
              <a:t>Интерференционный сигнал, </a:t>
            </a:r>
            <a:r>
              <a:rPr lang="en-US" sz="900" dirty="0">
                <a:latin typeface="Century Gothic" panose="020B0502020202020204" pitchFamily="34" charset="0"/>
              </a:rPr>
              <a:t>[</a:t>
            </a:r>
            <a:r>
              <a:rPr lang="ru-RU" sz="900" dirty="0" err="1">
                <a:latin typeface="Century Gothic" panose="020B0502020202020204" pitchFamily="34" charset="0"/>
              </a:rPr>
              <a:t>мс</a:t>
            </a:r>
            <a:r>
              <a:rPr lang="en-US" sz="900" dirty="0">
                <a:latin typeface="Century Gothic" panose="020B0502020202020204" pitchFamily="34" charset="0"/>
              </a:rPr>
              <a:t>]</a:t>
            </a:r>
            <a:r>
              <a:rPr lang="ru-RU" sz="900" dirty="0">
                <a:latin typeface="Century Gothic" panose="020B0502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388313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6;p21">
            <a:extLst>
              <a:ext uri="{FF2B5EF4-FFF2-40B4-BE49-F238E27FC236}">
                <a16:creationId xmlns="" xmlns:a16="http://schemas.microsoft.com/office/drawing/2014/main" id="{1E7CF083-A787-4F48-A93A-E44DFC78373A}"/>
              </a:ext>
            </a:extLst>
          </p:cNvPr>
          <p:cNvSpPr/>
          <p:nvPr/>
        </p:nvSpPr>
        <p:spPr>
          <a:xfrm>
            <a:off x="1619070" y="32347"/>
            <a:ext cx="8953860" cy="62364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Принцип работы атомного интерферометра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2"/>
          <a:srcRect l="8678" t="5923" r="8353" b="7357"/>
          <a:stretch/>
        </p:blipFill>
        <p:spPr>
          <a:xfrm>
            <a:off x="853737" y="1234811"/>
            <a:ext cx="2019719" cy="1750423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3"/>
          <a:srcRect l="4551" t="5907" r="2754" b="4149"/>
          <a:stretch/>
        </p:blipFill>
        <p:spPr>
          <a:xfrm>
            <a:off x="3436356" y="754593"/>
            <a:ext cx="4364645" cy="29909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53A8042C-E52E-4288-B49A-5DABBD83A1A0}"/>
              </a:ext>
            </a:extLst>
          </p:cNvPr>
          <p:cNvSpPr txBox="1"/>
          <p:nvPr/>
        </p:nvSpPr>
        <p:spPr>
          <a:xfrm>
            <a:off x="3263753" y="3692162"/>
            <a:ext cx="58628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216000"/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Разность фаз между плечами интерферометра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3901" y="807974"/>
            <a:ext cx="3392671" cy="288418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5B363D8B-4970-43DE-BCF6-8B91DEC4358D}"/>
              </a:ext>
            </a:extLst>
          </p:cNvPr>
          <p:cNvSpPr txBox="1"/>
          <p:nvPr/>
        </p:nvSpPr>
        <p:spPr>
          <a:xfrm>
            <a:off x="466405" y="655990"/>
            <a:ext cx="839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FC228A56-F53C-4040-AA74-A750668FC7D9}"/>
              </a:ext>
            </a:extLst>
          </p:cNvPr>
          <p:cNvSpPr txBox="1"/>
          <p:nvPr/>
        </p:nvSpPr>
        <p:spPr>
          <a:xfrm>
            <a:off x="3167959" y="655990"/>
            <a:ext cx="839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FC228A56-F53C-4040-AA74-A750668FC7D9}"/>
              </a:ext>
            </a:extLst>
          </p:cNvPr>
          <p:cNvSpPr txBox="1"/>
          <p:nvPr/>
        </p:nvSpPr>
        <p:spPr>
          <a:xfrm>
            <a:off x="8178782" y="655990"/>
            <a:ext cx="839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="" xmlns:a16="http://schemas.microsoft.com/office/drawing/2014/main" id="{A5F76187-A348-4512-AFBD-6EA014B794F8}"/>
                  </a:ext>
                </a:extLst>
              </p:cNvPr>
              <p:cNvSpPr txBox="1"/>
              <p:nvPr/>
            </p:nvSpPr>
            <p:spPr>
              <a:xfrm>
                <a:off x="4290609" y="4239173"/>
                <a:ext cx="2647969" cy="397096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800" i="1" dirty="0" smtClean="0">
                          <a:latin typeface="Cambria Math" panose="02040503050406030204" pitchFamily="18" charset="0"/>
                          <a:sym typeface="Symbol"/>
                        </a:rPr>
                        <m:t></m:t>
                      </m:r>
                      <m:r>
                        <a:rPr lang="ru-RU" sz="1800" i="1" dirty="0" smtClean="0">
                          <a:latin typeface="Cambria Math" panose="02040503050406030204" pitchFamily="18" charset="0"/>
                        </a:rPr>
                        <m:t>Ф</m:t>
                      </m:r>
                      <m:r>
                        <a:rPr lang="ru-RU" sz="180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800" i="1" dirty="0">
                              <a:latin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US" sz="1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 dirty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sz="1800" i="1" dirty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sz="18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𝑒𝑓𝑓</m:t>
                          </m:r>
                        </m:sub>
                      </m:sSub>
                      <m:r>
                        <a:rPr lang="en-US" sz="1800" i="1" dirty="0" smtClean="0">
                          <a:latin typeface="Cambria Math" panose="02040503050406030204" pitchFamily="18" charset="0"/>
                        </a:rPr>
                        <m:t>𝑔</m:t>
                      </m:r>
                      <m:sSup>
                        <m:sSup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ru-RU" sz="18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A5F76187-A348-4512-AFBD-6EA014B794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0609" y="4239173"/>
                <a:ext cx="2647969" cy="397096"/>
              </a:xfrm>
              <a:prstGeom prst="rect">
                <a:avLst/>
              </a:prstGeom>
              <a:blipFill rotWithShape="0">
                <a:blip r:embed="rId5"/>
                <a:stretch>
                  <a:fillRect b="-4225"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4287332" y="4742630"/>
            <a:ext cx="41853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16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eff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k</a:t>
            </a:r>
            <a:r>
              <a:rPr lang="en-US" sz="1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-k</a:t>
            </a:r>
            <a:r>
              <a:rPr lang="en-US" sz="1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эффективный волновой вектор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ru-RU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53A8042C-E52E-4288-B49A-5DABBD83A1A0}"/>
              </a:ext>
            </a:extLst>
          </p:cNvPr>
          <p:cNvSpPr txBox="1"/>
          <p:nvPr/>
        </p:nvSpPr>
        <p:spPr>
          <a:xfrm>
            <a:off x="8258681" y="3692162"/>
            <a:ext cx="58628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216000"/>
            <a:r>
              <a:rPr lang="ru-RU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Населённость атомных состояний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="" xmlns:a16="http://schemas.microsoft.com/office/drawing/2014/main" id="{A5F76187-A348-4512-AFBD-6EA014B794F8}"/>
                  </a:ext>
                </a:extLst>
              </p:cNvPr>
              <p:cNvSpPr txBox="1"/>
              <p:nvPr/>
            </p:nvSpPr>
            <p:spPr>
              <a:xfrm>
                <a:off x="9018537" y="4128662"/>
                <a:ext cx="1937582" cy="618118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±</m:t>
                          </m:r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ru-RU" sz="1800" i="1" dirty="0">
                              <a:latin typeface="Cambria Math" panose="02040503050406030204" pitchFamily="18" charset="0"/>
                              <a:sym typeface="Symbol"/>
                            </a:rPr>
                            <m:t></m:t>
                          </m:r>
                          <m:r>
                            <a:rPr lang="ru-RU" sz="1800" i="1" dirty="0">
                              <a:latin typeface="Cambria Math" panose="02040503050406030204" pitchFamily="18" charset="0"/>
                            </a:rPr>
                            <m:t>Ф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ru-RU" sz="1800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A5F76187-A348-4512-AFBD-6EA014B794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8537" y="4128662"/>
                <a:ext cx="1937582" cy="618118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Google Shape;139;p21">
            <a:extLst>
              <a:ext uri="{FF2B5EF4-FFF2-40B4-BE49-F238E27FC236}">
                <a16:creationId xmlns="" xmlns:a16="http://schemas.microsoft.com/office/drawing/2014/main" id="{B7A8C424-1497-4145-B7C5-C8EA445193E9}"/>
              </a:ext>
            </a:extLst>
          </p:cNvPr>
          <p:cNvSpPr txBox="1"/>
          <p:nvPr/>
        </p:nvSpPr>
        <p:spPr>
          <a:xfrm>
            <a:off x="608506" y="5581427"/>
            <a:ext cx="10790908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1600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2. 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С</a:t>
            </a:r>
            <a:r>
              <a:rPr lang="ru-RU" sz="1600" dirty="0" smtClean="0">
                <a:latin typeface="Times New Roman"/>
                <a:ea typeface="Times New Roman"/>
                <a:cs typeface="Times New Roman"/>
                <a:sym typeface="Times New Roman"/>
              </a:rPr>
              <a:t>хема переходов в </a:t>
            </a:r>
            <a:r>
              <a:rPr lang="en-US" sz="1600" baseline="30000" dirty="0">
                <a:latin typeface="Times New Roman"/>
                <a:ea typeface="Times New Roman"/>
                <a:cs typeface="Times New Roman"/>
                <a:sym typeface="Times New Roman"/>
              </a:rPr>
              <a:t>87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Rb, 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используемых для </a:t>
            </a:r>
            <a:r>
              <a:rPr lang="ru-RU" sz="1600" dirty="0" smtClean="0">
                <a:latin typeface="Times New Roman"/>
                <a:ea typeface="Times New Roman"/>
                <a:cs typeface="Times New Roman"/>
                <a:sym typeface="Times New Roman"/>
              </a:rPr>
              <a:t>атомной интерференции </a:t>
            </a:r>
            <a:r>
              <a:rPr lang="en-US" sz="1600" b="0" i="0" u="none" strike="noStrike" cap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и</a:t>
            </a:r>
            <a:r>
              <a:rPr lang="ru-RU" sz="1600" dirty="0" smtClean="0">
                <a:latin typeface="Times New Roman"/>
                <a:ea typeface="Times New Roman"/>
                <a:cs typeface="Times New Roman"/>
                <a:sym typeface="Times New Roman"/>
              </a:rPr>
              <a:t>ллюстрация 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принципа работы атомного интерферометра в гравитационном поле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1600" b="0" i="0" u="none" strike="noStrike" cap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б), </a:t>
            </a:r>
            <a:r>
              <a:rPr lang="ru-RU" sz="1600" dirty="0" smtClean="0">
                <a:latin typeface="Times New Roman"/>
                <a:ea typeface="Times New Roman"/>
                <a:cs typeface="Times New Roman"/>
                <a:sym typeface="Times New Roman"/>
              </a:rPr>
              <a:t>зависимость 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величины </a:t>
            </a:r>
            <a:r>
              <a:rPr lang="ru-RU" sz="1600" dirty="0" smtClean="0">
                <a:latin typeface="Times New Roman"/>
                <a:ea typeface="Times New Roman"/>
                <a:cs typeface="Times New Roman"/>
                <a:sym typeface="Times New Roman"/>
              </a:rPr>
              <a:t>интерференционного 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сигнала от скорости чирпирования </a:t>
            </a:r>
            <a:r>
              <a:rPr lang="el-GR" sz="1600" dirty="0">
                <a:latin typeface="Times New Roman"/>
                <a:ea typeface="Times New Roman"/>
                <a:cs typeface="Times New Roman"/>
                <a:sym typeface="Times New Roman"/>
              </a:rPr>
              <a:t>α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в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" name="Прямоугольник 20"/>
          <p:cNvSpPr/>
          <p:nvPr/>
        </p:nvSpPr>
        <p:spPr>
          <a:xfrm>
            <a:off x="182296" y="3692162"/>
            <a:ext cx="267573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16000"/>
            <a:r>
              <a:rPr lang="ru-RU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Чирпирование частоты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="" xmlns:a16="http://schemas.microsoft.com/office/drawing/2014/main" id="{A5F76187-A348-4512-AFBD-6EA014B794F8}"/>
                  </a:ext>
                </a:extLst>
              </p:cNvPr>
              <p:cNvSpPr txBox="1"/>
              <p:nvPr/>
            </p:nvSpPr>
            <p:spPr>
              <a:xfrm>
                <a:off x="466405" y="4239173"/>
                <a:ext cx="1791196" cy="369332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800" i="1" dirty="0" smtClean="0">
                              <a:latin typeface="Cambria Math" panose="02040503050406030204" pitchFamily="18" charset="0"/>
                              <a:sym typeface="Symbol"/>
                            </a:rPr>
                          </m:ctrlPr>
                        </m:sSubPr>
                        <m:e>
                          <m:r>
                            <a:rPr lang="ru-RU" sz="18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/>
                            </a:rPr>
                            <m:t>𝛿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  <a:sym typeface="Symbol"/>
                            </a:rPr>
                            <m:t>𝑅</m:t>
                          </m:r>
                        </m:sub>
                      </m:sSub>
                      <m:r>
                        <a:rPr lang="en-US" sz="1800" b="0" i="1" dirty="0" smtClean="0">
                          <a:latin typeface="Cambria Math" panose="02040503050406030204" pitchFamily="18" charset="0"/>
                          <a:sym typeface="Symbol"/>
                        </a:rPr>
                        <m:t>=</m:t>
                      </m:r>
                      <m:sSub>
                        <m:sSubPr>
                          <m:ctrlPr>
                            <a:rPr lang="ru-RU" sz="1800" i="1" dirty="0">
                              <a:latin typeface="Cambria Math" panose="02040503050406030204" pitchFamily="18" charset="0"/>
                              <a:sym typeface="Symbol"/>
                            </a:rPr>
                          </m:ctrlPr>
                        </m:sSubPr>
                        <m:e>
                          <m:r>
                            <a:rPr lang="ru-RU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/>
                            </a:rPr>
                            <m:t>𝛿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/>
                            </a:rPr>
                            <m:t>0</m:t>
                          </m:r>
                        </m:sub>
                      </m:sSub>
                      <m:r>
                        <a:rPr lang="en-US" sz="1800" b="0" i="1" dirty="0" smtClean="0">
                          <a:latin typeface="Cambria Math" panose="02040503050406030204" pitchFamily="18" charset="0"/>
                          <a:sym typeface="Symbol"/>
                        </a:rPr>
                        <m:t>+2</m:t>
                      </m:r>
                      <m:r>
                        <a:rPr lang="en-US" sz="1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/>
                        </a:rPr>
                        <m:t>𝜋𝛼</m:t>
                      </m:r>
                      <m:r>
                        <a:rPr lang="en-US" sz="1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/>
                        </a:rPr>
                        <m:t>𝑡</m:t>
                      </m:r>
                    </m:oMath>
                  </m:oMathPara>
                </a14:m>
                <a:endParaRPr lang="ru-RU" sz="1800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A5F76187-A348-4512-AFBD-6EA014B794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405" y="4239173"/>
                <a:ext cx="1791196" cy="369332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466405" y="4742630"/>
            <a:ext cx="30473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скорость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чирпирования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="" xmlns:a16="http://schemas.microsoft.com/office/drawing/2014/main" id="{C7C7F885-9814-4E89-91F6-B6347CA79E74}"/>
              </a:ext>
            </a:extLst>
          </p:cNvPr>
          <p:cNvSpPr txBox="1"/>
          <p:nvPr/>
        </p:nvSpPr>
        <p:spPr>
          <a:xfrm>
            <a:off x="11681926" y="6408575"/>
            <a:ext cx="360784" cy="312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189758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"/>
          <p:cNvSpPr/>
          <p:nvPr/>
        </p:nvSpPr>
        <p:spPr>
          <a:xfrm>
            <a:off x="2572555" y="80840"/>
            <a:ext cx="6910755" cy="55364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Используемые переходы атома </a:t>
            </a:r>
            <a:r>
              <a:rPr lang="ru-RU" sz="2400" b="1" i="0" u="none" strike="noStrike" cap="none" baseline="3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87</a:t>
            </a:r>
            <a:r>
              <a:rPr lang="en-US" sz="24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Rb</a:t>
            </a: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="" xmlns:a16="http://schemas.microsoft.com/office/drawing/2014/main" id="{C0BC523E-C572-40EC-9063-421483B6825E}"/>
              </a:ext>
            </a:extLst>
          </p:cNvPr>
          <p:cNvSpPr txBox="1"/>
          <p:nvPr/>
        </p:nvSpPr>
        <p:spPr>
          <a:xfrm>
            <a:off x="-298579" y="5466515"/>
            <a:ext cx="12192000" cy="422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</a:pP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Рис. 3. 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Схема уровней 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</a:t>
            </a:r>
            <a:r>
              <a:rPr lang="ru-RU" sz="1600" baseline="-25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2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линии атома </a:t>
            </a:r>
            <a:r>
              <a:rPr lang="ru-RU" sz="1600" baseline="30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87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Rb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и используемые частоты лазерного излучения. </a:t>
            </a:r>
            <a:endParaRPr lang="ru-RU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CC9123D2-1AB0-4CD9-A99B-CC11171CAB3F}"/>
              </a:ext>
            </a:extLst>
          </p:cNvPr>
          <p:cNvSpPr txBox="1"/>
          <p:nvPr/>
        </p:nvSpPr>
        <p:spPr>
          <a:xfrm>
            <a:off x="11681926" y="6408575"/>
            <a:ext cx="360784" cy="312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="" xmlns:a16="http://schemas.microsoft.com/office/drawing/2014/main" id="{25C80F64-1A92-4CBB-A332-7F48B7C364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9385" y="923119"/>
            <a:ext cx="6876071" cy="425475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644F5585-7BC7-48D8-991F-EE7FB391AB59}"/>
              </a:ext>
            </a:extLst>
          </p:cNvPr>
          <p:cNvSpPr txBox="1"/>
          <p:nvPr/>
        </p:nvSpPr>
        <p:spPr>
          <a:xfrm>
            <a:off x="665725" y="5070942"/>
            <a:ext cx="1058713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Рис. 4. 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Оптическая схема формирования лазерного излучения, используемого для лазерного охлаждения и пленения атомов рубидия, оптической накачки и осуществления двухфотонных рамановских переходов в атомном интерферометре. АОМ – акустооптический модулятор, ЭОМ – электрооптический модулятор, ДЛВР – диодный лазер с внешним резонатором, λ/2 – полуволновая пластинка, λ/4 – четвертьволновая пластинка, З – плоское зеркало, СЗ – сферическое зеркало, Линза – собирающая линза, ОИ – оптический изолятор Фарадея, ПДК – поляризационный делительный кубик, СЧБ – стабилизация частоты с помощью биений, СНС – установка для спектроскопии насыщенного поглощения, ДК – делительный кубик, λ-метр – измеритель длины волны, ФД -фотодиод.</a:t>
            </a:r>
            <a:endParaRPr lang="ru-RU" dirty="0"/>
          </a:p>
        </p:txBody>
      </p:sp>
      <p:sp>
        <p:nvSpPr>
          <p:cNvPr id="5" name="Google Shape;178;p5">
            <a:extLst>
              <a:ext uri="{FF2B5EF4-FFF2-40B4-BE49-F238E27FC236}">
                <a16:creationId xmlns="" xmlns:a16="http://schemas.microsoft.com/office/drawing/2014/main" id="{685FAB7F-096C-4160-8A8F-AF21AFC9F4E2}"/>
              </a:ext>
            </a:extLst>
          </p:cNvPr>
          <p:cNvSpPr/>
          <p:nvPr/>
        </p:nvSpPr>
        <p:spPr>
          <a:xfrm>
            <a:off x="2367282" y="120355"/>
            <a:ext cx="6910755" cy="67066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Оптическая схема гравиметра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F476F830-1DA6-436F-B835-A406F4A47037}"/>
              </a:ext>
            </a:extLst>
          </p:cNvPr>
          <p:cNvSpPr txBox="1"/>
          <p:nvPr/>
        </p:nvSpPr>
        <p:spPr>
          <a:xfrm>
            <a:off x="11681926" y="6408575"/>
            <a:ext cx="360784" cy="312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="" xmlns:a16="http://schemas.microsoft.com/office/drawing/2014/main" id="{4D30DFEF-8F23-4151-9AAE-358E840F0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289" y="791016"/>
            <a:ext cx="7727421" cy="4294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3754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2"/>
          <p:cNvSpPr txBox="1"/>
          <p:nvPr/>
        </p:nvSpPr>
        <p:spPr>
          <a:xfrm>
            <a:off x="1789922" y="5162073"/>
            <a:ext cx="8192278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5. Трехмерная модель экспериментальной установки. На рисунке представлены: вакуумная камера, три пары компенсационных магнитных катушек, охлаждающие лазерные пучки (розовые), рамановские пучки (фиолетовые), пробный пучок (жёлтый), оптика (коллиматоры, зеркала, линзы) и видеокамера. На рисунке не показаны четвертьволновые пластинки и катушка анти-Гельмгольца(фронтальная сторона)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2"/>
          <p:cNvSpPr/>
          <p:nvPr/>
        </p:nvSpPr>
        <p:spPr>
          <a:xfrm>
            <a:off x="2465349" y="100125"/>
            <a:ext cx="6910755" cy="67066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Экспериментальная установка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5FB779BE-E95C-4F23-B584-09191216FEFF}"/>
              </a:ext>
            </a:extLst>
          </p:cNvPr>
          <p:cNvSpPr txBox="1"/>
          <p:nvPr/>
        </p:nvSpPr>
        <p:spPr>
          <a:xfrm>
            <a:off x="11681926" y="6408575"/>
            <a:ext cx="360784" cy="312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="" xmlns:a16="http://schemas.microsoft.com/office/drawing/2014/main" id="{801F9415-05F2-4C90-989F-7AFCBD430C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8554" y="982104"/>
            <a:ext cx="7694891" cy="383134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Прямоугольник 83"/>
          <p:cNvSpPr/>
          <p:nvPr/>
        </p:nvSpPr>
        <p:spPr>
          <a:xfrm>
            <a:off x="6999008" y="4551281"/>
            <a:ext cx="2126372" cy="17312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3" name="Прямоугольник 82"/>
          <p:cNvSpPr/>
          <p:nvPr/>
        </p:nvSpPr>
        <p:spPr>
          <a:xfrm>
            <a:off x="10634063" y="2535932"/>
            <a:ext cx="244140" cy="19716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2" name="Прямоугольник 81"/>
          <p:cNvSpPr/>
          <p:nvPr/>
        </p:nvSpPr>
        <p:spPr>
          <a:xfrm>
            <a:off x="10467290" y="2194394"/>
            <a:ext cx="244140" cy="19716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1" name="Прямоугольник 80"/>
          <p:cNvSpPr/>
          <p:nvPr/>
        </p:nvSpPr>
        <p:spPr>
          <a:xfrm>
            <a:off x="9550358" y="2848347"/>
            <a:ext cx="244140" cy="19716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7" name="Прямоугольник 76"/>
          <p:cNvSpPr/>
          <p:nvPr/>
        </p:nvSpPr>
        <p:spPr>
          <a:xfrm>
            <a:off x="8938389" y="4216682"/>
            <a:ext cx="186990" cy="19716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5" name="Прямоугольник 74"/>
          <p:cNvSpPr/>
          <p:nvPr/>
        </p:nvSpPr>
        <p:spPr>
          <a:xfrm>
            <a:off x="7830453" y="4220665"/>
            <a:ext cx="440369" cy="19716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4" name="Прямоугольник 73"/>
          <p:cNvSpPr/>
          <p:nvPr/>
        </p:nvSpPr>
        <p:spPr>
          <a:xfrm>
            <a:off x="6996565" y="4220811"/>
            <a:ext cx="186990" cy="19716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3" name="Прямоугольник 72"/>
          <p:cNvSpPr/>
          <p:nvPr/>
        </p:nvSpPr>
        <p:spPr>
          <a:xfrm>
            <a:off x="5225388" y="3520474"/>
            <a:ext cx="328768" cy="19812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2" name="Прямоугольник 71"/>
          <p:cNvSpPr/>
          <p:nvPr/>
        </p:nvSpPr>
        <p:spPr>
          <a:xfrm>
            <a:off x="5063787" y="3888856"/>
            <a:ext cx="4366469" cy="1671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0" name="Прямоугольник 69"/>
          <p:cNvSpPr/>
          <p:nvPr/>
        </p:nvSpPr>
        <p:spPr>
          <a:xfrm>
            <a:off x="4745132" y="3173217"/>
            <a:ext cx="244140" cy="19716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4" name="Прямоугольник 53"/>
          <p:cNvSpPr/>
          <p:nvPr/>
        </p:nvSpPr>
        <p:spPr>
          <a:xfrm>
            <a:off x="3686868" y="2219379"/>
            <a:ext cx="1001779" cy="17539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3" name="Прямоугольник 52"/>
          <p:cNvSpPr/>
          <p:nvPr/>
        </p:nvSpPr>
        <p:spPr>
          <a:xfrm>
            <a:off x="3686869" y="1912651"/>
            <a:ext cx="755297" cy="1896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" name="Прямоугольник 50"/>
          <p:cNvSpPr/>
          <p:nvPr/>
        </p:nvSpPr>
        <p:spPr>
          <a:xfrm>
            <a:off x="3687796" y="1577097"/>
            <a:ext cx="755297" cy="1896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/>
        </p:nvSpPr>
        <p:spPr>
          <a:xfrm>
            <a:off x="2383756" y="1902056"/>
            <a:ext cx="1169922" cy="19410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/>
          <p:cNvSpPr/>
          <p:nvPr/>
        </p:nvSpPr>
        <p:spPr>
          <a:xfrm>
            <a:off x="2383756" y="1577097"/>
            <a:ext cx="1169922" cy="19410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/>
          <p:cNvSpPr/>
          <p:nvPr/>
        </p:nvSpPr>
        <p:spPr>
          <a:xfrm>
            <a:off x="2383756" y="1247799"/>
            <a:ext cx="1169922" cy="19410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/>
        </p:nvSpPr>
        <p:spPr>
          <a:xfrm>
            <a:off x="2375711" y="2200675"/>
            <a:ext cx="1169922" cy="19410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Google Shape;188;p22"/>
          <p:cNvSpPr/>
          <p:nvPr/>
        </p:nvSpPr>
        <p:spPr>
          <a:xfrm>
            <a:off x="2465349" y="100125"/>
            <a:ext cx="6910755" cy="483349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Экспериментальная </a:t>
            </a:r>
            <a:r>
              <a:rPr lang="ru-RU" sz="24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последовательность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78914" y="1139994"/>
            <a:ext cx="17765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квардуполь</a:t>
            </a:r>
            <a:endParaRPr lang="ru-RU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2121928" y="1347976"/>
            <a:ext cx="8856618" cy="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0" y="1376240"/>
            <a:ext cx="23559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Мощность Охлаждения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2121928" y="1677275"/>
            <a:ext cx="8856618" cy="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9415" y="1705538"/>
            <a:ext cx="23559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Частота Охлаждения</a:t>
            </a:r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>
            <a:off x="2121928" y="2006574"/>
            <a:ext cx="8856618" cy="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78914" y="2098437"/>
            <a:ext cx="17765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Перекачка</a:t>
            </a:r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2121928" y="2306419"/>
            <a:ext cx="8856618" cy="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09246" y="2440774"/>
            <a:ext cx="17765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Подсветка</a:t>
            </a:r>
          </a:p>
        </p:txBody>
      </p:sp>
      <p:cxnSp>
        <p:nvCxnSpPr>
          <p:cNvPr id="29" name="Прямая соединительная линия 28"/>
          <p:cNvCxnSpPr/>
          <p:nvPr/>
        </p:nvCxnSpPr>
        <p:spPr>
          <a:xfrm>
            <a:off x="2121928" y="2636295"/>
            <a:ext cx="8856618" cy="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89636" y="2779328"/>
            <a:ext cx="17765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Накачка 2-3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endParaRPr lang="ru-RU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1" name="Прямая соединительная линия 30"/>
          <p:cNvCxnSpPr/>
          <p:nvPr/>
        </p:nvCxnSpPr>
        <p:spPr>
          <a:xfrm>
            <a:off x="2121928" y="2951945"/>
            <a:ext cx="8856618" cy="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89636" y="3105708"/>
            <a:ext cx="17765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Накачка 2-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2’</a:t>
            </a:r>
            <a:endParaRPr lang="ru-RU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3" name="Прямая соединительная линия 32"/>
          <p:cNvCxnSpPr/>
          <p:nvPr/>
        </p:nvCxnSpPr>
        <p:spPr>
          <a:xfrm>
            <a:off x="2121928" y="3278325"/>
            <a:ext cx="8856618" cy="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986894" y="3784155"/>
            <a:ext cx="17765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Z-</a:t>
            </a:r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маг поле</a:t>
            </a:r>
          </a:p>
        </p:txBody>
      </p:sp>
      <p:cxnSp>
        <p:nvCxnSpPr>
          <p:cNvPr id="35" name="Прямая соединительная линия 34"/>
          <p:cNvCxnSpPr/>
          <p:nvPr/>
        </p:nvCxnSpPr>
        <p:spPr>
          <a:xfrm>
            <a:off x="2121928" y="3625103"/>
            <a:ext cx="8856618" cy="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07876" y="3429841"/>
            <a:ext cx="17765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Накачка 1-0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endParaRPr lang="ru-RU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7" name="Прямая соединительная линия 36"/>
          <p:cNvCxnSpPr/>
          <p:nvPr/>
        </p:nvCxnSpPr>
        <p:spPr>
          <a:xfrm>
            <a:off x="2121928" y="3975221"/>
            <a:ext cx="8856618" cy="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327221" y="4136274"/>
            <a:ext cx="17765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Раман</a:t>
            </a:r>
            <a:endParaRPr lang="ru-RU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" name="Прямая соединительная линия 38"/>
          <p:cNvCxnSpPr/>
          <p:nvPr/>
        </p:nvCxnSpPr>
        <p:spPr>
          <a:xfrm>
            <a:off x="2121928" y="4325339"/>
            <a:ext cx="8856618" cy="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62689" y="4447698"/>
            <a:ext cx="17765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Чирпирование</a:t>
            </a:r>
          </a:p>
        </p:txBody>
      </p:sp>
      <p:cxnSp>
        <p:nvCxnSpPr>
          <p:cNvPr id="41" name="Прямая соединительная линия 40"/>
          <p:cNvCxnSpPr/>
          <p:nvPr/>
        </p:nvCxnSpPr>
        <p:spPr>
          <a:xfrm>
            <a:off x="2126429" y="4647445"/>
            <a:ext cx="8856618" cy="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Прямая соединительная линия 42"/>
          <p:cNvCxnSpPr/>
          <p:nvPr/>
        </p:nvCxnSpPr>
        <p:spPr>
          <a:xfrm>
            <a:off x="2367666" y="906253"/>
            <a:ext cx="16090" cy="4111770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Прямая соединительная линия 45"/>
          <p:cNvCxnSpPr/>
          <p:nvPr/>
        </p:nvCxnSpPr>
        <p:spPr>
          <a:xfrm>
            <a:off x="3556399" y="906253"/>
            <a:ext cx="16090" cy="4111770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="" xmlns:a16="http://schemas.microsoft.com/office/drawing/2014/main" id="{D264B975-A8B3-4554-9188-E48F759EEE32}"/>
              </a:ext>
            </a:extLst>
          </p:cNvPr>
          <p:cNvSpPr txBox="1"/>
          <p:nvPr/>
        </p:nvSpPr>
        <p:spPr>
          <a:xfrm>
            <a:off x="2215495" y="4969551"/>
            <a:ext cx="151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="" xmlns:a16="http://schemas.microsoft.com/office/drawing/2014/main" id="{D264B975-A8B3-4554-9188-E48F759EEE32}"/>
              </a:ext>
            </a:extLst>
          </p:cNvPr>
          <p:cNvSpPr txBox="1"/>
          <p:nvPr/>
        </p:nvSpPr>
        <p:spPr>
          <a:xfrm>
            <a:off x="3312280" y="4967796"/>
            <a:ext cx="151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250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2624993" y="761614"/>
            <a:ext cx="17765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МОЛ</a:t>
            </a:r>
          </a:p>
        </p:txBody>
      </p:sp>
      <p:cxnSp>
        <p:nvCxnSpPr>
          <p:cNvPr id="55" name="Прямая соединительная линия 54"/>
          <p:cNvCxnSpPr/>
          <p:nvPr/>
        </p:nvCxnSpPr>
        <p:spPr>
          <a:xfrm>
            <a:off x="4681800" y="909614"/>
            <a:ext cx="16090" cy="4111770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="" xmlns:a16="http://schemas.microsoft.com/office/drawing/2014/main" id="{D264B975-A8B3-4554-9188-E48F759EEE32}"/>
              </a:ext>
            </a:extLst>
          </p:cNvPr>
          <p:cNvSpPr txBox="1"/>
          <p:nvPr/>
        </p:nvSpPr>
        <p:spPr>
          <a:xfrm>
            <a:off x="4385550" y="4963448"/>
            <a:ext cx="151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260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3513267" y="747298"/>
            <a:ext cx="17765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Субдоплер</a:t>
            </a:r>
            <a:endParaRPr lang="ru-RU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4593227" y="708612"/>
            <a:ext cx="22102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Подготовка в </a:t>
            </a:r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немаг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состояние</a:t>
            </a:r>
          </a:p>
        </p:txBody>
      </p:sp>
      <p:cxnSp>
        <p:nvCxnSpPr>
          <p:cNvPr id="59" name="Прямая соединительная линия 58"/>
          <p:cNvCxnSpPr/>
          <p:nvPr/>
        </p:nvCxnSpPr>
        <p:spPr>
          <a:xfrm>
            <a:off x="6805744" y="906253"/>
            <a:ext cx="16090" cy="4111770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="" xmlns:a16="http://schemas.microsoft.com/office/drawing/2014/main" id="{D264B975-A8B3-4554-9188-E48F759EEE32}"/>
              </a:ext>
            </a:extLst>
          </p:cNvPr>
          <p:cNvSpPr txBox="1"/>
          <p:nvPr/>
        </p:nvSpPr>
        <p:spPr>
          <a:xfrm>
            <a:off x="6550237" y="4958010"/>
            <a:ext cx="151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4" name="Прямая соединительная линия 63"/>
          <p:cNvCxnSpPr/>
          <p:nvPr/>
        </p:nvCxnSpPr>
        <p:spPr>
          <a:xfrm>
            <a:off x="9430256" y="906253"/>
            <a:ext cx="16090" cy="4111770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="" xmlns:a16="http://schemas.microsoft.com/office/drawing/2014/main" id="{D264B975-A8B3-4554-9188-E48F759EEE32}"/>
              </a:ext>
            </a:extLst>
          </p:cNvPr>
          <p:cNvSpPr txBox="1"/>
          <p:nvPr/>
        </p:nvSpPr>
        <p:spPr>
          <a:xfrm>
            <a:off x="9188022" y="4955178"/>
            <a:ext cx="151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300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7" name="Прямая соединительная линия 66"/>
          <p:cNvCxnSpPr/>
          <p:nvPr/>
        </p:nvCxnSpPr>
        <p:spPr>
          <a:xfrm flipH="1">
            <a:off x="2825295" y="4485509"/>
            <a:ext cx="163153" cy="3114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Прямая соединительная линия 67"/>
          <p:cNvCxnSpPr/>
          <p:nvPr/>
        </p:nvCxnSpPr>
        <p:spPr>
          <a:xfrm flipH="1">
            <a:off x="3007189" y="4491733"/>
            <a:ext cx="163153" cy="3114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Google Shape;187;p22"/>
          <p:cNvSpPr txBox="1"/>
          <p:nvPr/>
        </p:nvSpPr>
        <p:spPr>
          <a:xfrm>
            <a:off x="2511194" y="5697879"/>
            <a:ext cx="819227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6. </a:t>
            </a:r>
            <a:r>
              <a:rPr lang="ru-RU" sz="1800" dirty="0">
                <a:latin typeface="Times New Roman"/>
                <a:ea typeface="Times New Roman"/>
                <a:cs typeface="Times New Roman"/>
                <a:sym typeface="Times New Roman"/>
              </a:rPr>
              <a:t>Временная последовательность работы гравиметра.</a:t>
            </a: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9" name="Прямая соединительная линия 78"/>
          <p:cNvCxnSpPr/>
          <p:nvPr/>
        </p:nvCxnSpPr>
        <p:spPr>
          <a:xfrm>
            <a:off x="10878203" y="906253"/>
            <a:ext cx="16090" cy="4111770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="" xmlns:a16="http://schemas.microsoft.com/office/drawing/2014/main" id="{D264B975-A8B3-4554-9188-E48F759EEE32}"/>
              </a:ext>
            </a:extLst>
          </p:cNvPr>
          <p:cNvSpPr txBox="1"/>
          <p:nvPr/>
        </p:nvSpPr>
        <p:spPr>
          <a:xfrm>
            <a:off x="10773363" y="4876145"/>
            <a:ext cx="151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350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7255335" y="764533"/>
            <a:ext cx="17765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Интерференция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465385" y="764533"/>
            <a:ext cx="17765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Регистрация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="" xmlns:a16="http://schemas.microsoft.com/office/drawing/2014/main" id="{E6DB90CF-986C-40BD-AE68-E7BDE5018FA7}"/>
              </a:ext>
            </a:extLst>
          </p:cNvPr>
          <p:cNvSpPr txBox="1"/>
          <p:nvPr/>
        </p:nvSpPr>
        <p:spPr>
          <a:xfrm>
            <a:off x="11681926" y="6408575"/>
            <a:ext cx="360784" cy="312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</a:t>
            </a:r>
            <a:endParaRPr lang="ru-RU" dirty="0"/>
          </a:p>
        </p:txBody>
      </p:sp>
      <p:sp>
        <p:nvSpPr>
          <p:cNvPr id="63" name="Google Shape;187;p22">
            <a:extLst>
              <a:ext uri="{FF2B5EF4-FFF2-40B4-BE49-F238E27FC236}">
                <a16:creationId xmlns="" xmlns:a16="http://schemas.microsoft.com/office/drawing/2014/main" id="{752E87BA-AE03-4575-BC6E-FFA836941546}"/>
              </a:ext>
            </a:extLst>
          </p:cNvPr>
          <p:cNvSpPr txBox="1"/>
          <p:nvPr/>
        </p:nvSpPr>
        <p:spPr>
          <a:xfrm>
            <a:off x="2685795" y="5297274"/>
            <a:ext cx="819227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dirty="0">
                <a:latin typeface="Times New Roman"/>
                <a:cs typeface="Times New Roman"/>
                <a:sym typeface="Times New Roman"/>
              </a:rPr>
              <a:t>Время, </a:t>
            </a:r>
            <a:r>
              <a:rPr lang="en-US" sz="1800" dirty="0">
                <a:latin typeface="Times New Roman"/>
                <a:cs typeface="Times New Roman"/>
                <a:sym typeface="Times New Roman"/>
              </a:rPr>
              <a:t>[</a:t>
            </a:r>
            <a:r>
              <a:rPr lang="ru-RU" sz="1800" dirty="0" err="1">
                <a:latin typeface="Times New Roman"/>
                <a:cs typeface="Times New Roman"/>
                <a:sym typeface="Times New Roman"/>
              </a:rPr>
              <a:t>мс</a:t>
            </a:r>
            <a:r>
              <a:rPr lang="en-US" sz="1800" dirty="0">
                <a:latin typeface="Times New Roman"/>
                <a:cs typeface="Times New Roman"/>
                <a:sym typeface="Times New Roman"/>
              </a:rPr>
              <a:t>]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99338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9"/>
          <p:cNvSpPr/>
          <p:nvPr/>
        </p:nvSpPr>
        <p:spPr>
          <a:xfrm>
            <a:off x="2640622" y="83724"/>
            <a:ext cx="6910755" cy="53931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Моделирование оптической накачки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39"/>
          <p:cNvSpPr txBox="1"/>
          <p:nvPr/>
        </p:nvSpPr>
        <p:spPr>
          <a:xfrm>
            <a:off x="5847081" y="817199"/>
            <a:ext cx="57061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(1)</a:t>
            </a:r>
            <a:endParaRPr dirty="0"/>
          </a:p>
        </p:txBody>
      </p:sp>
      <p:sp>
        <p:nvSpPr>
          <p:cNvPr id="391" name="Google Shape;391;p39"/>
          <p:cNvSpPr txBox="1"/>
          <p:nvPr/>
        </p:nvSpPr>
        <p:spPr>
          <a:xfrm>
            <a:off x="5855796" y="1528092"/>
            <a:ext cx="57061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(2)</a:t>
            </a:r>
            <a:endParaRPr dirty="0"/>
          </a:p>
        </p:txBody>
      </p:sp>
      <p:sp>
        <p:nvSpPr>
          <p:cNvPr id="392" name="Google Shape;392;p39"/>
          <p:cNvSpPr txBox="1"/>
          <p:nvPr/>
        </p:nvSpPr>
        <p:spPr>
          <a:xfrm>
            <a:off x="5821509" y="2133478"/>
            <a:ext cx="57061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(3)</a:t>
            </a:r>
            <a:endParaRPr dirty="0"/>
          </a:p>
        </p:txBody>
      </p:sp>
      <p:sp>
        <p:nvSpPr>
          <p:cNvPr id="394" name="Google Shape;394;p39"/>
          <p:cNvSpPr txBox="1"/>
          <p:nvPr/>
        </p:nvSpPr>
        <p:spPr>
          <a:xfrm>
            <a:off x="4204746" y="6517813"/>
            <a:ext cx="634161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*F. 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Atoneche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A. 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Kastberg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European Journal 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Physics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38.4, 045703 (2017).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98" name="Google Shape;398;p39"/>
          <p:cNvGrpSpPr/>
          <p:nvPr/>
        </p:nvGrpSpPr>
        <p:grpSpPr>
          <a:xfrm>
            <a:off x="8257414" y="1369553"/>
            <a:ext cx="2288943" cy="2386967"/>
            <a:chOff x="7675472" y="1286220"/>
            <a:chExt cx="2288943" cy="2386967"/>
          </a:xfrm>
        </p:grpSpPr>
        <p:cxnSp>
          <p:nvCxnSpPr>
            <p:cNvPr id="399" name="Google Shape;399;p39"/>
            <p:cNvCxnSpPr/>
            <p:nvPr/>
          </p:nvCxnSpPr>
          <p:spPr>
            <a:xfrm>
              <a:off x="7675472" y="3309245"/>
              <a:ext cx="927946" cy="1349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</p:cxnSp>
        <p:sp>
          <p:nvSpPr>
            <p:cNvPr id="400" name="Google Shape;400;p39"/>
            <p:cNvSpPr txBox="1"/>
            <p:nvPr/>
          </p:nvSpPr>
          <p:spPr>
            <a:xfrm>
              <a:off x="7973080" y="3365410"/>
              <a:ext cx="541866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</a:t>
              </a:r>
              <a:r>
                <a:rPr lang="ru-RU" sz="1400" b="0" i="0" u="none" strike="noStrike" cap="none" baseline="-250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sz="1400" b="0" i="0" u="none" strike="noStrike" cap="none" baseline="-25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01" name="Google Shape;401;p39"/>
            <p:cNvCxnSpPr/>
            <p:nvPr/>
          </p:nvCxnSpPr>
          <p:spPr>
            <a:xfrm>
              <a:off x="9243498" y="2821794"/>
              <a:ext cx="494454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</p:cxnSp>
        <p:sp>
          <p:nvSpPr>
            <p:cNvPr id="402" name="Google Shape;402;p39"/>
            <p:cNvSpPr txBox="1"/>
            <p:nvPr/>
          </p:nvSpPr>
          <p:spPr>
            <a:xfrm>
              <a:off x="9342103" y="2845792"/>
              <a:ext cx="62231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</a:t>
              </a:r>
              <a:r>
                <a:rPr lang="ru-RU" sz="1400" b="0" i="0" u="none" strike="noStrike" cap="none" baseline="-250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sz="1400" b="0" i="0" u="none" strike="noStrike" cap="none" baseline="-25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03" name="Google Shape;403;p39"/>
            <p:cNvCxnSpPr/>
            <p:nvPr/>
          </p:nvCxnSpPr>
          <p:spPr>
            <a:xfrm>
              <a:off x="8447631" y="1620378"/>
              <a:ext cx="494454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</p:cxnSp>
        <p:sp>
          <p:nvSpPr>
            <p:cNvPr id="404" name="Google Shape;404;p39"/>
            <p:cNvSpPr txBox="1"/>
            <p:nvPr/>
          </p:nvSpPr>
          <p:spPr>
            <a:xfrm>
              <a:off x="8560576" y="1286220"/>
              <a:ext cx="62231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</a:t>
              </a:r>
              <a:r>
                <a:rPr lang="ru-RU" sz="1400" b="0" i="0" u="none" strike="noStrike" cap="none" baseline="-250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sz="1400" b="0" i="0" u="none" strike="noStrike" cap="none" baseline="-25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05" name="Google Shape;405;p39"/>
            <p:cNvGrpSpPr/>
            <p:nvPr/>
          </p:nvGrpSpPr>
          <p:grpSpPr>
            <a:xfrm rot="1429140">
              <a:off x="8146741" y="1652422"/>
              <a:ext cx="0" cy="1623907"/>
              <a:chOff x="10160000" y="3429000"/>
              <a:chExt cx="0" cy="1623907"/>
            </a:xfrm>
          </p:grpSpPr>
          <p:cxnSp>
            <p:nvCxnSpPr>
              <p:cNvPr id="406" name="Google Shape;406;p39"/>
              <p:cNvCxnSpPr/>
              <p:nvPr/>
            </p:nvCxnSpPr>
            <p:spPr>
              <a:xfrm>
                <a:off x="10160000" y="4416213"/>
                <a:ext cx="0" cy="636694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B050"/>
                </a:solidFill>
                <a:prstDash val="dash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408" name="Google Shape;408;p39"/>
              <p:cNvCxnSpPr/>
              <p:nvPr/>
            </p:nvCxnSpPr>
            <p:spPr>
              <a:xfrm>
                <a:off x="10160000" y="3429000"/>
                <a:ext cx="0" cy="636694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B050"/>
                </a:solidFill>
                <a:prstDash val="dash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409" name="Google Shape;409;p39"/>
            <p:cNvGrpSpPr/>
            <p:nvPr/>
          </p:nvGrpSpPr>
          <p:grpSpPr>
            <a:xfrm rot="-1879641">
              <a:off x="9249827" y="1651472"/>
              <a:ext cx="0" cy="1192945"/>
              <a:chOff x="10160000" y="3429000"/>
              <a:chExt cx="0" cy="1623907"/>
            </a:xfrm>
          </p:grpSpPr>
          <p:cxnSp>
            <p:nvCxnSpPr>
              <p:cNvPr id="410" name="Google Shape;410;p39"/>
              <p:cNvCxnSpPr/>
              <p:nvPr/>
            </p:nvCxnSpPr>
            <p:spPr>
              <a:xfrm>
                <a:off x="10160000" y="4416213"/>
                <a:ext cx="0" cy="636694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B050"/>
                </a:solidFill>
                <a:prstDash val="dash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412" name="Google Shape;412;p39"/>
              <p:cNvCxnSpPr/>
              <p:nvPr/>
            </p:nvCxnSpPr>
            <p:spPr>
              <a:xfrm>
                <a:off x="10160000" y="3429000"/>
                <a:ext cx="0" cy="636694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B050"/>
                </a:solidFill>
                <a:prstDash val="dash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413" name="Google Shape;413;p39"/>
            <p:cNvGrpSpPr/>
            <p:nvPr/>
          </p:nvGrpSpPr>
          <p:grpSpPr>
            <a:xfrm rot="-10320581">
              <a:off x="8599830" y="1691863"/>
              <a:ext cx="0" cy="1529262"/>
              <a:chOff x="10160000" y="3429000"/>
              <a:chExt cx="0" cy="1623907"/>
            </a:xfrm>
          </p:grpSpPr>
          <p:cxnSp>
            <p:nvCxnSpPr>
              <p:cNvPr id="414" name="Google Shape;414;p39"/>
              <p:cNvCxnSpPr/>
              <p:nvPr/>
            </p:nvCxnSpPr>
            <p:spPr>
              <a:xfrm>
                <a:off x="10160000" y="4416213"/>
                <a:ext cx="0" cy="636694"/>
              </a:xfrm>
              <a:prstGeom prst="straightConnector1">
                <a:avLst/>
              </a:pr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416" name="Google Shape;416;p39"/>
              <p:cNvCxnSpPr/>
              <p:nvPr/>
            </p:nvCxnSpPr>
            <p:spPr>
              <a:xfrm>
                <a:off x="10160000" y="3429000"/>
                <a:ext cx="0" cy="636694"/>
              </a:xfrm>
              <a:prstGeom prst="straightConnector1">
                <a:avLst/>
              </a:pr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 type="stealth" w="med" len="med"/>
                <a:tailEnd type="none" w="sm" len="sm"/>
              </a:ln>
            </p:spPr>
          </p:cxnSp>
        </p:grpSp>
      </p:grpSp>
      <p:sp>
        <p:nvSpPr>
          <p:cNvPr id="417" name="Google Shape;417;p39"/>
          <p:cNvSpPr txBox="1"/>
          <p:nvPr/>
        </p:nvSpPr>
        <p:spPr>
          <a:xfrm>
            <a:off x="7000673" y="3741252"/>
            <a:ext cx="483831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7. Принципиальная схема оптической накачки в магнито-нечувствительное состояние.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39"/>
          <p:cNvSpPr txBox="1"/>
          <p:nvPr/>
        </p:nvSpPr>
        <p:spPr>
          <a:xfrm>
            <a:off x="5807514" y="2815847"/>
            <a:ext cx="57061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(4)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94F5967E-D4F9-4842-B0EB-39DB23D352F1}"/>
              </a:ext>
            </a:extLst>
          </p:cNvPr>
          <p:cNvSpPr txBox="1"/>
          <p:nvPr/>
        </p:nvSpPr>
        <p:spPr>
          <a:xfrm>
            <a:off x="8975152" y="2366927"/>
            <a:ext cx="11072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ru-RU" baseline="-25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7A5C2B33-9DCB-4AFD-A255-467C2A05B4AF}"/>
              </a:ext>
            </a:extLst>
          </p:cNvPr>
          <p:cNvSpPr txBox="1"/>
          <p:nvPr/>
        </p:nvSpPr>
        <p:spPr>
          <a:xfrm>
            <a:off x="8491886" y="2396931"/>
            <a:ext cx="9279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</a:t>
            </a:r>
            <a:r>
              <a:rPr lang="ru-RU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⋅</a:t>
            </a:r>
            <a:r>
              <a:rPr lang="ru-RU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ru-RU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="" xmlns:a16="http://schemas.microsoft.com/office/drawing/2014/main" id="{4531E132-C4B3-421F-ADA7-7C75D186F689}"/>
              </a:ext>
            </a:extLst>
          </p:cNvPr>
          <p:cNvSpPr txBox="1"/>
          <p:nvPr/>
        </p:nvSpPr>
        <p:spPr>
          <a:xfrm>
            <a:off x="9618412" y="2166485"/>
            <a:ext cx="9279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</a:t>
            </a:r>
            <a:r>
              <a:rPr lang="ru-RU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⋅</a:t>
            </a:r>
            <a:r>
              <a:rPr lang="ru-RU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n-US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="" xmlns:a16="http://schemas.microsoft.com/office/drawing/2014/main" id="{29BE1B8A-953A-40F9-8B17-DD9A0A91F65D}"/>
                  </a:ext>
                </a:extLst>
              </p:cNvPr>
              <p:cNvSpPr txBox="1"/>
              <p:nvPr/>
            </p:nvSpPr>
            <p:spPr>
              <a:xfrm>
                <a:off x="867197" y="631446"/>
                <a:ext cx="1683184" cy="7225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>
                              <a:latin typeface="Cambria Math" panose="02040503050406030204" pitchFamily="18" charset="0"/>
                            </a:rPr>
                            <m:t>Г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Г</m:t>
                          </m:r>
                        </m:e>
                        <m: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к</m:t>
                          </m:r>
                        </m:sub>
                      </m:sSub>
                      <m:nary>
                        <m:naryPr>
                          <m:chr m:val="∑"/>
                          <m:limLoc m:val="undOvr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𝑗𝑘</m:t>
                              </m:r>
                            </m:sub>
                          </m:sSub>
                        </m:e>
                      </m:nary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9BE1B8A-953A-40F9-8B17-DD9A0A91F6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197" y="631446"/>
                <a:ext cx="1683184" cy="72250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="" xmlns:a16="http://schemas.microsoft.com/office/drawing/2014/main" id="{A9B134FA-BCAE-424B-8058-92E1B494C264}"/>
                  </a:ext>
                </a:extLst>
              </p:cNvPr>
              <p:cNvSpPr txBox="1"/>
              <p:nvPr/>
            </p:nvSpPr>
            <p:spPr>
              <a:xfrm>
                <a:off x="913918" y="2624514"/>
                <a:ext cx="4613300" cy="6904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d>
                            <m:d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d>
                            <m:d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undOvr"/>
                                  <m:supHide m:val="on"/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𝑗𝑘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𝑛𝑘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d>
                            <m:d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𝑛𝑘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𝑛𝑘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</m:e>
                      </m:nary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9B134FA-BCAE-424B-8058-92E1B494C2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918" y="2624514"/>
                <a:ext cx="4613300" cy="69044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="" xmlns:a16="http://schemas.microsoft.com/office/drawing/2014/main" id="{9B3F2F19-6460-4369-BABA-AA6847BB5756}"/>
                  </a:ext>
                </a:extLst>
              </p:cNvPr>
              <p:cNvSpPr txBox="1"/>
              <p:nvPr/>
            </p:nvSpPr>
            <p:spPr>
              <a:xfrm>
                <a:off x="1021326" y="1391137"/>
                <a:ext cx="2450786" cy="7742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𝑗𝑘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𝑗𝑘</m:t>
                          </m:r>
                        </m:sub>
                      </m:sSub>
                      <m:f>
                        <m:f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Г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>
                        <m:f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𝑆</m:t>
                          </m:r>
                        </m:num>
                        <m:den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ru-RU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i="0">
                                              <a:latin typeface="Cambria Math" panose="02040503050406030204" pitchFamily="18" charset="0"/>
                                            </a:rPr>
                                            <m:t>2∆</m:t>
                                          </m:r>
                                        </m:e>
                                        <m:sub>
                                          <m: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  <m:t>𝑗𝑘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ru-RU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i="0">
                                              <a:latin typeface="Cambria Math" panose="02040503050406030204" pitchFamily="18" charset="0"/>
                                            </a:rPr>
                                            <m:t>Г</m:t>
                                          </m:r>
                                        </m:e>
                                        <m:sub>
                                          <m:r>
                                            <a:rPr lang="ru-RU" i="0">
                                              <a:latin typeface="Cambria Math" panose="02040503050406030204" pitchFamily="18" charset="0"/>
                                            </a:rPr>
                                            <m:t>к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B3F2F19-6460-4369-BABA-AA6847BB57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1326" y="1391137"/>
                <a:ext cx="2450786" cy="77425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="" xmlns:a16="http://schemas.microsoft.com/office/drawing/2014/main" id="{02CB737A-7F63-452A-A4F0-ADB5F62E6118}"/>
                  </a:ext>
                </a:extLst>
              </p:cNvPr>
              <p:cNvSpPr txBox="1"/>
              <p:nvPr/>
            </p:nvSpPr>
            <p:spPr>
              <a:xfrm>
                <a:off x="689387" y="2135321"/>
                <a:ext cx="1557332" cy="3250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𝑗𝑘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≪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Г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2CB737A-7F63-452A-A4F0-ADB5F62E61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387" y="2135321"/>
                <a:ext cx="1557332" cy="325089"/>
              </a:xfrm>
              <a:prstGeom prst="rect">
                <a:avLst/>
              </a:prstGeom>
              <a:blipFill>
                <a:blip r:embed="rId6"/>
                <a:stretch>
                  <a:fillRect b="-185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CC1FFB71-6BBE-4169-8FB5-1E179654E9EC}"/>
              </a:ext>
            </a:extLst>
          </p:cNvPr>
          <p:cNvSpPr txBox="1"/>
          <p:nvPr/>
        </p:nvSpPr>
        <p:spPr>
          <a:xfrm>
            <a:off x="837021" y="4629134"/>
            <a:ext cx="476709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где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населённость нижнего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го уровня,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скорость поглощения для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jk-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перехода,</a:t>
            </a:r>
          </a:p>
          <a:p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относительная скорость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jk-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перехода,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естественная ширина линии,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–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показатель насыщения,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jk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отстройка частоты излучения от частоты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jk-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перехода,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–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количество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рассеяных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атомом фотонов,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ΔT –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нагрев атома.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="" xmlns:a16="http://schemas.microsoft.com/office/drawing/2014/main" id="{DAE0082C-540F-46FC-9C43-AFAC0234EA26}"/>
                  </a:ext>
                </a:extLst>
              </p:cNvPr>
              <p:cNvSpPr txBox="1"/>
              <p:nvPr/>
            </p:nvSpPr>
            <p:spPr>
              <a:xfrm>
                <a:off x="514935" y="3342816"/>
                <a:ext cx="3131740" cy="740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ru-RU" i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/>
                            <m:e>
                              <m:nary>
                                <m:naryPr>
                                  <m:limLoc m:val="subSup"/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b>
                                    <m:sSubPr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𝑛𝑘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𝑑𝑡</m:t>
                                  </m:r>
                                </m:e>
                              </m:nary>
                            </m:e>
                          </m:nary>
                          <m:r>
                            <a:rPr lang="ru-RU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</m:e>
                      </m:nary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AE0082C-540F-46FC-9C43-AFAC0234EA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935" y="3342816"/>
                <a:ext cx="3131740" cy="740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Google Shape;418;p39">
            <a:extLst>
              <a:ext uri="{FF2B5EF4-FFF2-40B4-BE49-F238E27FC236}">
                <a16:creationId xmlns="" xmlns:a16="http://schemas.microsoft.com/office/drawing/2014/main" id="{D2A9A03C-6C0A-4874-A8D5-6C3DFEA81824}"/>
              </a:ext>
            </a:extLst>
          </p:cNvPr>
          <p:cNvSpPr txBox="1"/>
          <p:nvPr/>
        </p:nvSpPr>
        <p:spPr>
          <a:xfrm>
            <a:off x="5821509" y="3559092"/>
            <a:ext cx="57061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(5)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="" xmlns:a16="http://schemas.microsoft.com/office/drawing/2014/main" id="{056F8552-3D85-40B7-B09A-9E64C1933AB2}"/>
                  </a:ext>
                </a:extLst>
              </p:cNvPr>
              <p:cNvSpPr txBox="1"/>
              <p:nvPr/>
            </p:nvSpPr>
            <p:spPr>
              <a:xfrm>
                <a:off x="541902" y="4093857"/>
                <a:ext cx="2333774" cy="5245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>
                              <a:latin typeface="Cambria Math" panose="02040503050406030204" pitchFamily="18" charset="0"/>
                            </a:rPr>
                            <m:t>3</m:t>
                          </m:r>
                          <m:sSub>
                            <m:sSub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∆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hk</m:t>
                                  </m:r>
                                </m:e>
                              </m:d>
                            </m:e>
                            <m: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ru-RU" i="0">
                              <a:latin typeface="Cambria Math" panose="02040503050406030204" pitchFamily="18" charset="0"/>
                            </a:rPr>
                            <m:t>m</m:t>
                          </m:r>
                        </m:den>
                      </m:f>
                      <m:r>
                        <m:rPr>
                          <m:sty m:val="p"/>
                        </m:rPr>
                        <a:rPr lang="ru-RU" i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ru-RU" b="0" i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56F8552-3D85-40B7-B09A-9E64C1933A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902" y="4093857"/>
                <a:ext cx="2333774" cy="52456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Google Shape;418;p39">
            <a:extLst>
              <a:ext uri="{FF2B5EF4-FFF2-40B4-BE49-F238E27FC236}">
                <a16:creationId xmlns="" xmlns:a16="http://schemas.microsoft.com/office/drawing/2014/main" id="{D9E07F0D-D8D6-4961-B75B-70C78DAB38E6}"/>
              </a:ext>
            </a:extLst>
          </p:cNvPr>
          <p:cNvSpPr txBox="1"/>
          <p:nvPr/>
        </p:nvSpPr>
        <p:spPr>
          <a:xfrm>
            <a:off x="5810691" y="4202251"/>
            <a:ext cx="57061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(6)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="" xmlns:a16="http://schemas.microsoft.com/office/drawing/2014/main" id="{D1D74A28-7D6C-4CFE-ADD8-63365A444680}"/>
              </a:ext>
            </a:extLst>
          </p:cNvPr>
          <p:cNvSpPr txBox="1"/>
          <p:nvPr/>
        </p:nvSpPr>
        <p:spPr>
          <a:xfrm>
            <a:off x="11681926" y="6408575"/>
            <a:ext cx="360784" cy="312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</a:t>
            </a:r>
            <a:endParaRPr lang="ru-RU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3">
            <a:extLst>
              <a:ext uri="{FF2B5EF4-FFF2-40B4-BE49-F238E27FC236}">
                <a16:creationId xmlns="" xmlns:a16="http://schemas.microsoft.com/office/drawing/2014/main" id="{54FCBDA4-5566-47DB-88F3-11F7896C96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3225694"/>
              </p:ext>
            </p:extLst>
          </p:nvPr>
        </p:nvGraphicFramePr>
        <p:xfrm>
          <a:off x="1790170" y="596900"/>
          <a:ext cx="8611660" cy="60443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5830">
                  <a:extLst>
                    <a:ext uri="{9D8B030D-6E8A-4147-A177-3AD203B41FA5}">
                      <a16:colId xmlns="" xmlns:a16="http://schemas.microsoft.com/office/drawing/2014/main" val="3217741643"/>
                    </a:ext>
                  </a:extLst>
                </a:gridCol>
                <a:gridCol w="4305830">
                  <a:extLst>
                    <a:ext uri="{9D8B030D-6E8A-4147-A177-3AD203B41FA5}">
                      <a16:colId xmlns="" xmlns:a16="http://schemas.microsoft.com/office/drawing/2014/main" val="30491186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400" b="1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Оптическая накачка из состояния ∣F = 2⟩ в состояние ∣F = 1⟩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400" b="1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Оптическая накачка в состояние ∣F = 1, m = 0⟩ из состояния ∣F = 1⟩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217233675"/>
                  </a:ext>
                </a:extLst>
              </a:tr>
              <a:tr h="2301240">
                <a:tc>
                  <a:txBody>
                    <a:bodyPr/>
                    <a:lstStyle/>
                    <a:p>
                      <a:endParaRPr lang="ru-RU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27775067"/>
                  </a:ext>
                </a:extLst>
              </a:tr>
              <a:tr h="423952">
                <a:tc gridSpan="2"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Результаты моделирования оптической накачки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790096364"/>
                  </a:ext>
                </a:extLst>
              </a:tr>
              <a:tr h="2801035">
                <a:tc>
                  <a:txBody>
                    <a:bodyPr/>
                    <a:lstStyle/>
                    <a:p>
                      <a:endParaRPr lang="ru-RU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692659424"/>
                  </a:ext>
                </a:extLst>
              </a:tr>
            </a:tbl>
          </a:graphicData>
        </a:graphic>
      </p:graphicFrame>
      <p:pic>
        <p:nvPicPr>
          <p:cNvPr id="66" name="Рисунок 65">
            <a:extLst>
              <a:ext uri="{FF2B5EF4-FFF2-40B4-BE49-F238E27FC236}">
                <a16:creationId xmlns="" xmlns:a16="http://schemas.microsoft.com/office/drawing/2014/main" id="{E8E229DC-645D-4BF2-B2AD-A21DBE6389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0085" y="4031656"/>
            <a:ext cx="3344244" cy="2363523"/>
          </a:xfrm>
          <a:prstGeom prst="rect">
            <a:avLst/>
          </a:prstGeom>
        </p:spPr>
      </p:pic>
      <p:pic>
        <p:nvPicPr>
          <p:cNvPr id="65" name="Рисунок 64">
            <a:extLst>
              <a:ext uri="{FF2B5EF4-FFF2-40B4-BE49-F238E27FC236}">
                <a16:creationId xmlns="" xmlns:a16="http://schemas.microsoft.com/office/drawing/2014/main" id="{E92481A7-F519-4885-95E9-8AF3651886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9185" y="3957146"/>
            <a:ext cx="3449671" cy="2438033"/>
          </a:xfrm>
          <a:prstGeom prst="rect">
            <a:avLst/>
          </a:prstGeom>
        </p:spPr>
      </p:pic>
      <p:sp>
        <p:nvSpPr>
          <p:cNvPr id="2" name="Google Shape;246;p7">
            <a:extLst>
              <a:ext uri="{FF2B5EF4-FFF2-40B4-BE49-F238E27FC236}">
                <a16:creationId xmlns="" xmlns:a16="http://schemas.microsoft.com/office/drawing/2014/main" id="{ADBA48A0-643A-42AD-B040-E7A9A3323698}"/>
              </a:ext>
            </a:extLst>
          </p:cNvPr>
          <p:cNvSpPr/>
          <p:nvPr/>
        </p:nvSpPr>
        <p:spPr>
          <a:xfrm>
            <a:off x="2085240" y="83130"/>
            <a:ext cx="8611659" cy="41358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Результаты моделирования оптической накачки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" name="Google Shape;299;p7">
            <a:extLst>
              <a:ext uri="{FF2B5EF4-FFF2-40B4-BE49-F238E27FC236}">
                <a16:creationId xmlns="" xmlns:a16="http://schemas.microsoft.com/office/drawing/2014/main" id="{2E5A9624-18A1-400B-AF2C-0F07EC11EAFB}"/>
              </a:ext>
            </a:extLst>
          </p:cNvPr>
          <p:cNvCxnSpPr/>
          <p:nvPr/>
        </p:nvCxnSpPr>
        <p:spPr>
          <a:xfrm>
            <a:off x="3484945" y="1289692"/>
            <a:ext cx="1809376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sp>
        <p:nvSpPr>
          <p:cNvPr id="104" name="Google Shape;300;p7">
            <a:extLst>
              <a:ext uri="{FF2B5EF4-FFF2-40B4-BE49-F238E27FC236}">
                <a16:creationId xmlns="" xmlns:a16="http://schemas.microsoft.com/office/drawing/2014/main" id="{A5811CD6-B7D7-4A6E-97A8-B2E5FF831621}"/>
              </a:ext>
            </a:extLst>
          </p:cNvPr>
          <p:cNvSpPr txBox="1"/>
          <p:nvPr/>
        </p:nvSpPr>
        <p:spPr>
          <a:xfrm>
            <a:off x="2497990" y="1135803"/>
            <a:ext cx="93425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F’ = 2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05" name="Google Shape;302;p7">
            <a:extLst>
              <a:ext uri="{FF2B5EF4-FFF2-40B4-BE49-F238E27FC236}">
                <a16:creationId xmlns="" xmlns:a16="http://schemas.microsoft.com/office/drawing/2014/main" id="{9B2782CE-7759-4404-BDA1-E97051A2F3AA}"/>
              </a:ext>
            </a:extLst>
          </p:cNvPr>
          <p:cNvCxnSpPr>
            <a:cxnSpLocks/>
          </p:cNvCxnSpPr>
          <p:nvPr/>
        </p:nvCxnSpPr>
        <p:spPr>
          <a:xfrm flipH="1" flipV="1">
            <a:off x="4436901" y="1388163"/>
            <a:ext cx="1" cy="54755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06" name="Google Shape;303;p7">
            <a:extLst>
              <a:ext uri="{FF2B5EF4-FFF2-40B4-BE49-F238E27FC236}">
                <a16:creationId xmlns="" xmlns:a16="http://schemas.microsoft.com/office/drawing/2014/main" id="{46DA7C1D-A09F-40A2-B438-F879F9AEF3BF}"/>
              </a:ext>
            </a:extLst>
          </p:cNvPr>
          <p:cNvCxnSpPr>
            <a:cxnSpLocks/>
          </p:cNvCxnSpPr>
          <p:nvPr/>
        </p:nvCxnSpPr>
        <p:spPr>
          <a:xfrm>
            <a:off x="4705721" y="1388163"/>
            <a:ext cx="0" cy="121804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07" name="Google Shape;305;p7">
            <a:extLst>
              <a:ext uri="{FF2B5EF4-FFF2-40B4-BE49-F238E27FC236}">
                <a16:creationId xmlns="" xmlns:a16="http://schemas.microsoft.com/office/drawing/2014/main" id="{78281A48-1C8E-4756-8AD5-13BE4DCF54D1}"/>
              </a:ext>
            </a:extLst>
          </p:cNvPr>
          <p:cNvCxnSpPr/>
          <p:nvPr/>
        </p:nvCxnSpPr>
        <p:spPr>
          <a:xfrm>
            <a:off x="3213242" y="2096522"/>
            <a:ext cx="330926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cxnSp>
        <p:nvCxnSpPr>
          <p:cNvPr id="108" name="Google Shape;306;p7">
            <a:extLst>
              <a:ext uri="{FF2B5EF4-FFF2-40B4-BE49-F238E27FC236}">
                <a16:creationId xmlns="" xmlns:a16="http://schemas.microsoft.com/office/drawing/2014/main" id="{86C83C26-B327-4DAA-9909-D7AFD6E8B2FC}"/>
              </a:ext>
            </a:extLst>
          </p:cNvPr>
          <p:cNvCxnSpPr/>
          <p:nvPr/>
        </p:nvCxnSpPr>
        <p:spPr>
          <a:xfrm>
            <a:off x="3722693" y="2096522"/>
            <a:ext cx="330926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cxnSp>
        <p:nvCxnSpPr>
          <p:cNvPr id="109" name="Google Shape;307;p7">
            <a:extLst>
              <a:ext uri="{FF2B5EF4-FFF2-40B4-BE49-F238E27FC236}">
                <a16:creationId xmlns="" xmlns:a16="http://schemas.microsoft.com/office/drawing/2014/main" id="{F0AF9A47-8BB9-429D-8469-BB18AF98FBCB}"/>
              </a:ext>
            </a:extLst>
          </p:cNvPr>
          <p:cNvCxnSpPr/>
          <p:nvPr/>
        </p:nvCxnSpPr>
        <p:spPr>
          <a:xfrm>
            <a:off x="4254956" y="2096522"/>
            <a:ext cx="330926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cxnSp>
        <p:nvCxnSpPr>
          <p:cNvPr id="110" name="Google Shape;308;p7">
            <a:extLst>
              <a:ext uri="{FF2B5EF4-FFF2-40B4-BE49-F238E27FC236}">
                <a16:creationId xmlns="" xmlns:a16="http://schemas.microsoft.com/office/drawing/2014/main" id="{E375B3E5-5994-4344-9A91-0ED396A99478}"/>
              </a:ext>
            </a:extLst>
          </p:cNvPr>
          <p:cNvCxnSpPr/>
          <p:nvPr/>
        </p:nvCxnSpPr>
        <p:spPr>
          <a:xfrm>
            <a:off x="4776431" y="2096522"/>
            <a:ext cx="330926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cxnSp>
        <p:nvCxnSpPr>
          <p:cNvPr id="111" name="Google Shape;309;p7">
            <a:extLst>
              <a:ext uri="{FF2B5EF4-FFF2-40B4-BE49-F238E27FC236}">
                <a16:creationId xmlns="" xmlns:a16="http://schemas.microsoft.com/office/drawing/2014/main" id="{50D2C602-EE44-4C8A-BF36-161ABD8AFC21}"/>
              </a:ext>
            </a:extLst>
          </p:cNvPr>
          <p:cNvCxnSpPr/>
          <p:nvPr/>
        </p:nvCxnSpPr>
        <p:spPr>
          <a:xfrm>
            <a:off x="5290236" y="2096522"/>
            <a:ext cx="330926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cxnSp>
        <p:nvCxnSpPr>
          <p:cNvPr id="112" name="Google Shape;310;p7">
            <a:extLst>
              <a:ext uri="{FF2B5EF4-FFF2-40B4-BE49-F238E27FC236}">
                <a16:creationId xmlns="" xmlns:a16="http://schemas.microsoft.com/office/drawing/2014/main" id="{FCDCCEAE-71B2-4116-BEE3-F401B9723EC2}"/>
              </a:ext>
            </a:extLst>
          </p:cNvPr>
          <p:cNvCxnSpPr/>
          <p:nvPr/>
        </p:nvCxnSpPr>
        <p:spPr>
          <a:xfrm>
            <a:off x="3722693" y="2710477"/>
            <a:ext cx="330926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cxnSp>
        <p:nvCxnSpPr>
          <p:cNvPr id="113" name="Google Shape;311;p7">
            <a:extLst>
              <a:ext uri="{FF2B5EF4-FFF2-40B4-BE49-F238E27FC236}">
                <a16:creationId xmlns="" xmlns:a16="http://schemas.microsoft.com/office/drawing/2014/main" id="{B993C26E-959A-4C2D-92AF-F9C0AAAB6D91}"/>
              </a:ext>
            </a:extLst>
          </p:cNvPr>
          <p:cNvCxnSpPr/>
          <p:nvPr/>
        </p:nvCxnSpPr>
        <p:spPr>
          <a:xfrm>
            <a:off x="4254956" y="2710477"/>
            <a:ext cx="330926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cxnSp>
        <p:nvCxnSpPr>
          <p:cNvPr id="114" name="Google Shape;312;p7">
            <a:extLst>
              <a:ext uri="{FF2B5EF4-FFF2-40B4-BE49-F238E27FC236}">
                <a16:creationId xmlns="" xmlns:a16="http://schemas.microsoft.com/office/drawing/2014/main" id="{C2EF69D7-75C1-4C20-B345-8C9821CDDB97}"/>
              </a:ext>
            </a:extLst>
          </p:cNvPr>
          <p:cNvCxnSpPr/>
          <p:nvPr/>
        </p:nvCxnSpPr>
        <p:spPr>
          <a:xfrm>
            <a:off x="4772077" y="2710477"/>
            <a:ext cx="330926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sp>
        <p:nvSpPr>
          <p:cNvPr id="115" name="Google Shape;313;p7">
            <a:extLst>
              <a:ext uri="{FF2B5EF4-FFF2-40B4-BE49-F238E27FC236}">
                <a16:creationId xmlns="" xmlns:a16="http://schemas.microsoft.com/office/drawing/2014/main" id="{89C8025C-74C2-46A1-B2BF-9DFCF11A979D}"/>
              </a:ext>
            </a:extLst>
          </p:cNvPr>
          <p:cNvSpPr txBox="1"/>
          <p:nvPr/>
        </p:nvSpPr>
        <p:spPr>
          <a:xfrm>
            <a:off x="2503493" y="1943033"/>
            <a:ext cx="1384663" cy="306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= 2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314;p7">
            <a:extLst>
              <a:ext uri="{FF2B5EF4-FFF2-40B4-BE49-F238E27FC236}">
                <a16:creationId xmlns="" xmlns:a16="http://schemas.microsoft.com/office/drawing/2014/main" id="{9492B3EB-7F3F-4A24-AF62-549E44472DFD}"/>
              </a:ext>
            </a:extLst>
          </p:cNvPr>
          <p:cNvSpPr txBox="1"/>
          <p:nvPr/>
        </p:nvSpPr>
        <p:spPr>
          <a:xfrm>
            <a:off x="2503493" y="2556588"/>
            <a:ext cx="67803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= 1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315;p7">
            <a:extLst>
              <a:ext uri="{FF2B5EF4-FFF2-40B4-BE49-F238E27FC236}">
                <a16:creationId xmlns="" xmlns:a16="http://schemas.microsoft.com/office/drawing/2014/main" id="{28F9B385-9F4C-4F9B-BD30-7EB8D06697DF}"/>
              </a:ext>
            </a:extLst>
          </p:cNvPr>
          <p:cNvSpPr txBox="1"/>
          <p:nvPr/>
        </p:nvSpPr>
        <p:spPr>
          <a:xfrm>
            <a:off x="4164556" y="2777279"/>
            <a:ext cx="89158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m=0</a:t>
            </a:r>
            <a:endParaRPr sz="1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18" name="Google Shape;316;p7">
            <a:extLst>
              <a:ext uri="{FF2B5EF4-FFF2-40B4-BE49-F238E27FC236}">
                <a16:creationId xmlns="" xmlns:a16="http://schemas.microsoft.com/office/drawing/2014/main" id="{F072E1E4-3562-4629-8097-9D0781860DED}"/>
              </a:ext>
            </a:extLst>
          </p:cNvPr>
          <p:cNvSpPr txBox="1"/>
          <p:nvPr/>
        </p:nvSpPr>
        <p:spPr>
          <a:xfrm>
            <a:off x="3581082" y="2777279"/>
            <a:ext cx="59808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m=-1</a:t>
            </a:r>
            <a:endParaRPr sz="1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19" name="Google Shape;317;p7">
            <a:extLst>
              <a:ext uri="{FF2B5EF4-FFF2-40B4-BE49-F238E27FC236}">
                <a16:creationId xmlns="" xmlns:a16="http://schemas.microsoft.com/office/drawing/2014/main" id="{3DD80756-09C9-4FCF-BB5F-F96A644B54F8}"/>
              </a:ext>
            </a:extLst>
          </p:cNvPr>
          <p:cNvSpPr txBox="1"/>
          <p:nvPr/>
        </p:nvSpPr>
        <p:spPr>
          <a:xfrm>
            <a:off x="4705722" y="2777279"/>
            <a:ext cx="89158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m=1</a:t>
            </a:r>
            <a:endParaRPr sz="1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20" name="Google Shape;318;p7">
            <a:extLst>
              <a:ext uri="{FF2B5EF4-FFF2-40B4-BE49-F238E27FC236}">
                <a16:creationId xmlns="" xmlns:a16="http://schemas.microsoft.com/office/drawing/2014/main" id="{AE4AE603-6403-46A0-A55A-B2F23A170FC7}"/>
              </a:ext>
            </a:extLst>
          </p:cNvPr>
          <p:cNvSpPr txBox="1"/>
          <p:nvPr/>
        </p:nvSpPr>
        <p:spPr>
          <a:xfrm>
            <a:off x="4146898" y="2095977"/>
            <a:ext cx="89158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m=0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319;p7">
            <a:extLst>
              <a:ext uri="{FF2B5EF4-FFF2-40B4-BE49-F238E27FC236}">
                <a16:creationId xmlns="" xmlns:a16="http://schemas.microsoft.com/office/drawing/2014/main" id="{3177D817-74B7-4764-9B36-8C7999C346B7}"/>
              </a:ext>
            </a:extLst>
          </p:cNvPr>
          <p:cNvSpPr txBox="1"/>
          <p:nvPr/>
        </p:nvSpPr>
        <p:spPr>
          <a:xfrm>
            <a:off x="4705721" y="1679399"/>
            <a:ext cx="89158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m=1</a:t>
            </a:r>
            <a:endParaRPr sz="1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22" name="Google Shape;320;p7">
            <a:extLst>
              <a:ext uri="{FF2B5EF4-FFF2-40B4-BE49-F238E27FC236}">
                <a16:creationId xmlns="" xmlns:a16="http://schemas.microsoft.com/office/drawing/2014/main" id="{BBD09642-BA00-455B-A6C5-43B1C80FEB03}"/>
              </a:ext>
            </a:extLst>
          </p:cNvPr>
          <p:cNvSpPr txBox="1"/>
          <p:nvPr/>
        </p:nvSpPr>
        <p:spPr>
          <a:xfrm>
            <a:off x="3623391" y="1678800"/>
            <a:ext cx="89158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m=-1</a:t>
            </a:r>
            <a:endParaRPr sz="1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23" name="Google Shape;321;p7">
            <a:extLst>
              <a:ext uri="{FF2B5EF4-FFF2-40B4-BE49-F238E27FC236}">
                <a16:creationId xmlns="" xmlns:a16="http://schemas.microsoft.com/office/drawing/2014/main" id="{72930C02-8558-435C-B73F-668AC9196C5C}"/>
              </a:ext>
            </a:extLst>
          </p:cNvPr>
          <p:cNvSpPr txBox="1"/>
          <p:nvPr/>
        </p:nvSpPr>
        <p:spPr>
          <a:xfrm>
            <a:off x="5246886" y="1678799"/>
            <a:ext cx="54116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m=2</a:t>
            </a:r>
            <a:endParaRPr sz="1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24" name="Google Shape;322;p7">
            <a:extLst>
              <a:ext uri="{FF2B5EF4-FFF2-40B4-BE49-F238E27FC236}">
                <a16:creationId xmlns="" xmlns:a16="http://schemas.microsoft.com/office/drawing/2014/main" id="{A856AB1E-7EAA-4252-9F9E-2D17D90A05C9}"/>
              </a:ext>
            </a:extLst>
          </p:cNvPr>
          <p:cNvSpPr txBox="1"/>
          <p:nvPr/>
        </p:nvSpPr>
        <p:spPr>
          <a:xfrm>
            <a:off x="3091937" y="1678798"/>
            <a:ext cx="89158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m=-2</a:t>
            </a:r>
            <a:endParaRPr sz="1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25" name="Google Shape;324;p7">
            <a:extLst>
              <a:ext uri="{FF2B5EF4-FFF2-40B4-BE49-F238E27FC236}">
                <a16:creationId xmlns="" xmlns:a16="http://schemas.microsoft.com/office/drawing/2014/main" id="{C7E2C7D4-6EB7-4199-AF71-1F752404AD37}"/>
              </a:ext>
            </a:extLst>
          </p:cNvPr>
          <p:cNvSpPr/>
          <p:nvPr/>
        </p:nvSpPr>
        <p:spPr>
          <a:xfrm>
            <a:off x="3801591" y="2638633"/>
            <a:ext cx="172998" cy="147474"/>
          </a:xfrm>
          <a:prstGeom prst="ellipse">
            <a:avLst/>
          </a:prstGeom>
          <a:solidFill>
            <a:srgbClr val="FF0000"/>
          </a:solidFill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325;p7">
            <a:extLst>
              <a:ext uri="{FF2B5EF4-FFF2-40B4-BE49-F238E27FC236}">
                <a16:creationId xmlns="" xmlns:a16="http://schemas.microsoft.com/office/drawing/2014/main" id="{7EF5AC33-F806-45AD-9355-C0C56E36D8E0}"/>
              </a:ext>
            </a:extLst>
          </p:cNvPr>
          <p:cNvSpPr/>
          <p:nvPr/>
        </p:nvSpPr>
        <p:spPr>
          <a:xfrm>
            <a:off x="4341421" y="2636739"/>
            <a:ext cx="172998" cy="147474"/>
          </a:xfrm>
          <a:prstGeom prst="ellipse">
            <a:avLst/>
          </a:prstGeom>
          <a:solidFill>
            <a:srgbClr val="FF0000"/>
          </a:solidFill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326;p7">
            <a:extLst>
              <a:ext uri="{FF2B5EF4-FFF2-40B4-BE49-F238E27FC236}">
                <a16:creationId xmlns="" xmlns:a16="http://schemas.microsoft.com/office/drawing/2014/main" id="{D487D161-CE2D-4505-B512-9F7EE8F4AF98}"/>
              </a:ext>
            </a:extLst>
          </p:cNvPr>
          <p:cNvSpPr/>
          <p:nvPr/>
        </p:nvSpPr>
        <p:spPr>
          <a:xfrm>
            <a:off x="4850076" y="2629294"/>
            <a:ext cx="172998" cy="147474"/>
          </a:xfrm>
          <a:prstGeom prst="ellipse">
            <a:avLst/>
          </a:prstGeom>
          <a:solidFill>
            <a:srgbClr val="FF0000"/>
          </a:solidFill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8" name="Google Shape;327;p7">
            <a:extLst>
              <a:ext uri="{FF2B5EF4-FFF2-40B4-BE49-F238E27FC236}">
                <a16:creationId xmlns="" xmlns:a16="http://schemas.microsoft.com/office/drawing/2014/main" id="{B2AE25D9-ABE4-4DA0-8BC1-2769C7E58598}"/>
              </a:ext>
            </a:extLst>
          </p:cNvPr>
          <p:cNvCxnSpPr/>
          <p:nvPr/>
        </p:nvCxnSpPr>
        <p:spPr>
          <a:xfrm>
            <a:off x="8117130" y="1344070"/>
            <a:ext cx="358998" cy="11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sp>
        <p:nvSpPr>
          <p:cNvPr id="129" name="Google Shape;328;p7">
            <a:extLst>
              <a:ext uri="{FF2B5EF4-FFF2-40B4-BE49-F238E27FC236}">
                <a16:creationId xmlns="" xmlns:a16="http://schemas.microsoft.com/office/drawing/2014/main" id="{759DCDE9-0FE5-47F3-A4B3-F7579EB31A17}"/>
              </a:ext>
            </a:extLst>
          </p:cNvPr>
          <p:cNvSpPr txBox="1"/>
          <p:nvPr/>
        </p:nvSpPr>
        <p:spPr>
          <a:xfrm>
            <a:off x="7426972" y="1182868"/>
            <a:ext cx="93425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F’ = 0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30" name="Google Shape;329;p7">
            <a:extLst>
              <a:ext uri="{FF2B5EF4-FFF2-40B4-BE49-F238E27FC236}">
                <a16:creationId xmlns="" xmlns:a16="http://schemas.microsoft.com/office/drawing/2014/main" id="{7FB0B97D-86CE-4837-A249-CF2BB06DC8BC}"/>
              </a:ext>
            </a:extLst>
          </p:cNvPr>
          <p:cNvCxnSpPr/>
          <p:nvPr/>
        </p:nvCxnSpPr>
        <p:spPr>
          <a:xfrm>
            <a:off x="7594786" y="2639398"/>
            <a:ext cx="330926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cxnSp>
        <p:nvCxnSpPr>
          <p:cNvPr id="131" name="Google Shape;330;p7">
            <a:extLst>
              <a:ext uri="{FF2B5EF4-FFF2-40B4-BE49-F238E27FC236}">
                <a16:creationId xmlns="" xmlns:a16="http://schemas.microsoft.com/office/drawing/2014/main" id="{17F9E9EB-B791-478A-8720-BEF74803123B}"/>
              </a:ext>
            </a:extLst>
          </p:cNvPr>
          <p:cNvCxnSpPr/>
          <p:nvPr/>
        </p:nvCxnSpPr>
        <p:spPr>
          <a:xfrm>
            <a:off x="8120734" y="2709272"/>
            <a:ext cx="330926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cxnSp>
        <p:nvCxnSpPr>
          <p:cNvPr id="132" name="Google Shape;331;p7">
            <a:extLst>
              <a:ext uri="{FF2B5EF4-FFF2-40B4-BE49-F238E27FC236}">
                <a16:creationId xmlns="" xmlns:a16="http://schemas.microsoft.com/office/drawing/2014/main" id="{DA5E6E9C-B693-4905-AF03-2DADF2992FAC}"/>
              </a:ext>
            </a:extLst>
          </p:cNvPr>
          <p:cNvCxnSpPr/>
          <p:nvPr/>
        </p:nvCxnSpPr>
        <p:spPr>
          <a:xfrm>
            <a:off x="8642747" y="2795170"/>
            <a:ext cx="330926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sp>
        <p:nvSpPr>
          <p:cNvPr id="133" name="Google Shape;332;p7">
            <a:extLst>
              <a:ext uri="{FF2B5EF4-FFF2-40B4-BE49-F238E27FC236}">
                <a16:creationId xmlns="" xmlns:a16="http://schemas.microsoft.com/office/drawing/2014/main" id="{C881895D-327E-4DA1-B6B5-EDF9B15CF510}"/>
              </a:ext>
            </a:extLst>
          </p:cNvPr>
          <p:cNvSpPr txBox="1"/>
          <p:nvPr/>
        </p:nvSpPr>
        <p:spPr>
          <a:xfrm>
            <a:off x="6614068" y="2564022"/>
            <a:ext cx="67803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= 1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333;p7">
            <a:extLst>
              <a:ext uri="{FF2B5EF4-FFF2-40B4-BE49-F238E27FC236}">
                <a16:creationId xmlns="" xmlns:a16="http://schemas.microsoft.com/office/drawing/2014/main" id="{ECD6A746-0D5B-4E93-8BA9-B883FF63CFBE}"/>
              </a:ext>
            </a:extLst>
          </p:cNvPr>
          <p:cNvSpPr txBox="1"/>
          <p:nvPr/>
        </p:nvSpPr>
        <p:spPr>
          <a:xfrm>
            <a:off x="8030334" y="2776074"/>
            <a:ext cx="89158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m=0</a:t>
            </a:r>
            <a:endParaRPr sz="1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35" name="Google Shape;334;p7">
            <a:extLst>
              <a:ext uri="{FF2B5EF4-FFF2-40B4-BE49-F238E27FC236}">
                <a16:creationId xmlns="" xmlns:a16="http://schemas.microsoft.com/office/drawing/2014/main" id="{B58DD3D3-AA6B-4314-BF84-2078711C8530}"/>
              </a:ext>
            </a:extLst>
          </p:cNvPr>
          <p:cNvSpPr txBox="1"/>
          <p:nvPr/>
        </p:nvSpPr>
        <p:spPr>
          <a:xfrm>
            <a:off x="7453174" y="2706200"/>
            <a:ext cx="61241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m=-1</a:t>
            </a:r>
            <a:endParaRPr sz="1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36" name="Google Shape;335;p7">
            <a:extLst>
              <a:ext uri="{FF2B5EF4-FFF2-40B4-BE49-F238E27FC236}">
                <a16:creationId xmlns="" xmlns:a16="http://schemas.microsoft.com/office/drawing/2014/main" id="{1083B4B1-55E8-4208-95C6-60AE75E49B8B}"/>
              </a:ext>
            </a:extLst>
          </p:cNvPr>
          <p:cNvSpPr txBox="1"/>
          <p:nvPr/>
        </p:nvSpPr>
        <p:spPr>
          <a:xfrm>
            <a:off x="8576393" y="2861972"/>
            <a:ext cx="54009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m=1</a:t>
            </a:r>
            <a:endParaRPr sz="1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37" name="Google Shape;336;p7">
            <a:extLst>
              <a:ext uri="{FF2B5EF4-FFF2-40B4-BE49-F238E27FC236}">
                <a16:creationId xmlns="" xmlns:a16="http://schemas.microsoft.com/office/drawing/2014/main" id="{59868BE4-E23F-4B46-AC6B-6FB8F481ACE2}"/>
              </a:ext>
            </a:extLst>
          </p:cNvPr>
          <p:cNvSpPr/>
          <p:nvPr/>
        </p:nvSpPr>
        <p:spPr>
          <a:xfrm>
            <a:off x="8208032" y="2638633"/>
            <a:ext cx="172998" cy="147474"/>
          </a:xfrm>
          <a:prstGeom prst="ellipse">
            <a:avLst/>
          </a:prstGeom>
          <a:solidFill>
            <a:srgbClr val="FF0000"/>
          </a:solidFill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8" name="Google Shape;337;p7">
            <a:extLst>
              <a:ext uri="{FF2B5EF4-FFF2-40B4-BE49-F238E27FC236}">
                <a16:creationId xmlns="" xmlns:a16="http://schemas.microsoft.com/office/drawing/2014/main" id="{116226FF-8C6F-479C-8EA1-9576E5EC9DDA}"/>
              </a:ext>
            </a:extLst>
          </p:cNvPr>
          <p:cNvCxnSpPr/>
          <p:nvPr/>
        </p:nvCxnSpPr>
        <p:spPr>
          <a:xfrm rot="10800000" flipH="1">
            <a:off x="7782842" y="1485448"/>
            <a:ext cx="391188" cy="107725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9" name="Google Shape;338;p7">
            <a:extLst>
              <a:ext uri="{FF2B5EF4-FFF2-40B4-BE49-F238E27FC236}">
                <a16:creationId xmlns="" xmlns:a16="http://schemas.microsoft.com/office/drawing/2014/main" id="{06F1CA81-846C-43DA-863B-EABCF861BD6A}"/>
              </a:ext>
            </a:extLst>
          </p:cNvPr>
          <p:cNvCxnSpPr>
            <a:cxnSpLocks/>
          </p:cNvCxnSpPr>
          <p:nvPr/>
        </p:nvCxnSpPr>
        <p:spPr>
          <a:xfrm flipH="1" flipV="1">
            <a:off x="8436177" y="1485448"/>
            <a:ext cx="358310" cy="1230099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40" name="Google Shape;339;p7">
            <a:extLst>
              <a:ext uri="{FF2B5EF4-FFF2-40B4-BE49-F238E27FC236}">
                <a16:creationId xmlns="" xmlns:a16="http://schemas.microsoft.com/office/drawing/2014/main" id="{9A162B01-25C6-41BB-92A1-4360229920F2}"/>
              </a:ext>
            </a:extLst>
          </p:cNvPr>
          <p:cNvCxnSpPr/>
          <p:nvPr/>
        </p:nvCxnSpPr>
        <p:spPr>
          <a:xfrm>
            <a:off x="8295101" y="1485447"/>
            <a:ext cx="20004" cy="1077249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141" name="Google Shape;340;p7">
            <a:extLst>
              <a:ext uri="{FF2B5EF4-FFF2-40B4-BE49-F238E27FC236}">
                <a16:creationId xmlns="" xmlns:a16="http://schemas.microsoft.com/office/drawing/2014/main" id="{1699AABE-ACD0-4B3A-8A06-D24C5EB4EB20}"/>
              </a:ext>
            </a:extLst>
          </p:cNvPr>
          <p:cNvSpPr txBox="1"/>
          <p:nvPr/>
        </p:nvSpPr>
        <p:spPr>
          <a:xfrm>
            <a:off x="8523458" y="1159699"/>
            <a:ext cx="89158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m’=0</a:t>
            </a:r>
            <a:endParaRPr sz="1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142" name="Google Shape;373;p7">
            <a:extLst>
              <a:ext uri="{FF2B5EF4-FFF2-40B4-BE49-F238E27FC236}">
                <a16:creationId xmlns="" xmlns:a16="http://schemas.microsoft.com/office/drawing/2014/main" id="{EB38CCD1-B7F0-44DE-9AA5-6FD12D922F1A}"/>
              </a:ext>
            </a:extLst>
          </p:cNvPr>
          <p:cNvCxnSpPr/>
          <p:nvPr/>
        </p:nvCxnSpPr>
        <p:spPr>
          <a:xfrm>
            <a:off x="7083536" y="2288687"/>
            <a:ext cx="330926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cxnSp>
        <p:nvCxnSpPr>
          <p:cNvPr id="143" name="Google Shape;374;p7">
            <a:extLst>
              <a:ext uri="{FF2B5EF4-FFF2-40B4-BE49-F238E27FC236}">
                <a16:creationId xmlns="" xmlns:a16="http://schemas.microsoft.com/office/drawing/2014/main" id="{25AA9A3C-5B8B-4227-B9AC-7E86AED6BD6A}"/>
              </a:ext>
            </a:extLst>
          </p:cNvPr>
          <p:cNvCxnSpPr/>
          <p:nvPr/>
        </p:nvCxnSpPr>
        <p:spPr>
          <a:xfrm>
            <a:off x="7581410" y="2200560"/>
            <a:ext cx="330926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cxnSp>
        <p:nvCxnSpPr>
          <p:cNvPr id="144" name="Google Shape;375;p7">
            <a:extLst>
              <a:ext uri="{FF2B5EF4-FFF2-40B4-BE49-F238E27FC236}">
                <a16:creationId xmlns="" xmlns:a16="http://schemas.microsoft.com/office/drawing/2014/main" id="{E83ADE1F-B8D9-48B4-A5AD-AFCDD8B239CA}"/>
              </a:ext>
            </a:extLst>
          </p:cNvPr>
          <p:cNvCxnSpPr/>
          <p:nvPr/>
        </p:nvCxnSpPr>
        <p:spPr>
          <a:xfrm>
            <a:off x="8132014" y="2114641"/>
            <a:ext cx="330926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cxnSp>
        <p:nvCxnSpPr>
          <p:cNvPr id="145" name="Google Shape;376;p7">
            <a:extLst>
              <a:ext uri="{FF2B5EF4-FFF2-40B4-BE49-F238E27FC236}">
                <a16:creationId xmlns="" xmlns:a16="http://schemas.microsoft.com/office/drawing/2014/main" id="{AFAE1C24-C6A6-4383-90A6-5A50058053F3}"/>
              </a:ext>
            </a:extLst>
          </p:cNvPr>
          <p:cNvCxnSpPr/>
          <p:nvPr/>
        </p:nvCxnSpPr>
        <p:spPr>
          <a:xfrm>
            <a:off x="8646652" y="2042681"/>
            <a:ext cx="330926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cxnSp>
        <p:nvCxnSpPr>
          <p:cNvPr id="146" name="Google Shape;377;p7">
            <a:extLst>
              <a:ext uri="{FF2B5EF4-FFF2-40B4-BE49-F238E27FC236}">
                <a16:creationId xmlns="" xmlns:a16="http://schemas.microsoft.com/office/drawing/2014/main" id="{05D09583-3DCF-44D9-87CC-905A4A89AA37}"/>
              </a:ext>
            </a:extLst>
          </p:cNvPr>
          <p:cNvCxnSpPr/>
          <p:nvPr/>
        </p:nvCxnSpPr>
        <p:spPr>
          <a:xfrm>
            <a:off x="9170461" y="1933335"/>
            <a:ext cx="330926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sp>
        <p:nvSpPr>
          <p:cNvPr id="147" name="Google Shape;378;p7">
            <a:extLst>
              <a:ext uri="{FF2B5EF4-FFF2-40B4-BE49-F238E27FC236}">
                <a16:creationId xmlns="" xmlns:a16="http://schemas.microsoft.com/office/drawing/2014/main" id="{BAEDA4E0-587A-4267-89FE-4FC711B0E1F7}"/>
              </a:ext>
            </a:extLst>
          </p:cNvPr>
          <p:cNvSpPr txBox="1"/>
          <p:nvPr/>
        </p:nvSpPr>
        <p:spPr>
          <a:xfrm>
            <a:off x="8059272" y="1696916"/>
            <a:ext cx="89158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m=0</a:t>
            </a:r>
            <a:endParaRPr sz="1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48" name="Google Shape;379;p7">
            <a:extLst>
              <a:ext uri="{FF2B5EF4-FFF2-40B4-BE49-F238E27FC236}">
                <a16:creationId xmlns="" xmlns:a16="http://schemas.microsoft.com/office/drawing/2014/main" id="{8A94FCC0-D12B-4EB7-A1C3-A147A92512EB}"/>
              </a:ext>
            </a:extLst>
          </p:cNvPr>
          <p:cNvSpPr txBox="1"/>
          <p:nvPr/>
        </p:nvSpPr>
        <p:spPr>
          <a:xfrm>
            <a:off x="8575942" y="1625558"/>
            <a:ext cx="58451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m=1</a:t>
            </a:r>
            <a:endParaRPr sz="1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49" name="Google Shape;380;p7">
            <a:extLst>
              <a:ext uri="{FF2B5EF4-FFF2-40B4-BE49-F238E27FC236}">
                <a16:creationId xmlns="" xmlns:a16="http://schemas.microsoft.com/office/drawing/2014/main" id="{462E83DB-0967-4C6C-91F2-42BD7ACB7BFB}"/>
              </a:ext>
            </a:extLst>
          </p:cNvPr>
          <p:cNvSpPr txBox="1"/>
          <p:nvPr/>
        </p:nvSpPr>
        <p:spPr>
          <a:xfrm>
            <a:off x="7482109" y="1782838"/>
            <a:ext cx="693446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m=-1</a:t>
            </a:r>
            <a:endParaRPr sz="1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50" name="Google Shape;381;p7">
            <a:extLst>
              <a:ext uri="{FF2B5EF4-FFF2-40B4-BE49-F238E27FC236}">
                <a16:creationId xmlns="" xmlns:a16="http://schemas.microsoft.com/office/drawing/2014/main" id="{B6BBE47B-96BD-46BD-8A90-B48B304BA76D}"/>
              </a:ext>
            </a:extLst>
          </p:cNvPr>
          <p:cNvSpPr txBox="1"/>
          <p:nvPr/>
        </p:nvSpPr>
        <p:spPr>
          <a:xfrm>
            <a:off x="9127111" y="1515612"/>
            <a:ext cx="54116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m=2</a:t>
            </a:r>
            <a:endParaRPr sz="1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51" name="Google Shape;382;p7">
            <a:extLst>
              <a:ext uri="{FF2B5EF4-FFF2-40B4-BE49-F238E27FC236}">
                <a16:creationId xmlns="" xmlns:a16="http://schemas.microsoft.com/office/drawing/2014/main" id="{9EE52862-1DA1-4CD5-A4E4-497D8182FDC8}"/>
              </a:ext>
            </a:extLst>
          </p:cNvPr>
          <p:cNvSpPr txBox="1"/>
          <p:nvPr/>
        </p:nvSpPr>
        <p:spPr>
          <a:xfrm>
            <a:off x="6962232" y="1870963"/>
            <a:ext cx="61241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m=-2</a:t>
            </a:r>
            <a:endParaRPr sz="1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="" xmlns:a16="http://schemas.microsoft.com/office/drawing/2014/main" id="{4690278A-6D62-485B-8146-211394838776}"/>
              </a:ext>
            </a:extLst>
          </p:cNvPr>
          <p:cNvSpPr txBox="1"/>
          <p:nvPr/>
        </p:nvSpPr>
        <p:spPr>
          <a:xfrm>
            <a:off x="6123869" y="3099931"/>
            <a:ext cx="14468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0ffset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~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0.5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mG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="" xmlns:a16="http://schemas.microsoft.com/office/drawing/2014/main" id="{A2139D55-AFC1-4115-B3BE-5F5EE8D9B4B1}"/>
              </a:ext>
            </a:extLst>
          </p:cNvPr>
          <p:cNvSpPr txBox="1"/>
          <p:nvPr/>
        </p:nvSpPr>
        <p:spPr>
          <a:xfrm>
            <a:off x="8431469" y="4454479"/>
            <a:ext cx="12813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= 0.7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мкК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="" xmlns:a16="http://schemas.microsoft.com/office/drawing/2014/main" id="{A3553470-9FC6-45ED-AFC0-2FB15617DAFE}"/>
              </a:ext>
            </a:extLst>
          </p:cNvPr>
          <p:cNvSpPr txBox="1"/>
          <p:nvPr/>
        </p:nvSpPr>
        <p:spPr>
          <a:xfrm>
            <a:off x="8552207" y="5288531"/>
            <a:ext cx="160480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1/5</a:t>
            </a:r>
          </a:p>
          <a:p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1/3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="" xmlns:a16="http://schemas.microsoft.com/office/drawing/2014/main" id="{69BAC13F-972B-4520-8F42-178EA2560BFB}"/>
              </a:ext>
            </a:extLst>
          </p:cNvPr>
          <p:cNvSpPr txBox="1"/>
          <p:nvPr/>
        </p:nvSpPr>
        <p:spPr>
          <a:xfrm>
            <a:off x="11681926" y="6408575"/>
            <a:ext cx="5100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</a:t>
            </a:r>
            <a:endParaRPr lang="ru-RU" dirty="0"/>
          </a:p>
        </p:txBody>
      </p:sp>
      <p:sp>
        <p:nvSpPr>
          <p:cNvPr id="62" name="TextBox 61">
            <a:extLst>
              <a:ext uri="{FF2B5EF4-FFF2-40B4-BE49-F238E27FC236}">
                <a16:creationId xmlns="" xmlns:a16="http://schemas.microsoft.com/office/drawing/2014/main" id="{11A813CB-9917-465E-A632-9D569239EDC9}"/>
              </a:ext>
            </a:extLst>
          </p:cNvPr>
          <p:cNvSpPr txBox="1"/>
          <p:nvPr/>
        </p:nvSpPr>
        <p:spPr>
          <a:xfrm>
            <a:off x="4145750" y="4206975"/>
            <a:ext cx="15239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= 4.7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мкК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="" xmlns:a16="http://schemas.microsoft.com/office/drawing/2014/main" id="{91C9B38F-757E-4A17-96B5-0217DB266AA6}"/>
              </a:ext>
            </a:extLst>
          </p:cNvPr>
          <p:cNvSpPr txBox="1"/>
          <p:nvPr/>
        </p:nvSpPr>
        <p:spPr>
          <a:xfrm>
            <a:off x="4145750" y="5194585"/>
            <a:ext cx="13814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1/5</a:t>
            </a:r>
          </a:p>
          <a:p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1/5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96970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41"/>
          <p:cNvSpPr/>
          <p:nvPr/>
        </p:nvSpPr>
        <p:spPr>
          <a:xfrm>
            <a:off x="3258776" y="136525"/>
            <a:ext cx="5855293" cy="765014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Экспериментальные результаты</a:t>
            </a:r>
            <a:r>
              <a:rPr lang="en-US" sz="2400" b="1" dirty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 </a:t>
            </a:r>
            <a:r>
              <a:rPr lang="ru-RU" sz="2400" b="1" dirty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оптической накачки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41"/>
          <p:cNvSpPr txBox="1"/>
          <p:nvPr/>
        </p:nvSpPr>
        <p:spPr>
          <a:xfrm>
            <a:off x="1574196" y="5246411"/>
            <a:ext cx="9596724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</a:t>
            </a: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Временная последовательность оптической накачки (а) , и </a:t>
            </a:r>
            <a:r>
              <a:rPr lang="ru-RU" dirty="0">
                <a:latin typeface="Times New Roman"/>
                <a:cs typeface="Times New Roman"/>
                <a:sym typeface="Times New Roman"/>
              </a:rPr>
              <a:t>э</a:t>
            </a: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кспериментальная з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ависимость населенности атомов до и после оптической накачки от отстройки рамановского излучения относительно часового перехода.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="" xmlns:a16="http://schemas.microsoft.com/office/drawing/2014/main" id="{E5FBF466-A86A-4FC6-9496-0D1B6DBCC09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7198"/>
          <a:stretch/>
        </p:blipFill>
        <p:spPr>
          <a:xfrm>
            <a:off x="7160309" y="1148376"/>
            <a:ext cx="3945690" cy="3203965"/>
          </a:xfrm>
          <a:prstGeom prst="rect">
            <a:avLst/>
          </a:prstGeom>
        </p:spPr>
      </p:pic>
      <p:sp>
        <p:nvSpPr>
          <p:cNvPr id="14" name="Прямоугольник 13"/>
          <p:cNvSpPr/>
          <p:nvPr/>
        </p:nvSpPr>
        <p:spPr>
          <a:xfrm>
            <a:off x="4803766" y="3972182"/>
            <a:ext cx="430759" cy="1307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/>
        </p:nvSpPr>
        <p:spPr>
          <a:xfrm>
            <a:off x="4426824" y="3598494"/>
            <a:ext cx="1246987" cy="1703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/>
          <p:cNvSpPr/>
          <p:nvPr/>
        </p:nvSpPr>
        <p:spPr>
          <a:xfrm>
            <a:off x="2464630" y="3249171"/>
            <a:ext cx="551888" cy="17380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/>
          <p:cNvSpPr txBox="1"/>
          <p:nvPr/>
        </p:nvSpPr>
        <p:spPr>
          <a:xfrm>
            <a:off x="121765" y="3169036"/>
            <a:ext cx="13253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Накачка 2-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2’</a:t>
            </a:r>
            <a:endParaRPr lang="ru-RU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" name="Прямая соединительная линия 17"/>
          <p:cNvCxnSpPr>
            <a:cxnSpLocks/>
          </p:cNvCxnSpPr>
          <p:nvPr/>
        </p:nvCxnSpPr>
        <p:spPr>
          <a:xfrm>
            <a:off x="1454056" y="3341653"/>
            <a:ext cx="4918502" cy="8225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61640" y="3480527"/>
            <a:ext cx="17765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Z-</a:t>
            </a:r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маг поле</a:t>
            </a:r>
          </a:p>
        </p:txBody>
      </p:sp>
      <p:cxnSp>
        <p:nvCxnSpPr>
          <p:cNvPr id="20" name="Прямая соединительная линия 19"/>
          <p:cNvCxnSpPr>
            <a:cxnSpLocks/>
          </p:cNvCxnSpPr>
          <p:nvPr/>
        </p:nvCxnSpPr>
        <p:spPr>
          <a:xfrm flipV="1">
            <a:off x="1454056" y="3676251"/>
            <a:ext cx="4918502" cy="12182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21765" y="3870161"/>
            <a:ext cx="17765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Накачка 1-0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endParaRPr lang="ru-RU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Прямая соединительная линия 21"/>
          <p:cNvCxnSpPr>
            <a:cxnSpLocks/>
          </p:cNvCxnSpPr>
          <p:nvPr/>
        </p:nvCxnSpPr>
        <p:spPr>
          <a:xfrm>
            <a:off x="1454056" y="4038549"/>
            <a:ext cx="4918502" cy="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446666" y="2995692"/>
            <a:ext cx="8077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70 </a:t>
            </a:r>
            <a:r>
              <a:rPr lang="ru-RU" sz="12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мкс</a:t>
            </a:r>
            <a:endParaRPr lang="ru-RU" sz="12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688529" y="3724991"/>
            <a:ext cx="8077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25</a:t>
            </a:r>
            <a:r>
              <a:rPr lang="ru-RU" sz="1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2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мкс</a:t>
            </a:r>
            <a:endParaRPr lang="ru-RU" sz="12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25" name="Прямая соединительная линия 24"/>
          <p:cNvCxnSpPr/>
          <p:nvPr/>
        </p:nvCxnSpPr>
        <p:spPr>
          <a:xfrm flipH="1">
            <a:off x="3954356" y="2995692"/>
            <a:ext cx="1817" cy="1239953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/>
          <p:cNvCxnSpPr/>
          <p:nvPr/>
        </p:nvCxnSpPr>
        <p:spPr>
          <a:xfrm flipH="1">
            <a:off x="6022276" y="3068455"/>
            <a:ext cx="1817" cy="1239953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/>
          <p:nvPr/>
        </p:nvCxnSpPr>
        <p:spPr>
          <a:xfrm flipH="1">
            <a:off x="1522547" y="2995692"/>
            <a:ext cx="1817" cy="1239953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="" xmlns:a16="http://schemas.microsoft.com/office/drawing/2014/main" id="{7D479D87-544A-4FA4-BA06-D7B01FAB3C76}"/>
              </a:ext>
            </a:extLst>
          </p:cNvPr>
          <p:cNvSpPr txBox="1"/>
          <p:nvPr/>
        </p:nvSpPr>
        <p:spPr>
          <a:xfrm>
            <a:off x="1034178" y="1046632"/>
            <a:ext cx="839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651251" y="3356914"/>
            <a:ext cx="8077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0.5 </a:t>
            </a:r>
            <a:r>
              <a:rPr lang="ru-RU" sz="12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Гс</a:t>
            </a:r>
            <a:endParaRPr lang="ru-RU" sz="12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="" xmlns:a16="http://schemas.microsoft.com/office/drawing/2014/main" id="{7D479D87-544A-4FA4-BA06-D7B01FAB3C76}"/>
              </a:ext>
            </a:extLst>
          </p:cNvPr>
          <p:cNvSpPr txBox="1"/>
          <p:nvPr/>
        </p:nvSpPr>
        <p:spPr>
          <a:xfrm>
            <a:off x="6794727" y="1084738"/>
            <a:ext cx="839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="" xmlns:a16="http://schemas.microsoft.com/office/drawing/2014/main" id="{E2B4286C-1033-4ED6-8922-95C7C36C5C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4196" y="1431361"/>
            <a:ext cx="2212161" cy="128798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="" xmlns:a16="http://schemas.microsoft.com/office/drawing/2014/main" id="{65C9107F-86E2-4F78-B853-DF86209133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3132" y="1424455"/>
            <a:ext cx="2163487" cy="1347746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ACDD460A-11BF-4D35-82B4-53CC6CCB63DD}"/>
              </a:ext>
            </a:extLst>
          </p:cNvPr>
          <p:cNvSpPr txBox="1"/>
          <p:nvPr/>
        </p:nvSpPr>
        <p:spPr>
          <a:xfrm>
            <a:off x="11681926" y="6391158"/>
            <a:ext cx="5100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1</a:t>
            </a:r>
            <a:r>
              <a:rPr lang="en-US" dirty="0" smtClean="0"/>
              <a:t>0</a:t>
            </a:r>
            <a:endParaRPr lang="ru-RU" dirty="0"/>
          </a:p>
        </p:txBody>
      </p:sp>
      <p:sp>
        <p:nvSpPr>
          <p:cNvPr id="38" name="TextBox 37">
            <a:extLst>
              <a:ext uri="{FF2B5EF4-FFF2-40B4-BE49-F238E27FC236}">
                <a16:creationId xmlns="" xmlns:a16="http://schemas.microsoft.com/office/drawing/2014/main" id="{EC5D26EC-C1DB-444B-8ECC-DCAEF9CF4396}"/>
              </a:ext>
            </a:extLst>
          </p:cNvPr>
          <p:cNvSpPr txBox="1"/>
          <p:nvPr/>
        </p:nvSpPr>
        <p:spPr>
          <a:xfrm>
            <a:off x="7511091" y="4336498"/>
            <a:ext cx="51440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latin typeface="Century Gothic" panose="020B0502020202020204" pitchFamily="34" charset="0"/>
              </a:rPr>
              <a:t>Отстройка частоты рамановского излучения, </a:t>
            </a:r>
            <a:r>
              <a:rPr lang="en-US" sz="1000" dirty="0">
                <a:latin typeface="Century Gothic" panose="020B0502020202020204" pitchFamily="34" charset="0"/>
              </a:rPr>
              <a:t>[</a:t>
            </a:r>
            <a:r>
              <a:rPr lang="ru-RU" sz="1000" dirty="0">
                <a:latin typeface="Century Gothic" panose="020B0502020202020204" pitchFamily="34" charset="0"/>
              </a:rPr>
              <a:t>МГц</a:t>
            </a:r>
            <a:r>
              <a:rPr lang="en-US" sz="1000" dirty="0">
                <a:latin typeface="Century Gothic" panose="020B0502020202020204" pitchFamily="34" charset="0"/>
              </a:rPr>
              <a:t>]</a:t>
            </a:r>
            <a:r>
              <a:rPr lang="ru-RU" sz="1000" dirty="0">
                <a:latin typeface="Century Gothic" panose="020B0502020202020204" pitchFamily="34" charset="0"/>
              </a:rPr>
              <a:t>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441;p41">
            <a:extLst>
              <a:ext uri="{FF2B5EF4-FFF2-40B4-BE49-F238E27FC236}">
                <a16:creationId xmlns="" xmlns:a16="http://schemas.microsoft.com/office/drawing/2014/main" id="{EBD5BC16-2C05-4F48-9860-17E97A3AC0B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7649"/>
          <a:stretch/>
        </p:blipFill>
        <p:spPr>
          <a:xfrm>
            <a:off x="6524767" y="1765465"/>
            <a:ext cx="3832083" cy="300834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442;p41">
            <a:extLst>
              <a:ext uri="{FF2B5EF4-FFF2-40B4-BE49-F238E27FC236}">
                <a16:creationId xmlns="" xmlns:a16="http://schemas.microsoft.com/office/drawing/2014/main" id="{F153B16B-206B-47E6-91BB-9ABCF38CB307}"/>
              </a:ext>
            </a:extLst>
          </p:cNvPr>
          <p:cNvSpPr txBox="1"/>
          <p:nvPr/>
        </p:nvSpPr>
        <p:spPr>
          <a:xfrm>
            <a:off x="2304966" y="4870390"/>
            <a:ext cx="6793216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9. </a:t>
            </a: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Изображение временной эволюции облака атомов  (а), и экспериментальная з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ависимости квадрата размера облака холодных атомов (1/e) от квадрата времени свободного падения до и после оптической накачки в магнито-нечувствительное состояние (б).</a:t>
            </a:r>
            <a:endParaRPr dirty="0"/>
          </a:p>
        </p:txBody>
      </p:sp>
      <p:pic>
        <p:nvPicPr>
          <p:cNvPr id="5" name="Google Shape;127;p1" descr="https://lh7-rt.googleusercontent.com/slidesz/AGV_vUfQFYLtY2FjTQr7IFHzlkKBCHeyujkayVscmvM_ZtWrphAdXKCaLY60ZbpfLZg12jZAsRqQl4iqGW0lWkIEBozY5KtHbVxjFwlR49-6HQN-dGVIqjq8HAfU-aO2zNamebJymnukrX72YDnhLmvRxTU=s2048?key=P4lD9V1SCTzNB_8IaOOg0ZNi">
            <a:extLst>
              <a:ext uri="{FF2B5EF4-FFF2-40B4-BE49-F238E27FC236}">
                <a16:creationId xmlns="" xmlns:a16="http://schemas.microsoft.com/office/drawing/2014/main" id="{BC71BF39-5AEA-4F19-9B32-F7B8C639F70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r="21099" b="5356"/>
          <a:stretch/>
        </p:blipFill>
        <p:spPr>
          <a:xfrm>
            <a:off x="1220392" y="1765465"/>
            <a:ext cx="4673599" cy="2166841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="" xmlns:a16="http://schemas.microsoft.com/office/drawing/2014/main" id="{971711A6-1744-407B-8346-FEF2A684FBF3}"/>
                  </a:ext>
                </a:extLst>
              </p:cNvPr>
              <p:cNvSpPr txBox="1"/>
              <p:nvPr/>
            </p:nvSpPr>
            <p:spPr>
              <a:xfrm>
                <a:off x="8284545" y="3733800"/>
                <a:ext cx="2185237" cy="31027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ru-RU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ru-RU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ru-RU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lang="ru-RU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71711A6-1744-407B-8346-FEF2A684FB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4545" y="3733800"/>
                <a:ext cx="2185237" cy="310278"/>
              </a:xfrm>
              <a:prstGeom prst="rect">
                <a:avLst/>
              </a:prstGeom>
              <a:blipFill>
                <a:blip r:embed="rId4"/>
                <a:stretch>
                  <a:fillRect l="-1955" b="-12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33;p24">
            <a:extLst>
              <a:ext uri="{FF2B5EF4-FFF2-40B4-BE49-F238E27FC236}">
                <a16:creationId xmlns="" xmlns:a16="http://schemas.microsoft.com/office/drawing/2014/main" id="{8E6AD891-851D-4A07-A31D-5F7A366E551C}"/>
              </a:ext>
            </a:extLst>
          </p:cNvPr>
          <p:cNvSpPr txBox="1"/>
          <p:nvPr/>
        </p:nvSpPr>
        <p:spPr>
          <a:xfrm>
            <a:off x="5253793" y="836746"/>
            <a:ext cx="2426892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</a:t>
            </a:r>
            <a:r>
              <a:rPr lang="ru-RU" sz="2000" b="1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</a:t>
            </a:r>
            <a:r>
              <a:rPr lang="ru-RU" sz="20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lang="ru-RU" sz="2000" b="1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flight</a:t>
            </a:r>
            <a:r>
              <a:rPr lang="ru-RU" sz="20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20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7D479D87-544A-4FA4-BA06-D7B01FAB3C76}"/>
              </a:ext>
            </a:extLst>
          </p:cNvPr>
          <p:cNvSpPr txBox="1"/>
          <p:nvPr/>
        </p:nvSpPr>
        <p:spPr>
          <a:xfrm>
            <a:off x="1063699" y="1303824"/>
            <a:ext cx="839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F75955D3-509D-4D02-B799-756F1560F9D5}"/>
              </a:ext>
            </a:extLst>
          </p:cNvPr>
          <p:cNvSpPr txBox="1"/>
          <p:nvPr/>
        </p:nvSpPr>
        <p:spPr>
          <a:xfrm>
            <a:off x="6354685" y="1303824"/>
            <a:ext cx="839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Google Shape;438;p41">
            <a:extLst>
              <a:ext uri="{FF2B5EF4-FFF2-40B4-BE49-F238E27FC236}">
                <a16:creationId xmlns="" xmlns:a16="http://schemas.microsoft.com/office/drawing/2014/main" id="{9F6DF20E-0EBF-46A5-BE99-0FBFFA90B945}"/>
              </a:ext>
            </a:extLst>
          </p:cNvPr>
          <p:cNvSpPr/>
          <p:nvPr/>
        </p:nvSpPr>
        <p:spPr>
          <a:xfrm>
            <a:off x="1903454" y="122102"/>
            <a:ext cx="7585131" cy="39511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Нагрев в результате</a:t>
            </a:r>
            <a:r>
              <a:rPr lang="en-US" sz="2400" b="1" dirty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 </a:t>
            </a:r>
            <a:r>
              <a:rPr lang="ru-RU" sz="2400" b="1" dirty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оптической накачки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2D3CF238-36AA-4DCF-8C45-8041EC38BEF3}"/>
              </a:ext>
            </a:extLst>
          </p:cNvPr>
          <p:cNvSpPr txBox="1"/>
          <p:nvPr/>
        </p:nvSpPr>
        <p:spPr>
          <a:xfrm>
            <a:off x="11681926" y="6408575"/>
            <a:ext cx="5100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1</a:t>
            </a:r>
            <a:r>
              <a:rPr lang="en-US" dirty="0" smtClean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9606914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38;p41">
            <a:extLst>
              <a:ext uri="{FF2B5EF4-FFF2-40B4-BE49-F238E27FC236}">
                <a16:creationId xmlns="" xmlns:a16="http://schemas.microsoft.com/office/drawing/2014/main" id="{52BC617F-5E2D-4580-9506-94A652B0244A}"/>
              </a:ext>
            </a:extLst>
          </p:cNvPr>
          <p:cNvSpPr/>
          <p:nvPr/>
        </p:nvSpPr>
        <p:spPr>
          <a:xfrm>
            <a:off x="2456857" y="100559"/>
            <a:ext cx="6910755" cy="52174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Регистрация сигнала атомного интерферометра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="" xmlns:a16="http://schemas.microsoft.com/office/drawing/2014/main" id="{A5F76187-A348-4512-AFBD-6EA014B794F8}"/>
                  </a:ext>
                </a:extLst>
              </p:cNvPr>
              <p:cNvSpPr txBox="1"/>
              <p:nvPr/>
            </p:nvSpPr>
            <p:spPr>
              <a:xfrm>
                <a:off x="3271847" y="3078480"/>
                <a:ext cx="1146211" cy="533929"/>
              </a:xfrm>
              <a:prstGeom prst="rect">
                <a:avLst/>
              </a:prstGeom>
              <a:noFill/>
              <a:ln w="28575">
                <a:solidFill>
                  <a:schemeClr val="bg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</a:rPr>
                        <m:t>α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𝜗</m:t>
                              </m:r>
                            </m:e>
                            <m:sub>
                              <m: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𝜗</m:t>
                              </m:r>
                            </m:e>
                            <m:sub>
                              <m:r>
                                <a:rPr lang="ru-R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A5F76187-A348-4512-AFBD-6EA014B794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1847" y="3078480"/>
                <a:ext cx="1146211" cy="533929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 w="28575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рямоугольник 3"/>
          <p:cNvSpPr/>
          <p:nvPr/>
        </p:nvSpPr>
        <p:spPr>
          <a:xfrm>
            <a:off x="4237782" y="1511201"/>
            <a:ext cx="186990" cy="19716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3129846" y="1515184"/>
            <a:ext cx="440369" cy="19716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2295958" y="1515330"/>
            <a:ext cx="186990" cy="19716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/>
          <p:cNvSpPr txBox="1"/>
          <p:nvPr/>
        </p:nvSpPr>
        <p:spPr>
          <a:xfrm>
            <a:off x="1207076" y="1396939"/>
            <a:ext cx="17765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Раман</a:t>
            </a:r>
            <a:endParaRPr lang="ru-RU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1943100" y="1609782"/>
            <a:ext cx="3421380" cy="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043311" y="3814396"/>
            <a:ext cx="17765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Чирп</a:t>
            </a:r>
            <a:endParaRPr lang="ru-RU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1943099" y="3671667"/>
            <a:ext cx="3421381" cy="1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/>
        </p:nvCxnSpPr>
        <p:spPr>
          <a:xfrm flipV="1">
            <a:off x="2093681" y="2639499"/>
            <a:ext cx="2429664" cy="10321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/>
          <p:cNvCxnSpPr/>
          <p:nvPr/>
        </p:nvCxnSpPr>
        <p:spPr>
          <a:xfrm flipV="1">
            <a:off x="1943099" y="2616609"/>
            <a:ext cx="3421381" cy="10874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1603282" y="3495259"/>
                <a:ext cx="376008" cy="3329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𝜗</m:t>
                          </m:r>
                        </m:e>
                        <m:sub>
                          <m:r>
                            <a:rPr lang="ru-RU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600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3282" y="3495259"/>
                <a:ext cx="376008" cy="33291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Прямая соединительная линия 14"/>
          <p:cNvCxnSpPr/>
          <p:nvPr/>
        </p:nvCxnSpPr>
        <p:spPr>
          <a:xfrm flipH="1">
            <a:off x="2092824" y="1379131"/>
            <a:ext cx="857" cy="2744191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/>
          <p:nvPr/>
        </p:nvCxnSpPr>
        <p:spPr>
          <a:xfrm flipH="1">
            <a:off x="4523345" y="1379130"/>
            <a:ext cx="857" cy="2744191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D264B975-A8B3-4554-9188-E48F759EEE32}"/>
              </a:ext>
            </a:extLst>
          </p:cNvPr>
          <p:cNvSpPr txBox="1"/>
          <p:nvPr/>
        </p:nvSpPr>
        <p:spPr>
          <a:xfrm>
            <a:off x="1943099" y="4123321"/>
            <a:ext cx="15154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ru-RU" sz="1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D264B975-A8B3-4554-9188-E48F759EEE32}"/>
              </a:ext>
            </a:extLst>
          </p:cNvPr>
          <p:cNvSpPr txBox="1"/>
          <p:nvPr/>
        </p:nvSpPr>
        <p:spPr>
          <a:xfrm>
            <a:off x="4327257" y="4123321"/>
            <a:ext cx="15154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ru-RU" sz="1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Овал 20"/>
          <p:cNvSpPr/>
          <p:nvPr/>
        </p:nvSpPr>
        <p:spPr>
          <a:xfrm>
            <a:off x="6448488" y="2243259"/>
            <a:ext cx="411480" cy="39624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Стрелка вниз 24"/>
          <p:cNvSpPr/>
          <p:nvPr/>
        </p:nvSpPr>
        <p:spPr>
          <a:xfrm rot="10800000">
            <a:off x="6532845" y="2819449"/>
            <a:ext cx="246774" cy="472440"/>
          </a:xfrm>
          <a:prstGeom prst="down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Овал 25"/>
          <p:cNvSpPr/>
          <p:nvPr/>
        </p:nvSpPr>
        <p:spPr>
          <a:xfrm>
            <a:off x="7973515" y="1829588"/>
            <a:ext cx="411480" cy="396240"/>
          </a:xfrm>
          <a:prstGeom prst="ellipse">
            <a:avLst/>
          </a:prstGeom>
          <a:solidFill>
            <a:srgbClr val="FFC000"/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Овал 26"/>
          <p:cNvSpPr/>
          <p:nvPr/>
        </p:nvSpPr>
        <p:spPr>
          <a:xfrm>
            <a:off x="7973515" y="2735896"/>
            <a:ext cx="411480" cy="39624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TextBox 27"/>
          <p:cNvSpPr txBox="1"/>
          <p:nvPr/>
        </p:nvSpPr>
        <p:spPr>
          <a:xfrm>
            <a:off x="6114532" y="1859899"/>
            <a:ext cx="11594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∣F=1⟩+∣F=2⟩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Стрелка вниз 28"/>
          <p:cNvSpPr/>
          <p:nvPr/>
        </p:nvSpPr>
        <p:spPr>
          <a:xfrm rot="10800000">
            <a:off x="8055868" y="3355731"/>
            <a:ext cx="246774" cy="472440"/>
          </a:xfrm>
          <a:prstGeom prst="downArrow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TextBox 29"/>
          <p:cNvSpPr txBox="1"/>
          <p:nvPr/>
        </p:nvSpPr>
        <p:spPr>
          <a:xfrm>
            <a:off x="7891382" y="1494046"/>
            <a:ext cx="6867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∣F=2⟩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892676" y="2422301"/>
            <a:ext cx="7505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∣F=1⟩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114532" y="998079"/>
            <a:ext cx="22810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Разделение</a:t>
            </a:r>
          </a:p>
        </p:txBody>
      </p:sp>
      <p:cxnSp>
        <p:nvCxnSpPr>
          <p:cNvPr id="33" name="Прямая соединительная линия 32"/>
          <p:cNvCxnSpPr/>
          <p:nvPr/>
        </p:nvCxnSpPr>
        <p:spPr>
          <a:xfrm flipH="1">
            <a:off x="6018858" y="1209854"/>
            <a:ext cx="857" cy="2744191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единительная линия 33"/>
          <p:cNvCxnSpPr/>
          <p:nvPr/>
        </p:nvCxnSpPr>
        <p:spPr>
          <a:xfrm flipH="1">
            <a:off x="7330666" y="1209854"/>
            <a:ext cx="857" cy="2744191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/>
          <p:cNvCxnSpPr/>
          <p:nvPr/>
        </p:nvCxnSpPr>
        <p:spPr>
          <a:xfrm flipH="1">
            <a:off x="9142389" y="1209854"/>
            <a:ext cx="857" cy="2744191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127431" y="932447"/>
            <a:ext cx="22810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Перевод в светлое состояние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95135" y="3891340"/>
            <a:ext cx="14325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Резонансное излучение 2-3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533315" y="3891340"/>
            <a:ext cx="14325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Излучение перекачки 1-2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" name="Прямая соединительная линия 38"/>
          <p:cNvCxnSpPr/>
          <p:nvPr/>
        </p:nvCxnSpPr>
        <p:spPr>
          <a:xfrm flipH="1">
            <a:off x="10776741" y="1244513"/>
            <a:ext cx="857" cy="2744191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Овал 41"/>
          <p:cNvSpPr/>
          <p:nvPr/>
        </p:nvSpPr>
        <p:spPr>
          <a:xfrm>
            <a:off x="9704026" y="1829588"/>
            <a:ext cx="411480" cy="396240"/>
          </a:xfrm>
          <a:prstGeom prst="ellipse">
            <a:avLst/>
          </a:prstGeom>
          <a:solidFill>
            <a:srgbClr val="FFC000"/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Овал 43"/>
          <p:cNvSpPr/>
          <p:nvPr/>
        </p:nvSpPr>
        <p:spPr>
          <a:xfrm>
            <a:off x="9704026" y="2745329"/>
            <a:ext cx="411480" cy="396240"/>
          </a:xfrm>
          <a:prstGeom prst="ellipse">
            <a:avLst/>
          </a:prstGeom>
          <a:solidFill>
            <a:srgbClr val="FFC000"/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TextBox 45"/>
          <p:cNvSpPr txBox="1"/>
          <p:nvPr/>
        </p:nvSpPr>
        <p:spPr>
          <a:xfrm>
            <a:off x="8804386" y="1031421"/>
            <a:ext cx="22810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Подсветка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67612" y="3891340"/>
            <a:ext cx="14325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Резонансное излучение 2-3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Прямоугольник 48"/>
          <p:cNvSpPr/>
          <p:nvPr/>
        </p:nvSpPr>
        <p:spPr>
          <a:xfrm>
            <a:off x="3048000" y="4794831"/>
            <a:ext cx="6096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10. Экспериментальная последовательность рамановских импульсов и схема чирпирования частоты рамановского излучения (а), схема детектирования атомов в различных состояниях (б).</a:t>
            </a:r>
          </a:p>
        </p:txBody>
      </p:sp>
      <p:sp>
        <p:nvSpPr>
          <p:cNvPr id="50" name="Стрелка вниз 49"/>
          <p:cNvSpPr/>
          <p:nvPr/>
        </p:nvSpPr>
        <p:spPr>
          <a:xfrm rot="10800000">
            <a:off x="9786379" y="3356213"/>
            <a:ext cx="246774" cy="472440"/>
          </a:xfrm>
          <a:prstGeom prst="down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" name="TextBox 50">
            <a:extLst>
              <a:ext uri="{FF2B5EF4-FFF2-40B4-BE49-F238E27FC236}">
                <a16:creationId xmlns="" xmlns:a16="http://schemas.microsoft.com/office/drawing/2014/main" id="{7D479D87-544A-4FA4-BA06-D7B01FAB3C76}"/>
              </a:ext>
            </a:extLst>
          </p:cNvPr>
          <p:cNvSpPr txBox="1"/>
          <p:nvPr/>
        </p:nvSpPr>
        <p:spPr>
          <a:xfrm>
            <a:off x="961233" y="739034"/>
            <a:ext cx="839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="" xmlns:a16="http://schemas.microsoft.com/office/drawing/2014/main" id="{7D479D87-544A-4FA4-BA06-D7B01FAB3C76}"/>
              </a:ext>
            </a:extLst>
          </p:cNvPr>
          <p:cNvSpPr txBox="1"/>
          <p:nvPr/>
        </p:nvSpPr>
        <p:spPr>
          <a:xfrm>
            <a:off x="5462561" y="739034"/>
            <a:ext cx="839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="" xmlns:a16="http://schemas.microsoft.com/office/drawing/2014/main" id="{0C42086B-218D-4CFE-984E-14009E2F68B1}"/>
              </a:ext>
            </a:extLst>
          </p:cNvPr>
          <p:cNvSpPr txBox="1"/>
          <p:nvPr/>
        </p:nvSpPr>
        <p:spPr>
          <a:xfrm>
            <a:off x="11681926" y="6408575"/>
            <a:ext cx="5100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1</a:t>
            </a:r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53" name="TextBox 52">
            <a:extLst>
              <a:ext uri="{FF2B5EF4-FFF2-40B4-BE49-F238E27FC236}">
                <a16:creationId xmlns="" xmlns:a16="http://schemas.microsoft.com/office/drawing/2014/main" id="{71F28231-BE93-4024-8C58-6DBF6769C07A}"/>
              </a:ext>
            </a:extLst>
          </p:cNvPr>
          <p:cNvSpPr txBox="1"/>
          <p:nvPr/>
        </p:nvSpPr>
        <p:spPr>
          <a:xfrm>
            <a:off x="9651922" y="1514335"/>
            <a:ext cx="6867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∣F=2⟩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="" xmlns:a16="http://schemas.microsoft.com/office/drawing/2014/main" id="{8949F785-1A67-4782-A824-3E9B0B7511C1}"/>
              </a:ext>
            </a:extLst>
          </p:cNvPr>
          <p:cNvSpPr txBox="1"/>
          <p:nvPr/>
        </p:nvSpPr>
        <p:spPr>
          <a:xfrm>
            <a:off x="9675413" y="2428060"/>
            <a:ext cx="6867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∣F=2⟩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/>
              <p:cNvSpPr txBox="1"/>
              <p:nvPr/>
            </p:nvSpPr>
            <p:spPr>
              <a:xfrm>
                <a:off x="1597020" y="2422301"/>
                <a:ext cx="376008" cy="3329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𝜗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ru-RU" sz="1600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7020" y="2422301"/>
                <a:ext cx="376008" cy="33291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71171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38;p41">
            <a:extLst>
              <a:ext uri="{FF2B5EF4-FFF2-40B4-BE49-F238E27FC236}">
                <a16:creationId xmlns="" xmlns:a16="http://schemas.microsoft.com/office/drawing/2014/main" id="{52BC617F-5E2D-4580-9506-94A652B0244A}"/>
              </a:ext>
            </a:extLst>
          </p:cNvPr>
          <p:cNvSpPr/>
          <p:nvPr/>
        </p:nvSpPr>
        <p:spPr>
          <a:xfrm>
            <a:off x="2456856" y="56641"/>
            <a:ext cx="6910755" cy="35684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 smtClean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Компенсация вибрационных шумов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1744425" y="1245913"/>
                <a:ext cx="3087897" cy="3763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ru-RU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m:rPr>
                        <m:sty m:val="p"/>
                      </m:rPr>
                      <a:rPr lang="el-GR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  <m:r>
                      <a:rPr lang="ru-RU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𝑒𝑓𝑓</m:t>
                        </m:r>
                      </m:sub>
                    </m:sSub>
                    <m:nary>
                      <m:naryPr>
                        <m:ctrlPr>
                          <a:rPr lang="ru-RU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+4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sup>
                      <m:e>
                        <m:sSub>
                          <m:sSubPr>
                            <m:ctrlPr>
                              <a:rPr lang="ru-RU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  <m:d>
                              <m:d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𝑑𝑡</m:t>
                        </m:r>
                        <m:r>
                          <a:rPr lang="ru-RU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</m:e>
                    </m:nary>
                  </m:oMath>
                </a14:m>
                <a:r>
                  <a:rPr lang="ru-RU" sz="1800" dirty="0" smtClean="0"/>
                  <a:t> </a:t>
                </a:r>
                <a:endParaRPr lang="ru-RU" sz="1800" dirty="0"/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4425" y="1245913"/>
                <a:ext cx="3087897" cy="376321"/>
              </a:xfrm>
              <a:prstGeom prst="rect">
                <a:avLst/>
              </a:prstGeom>
              <a:blipFill rotWithShape="0">
                <a:blip r:embed="rId2"/>
                <a:stretch>
                  <a:fillRect l="-2564" t="-141935" b="-2225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Google Shape;128;p3">
            <a:extLst>
              <a:ext uri="{FF2B5EF4-FFF2-40B4-BE49-F238E27FC236}">
                <a16:creationId xmlns:a16="http://schemas.microsoft.com/office/drawing/2014/main" xmlns="" id="{52CF571A-675C-4FDD-AB69-292840376EFC}"/>
              </a:ext>
            </a:extLst>
          </p:cNvPr>
          <p:cNvCxnSpPr/>
          <p:nvPr/>
        </p:nvCxnSpPr>
        <p:spPr>
          <a:xfrm flipV="1">
            <a:off x="6503394" y="908053"/>
            <a:ext cx="0" cy="449424"/>
          </a:xfrm>
          <a:prstGeom prst="straightConnector1">
            <a:avLst/>
          </a:prstGeom>
          <a:noFill/>
          <a:ln w="38100" cap="flat" cmpd="sng">
            <a:solidFill>
              <a:srgbClr val="C00000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cxnSp>
        <p:nvCxnSpPr>
          <p:cNvPr id="6" name="Google Shape;129;p3">
            <a:extLst>
              <a:ext uri="{FF2B5EF4-FFF2-40B4-BE49-F238E27FC236}">
                <a16:creationId xmlns:a16="http://schemas.microsoft.com/office/drawing/2014/main" xmlns="" id="{36D48272-627A-435F-BE0E-419555BB1BEB}"/>
              </a:ext>
            </a:extLst>
          </p:cNvPr>
          <p:cNvCxnSpPr/>
          <p:nvPr/>
        </p:nvCxnSpPr>
        <p:spPr>
          <a:xfrm>
            <a:off x="6332954" y="936706"/>
            <a:ext cx="0" cy="449424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sp>
        <p:nvSpPr>
          <p:cNvPr id="7" name="Google Shape;130;p3">
            <a:extLst>
              <a:ext uri="{FF2B5EF4-FFF2-40B4-BE49-F238E27FC236}">
                <a16:creationId xmlns:a16="http://schemas.microsoft.com/office/drawing/2014/main" xmlns="" id="{73D215C2-69C5-4077-B42B-60F459E6AE6A}"/>
              </a:ext>
            </a:extLst>
          </p:cNvPr>
          <p:cNvSpPr txBox="1"/>
          <p:nvPr/>
        </p:nvSpPr>
        <p:spPr>
          <a:xfrm>
            <a:off x="5547359" y="413486"/>
            <a:ext cx="1741714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Рамановские</a:t>
            </a:r>
            <a:endParaRPr sz="1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Пучки</a:t>
            </a:r>
            <a:endParaRPr dirty="0"/>
          </a:p>
        </p:txBody>
      </p:sp>
      <p:pic>
        <p:nvPicPr>
          <p:cNvPr id="8" name="Google Shape;132;p3">
            <a:extLst>
              <a:ext uri="{FF2B5EF4-FFF2-40B4-BE49-F238E27FC236}">
                <a16:creationId xmlns:a16="http://schemas.microsoft.com/office/drawing/2014/main" xmlns="" id="{67EF4C54-3DD4-461F-A1E6-2F7C12C0567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15973" b="20315"/>
          <a:stretch/>
        </p:blipFill>
        <p:spPr>
          <a:xfrm>
            <a:off x="6016046" y="1504350"/>
            <a:ext cx="804340" cy="242747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33;p3">
            <a:extLst>
              <a:ext uri="{FF2B5EF4-FFF2-40B4-BE49-F238E27FC236}">
                <a16:creationId xmlns:a16="http://schemas.microsoft.com/office/drawing/2014/main" xmlns="" id="{91B3367F-CA7E-4C97-86B3-FA5574D0557B}"/>
              </a:ext>
            </a:extLst>
          </p:cNvPr>
          <p:cNvSpPr txBox="1"/>
          <p:nvPr/>
        </p:nvSpPr>
        <p:spPr>
          <a:xfrm>
            <a:off x="5989589" y="1725513"/>
            <a:ext cx="104502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Зеркало</a:t>
            </a: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14086" y="1597305"/>
            <a:ext cx="440653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где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 T –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время между рамановскими импульсами, </a:t>
            </a:r>
            <a:r>
              <a:rPr lang="el-G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длительность </a:t>
            </a:r>
            <a:r>
              <a:rPr lang="el-G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/2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импульса, </a:t>
            </a: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16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(t) –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функция чувствительность гравиметра для ускорения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5893795" y="2652468"/>
                <a:ext cx="6055889" cy="29434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sz="1800" b="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⁡(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l-GR" sz="1800" b="0" i="1" smtClean="0"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  <m:d>
                                    <m:d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−2</m:t>
                                      </m:r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𝜏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d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el-GR" sz="1800" i="1"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den>
                              </m:f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 &lt;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m:rPr>
                                  <m:nor/>
                                </m:rPr>
                                <a:rPr lang="ru-RU" sz="1800" dirty="0"/>
                                <m:t> 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el-GR" sz="1800" i="1"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den>
                              </m:f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func>
                                    <m:func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1800" b="0" i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l-GR" sz="1800" i="1">
                                              <a:latin typeface="Cambria Math" panose="02040503050406030204" pitchFamily="18" charset="0"/>
                                            </a:rPr>
                                            <m:t>Ω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  <m: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−2</m:t>
                                              </m:r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𝜏</m:t>
                                              </m:r>
                                              <m: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𝑇</m:t>
                                              </m:r>
                                            </m:e>
                                          </m:d>
                                        </m:e>
                                      </m:d>
                                    </m:e>
                                  </m:func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el-GR" sz="1800" i="1"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den>
                              </m:f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≤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≤3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el-GR" sz="1800" i="1"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den>
                              </m:f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+3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+2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,3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≤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≤3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+2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func>
                                    <m:func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180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sz="1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l-GR" sz="1800" i="1">
                                              <a:latin typeface="Cambria Math" panose="02040503050406030204" pitchFamily="18" charset="0"/>
                                            </a:rPr>
                                            <m:t>Ω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−2</m:t>
                                              </m:r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𝜏</m:t>
                                              </m:r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𝑇</m:t>
                                              </m:r>
                                            </m:e>
                                          </m:d>
                                        </m:e>
                                      </m:d>
                                    </m:e>
                                  </m:func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el-GR" sz="1800" i="1"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den>
                              </m:f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,3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+2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≤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≤4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+2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3795" y="2652468"/>
                <a:ext cx="6055889" cy="294349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6985798" y="5713343"/>
            <a:ext cx="44065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где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l-G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/2</a:t>
            </a:r>
            <a:r>
              <a:rPr lang="el-G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частота </a:t>
            </a:r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раби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621739" y="4216252"/>
            <a:ext cx="5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1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(t)</a:t>
            </a:r>
            <a:endParaRPr lang="ru-RU" sz="1800" dirty="0"/>
          </a:p>
        </p:txBody>
      </p:sp>
      <p:pic>
        <p:nvPicPr>
          <p:cNvPr id="17" name="Рисунок 16"/>
          <p:cNvPicPr>
            <a:picLocks noChangeAspect="1"/>
          </p:cNvPicPr>
          <p:nvPr/>
        </p:nvPicPr>
        <p:blipFill rotWithShape="1">
          <a:blip r:embed="rId5"/>
          <a:srcRect l="2261" t="6649" r="4618" b="8482"/>
          <a:stretch/>
        </p:blipFill>
        <p:spPr>
          <a:xfrm>
            <a:off x="1235273" y="3001964"/>
            <a:ext cx="4088730" cy="2797909"/>
          </a:xfrm>
          <a:prstGeom prst="rect">
            <a:avLst/>
          </a:prstGeom>
        </p:spPr>
      </p:pic>
      <p:cxnSp>
        <p:nvCxnSpPr>
          <p:cNvPr id="19" name="Прямая соединительная линия 18"/>
          <p:cNvCxnSpPr/>
          <p:nvPr/>
        </p:nvCxnSpPr>
        <p:spPr>
          <a:xfrm flipH="1">
            <a:off x="3448908" y="2723655"/>
            <a:ext cx="10157" cy="32813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/>
          <p:nvPr/>
        </p:nvCxnSpPr>
        <p:spPr>
          <a:xfrm flipH="1">
            <a:off x="1983098" y="2723658"/>
            <a:ext cx="17418" cy="32813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/>
          <p:nvPr/>
        </p:nvCxnSpPr>
        <p:spPr>
          <a:xfrm flipH="1">
            <a:off x="3803486" y="2723655"/>
            <a:ext cx="18452" cy="32813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/>
          <p:nvPr/>
        </p:nvCxnSpPr>
        <p:spPr>
          <a:xfrm flipH="1">
            <a:off x="3087857" y="2723655"/>
            <a:ext cx="5403" cy="32813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Прямоугольник 25"/>
          <p:cNvSpPr/>
          <p:nvPr/>
        </p:nvSpPr>
        <p:spPr>
          <a:xfrm>
            <a:off x="1850963" y="5972869"/>
            <a:ext cx="2776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endParaRPr lang="ru-RU" dirty="0"/>
          </a:p>
        </p:txBody>
      </p:sp>
      <p:sp>
        <p:nvSpPr>
          <p:cNvPr id="27" name="Прямоугольник 26"/>
          <p:cNvSpPr/>
          <p:nvPr/>
        </p:nvSpPr>
        <p:spPr>
          <a:xfrm>
            <a:off x="3210008" y="5972869"/>
            <a:ext cx="5485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+T</a:t>
            </a:r>
            <a:endParaRPr lang="ru-RU" sz="1800" dirty="0"/>
          </a:p>
        </p:txBody>
      </p:sp>
      <p:sp>
        <p:nvSpPr>
          <p:cNvPr id="28" name="Прямоугольник 27"/>
          <p:cNvSpPr/>
          <p:nvPr/>
        </p:nvSpPr>
        <p:spPr>
          <a:xfrm>
            <a:off x="4680810" y="5975697"/>
            <a:ext cx="7793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2T+4</a:t>
            </a:r>
            <a:r>
              <a:rPr lang="el-GR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endParaRPr lang="ru-RU" sz="1800" dirty="0"/>
          </a:p>
        </p:txBody>
      </p:sp>
      <p:sp>
        <p:nvSpPr>
          <p:cNvPr id="30" name="TextBox 29">
            <a:extLst>
              <a:ext uri="{FF2B5EF4-FFF2-40B4-BE49-F238E27FC236}">
                <a16:creationId xmlns="" xmlns:a16="http://schemas.microsoft.com/office/drawing/2014/main" id="{F2ADCC68-35D1-46EB-B0D8-184DCA14D90F}"/>
              </a:ext>
            </a:extLst>
          </p:cNvPr>
          <p:cNvSpPr txBox="1"/>
          <p:nvPr/>
        </p:nvSpPr>
        <p:spPr>
          <a:xfrm>
            <a:off x="-750937" y="6436617"/>
            <a:ext cx="84861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Функция чувствительности квантового гравиметра для ускорения.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="" xmlns:a16="http://schemas.microsoft.com/office/drawing/2014/main" id="{53A8042C-E52E-4288-B49A-5DABBD83A1A0}"/>
              </a:ext>
            </a:extLst>
          </p:cNvPr>
          <p:cNvSpPr txBox="1"/>
          <p:nvPr/>
        </p:nvSpPr>
        <p:spPr>
          <a:xfrm>
            <a:off x="407405" y="534233"/>
            <a:ext cx="50527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Дополнительная фаза, появляющаяся в результате вибраций зеркала</a:t>
            </a: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6" name="Прямая соединительная линия 35"/>
          <p:cNvCxnSpPr/>
          <p:nvPr/>
        </p:nvCxnSpPr>
        <p:spPr>
          <a:xfrm flipH="1">
            <a:off x="5107235" y="2723655"/>
            <a:ext cx="18452" cy="32813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/>
          <p:cNvCxnSpPr/>
          <p:nvPr/>
        </p:nvCxnSpPr>
        <p:spPr>
          <a:xfrm flipH="1">
            <a:off x="4808514" y="2723655"/>
            <a:ext cx="18452" cy="32813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30226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38;p41">
            <a:extLst>
              <a:ext uri="{FF2B5EF4-FFF2-40B4-BE49-F238E27FC236}">
                <a16:creationId xmlns="" xmlns:a16="http://schemas.microsoft.com/office/drawing/2014/main" id="{52BC617F-5E2D-4580-9506-94A652B0244A}"/>
              </a:ext>
            </a:extLst>
          </p:cNvPr>
          <p:cNvSpPr/>
          <p:nvPr/>
        </p:nvSpPr>
        <p:spPr>
          <a:xfrm>
            <a:off x="1707918" y="68911"/>
            <a:ext cx="9169087" cy="35684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 smtClean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Эксперимент по компенсации вибрационных шумов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05991" y="878598"/>
            <a:ext cx="48419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Передаточная функция акселерометра</a:t>
            </a: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1894973" y="1394140"/>
                <a:ext cx="1925142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+∆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ru-RU" sz="1600" dirty="0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4973" y="1394140"/>
                <a:ext cx="1925142" cy="246221"/>
              </a:xfrm>
              <a:prstGeom prst="rect">
                <a:avLst/>
              </a:prstGeom>
              <a:blipFill rotWithShape="0">
                <a:blip r:embed="rId2"/>
                <a:stretch>
                  <a:fillRect l="-949" b="-75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1105991" y="1879194"/>
            <a:ext cx="48419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где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–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ускорение зеркала,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–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ускорение акселерометра,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∆t –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временная задержка сигнала,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 –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амплитудный коэффициент.</a:t>
            </a: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053943" y="878598"/>
            <a:ext cx="3927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Коррекция сигнала гравиметра</a:t>
            </a: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7982262" y="1267962"/>
                <a:ext cx="2097908" cy="46262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ru-RU" sz="1600" b="0" i="1" smtClean="0">
                              <a:latin typeface="Cambria Math" panose="02040503050406030204" pitchFamily="18" charset="0"/>
                            </a:rPr>
                            <m:t>с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ru-RU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m:rPr>
                              <m:sty m:val="p"/>
                            </m:rPr>
                            <a:rPr lang="el-GR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Φ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ru-RU" sz="1600" dirty="0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2262" y="1267962"/>
                <a:ext cx="2097908" cy="46262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07916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38;p41">
            <a:extLst>
              <a:ext uri="{FF2B5EF4-FFF2-40B4-BE49-F238E27FC236}">
                <a16:creationId xmlns="" xmlns:a16="http://schemas.microsoft.com/office/drawing/2014/main" id="{52BC617F-5E2D-4580-9506-94A652B0244A}"/>
              </a:ext>
            </a:extLst>
          </p:cNvPr>
          <p:cNvSpPr/>
          <p:nvPr/>
        </p:nvSpPr>
        <p:spPr>
          <a:xfrm>
            <a:off x="1742753" y="74058"/>
            <a:ext cx="9169087" cy="35684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 smtClean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Результаты компенсации вибрационных шумов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2"/>
          <a:srcRect l="684" t="5354" r="1840" b="1925"/>
          <a:stretch/>
        </p:blipFill>
        <p:spPr>
          <a:xfrm>
            <a:off x="368797" y="758962"/>
            <a:ext cx="6392091" cy="467650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F2ADCC68-35D1-46EB-B0D8-184DCA14D90F}"/>
              </a:ext>
            </a:extLst>
          </p:cNvPr>
          <p:cNvSpPr txBox="1"/>
          <p:nvPr/>
        </p:nvSpPr>
        <p:spPr>
          <a:xfrm>
            <a:off x="1010194" y="5653181"/>
            <a:ext cx="56257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Интерференционная картина до(оранжевая) и после(красная) компенсации вибрационных шумов</a:t>
            </a:r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F2ADCC68-35D1-46EB-B0D8-184DCA14D90F}"/>
              </a:ext>
            </a:extLst>
          </p:cNvPr>
          <p:cNvSpPr txBox="1"/>
          <p:nvPr/>
        </p:nvSpPr>
        <p:spPr>
          <a:xfrm>
            <a:off x="6891517" y="989741"/>
            <a:ext cx="56257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dgbefore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= 21 </a:t>
            </a: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mgal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/Hz^1/2</a:t>
            </a:r>
          </a:p>
          <a:p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gafter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10 </a:t>
            </a: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mGal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/Hz^1/2</a:t>
            </a:r>
          </a:p>
          <a:p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dgbefore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dgafter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~ 2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94304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43"/>
          <p:cNvSpPr/>
          <p:nvPr/>
        </p:nvSpPr>
        <p:spPr>
          <a:xfrm>
            <a:off x="2440631" y="329667"/>
            <a:ext cx="6910755" cy="67066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3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Заключение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Google Shape;340;p8"/>
              <p:cNvSpPr txBox="1"/>
              <p:nvPr/>
            </p:nvSpPr>
            <p:spPr>
              <a:xfrm>
                <a:off x="1339847" y="1485755"/>
                <a:ext cx="9239321" cy="276994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342900" marR="0" lvl="0" indent="-342900" algn="just" rtl="0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chemeClr val="dk1"/>
                  </a:buClr>
                  <a:buSzPts val="2400"/>
                  <a:buFont typeface="Times New Roman"/>
                  <a:buChar char="-"/>
                </a:pPr>
                <a:r>
                  <a:rPr lang="ru-RU" sz="1800" dirty="0" smtClean="0">
                    <a:solidFill>
                      <a:schemeClr val="dk1"/>
                    </a:solidFill>
                    <a:latin typeface="Times New Roman" panose="02020603050405020304" pitchFamily="18" charset="0"/>
                    <a:ea typeface="Times New Roman"/>
                    <a:cs typeface="Times New Roman" panose="02020603050405020304" pitchFamily="18" charset="0"/>
                    <a:sym typeface="Times New Roman"/>
                  </a:rPr>
                  <a:t>Выполнено </a:t>
                </a:r>
                <a:r>
                  <a:rPr lang="ru-RU" sz="1800" dirty="0">
                    <a:solidFill>
                      <a:schemeClr val="dk1"/>
                    </a:solidFill>
                    <a:latin typeface="Times New Roman" panose="02020603050405020304" pitchFamily="18" charset="0"/>
                    <a:ea typeface="Times New Roman"/>
                    <a:cs typeface="Times New Roman" panose="02020603050405020304" pitchFamily="18" charset="0"/>
                    <a:sym typeface="Times New Roman"/>
                  </a:rPr>
                  <a:t>моделирование оптической накачки через переход </a:t>
                </a:r>
                <a:r>
                  <a:rPr lang="en-US" sz="1800" dirty="0">
                    <a:solidFill>
                      <a:schemeClr val="dk1"/>
                    </a:solidFill>
                    <a:latin typeface="Times New Roman" panose="02020603050405020304" pitchFamily="18" charset="0"/>
                    <a:ea typeface="Times New Roman"/>
                    <a:cs typeface="Times New Roman" panose="02020603050405020304" pitchFamily="18" charset="0"/>
                    <a:sym typeface="Times New Roman"/>
                  </a:rPr>
                  <a:t>∣F=1⟩↔∣F=0</a:t>
                </a:r>
                <a:r>
                  <a:rPr lang="en-US" sz="1800" dirty="0" smtClean="0">
                    <a:solidFill>
                      <a:schemeClr val="dk1"/>
                    </a:solidFill>
                    <a:latin typeface="Times New Roman" panose="02020603050405020304" pitchFamily="18" charset="0"/>
                    <a:ea typeface="Times New Roman"/>
                    <a:cs typeface="Times New Roman" panose="02020603050405020304" pitchFamily="18" charset="0"/>
                    <a:sym typeface="Times New Roman"/>
                  </a:rPr>
                  <a:t>’⟩ </a:t>
                </a:r>
                <a:r>
                  <a:rPr lang="ru-RU" sz="1800" dirty="0" smtClean="0">
                    <a:solidFill>
                      <a:schemeClr val="dk1"/>
                    </a:solidFill>
                    <a:latin typeface="Times New Roman" panose="02020603050405020304" pitchFamily="18" charset="0"/>
                    <a:ea typeface="Times New Roman"/>
                    <a:cs typeface="Times New Roman" panose="02020603050405020304" pitchFamily="18" charset="0"/>
                    <a:sym typeface="Times New Roman"/>
                  </a:rPr>
                  <a:t>на </a:t>
                </a:r>
                <a:r>
                  <a:rPr lang="en-US" sz="1800" dirty="0">
                    <a:solidFill>
                      <a:schemeClr val="dk1"/>
                    </a:solidFill>
                    <a:latin typeface="Times New Roman" panose="02020603050405020304" pitchFamily="18" charset="0"/>
                    <a:ea typeface="Times New Roman"/>
                    <a:cs typeface="Times New Roman" panose="02020603050405020304" pitchFamily="18" charset="0"/>
                    <a:sym typeface="Times New Roman"/>
                  </a:rPr>
                  <a:t>D</a:t>
                </a:r>
                <a:r>
                  <a:rPr lang="en-US" sz="1800" baseline="-25000" dirty="0">
                    <a:solidFill>
                      <a:schemeClr val="dk1"/>
                    </a:solidFill>
                    <a:latin typeface="Times New Roman" panose="02020603050405020304" pitchFamily="18" charset="0"/>
                    <a:ea typeface="Times New Roman"/>
                    <a:cs typeface="Times New Roman" panose="02020603050405020304" pitchFamily="18" charset="0"/>
                    <a:sym typeface="Times New Roman"/>
                  </a:rPr>
                  <a:t>2</a:t>
                </a:r>
                <a:r>
                  <a:rPr lang="en-US" sz="1800" dirty="0">
                    <a:solidFill>
                      <a:schemeClr val="dk1"/>
                    </a:solidFill>
                    <a:latin typeface="Times New Roman" panose="02020603050405020304" pitchFamily="18" charset="0"/>
                    <a:ea typeface="Times New Roman"/>
                    <a:cs typeface="Times New Roman" panose="02020603050405020304" pitchFamily="18" charset="0"/>
                    <a:sym typeface="Times New Roman"/>
                  </a:rPr>
                  <a:t> </a:t>
                </a:r>
                <a:r>
                  <a:rPr lang="ru-RU" sz="1800" dirty="0">
                    <a:solidFill>
                      <a:schemeClr val="dk1"/>
                    </a:solidFill>
                    <a:latin typeface="Times New Roman" panose="02020603050405020304" pitchFamily="18" charset="0"/>
                    <a:ea typeface="Times New Roman"/>
                    <a:cs typeface="Times New Roman" panose="02020603050405020304" pitchFamily="18" charset="0"/>
                    <a:sym typeface="Times New Roman"/>
                  </a:rPr>
                  <a:t>линии </a:t>
                </a:r>
                <a:r>
                  <a:rPr lang="en-US" sz="1800" baseline="30000" dirty="0">
                    <a:solidFill>
                      <a:schemeClr val="dk1"/>
                    </a:solidFill>
                    <a:latin typeface="Times New Roman" panose="02020603050405020304" pitchFamily="18" charset="0"/>
                    <a:ea typeface="Times New Roman"/>
                    <a:cs typeface="Times New Roman" panose="02020603050405020304" pitchFamily="18" charset="0"/>
                    <a:sym typeface="Times New Roman"/>
                  </a:rPr>
                  <a:t>87</a:t>
                </a:r>
                <a:r>
                  <a:rPr lang="en-US" sz="1800" dirty="0">
                    <a:solidFill>
                      <a:schemeClr val="dk1"/>
                    </a:solidFill>
                    <a:latin typeface="Times New Roman" panose="02020603050405020304" pitchFamily="18" charset="0"/>
                    <a:ea typeface="Times New Roman"/>
                    <a:cs typeface="Times New Roman" panose="02020603050405020304" pitchFamily="18" charset="0"/>
                    <a:sym typeface="Times New Roman"/>
                  </a:rPr>
                  <a:t>Rb.</a:t>
                </a:r>
                <a:r>
                  <a:rPr lang="ru-RU" sz="1800" dirty="0">
                    <a:solidFill>
                      <a:schemeClr val="dk1"/>
                    </a:solidFill>
                    <a:latin typeface="Times New Roman" panose="02020603050405020304" pitchFamily="18" charset="0"/>
                    <a:ea typeface="Times New Roman"/>
                    <a:cs typeface="Times New Roman" panose="02020603050405020304" pitchFamily="18" charset="0"/>
                    <a:sym typeface="Times New Roman"/>
                  </a:rPr>
                  <a:t> Моделирование показало нагрев атомного облака </a:t>
                </a:r>
                <a:r>
                  <a:rPr lang="en-US" sz="1800" dirty="0">
                    <a:solidFill>
                      <a:schemeClr val="dk1"/>
                    </a:solidFill>
                    <a:latin typeface="Times New Roman" panose="02020603050405020304" pitchFamily="18" charset="0"/>
                    <a:ea typeface="Times New Roman"/>
                    <a:cs typeface="Times New Roman" panose="02020603050405020304" pitchFamily="18" charset="0"/>
                    <a:sym typeface="Times New Roman"/>
                  </a:rPr>
                  <a:t>~</a:t>
                </a:r>
                <a:r>
                  <a:rPr lang="ru-RU" sz="1800" dirty="0">
                    <a:solidFill>
                      <a:schemeClr val="dk1"/>
                    </a:solidFill>
                    <a:latin typeface="Times New Roman" panose="02020603050405020304" pitchFamily="18" charset="0"/>
                    <a:ea typeface="Times New Roman"/>
                    <a:cs typeface="Times New Roman" panose="02020603050405020304" pitchFamily="18" charset="0"/>
                    <a:sym typeface="Times New Roman"/>
                  </a:rPr>
                  <a:t> 1 мкК</a:t>
                </a:r>
                <a:r>
                  <a:rPr lang="en-US" sz="1800" dirty="0">
                    <a:solidFill>
                      <a:schemeClr val="dk1"/>
                    </a:solidFill>
                    <a:latin typeface="Times New Roman" panose="02020603050405020304" pitchFamily="18" charset="0"/>
                    <a:ea typeface="Times New Roman"/>
                    <a:cs typeface="Times New Roman" panose="02020603050405020304" pitchFamily="18" charset="0"/>
                    <a:sym typeface="Times New Roman"/>
                  </a:rPr>
                  <a:t>.</a:t>
                </a:r>
              </a:p>
              <a:p>
                <a:pPr marL="342900" marR="0" lvl="0" indent="-342900" algn="just" rtl="0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chemeClr val="dk1"/>
                  </a:buClr>
                  <a:buSzPts val="2400"/>
                  <a:buFont typeface="Times New Roman"/>
                  <a:buChar char="-"/>
                </a:pPr>
                <a:r>
                  <a:rPr lang="ru-RU" sz="1800" dirty="0">
                    <a:solidFill>
                      <a:schemeClr val="dk1"/>
                    </a:solidFill>
                    <a:latin typeface="Times New Roman" panose="02020603050405020304" pitchFamily="18" charset="0"/>
                    <a:ea typeface="Times New Roman"/>
                    <a:cs typeface="Times New Roman" panose="02020603050405020304" pitchFamily="18" charset="0"/>
                    <a:sym typeface="Times New Roman"/>
                  </a:rPr>
                  <a:t>Проведена оптическая накачка в магнито-нечувствительное состояние с эффективность более 90 % и нагревом в 1 мкК, что близко к результатам численного моделирования.</a:t>
                </a:r>
              </a:p>
              <a:p>
                <a:pPr marL="342900" lvl="0" indent="-342900" algn="just">
                  <a:spcAft>
                    <a:spcPts val="1200"/>
                  </a:spcAft>
                  <a:buClr>
                    <a:schemeClr val="dk1"/>
                  </a:buClr>
                  <a:buSzPts val="2400"/>
                  <a:buFont typeface="Times New Roman"/>
                  <a:buChar char="-"/>
                </a:pPr>
                <a:r>
                  <a:rPr lang="ru-RU" sz="1800" dirty="0">
                    <a:solidFill>
                      <a:schemeClr val="dk1"/>
                    </a:solidFill>
                    <a:latin typeface="Times New Roman" panose="02020603050405020304" pitchFamily="18" charset="0"/>
                    <a:ea typeface="Times New Roman"/>
                    <a:cs typeface="Times New Roman" panose="02020603050405020304" pitchFamily="18" charset="0"/>
                    <a:sym typeface="Times New Roman"/>
                  </a:rPr>
                  <a:t>В результате применения оптической накачки на этапе подготовки атомов </a:t>
                </a:r>
                <a:r>
                  <a:rPr lang="en-US" sz="1800" baseline="30000" dirty="0">
                    <a:solidFill>
                      <a:schemeClr val="dk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Times New Roman"/>
                  </a:rPr>
                  <a:t>87</a:t>
                </a:r>
                <a:r>
                  <a:rPr lang="en-US" sz="1800" dirty="0">
                    <a:solidFill>
                      <a:schemeClr val="dk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Times New Roman"/>
                  </a:rPr>
                  <a:t>Rb</a:t>
                </a:r>
                <a:r>
                  <a:rPr lang="ru-RU" sz="1800" dirty="0">
                    <a:solidFill>
                      <a:schemeClr val="dk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Times New Roman"/>
                  </a:rPr>
                  <a:t> в немагнитном квантовом состоянии в квантовом гравиметре погрешность измерений </a:t>
                </a:r>
                <a:r>
                  <a:rPr lang="en-US" sz="1800" dirty="0">
                    <a:solidFill>
                      <a:schemeClr val="dk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Times New Roman"/>
                  </a:rPr>
                  <a:t>g</a:t>
                </a:r>
                <a:r>
                  <a:rPr lang="ru-RU" sz="1800" dirty="0">
                    <a:solidFill>
                      <a:schemeClr val="dk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Times New Roman"/>
                  </a:rPr>
                  <a:t> и чувствительность составили 1 </a:t>
                </a:r>
                <a:r>
                  <a:rPr lang="ru-RU" sz="1800" dirty="0" err="1">
                    <a:solidFill>
                      <a:schemeClr val="dk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Times New Roman"/>
                  </a:rPr>
                  <a:t>мГал</a:t>
                </a:r>
                <a:r>
                  <a:rPr lang="ru-RU" sz="1800" dirty="0">
                    <a:solidFill>
                      <a:schemeClr val="dk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Times New Roman"/>
                  </a:rPr>
                  <a:t> и 39 </a:t>
                </a:r>
                <a:r>
                  <a:rPr lang="ru-RU" sz="1800" dirty="0" err="1">
                    <a:solidFill>
                      <a:schemeClr val="dk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Times New Roman"/>
                  </a:rPr>
                  <a:t>мГал</a:t>
                </a:r>
                <a:r>
                  <a:rPr lang="ru-RU" sz="1800" dirty="0">
                    <a:ea typeface="Cambria Math" panose="02040503050406030204" pitchFamily="18" charset="0"/>
                    <a:cs typeface="Times New Roman"/>
                    <a:sym typeface="Times New Roman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/>
                        <a:sym typeface="Times New Roman"/>
                      </a:rPr>
                      <m:t>/</m:t>
                    </m:r>
                    <m:r>
                      <a:rPr lang="ru-RU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/>
                        <a:sym typeface="Times New Roman"/>
                      </a:rPr>
                      <m:t> </m:t>
                    </m:r>
                  </m:oMath>
                </a14:m>
                <a:r>
                  <a:rPr lang="ru-RU" sz="1800" dirty="0">
                    <a:latin typeface="Times New Roman"/>
                    <a:ea typeface="Times New Roman"/>
                    <a:cs typeface="Times New Roman"/>
                    <a:sym typeface="Times New Roman"/>
                  </a:rPr>
                  <a:t>Гц</a:t>
                </a:r>
                <a:r>
                  <a:rPr lang="ru-RU" sz="1800" baseline="30000" dirty="0">
                    <a:latin typeface="Times New Roman"/>
                    <a:ea typeface="Times New Roman"/>
                    <a:cs typeface="Times New Roman"/>
                    <a:sym typeface="Times New Roman"/>
                  </a:rPr>
                  <a:t>1</a:t>
                </a:r>
                <a:r>
                  <a:rPr lang="en-US" sz="1800" baseline="30000" dirty="0">
                    <a:latin typeface="Times New Roman"/>
                    <a:ea typeface="Times New Roman"/>
                    <a:cs typeface="Times New Roman"/>
                    <a:sym typeface="Times New Roman"/>
                  </a:rPr>
                  <a:t>/2</a:t>
                </a:r>
                <a:r>
                  <a:rPr lang="ru-RU" sz="1800" dirty="0">
                    <a:solidFill>
                      <a:schemeClr val="dk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Times New Roman"/>
                  </a:rPr>
                  <a:t> соответственно, что более чем в 4 раза лучше, чем при отсутствии оптической накачки. </a:t>
                </a:r>
                <a:endParaRPr lang="en-US" sz="1800" dirty="0">
                  <a:solidFill>
                    <a:schemeClr val="dk1"/>
                  </a:solidFill>
                  <a:latin typeface="Times New Roman" panose="02020603050405020304" pitchFamily="18" charset="0"/>
                  <a:ea typeface="Times New Roman"/>
                  <a:cs typeface="Times New Roman" panose="02020603050405020304" pitchFamily="18" charset="0"/>
                  <a:sym typeface="Times New Roman"/>
                </a:endParaRPr>
              </a:p>
            </p:txBody>
          </p:sp>
        </mc:Choice>
        <mc:Fallback>
          <p:sp>
            <p:nvSpPr>
              <p:cNvPr id="5" name="Google Shape;340;p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9847" y="1485755"/>
                <a:ext cx="9239321" cy="2769949"/>
              </a:xfrm>
              <a:prstGeom prst="rect">
                <a:avLst/>
              </a:prstGeom>
              <a:blipFill rotWithShape="0">
                <a:blip r:embed="rId3"/>
                <a:stretch>
                  <a:fillRect l="-924" t="-3524" r="-52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A7EB3360-CB57-4ACC-9572-5FD9B50D06F8}"/>
              </a:ext>
            </a:extLst>
          </p:cNvPr>
          <p:cNvSpPr txBox="1"/>
          <p:nvPr/>
        </p:nvSpPr>
        <p:spPr>
          <a:xfrm>
            <a:off x="11681926" y="6408575"/>
            <a:ext cx="5100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40;p8">
            <a:extLst>
              <a:ext uri="{FF2B5EF4-FFF2-40B4-BE49-F238E27FC236}">
                <a16:creationId xmlns="" xmlns:a16="http://schemas.microsoft.com/office/drawing/2014/main" id="{29231A27-E450-41D8-A924-F74AF49F383D}"/>
              </a:ext>
            </a:extLst>
          </p:cNvPr>
          <p:cNvSpPr txBox="1"/>
          <p:nvPr/>
        </p:nvSpPr>
        <p:spPr>
          <a:xfrm>
            <a:off x="2108129" y="874495"/>
            <a:ext cx="8410322" cy="110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2400"/>
            </a:pPr>
            <a:r>
              <a:rPr lang="ru-RU" sz="18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Статьи:</a:t>
            </a:r>
          </a:p>
          <a:p>
            <a:pPr marL="285750" indent="-285750">
              <a:spcAft>
                <a:spcPts val="120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Интерференция ультрахолодных атомов 87 Rb в квантовом гравиметре / Д. Н. Капуста, А. Э. </a:t>
            </a:r>
            <a:r>
              <a:rPr lang="ru-RU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Бонерт</a:t>
            </a:r>
            <a:r>
              <a:rPr lang="ru-RU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, А. Н. Гончаров [и др.]. — Текст : непосредственный // ЖЭТФ. — 2025. — № 1. — С. 47-54.</a:t>
            </a:r>
          </a:p>
        </p:txBody>
      </p:sp>
      <p:sp>
        <p:nvSpPr>
          <p:cNvPr id="4" name="Google Shape;340;p8">
            <a:extLst>
              <a:ext uri="{FF2B5EF4-FFF2-40B4-BE49-F238E27FC236}">
                <a16:creationId xmlns="" xmlns:a16="http://schemas.microsoft.com/office/drawing/2014/main" id="{29231A27-E450-41D8-A924-F74AF49F383D}"/>
              </a:ext>
            </a:extLst>
          </p:cNvPr>
          <p:cNvSpPr txBox="1"/>
          <p:nvPr/>
        </p:nvSpPr>
        <p:spPr>
          <a:xfrm>
            <a:off x="3781678" y="147329"/>
            <a:ext cx="8410322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2400"/>
            </a:pPr>
            <a:r>
              <a:rPr lang="ru-RU" sz="24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Апробация результатов</a:t>
            </a:r>
          </a:p>
        </p:txBody>
      </p:sp>
      <p:sp>
        <p:nvSpPr>
          <p:cNvPr id="5" name="Google Shape;340;p8">
            <a:extLst>
              <a:ext uri="{FF2B5EF4-FFF2-40B4-BE49-F238E27FC236}">
                <a16:creationId xmlns="" xmlns:a16="http://schemas.microsoft.com/office/drawing/2014/main" id="{29231A27-E450-41D8-A924-F74AF49F383D}"/>
              </a:ext>
            </a:extLst>
          </p:cNvPr>
          <p:cNvSpPr txBox="1"/>
          <p:nvPr/>
        </p:nvSpPr>
        <p:spPr>
          <a:xfrm>
            <a:off x="2108129" y="1982450"/>
            <a:ext cx="8410322" cy="2923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2400"/>
            </a:pPr>
            <a:r>
              <a:rPr lang="ru-RU" sz="18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Конференции</a:t>
            </a:r>
          </a:p>
          <a:p>
            <a:pPr marL="285750" lvl="0" indent="-285750">
              <a:spcAft>
                <a:spcPts val="120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Д.Н. Капуста, А.Э. </a:t>
            </a:r>
            <a:r>
              <a:rPr lang="ru-RU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Бонерт</a:t>
            </a:r>
            <a:r>
              <a:rPr lang="ru-RU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, А.Н. Гончаров, К.Н. Адамов, О.Н. Прудников, А.В. </a:t>
            </a:r>
            <a:r>
              <a:rPr lang="ru-RU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Тайченачев</a:t>
            </a:r>
            <a:r>
              <a:rPr lang="ru-RU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/ Интерференция ультрахолодных атомов 87Rb в квантовом гравиметре </a:t>
            </a: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// </a:t>
            </a:r>
            <a:r>
              <a:rPr lang="ru-RU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Материалы конференции ФУХА-2024 (Новосибирск). – 2024 декабрь. – с. 29.</a:t>
            </a:r>
          </a:p>
          <a:p>
            <a:pPr marL="285750" indent="-285750">
              <a:spcAft>
                <a:spcPts val="120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Д.Н. Капуста, А.Э. </a:t>
            </a:r>
            <a:r>
              <a:rPr lang="ru-RU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Бонерт</a:t>
            </a:r>
            <a:r>
              <a:rPr lang="ru-RU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, А.Н. Гончаров, К.Н. Адамов, О.Н. Прудников, А.В. </a:t>
            </a:r>
            <a:r>
              <a:rPr lang="ru-RU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Тайченачев</a:t>
            </a:r>
            <a:r>
              <a:rPr lang="ru-RU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/ Интерференция ультрахолодных атомов 87Rb в квантовом гравиметре </a:t>
            </a: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// </a:t>
            </a:r>
            <a:r>
              <a:rPr lang="ru-RU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Материалы конференции КВНО-2025 (Санкт-Петербург). – 2025 апрель.</a:t>
            </a:r>
          </a:p>
          <a:p>
            <a:pPr marL="285750" indent="-285750">
              <a:spcAft>
                <a:spcPts val="120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Д.Н. Капуста, А.Э. </a:t>
            </a:r>
            <a:r>
              <a:rPr lang="ru-RU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Бонерт</a:t>
            </a:r>
            <a:r>
              <a:rPr lang="ru-RU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, А.Н. Гончаров, К.Н. Адамов, О.Н. Прудников, А.В. </a:t>
            </a:r>
            <a:r>
              <a:rPr lang="ru-RU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Тайченачев</a:t>
            </a:r>
            <a:r>
              <a:rPr lang="ru-RU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/ Подготовка начального волнового пакета для квантового интерферометра-гравиметра</a:t>
            </a: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// </a:t>
            </a:r>
            <a:r>
              <a:rPr lang="ru-RU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Материалы конференции МНСК-2025 (Новосибирск). – 2025 апрель.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5836EB2D-2CF5-452C-9CE6-0A5E961FBED9}"/>
              </a:ext>
            </a:extLst>
          </p:cNvPr>
          <p:cNvSpPr txBox="1"/>
          <p:nvPr/>
        </p:nvSpPr>
        <p:spPr>
          <a:xfrm>
            <a:off x="11681925" y="6408575"/>
            <a:ext cx="5536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87890586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3941</TotalTime>
  <Words>1689</Words>
  <Application>Microsoft Office PowerPoint</Application>
  <PresentationFormat>Широкоэкранный</PresentationFormat>
  <Paragraphs>314</Paragraphs>
  <Slides>21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31" baseType="lpstr">
      <vt:lpstr>Arial</vt:lpstr>
      <vt:lpstr>Calibri</vt:lpstr>
      <vt:lpstr>Cambria Math</vt:lpstr>
      <vt:lpstr>Century Gothic</vt:lpstr>
      <vt:lpstr>Courier New</vt:lpstr>
      <vt:lpstr>Symbol</vt:lpstr>
      <vt:lpstr>Tahoma</vt:lpstr>
      <vt:lpstr>Times New Roman</vt:lpstr>
      <vt:lpstr>Wingdings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kilrealladam@gmail.com</dc:creator>
  <cp:lastModifiedBy>Макаров Антон Олегович</cp:lastModifiedBy>
  <cp:revision>193</cp:revision>
  <dcterms:created xsi:type="dcterms:W3CDTF">2023-12-21T05:49:20Z</dcterms:created>
  <dcterms:modified xsi:type="dcterms:W3CDTF">2025-11-06T13:35:54Z</dcterms:modified>
</cp:coreProperties>
</file>