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60" r:id="rId5"/>
    <p:sldId id="287" r:id="rId6"/>
    <p:sldId id="290" r:id="rId7"/>
    <p:sldId id="291" r:id="rId8"/>
    <p:sldId id="268" r:id="rId9"/>
    <p:sldId id="269" r:id="rId10"/>
    <p:sldId id="264" r:id="rId11"/>
    <p:sldId id="265" r:id="rId12"/>
    <p:sldId id="270" r:id="rId13"/>
    <p:sldId id="271" r:id="rId14"/>
    <p:sldId id="272" r:id="rId15"/>
    <p:sldId id="282" r:id="rId16"/>
    <p:sldId id="292" r:id="rId17"/>
    <p:sldId id="293" r:id="rId18"/>
    <p:sldId id="284" r:id="rId19"/>
    <p:sldId id="285" r:id="rId20"/>
    <p:sldId id="286" r:id="rId21"/>
    <p:sldId id="288" r:id="rId22"/>
    <p:sldId id="281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jouDVospvBqDJ2IaPmer8mAxNsd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realladam@gmail.com" initials="k" lastIdx="1" clrIdx="0">
    <p:extLst>
      <p:ext uri="{19B8F6BF-5375-455C-9EA6-DF929625EA0E}">
        <p15:presenceInfo xmlns:p15="http://schemas.microsoft.com/office/powerpoint/2012/main" userId="06abd9abe9dc439d" providerId="Windows Live"/>
      </p:ext>
    </p:extLst>
  </p:cmAuthor>
  <p:cmAuthor id="2" name="Макаров Антон Олегович" initials="МАО" lastIdx="1" clrIdx="1">
    <p:extLst>
      <p:ext uri="{19B8F6BF-5375-455C-9EA6-DF929625EA0E}">
        <p15:presenceInfo xmlns:p15="http://schemas.microsoft.com/office/powerpoint/2012/main" userId="S-1-5-21-459334724-2767538070-3650366139-13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customschemas.google.com/relationships/presentationmetadata" Target="meta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81286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71452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8060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Добавить преимущества квантового гравиметра.</a:t>
            </a:r>
            <a:endParaRPr/>
          </a:p>
        </p:txBody>
      </p:sp>
      <p:sp>
        <p:nvSpPr>
          <p:cNvPr id="104" name="Google Shape;104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9524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20922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9" name="Google Shape;1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61885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18837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Корректировки:</a:t>
            </a:r>
            <a:br>
              <a:rPr lang="ru-RU"/>
            </a:br>
            <a:r>
              <a:rPr lang="ru-RU"/>
              <a:t>1. Много текста</a:t>
            </a:r>
            <a:endParaRPr/>
          </a:p>
        </p:txBody>
      </p:sp>
      <p:sp>
        <p:nvSpPr>
          <p:cNvPr id="149" name="Google Shape;14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3046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888911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dirty="0"/>
              <a:t>Подписать резонансы, указать формулу для расчета маг поля</a:t>
            </a:r>
            <a:endParaRPr dirty="0"/>
          </a:p>
        </p:txBody>
      </p:sp>
      <p:sp>
        <p:nvSpPr>
          <p:cNvPr id="207" name="Google Shape;20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69808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299284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Пересмотреть картинки, пересчитать градиенты (линии), сделать один цветовой масштаб, указать расстояние между белыми линиями</a:t>
            </a:r>
            <a:endParaRPr/>
          </a:p>
        </p:txBody>
      </p:sp>
      <p:sp>
        <p:nvSpPr>
          <p:cNvPr id="232" name="Google Shape;232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8198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ru-R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26828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852561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3610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821660" y="2140818"/>
            <a:ext cx="1036206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40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К.Н. Адамов</a:t>
            </a:r>
            <a:r>
              <a:rPr lang="ru-RU" sz="2400" i="0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Д.Н. Капуста</a:t>
            </a:r>
            <a:r>
              <a:rPr lang="ru-RU" sz="24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А.Э.Бонерт</a:t>
            </a:r>
            <a:r>
              <a:rPr lang="ru-RU" sz="24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А.Н. Гончаров</a:t>
            </a:r>
            <a:r>
              <a:rPr lang="ru-RU" sz="24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1,2,3</a:t>
            </a:r>
            <a:endParaRPr sz="2400" i="0" u="sng" strike="noStrike" cap="none" baseline="3000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-55685" y="634864"/>
            <a:ext cx="1230337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ru-RU" sz="3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 начального волнового пакета для квантового интерферометра-гравиметра</a:t>
            </a:r>
            <a:endParaRPr sz="32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213CD34-9B2E-4915-B966-ECAAA8145C08}"/>
              </a:ext>
            </a:extLst>
          </p:cNvPr>
          <p:cNvSpPr txBox="1"/>
          <p:nvPr/>
        </p:nvSpPr>
        <p:spPr>
          <a:xfrm>
            <a:off x="149290" y="80866"/>
            <a:ext cx="41490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лазерной физики СО РАН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Новосибирск, Россия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47D8F47-E0BB-4E7A-859C-9128519CAC65}"/>
              </a:ext>
            </a:extLst>
          </p:cNvPr>
          <p:cNvSpPr txBox="1"/>
          <p:nvPr/>
        </p:nvSpPr>
        <p:spPr>
          <a:xfrm>
            <a:off x="2662334" y="3331391"/>
            <a:ext cx="785015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лазерной физики СО РАН, Новосибирск, Россия</a:t>
            </a:r>
          </a:p>
          <a:p>
            <a:r>
              <a:rPr lang="ru-RU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Новосибирский государственный университет, Новосибирск, Россия</a:t>
            </a:r>
          </a:p>
          <a:p>
            <a:r>
              <a:rPr lang="ru-RU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Новосибирский государственный технический университет, Новосибирск, Россия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5DE045F-A47A-4C75-B787-B48904B8CAE6}"/>
              </a:ext>
            </a:extLst>
          </p:cNvPr>
          <p:cNvSpPr txBox="1"/>
          <p:nvPr/>
        </p:nvSpPr>
        <p:spPr>
          <a:xfrm>
            <a:off x="261256" y="5984033"/>
            <a:ext cx="3097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ofadamovkirill@gmail.com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1127158" y="755157"/>
            <a:ext cx="9524700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План выступления: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Введение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Гравиметр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атомного гравиметра</a:t>
            </a:r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Используемые переходы </a:t>
            </a:r>
            <a:r>
              <a:rPr lang="en-US" sz="2000" b="0" i="0" u="none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Arial"/>
                <a:cs typeface="Times New Roman"/>
                <a:sym typeface="Times New Roman"/>
              </a:rPr>
              <a:t>Оптическая схема гравиметра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Экспериментальная установка гравиметра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Подготовка начального немагнитного состояния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Различные методики подготовки атомов в немагнитном квантовом состоянии</a:t>
            </a:r>
          </a:p>
          <a:p>
            <a:pPr marL="742950" lvl="1" indent="-285750">
              <a:spcBef>
                <a:spcPts val="300"/>
              </a:spcBef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Результаты компьютерного моделирования метода оптической накачки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Результаты экспериментальной реализация метода оптической накачки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2504131" y="94717"/>
            <a:ext cx="6910755" cy="4775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Введение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10299442" y="133442"/>
            <a:ext cx="180391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Гал  ~ 10</a:t>
            </a:r>
            <a:r>
              <a:rPr lang="ru-RU" sz="2000" b="0" i="0" u="none" strike="noStrike" cap="none" baseline="30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</a:t>
            </a:r>
            <a:r>
              <a:rPr lang="ru-RU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</a:t>
            </a:r>
            <a:endParaRPr sz="20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1995961" y="2817899"/>
            <a:ext cx="468059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Геодезия и наблюдение за Землей	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Археология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Разведка полезных ископаемых 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Оценка подземной инфраструктуры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6239427" y="2817899"/>
            <a:ext cx="4548674" cy="1192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Навигация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Поис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к скрытых объектов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Вулканы, исследования землетрясений и пр.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Фундаментальные физические исследования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3793522" y="2283703"/>
            <a:ext cx="39829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Области применения гравиметров:</a:t>
            </a: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2802293" y="752537"/>
            <a:ext cx="7503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Преимущества квантового гравиметра над классическим:</a:t>
            </a: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3698420" y="1086437"/>
            <a:ext cx="5260523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Отсутствие подвижных элементов в конструкции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Высокая частота измерений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Может (гироскоп и акселерометр) и т.д.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67E3B1A-029A-4327-9EF0-D391A5F0BDEF}"/>
              </a:ext>
            </a:extLst>
          </p:cNvPr>
          <p:cNvSpPr txBox="1"/>
          <p:nvPr/>
        </p:nvSpPr>
        <p:spPr>
          <a:xfrm>
            <a:off x="2796073" y="4478433"/>
            <a:ext cx="6374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 атомов в немагнитное квантовое состояние</a:t>
            </a:r>
            <a:endParaRPr lang="ru-RU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564A0FFF-1164-43D7-A296-4897223993E0}"/>
              </a:ext>
            </a:extLst>
          </p:cNvPr>
          <p:cNvSpPr txBox="1"/>
          <p:nvPr/>
        </p:nvSpPr>
        <p:spPr>
          <a:xfrm>
            <a:off x="2856723" y="4960673"/>
            <a:ext cx="757614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5" indent="-285750">
              <a:spcBef>
                <a:spcPts val="600"/>
              </a:spcBef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 помощью СВЧ и оптического излучения (потери более 80%)</a:t>
            </a:r>
            <a:endParaRPr lang="ru-RU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1" indent="-285750">
              <a:spcBef>
                <a:spcPts val="300"/>
              </a:spcBef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 помощью оптической накачки (потери менее 10%)</a:t>
            </a:r>
            <a:endParaRPr lang="ru-RU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120" name="Google Shape;120;p25"/>
          <p:cNvSpPr txBox="1"/>
          <p:nvPr/>
        </p:nvSpPr>
        <p:spPr>
          <a:xfrm>
            <a:off x="460308" y="258901"/>
            <a:ext cx="11545079" cy="5478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Абсолютный квантовый гравиметр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это устройство, позволяющее измерять гравитационное поле земли с высокой чувствительностью, точностью и надёжностью за счёт быстрого высокочувствительного квантового механизма на котором основан принцип его работы. Преимуществами квантового гравиметра над классическим является отсутствие подвижных элементов в конструкции, высокая скорость измерений и возможност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ь переоборудовать гравиметр в акселерометр и гироскоп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Применения квантового гравиметра: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Геодезия </a:t>
            </a:r>
            <a:endParaRPr lang="ru-RU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Археология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Разведка полезных ископаемых 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Оценка подземной инфраструктуры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Навигация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Поиск скрытых объектов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Вулканы, исследования землетрясений и пр.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ru-RU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ru-RU"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точность и </a:t>
            </a:r>
            <a:r>
              <a:rPr lang="ru-RU" dirty="0" err="1">
                <a:latin typeface="Times New Roman"/>
                <a:ea typeface="Times New Roman"/>
                <a:cs typeface="Times New Roman"/>
                <a:sym typeface="Times New Roman"/>
              </a:rPr>
              <a:t>чуствительность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работы квантового гравиметра влияют потери атомов в ходе измерительного цикла гравиметра, для проведения атомной интерференции необходимо подготовить атомы в немагнитном квантовом состоянии,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что может приводить к существенным потерям атомов,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данной работе был реализован метод подготовки атомов в немагнитное квантовое состояния с использованием оптической накачки с потерями менее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0%, предыдущий же метод подготовки в немагнитное состояние через селекцию по магнитным состояниям имел минимальные потери в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0 %.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88B3876-4C9B-44B7-90CC-440DA9C300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</a:t>
            </a:fld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xmlns="" id="{839F4945-9D74-4B8C-897B-6CE0EB1BFA5F}"/>
              </a:ext>
            </a:extLst>
          </p:cNvPr>
          <p:cNvSpPr/>
          <p:nvPr/>
        </p:nvSpPr>
        <p:spPr>
          <a:xfrm>
            <a:off x="2948472" y="1885477"/>
            <a:ext cx="311020" cy="317241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xmlns="" id="{AF0DCB50-B4C1-4A57-B451-5B2BAD1CCAFD}"/>
              </a:ext>
            </a:extLst>
          </p:cNvPr>
          <p:cNvCxnSpPr>
            <a:cxnSpLocks/>
          </p:cNvCxnSpPr>
          <p:nvPr/>
        </p:nvCxnSpPr>
        <p:spPr>
          <a:xfrm>
            <a:off x="3097761" y="958637"/>
            <a:ext cx="0" cy="77755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xmlns="" id="{9F59D60F-EACF-44BD-AA3A-E3FFA94DD692}"/>
              </a:ext>
            </a:extLst>
          </p:cNvPr>
          <p:cNvCxnSpPr>
            <a:cxnSpLocks/>
          </p:cNvCxnSpPr>
          <p:nvPr/>
        </p:nvCxnSpPr>
        <p:spPr>
          <a:xfrm flipV="1">
            <a:off x="3097761" y="2376889"/>
            <a:ext cx="0" cy="74645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xmlns="" id="{6E8EE65A-8353-44B3-8EDF-F5E6D46B8865}"/>
              </a:ext>
            </a:extLst>
          </p:cNvPr>
          <p:cNvCxnSpPr>
            <a:cxnSpLocks/>
          </p:cNvCxnSpPr>
          <p:nvPr/>
        </p:nvCxnSpPr>
        <p:spPr>
          <a:xfrm>
            <a:off x="2326431" y="1387844"/>
            <a:ext cx="447870" cy="34834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xmlns="" id="{94BE0C1F-2D1C-4D6F-84F5-6E443D1BA35D}"/>
              </a:ext>
            </a:extLst>
          </p:cNvPr>
          <p:cNvCxnSpPr>
            <a:cxnSpLocks/>
          </p:cNvCxnSpPr>
          <p:nvPr/>
        </p:nvCxnSpPr>
        <p:spPr>
          <a:xfrm flipH="1" flipV="1">
            <a:off x="3415005" y="2252484"/>
            <a:ext cx="771328" cy="54894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xmlns="" id="{D9E14132-7567-45B0-8D8C-03401800B35A}"/>
              </a:ext>
            </a:extLst>
          </p:cNvPr>
          <p:cNvCxnSpPr>
            <a:cxnSpLocks/>
          </p:cNvCxnSpPr>
          <p:nvPr/>
        </p:nvCxnSpPr>
        <p:spPr>
          <a:xfrm flipV="1">
            <a:off x="1946988" y="2096972"/>
            <a:ext cx="821092" cy="15551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xmlns="" id="{32621570-AB0C-49E0-9242-014A69B9E20B}"/>
              </a:ext>
            </a:extLst>
          </p:cNvPr>
          <p:cNvCxnSpPr>
            <a:cxnSpLocks/>
          </p:cNvCxnSpPr>
          <p:nvPr/>
        </p:nvCxnSpPr>
        <p:spPr>
          <a:xfrm flipH="1">
            <a:off x="3415005" y="1806166"/>
            <a:ext cx="964162" cy="15862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57D9114C-0BAF-4A68-A6A6-A6F7B6588357}"/>
              </a:ext>
            </a:extLst>
          </p:cNvPr>
          <p:cNvSpPr txBox="1"/>
          <p:nvPr/>
        </p:nvSpPr>
        <p:spPr>
          <a:xfrm>
            <a:off x="3270223" y="1458644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МОЛ</a:t>
            </a:r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xmlns="" id="{EE460C1C-8D50-4C3C-BB92-3B7D2ED5A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446" y="3207562"/>
            <a:ext cx="499155" cy="48519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FBBB57CA-A075-45E2-B876-CEA37387CBC5}"/>
              </a:ext>
            </a:extLst>
          </p:cNvPr>
          <p:cNvSpPr txBox="1"/>
          <p:nvPr/>
        </p:nvSpPr>
        <p:spPr>
          <a:xfrm>
            <a:off x="3383899" y="3059668"/>
            <a:ext cx="1492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в немагнитное состояние</a:t>
            </a:r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xmlns="" id="{7BA0B989-90EF-4993-9301-0913179DC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836445" y="3718232"/>
            <a:ext cx="540558" cy="74925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228A9D4D-6335-431D-8F55-90CFC84CF771}"/>
              </a:ext>
            </a:extLst>
          </p:cNvPr>
          <p:cNvSpPr txBox="1"/>
          <p:nvPr/>
        </p:nvSpPr>
        <p:spPr>
          <a:xfrm>
            <a:off x="3270223" y="3845993"/>
            <a:ext cx="1741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Скоростная селекция</a:t>
            </a:r>
          </a:p>
        </p:txBody>
      </p:sp>
      <p:pic>
        <p:nvPicPr>
          <p:cNvPr id="48" name="Рисунок 47">
            <a:extLst>
              <a:ext uri="{FF2B5EF4-FFF2-40B4-BE49-F238E27FC236}">
                <a16:creationId xmlns:a16="http://schemas.microsoft.com/office/drawing/2014/main" xmlns="" id="{FDE3C731-B6E1-4FFE-B0F5-F4400DCC77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225" b="17878"/>
          <a:stretch/>
        </p:blipFill>
        <p:spPr>
          <a:xfrm>
            <a:off x="2556589" y="4543863"/>
            <a:ext cx="858416" cy="285358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B0D3E0D9-53A6-49C4-8177-D11076D6633F}"/>
              </a:ext>
            </a:extLst>
          </p:cNvPr>
          <p:cNvSpPr txBox="1"/>
          <p:nvPr/>
        </p:nvSpPr>
        <p:spPr>
          <a:xfrm>
            <a:off x="3250161" y="4356499"/>
            <a:ext cx="1741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Атомная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Интерференция</a:t>
            </a:r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xmlns="" id="{FA170C71-6EC6-4D59-B67E-1E2DC6FDE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0446" y="4890281"/>
            <a:ext cx="370702" cy="320152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xmlns="" id="{A61134B6-4291-42BA-B24F-5395498366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8082" y="5166840"/>
            <a:ext cx="370702" cy="320152"/>
          </a:xfrm>
          <a:prstGeom prst="rect">
            <a:avLst/>
          </a:prstGeom>
        </p:spPr>
      </p:pic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xmlns="" id="{F228DCAD-216D-4DE7-A72E-2C338A4CDA73}"/>
              </a:ext>
            </a:extLst>
          </p:cNvPr>
          <p:cNvCxnSpPr>
            <a:cxnSpLocks/>
          </p:cNvCxnSpPr>
          <p:nvPr/>
        </p:nvCxnSpPr>
        <p:spPr>
          <a:xfrm flipV="1">
            <a:off x="2072810" y="5037033"/>
            <a:ext cx="596851" cy="1332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A5E534B1-B82D-4149-9CD1-F2A05002DF41}"/>
              </a:ext>
            </a:extLst>
          </p:cNvPr>
          <p:cNvSpPr txBox="1"/>
          <p:nvPr/>
        </p:nvSpPr>
        <p:spPr>
          <a:xfrm>
            <a:off x="3203512" y="5019139"/>
            <a:ext cx="1741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Детектирование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754637B8-70DA-4752-B96A-8382552E8714}"/>
              </a:ext>
            </a:extLst>
          </p:cNvPr>
          <p:cNvSpPr txBox="1"/>
          <p:nvPr/>
        </p:nvSpPr>
        <p:spPr>
          <a:xfrm>
            <a:off x="1363641" y="5213705"/>
            <a:ext cx="6780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7DC2BF98-76B1-4BE9-A8E7-7D80803E9666}"/>
              </a:ext>
            </a:extLst>
          </p:cNvPr>
          <p:cNvSpPr txBox="1"/>
          <p:nvPr/>
        </p:nvSpPr>
        <p:spPr>
          <a:xfrm>
            <a:off x="1245342" y="4883144"/>
            <a:ext cx="933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xmlns="" id="{E18170C4-CE86-42AE-A1E2-4A7F3001A524}"/>
              </a:ext>
            </a:extLst>
          </p:cNvPr>
          <p:cNvCxnSpPr>
            <a:cxnSpLocks/>
          </p:cNvCxnSpPr>
          <p:nvPr/>
        </p:nvCxnSpPr>
        <p:spPr>
          <a:xfrm>
            <a:off x="3006612" y="733925"/>
            <a:ext cx="0" cy="44942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Прямая со стрелкой 64">
            <a:extLst>
              <a:ext uri="{FF2B5EF4-FFF2-40B4-BE49-F238E27FC236}">
                <a16:creationId xmlns:a16="http://schemas.microsoft.com/office/drawing/2014/main" xmlns="" id="{A7CCDB74-BFCB-4DC5-B2F7-C69B0654DE3F}"/>
              </a:ext>
            </a:extLst>
          </p:cNvPr>
          <p:cNvCxnSpPr>
            <a:cxnSpLocks/>
          </p:cNvCxnSpPr>
          <p:nvPr/>
        </p:nvCxnSpPr>
        <p:spPr>
          <a:xfrm>
            <a:off x="3180476" y="733925"/>
            <a:ext cx="0" cy="4494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8122D100-3553-4F84-8B06-A90593B47611}"/>
              </a:ext>
            </a:extLst>
          </p:cNvPr>
          <p:cNvSpPr txBox="1"/>
          <p:nvPr/>
        </p:nvSpPr>
        <p:spPr>
          <a:xfrm>
            <a:off x="2948472" y="685397"/>
            <a:ext cx="1741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Рамановские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Пучки</a:t>
            </a:r>
          </a:p>
        </p:txBody>
      </p:sp>
      <p:cxnSp>
        <p:nvCxnSpPr>
          <p:cNvPr id="68" name="Прямая со стрелкой 67">
            <a:extLst>
              <a:ext uri="{FF2B5EF4-FFF2-40B4-BE49-F238E27FC236}">
                <a16:creationId xmlns:a16="http://schemas.microsoft.com/office/drawing/2014/main" xmlns="" id="{CCBC9411-05D8-4863-BBCF-D00DA8995E61}"/>
              </a:ext>
            </a:extLst>
          </p:cNvPr>
          <p:cNvCxnSpPr>
            <a:cxnSpLocks/>
          </p:cNvCxnSpPr>
          <p:nvPr/>
        </p:nvCxnSpPr>
        <p:spPr>
          <a:xfrm flipV="1">
            <a:off x="2057848" y="5336632"/>
            <a:ext cx="596851" cy="1332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4" name="Рисунок 73">
            <a:extLst>
              <a:ext uri="{FF2B5EF4-FFF2-40B4-BE49-F238E27FC236}">
                <a16:creationId xmlns:a16="http://schemas.microsoft.com/office/drawing/2014/main" xmlns="" id="{5FB992A0-4C03-4DCF-9139-DC26524994B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5973" b="20315"/>
          <a:stretch/>
        </p:blipFill>
        <p:spPr>
          <a:xfrm>
            <a:off x="2610665" y="5532836"/>
            <a:ext cx="804340" cy="242747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9127257B-389F-491F-871E-B070006F1813}"/>
              </a:ext>
            </a:extLst>
          </p:cNvPr>
          <p:cNvSpPr txBox="1"/>
          <p:nvPr/>
        </p:nvSpPr>
        <p:spPr>
          <a:xfrm>
            <a:off x="2584208" y="5753999"/>
            <a:ext cx="1045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Зеркало</a:t>
            </a:r>
          </a:p>
        </p:txBody>
      </p:sp>
      <p:sp>
        <p:nvSpPr>
          <p:cNvPr id="76" name="Google Shape;129;p4">
            <a:extLst>
              <a:ext uri="{FF2B5EF4-FFF2-40B4-BE49-F238E27FC236}">
                <a16:creationId xmlns:a16="http://schemas.microsoft.com/office/drawing/2014/main" xmlns="" id="{7336519C-8DFF-4700-B8F3-ECB3A196A90D}"/>
              </a:ext>
            </a:extLst>
          </p:cNvPr>
          <p:cNvSpPr txBox="1"/>
          <p:nvPr/>
        </p:nvSpPr>
        <p:spPr>
          <a:xfrm>
            <a:off x="1357907" y="6064468"/>
            <a:ext cx="403819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 . 1. Качественная схема работы абсолютного атомного гравиметра.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125;p4">
            <a:extLst>
              <a:ext uri="{FF2B5EF4-FFF2-40B4-BE49-F238E27FC236}">
                <a16:creationId xmlns:a16="http://schemas.microsoft.com/office/drawing/2014/main" xmlns="" id="{0528E022-B0EE-44E1-9B9B-C44D66059416}"/>
              </a:ext>
            </a:extLst>
          </p:cNvPr>
          <p:cNvSpPr/>
          <p:nvPr/>
        </p:nvSpPr>
        <p:spPr>
          <a:xfrm>
            <a:off x="2504131" y="94718"/>
            <a:ext cx="6910755" cy="47118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гравиметра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126;p4">
            <a:extLst>
              <a:ext uri="{FF2B5EF4-FFF2-40B4-BE49-F238E27FC236}">
                <a16:creationId xmlns:a16="http://schemas.microsoft.com/office/drawing/2014/main" xmlns="" id="{8B71CD09-2C30-4A14-A5E6-945A3E41767C}"/>
              </a:ext>
            </a:extLst>
          </p:cNvPr>
          <p:cNvSpPr txBox="1"/>
          <p:nvPr/>
        </p:nvSpPr>
        <p:spPr>
          <a:xfrm>
            <a:off x="5770500" y="1251308"/>
            <a:ext cx="55833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гравиметра: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Загрузка атомов в магнитооптическую ловушку (МОЛ) с целью их захвата и охлаждения до низких температур.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Высвобождение облака атомов из МОЛ.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 атомов в </a:t>
            </a:r>
            <a:r>
              <a:rPr lang="ru-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немагнитном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квантовом состоянии.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Скоростная селекция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Реализация атомной интерференции.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Детектирование.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1229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72B87A89-7551-4824-8615-731759BBE0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</a:t>
            </a:fld>
            <a:endParaRPr lang="ru-RU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5CCDE318-2DE6-4106-93EA-036BD6D100DE}"/>
              </a:ext>
            </a:extLst>
          </p:cNvPr>
          <p:cNvCxnSpPr>
            <a:cxnSpLocks/>
          </p:cNvCxnSpPr>
          <p:nvPr/>
        </p:nvCxnSpPr>
        <p:spPr>
          <a:xfrm>
            <a:off x="4154408" y="5083310"/>
            <a:ext cx="1027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5E5DF398-F243-4F0E-A62C-4F6A89B7A350}"/>
              </a:ext>
            </a:extLst>
          </p:cNvPr>
          <p:cNvCxnSpPr>
            <a:cxnSpLocks/>
          </p:cNvCxnSpPr>
          <p:nvPr/>
        </p:nvCxnSpPr>
        <p:spPr>
          <a:xfrm>
            <a:off x="4154408" y="5490747"/>
            <a:ext cx="1027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20E5FCB-6802-41EE-AF1C-B93B53B6BC33}"/>
              </a:ext>
            </a:extLst>
          </p:cNvPr>
          <p:cNvSpPr txBox="1"/>
          <p:nvPr/>
        </p:nvSpPr>
        <p:spPr>
          <a:xfrm>
            <a:off x="3415369" y="5336858"/>
            <a:ext cx="827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6D517324-7FE5-4882-9426-F67C45D19FA7}"/>
              </a:ext>
            </a:extLst>
          </p:cNvPr>
          <p:cNvSpPr txBox="1"/>
          <p:nvPr/>
        </p:nvSpPr>
        <p:spPr>
          <a:xfrm>
            <a:off x="3415369" y="4904375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910418A-82E1-49CA-A1FD-09BAA9D7BC4F}"/>
              </a:ext>
            </a:extLst>
          </p:cNvPr>
          <p:cNvSpPr txBox="1"/>
          <p:nvPr/>
        </p:nvSpPr>
        <p:spPr>
          <a:xfrm>
            <a:off x="2783997" y="5119819"/>
            <a:ext cx="827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1/2</a:t>
            </a:r>
            <a:endParaRPr lang="ru-RU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xmlns="" id="{22406656-00BF-419E-A56D-FBDAA937C00F}"/>
              </a:ext>
            </a:extLst>
          </p:cNvPr>
          <p:cNvCxnSpPr>
            <a:cxnSpLocks/>
          </p:cNvCxnSpPr>
          <p:nvPr/>
        </p:nvCxnSpPr>
        <p:spPr>
          <a:xfrm>
            <a:off x="4154404" y="2620647"/>
            <a:ext cx="102719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6817A250-6EFC-4CA4-BB0B-65EF0D65C2C6}"/>
              </a:ext>
            </a:extLst>
          </p:cNvPr>
          <p:cNvSpPr txBox="1"/>
          <p:nvPr/>
        </p:nvSpPr>
        <p:spPr>
          <a:xfrm>
            <a:off x="3381520" y="2448345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0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xmlns="" id="{9720B3EC-F913-47F7-82EC-090481520512}"/>
              </a:ext>
            </a:extLst>
          </p:cNvPr>
          <p:cNvCxnSpPr>
            <a:cxnSpLocks/>
          </p:cNvCxnSpPr>
          <p:nvPr/>
        </p:nvCxnSpPr>
        <p:spPr>
          <a:xfrm>
            <a:off x="4154405" y="2247533"/>
            <a:ext cx="10271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21A83279-BFA3-48FB-94C3-37675D6209FE}"/>
              </a:ext>
            </a:extLst>
          </p:cNvPr>
          <p:cNvSpPr txBox="1"/>
          <p:nvPr/>
        </p:nvSpPr>
        <p:spPr>
          <a:xfrm>
            <a:off x="3381520" y="2088877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xmlns="" id="{0D20938D-A97A-4350-9A9A-73D363AE0AC3}"/>
              </a:ext>
            </a:extLst>
          </p:cNvPr>
          <p:cNvCxnSpPr>
            <a:cxnSpLocks/>
          </p:cNvCxnSpPr>
          <p:nvPr/>
        </p:nvCxnSpPr>
        <p:spPr>
          <a:xfrm>
            <a:off x="4154405" y="1891731"/>
            <a:ext cx="10271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7E18D490-C8D5-465B-A941-DDA6783F2AAF}"/>
              </a:ext>
            </a:extLst>
          </p:cNvPr>
          <p:cNvSpPr txBox="1"/>
          <p:nvPr/>
        </p:nvSpPr>
        <p:spPr>
          <a:xfrm>
            <a:off x="3381520" y="1740177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xmlns="" id="{989B3E6C-347C-4EC3-806D-2660834F8176}"/>
              </a:ext>
            </a:extLst>
          </p:cNvPr>
          <p:cNvCxnSpPr>
            <a:cxnSpLocks/>
          </p:cNvCxnSpPr>
          <p:nvPr/>
        </p:nvCxnSpPr>
        <p:spPr>
          <a:xfrm>
            <a:off x="4154405" y="1558586"/>
            <a:ext cx="10271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E1B80C94-7C79-4358-9A1D-8000FE71BBF4}"/>
              </a:ext>
            </a:extLst>
          </p:cNvPr>
          <p:cNvSpPr txBox="1"/>
          <p:nvPr/>
        </p:nvSpPr>
        <p:spPr>
          <a:xfrm>
            <a:off x="3366333" y="1404697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3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47A2DEED-DC62-49B3-814C-74DA5E975204}"/>
              </a:ext>
            </a:extLst>
          </p:cNvPr>
          <p:cNvSpPr txBox="1"/>
          <p:nvPr/>
        </p:nvSpPr>
        <p:spPr>
          <a:xfrm>
            <a:off x="2783997" y="1894065"/>
            <a:ext cx="827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3/2</a:t>
            </a:r>
            <a:endParaRPr lang="ru-RU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xmlns="" id="{23BC8F99-0400-4CAF-A9F0-56DD297FD78C}"/>
              </a:ext>
            </a:extLst>
          </p:cNvPr>
          <p:cNvCxnSpPr>
            <a:cxnSpLocks/>
          </p:cNvCxnSpPr>
          <p:nvPr/>
        </p:nvCxnSpPr>
        <p:spPr>
          <a:xfrm flipV="1">
            <a:off x="4241027" y="1908881"/>
            <a:ext cx="0" cy="356400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xmlns="" id="{C23A9834-42A3-48A4-8E9B-1611BC7F986B}"/>
              </a:ext>
            </a:extLst>
          </p:cNvPr>
          <p:cNvCxnSpPr>
            <a:endCxn id="21" idx="3"/>
          </p:cNvCxnSpPr>
          <p:nvPr/>
        </p:nvCxnSpPr>
        <p:spPr>
          <a:xfrm>
            <a:off x="4349620" y="1891731"/>
            <a:ext cx="0" cy="3166533"/>
          </a:xfrm>
          <a:prstGeom prst="straightConnector1">
            <a:avLst/>
          </a:prstGeom>
          <a:ln w="19050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xmlns="" id="{5997D986-A325-49F3-867E-49464F064411}"/>
              </a:ext>
            </a:extLst>
          </p:cNvPr>
          <p:cNvCxnSpPr>
            <a:cxnSpLocks/>
          </p:cNvCxnSpPr>
          <p:nvPr/>
        </p:nvCxnSpPr>
        <p:spPr>
          <a:xfrm flipV="1">
            <a:off x="4484914" y="1712474"/>
            <a:ext cx="0" cy="3345789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oogle Shape;175;p23">
            <a:extLst>
              <a:ext uri="{FF2B5EF4-FFF2-40B4-BE49-F238E27FC236}">
                <a16:creationId xmlns:a16="http://schemas.microsoft.com/office/drawing/2014/main" xmlns="" id="{17DC9342-B65E-41BC-BD77-0B6FB02AB970}"/>
              </a:ext>
            </a:extLst>
          </p:cNvPr>
          <p:cNvCxnSpPr>
            <a:cxnSpLocks/>
          </p:cNvCxnSpPr>
          <p:nvPr/>
        </p:nvCxnSpPr>
        <p:spPr>
          <a:xfrm>
            <a:off x="4484914" y="1558585"/>
            <a:ext cx="0" cy="15388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stealth" w="sm" len="sm"/>
            <a:tailEnd type="stealth" w="sm" len="sm"/>
          </a:ln>
        </p:spPr>
      </p:cxnSp>
      <p:sp>
        <p:nvSpPr>
          <p:cNvPr id="46" name="Google Shape;176;p23">
            <a:extLst>
              <a:ext uri="{FF2B5EF4-FFF2-40B4-BE49-F238E27FC236}">
                <a16:creationId xmlns:a16="http://schemas.microsoft.com/office/drawing/2014/main" xmlns="" id="{DAA8F91E-2DC0-4CCB-8E9A-95ED221A0A3A}"/>
              </a:ext>
            </a:extLst>
          </p:cNvPr>
          <p:cNvSpPr txBox="1"/>
          <p:nvPr/>
        </p:nvSpPr>
        <p:spPr>
          <a:xfrm>
            <a:off x="4444539" y="1496408"/>
            <a:ext cx="28919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xmlns="" id="{78F6B650-06F5-47DF-8E71-D3D068F3B22E}"/>
              </a:ext>
            </a:extLst>
          </p:cNvPr>
          <p:cNvCxnSpPr/>
          <p:nvPr/>
        </p:nvCxnSpPr>
        <p:spPr>
          <a:xfrm flipV="1">
            <a:off x="4603102" y="1908881"/>
            <a:ext cx="0" cy="3149382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xmlns="" id="{B742686C-22FA-449A-8DB3-14F561A4C974}"/>
              </a:ext>
            </a:extLst>
          </p:cNvPr>
          <p:cNvCxnSpPr/>
          <p:nvPr/>
        </p:nvCxnSpPr>
        <p:spPr>
          <a:xfrm>
            <a:off x="4733730" y="1908881"/>
            <a:ext cx="0" cy="3564000"/>
          </a:xfrm>
          <a:prstGeom prst="straightConnector1">
            <a:avLst/>
          </a:prstGeom>
          <a:ln w="19050">
            <a:solidFill>
              <a:schemeClr val="accent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>
            <a:extLst>
              <a:ext uri="{FF2B5EF4-FFF2-40B4-BE49-F238E27FC236}">
                <a16:creationId xmlns:a16="http://schemas.microsoft.com/office/drawing/2014/main" xmlns="" id="{0E231D11-077E-4866-8E6D-6574187C5101}"/>
              </a:ext>
            </a:extLst>
          </p:cNvPr>
          <p:cNvCxnSpPr/>
          <p:nvPr/>
        </p:nvCxnSpPr>
        <p:spPr>
          <a:xfrm>
            <a:off x="4889240" y="2620647"/>
            <a:ext cx="0" cy="2852234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xmlns="" id="{42AE88B1-2F98-4563-A269-6DD1248E1D59}"/>
              </a:ext>
            </a:extLst>
          </p:cNvPr>
          <p:cNvCxnSpPr/>
          <p:nvPr/>
        </p:nvCxnSpPr>
        <p:spPr>
          <a:xfrm flipV="1">
            <a:off x="5044750" y="5083310"/>
            <a:ext cx="0" cy="39600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556F8164-A9B7-49CA-A271-A84BA7A204FB}"/>
              </a:ext>
            </a:extLst>
          </p:cNvPr>
          <p:cNvSpPr txBox="1"/>
          <p:nvPr/>
        </p:nvSpPr>
        <p:spPr>
          <a:xfrm>
            <a:off x="2763320" y="3426485"/>
            <a:ext cx="15186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3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</a:t>
            </a:r>
            <a:endParaRPr lang="ru-RU" sz="3600" b="1" dirty="0"/>
          </a:p>
        </p:txBody>
      </p: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xmlns="" id="{FAC3F817-C946-4477-B336-35A6C976B726}"/>
              </a:ext>
            </a:extLst>
          </p:cNvPr>
          <p:cNvCxnSpPr/>
          <p:nvPr/>
        </p:nvCxnSpPr>
        <p:spPr>
          <a:xfrm>
            <a:off x="6345674" y="3038736"/>
            <a:ext cx="4789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>
            <a:extLst>
              <a:ext uri="{FF2B5EF4-FFF2-40B4-BE49-F238E27FC236}">
                <a16:creationId xmlns:a16="http://schemas.microsoft.com/office/drawing/2014/main" xmlns="" id="{2644F219-5B01-466C-B5A0-7CA19683D5C3}"/>
              </a:ext>
            </a:extLst>
          </p:cNvPr>
          <p:cNvCxnSpPr/>
          <p:nvPr/>
        </p:nvCxnSpPr>
        <p:spPr>
          <a:xfrm>
            <a:off x="6345673" y="3260999"/>
            <a:ext cx="47897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>
            <a:extLst>
              <a:ext uri="{FF2B5EF4-FFF2-40B4-BE49-F238E27FC236}">
                <a16:creationId xmlns:a16="http://schemas.microsoft.com/office/drawing/2014/main" xmlns="" id="{18E6020C-8550-4EDA-B364-F466A7546F5D}"/>
              </a:ext>
            </a:extLst>
          </p:cNvPr>
          <p:cNvCxnSpPr/>
          <p:nvPr/>
        </p:nvCxnSpPr>
        <p:spPr>
          <a:xfrm>
            <a:off x="6345673" y="3454505"/>
            <a:ext cx="478971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xmlns="" id="{C1FA5A2C-5AF7-4EC1-B65F-B002609E5B31}"/>
              </a:ext>
            </a:extLst>
          </p:cNvPr>
          <p:cNvCxnSpPr/>
          <p:nvPr/>
        </p:nvCxnSpPr>
        <p:spPr>
          <a:xfrm>
            <a:off x="6345671" y="3662640"/>
            <a:ext cx="47897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79">
            <a:extLst>
              <a:ext uri="{FF2B5EF4-FFF2-40B4-BE49-F238E27FC236}">
                <a16:creationId xmlns:a16="http://schemas.microsoft.com/office/drawing/2014/main" xmlns="" id="{6E27222D-8776-4AE0-9C5D-872881104A4B}"/>
              </a:ext>
            </a:extLst>
          </p:cNvPr>
          <p:cNvCxnSpPr/>
          <p:nvPr/>
        </p:nvCxnSpPr>
        <p:spPr>
          <a:xfrm>
            <a:off x="6345671" y="3879851"/>
            <a:ext cx="478971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xmlns="" id="{638ABE0B-2466-40B3-BD50-84935F2CB835}"/>
              </a:ext>
            </a:extLst>
          </p:cNvPr>
          <p:cNvSpPr txBox="1"/>
          <p:nvPr/>
        </p:nvSpPr>
        <p:spPr>
          <a:xfrm>
            <a:off x="6917094" y="2602233"/>
            <a:ext cx="378441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Легенда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Охлаждение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перекачка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1⟩ в ∣F = 2⟩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из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2⟩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1⟩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в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1, </a:t>
            </a:r>
            <a:r>
              <a:rPr 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 = 0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⟩ из ∣F = 1⟩ </a:t>
            </a:r>
            <a:endParaRPr lang="en-US" sz="1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СВЧ перекачка из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1⟩ в ∣F = 2⟩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  <a:p>
            <a:endParaRPr lang="ru-RU" dirty="0"/>
          </a:p>
        </p:txBody>
      </p:sp>
      <p:sp>
        <p:nvSpPr>
          <p:cNvPr id="82" name="Google Shape;166;p23">
            <a:extLst>
              <a:ext uri="{FF2B5EF4-FFF2-40B4-BE49-F238E27FC236}">
                <a16:creationId xmlns:a16="http://schemas.microsoft.com/office/drawing/2014/main" xmlns="" id="{6D297ADD-D5CE-42CB-98CE-E84170ED1773}"/>
              </a:ext>
            </a:extLst>
          </p:cNvPr>
          <p:cNvSpPr/>
          <p:nvPr/>
        </p:nvSpPr>
        <p:spPr>
          <a:xfrm>
            <a:off x="2541453" y="22789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Используемые переходы атома </a:t>
            </a:r>
            <a:r>
              <a:rPr lang="ru-RU" sz="2400" b="1" i="0" u="none" strike="noStrike" cap="none" baseline="3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80;p23">
            <a:extLst>
              <a:ext uri="{FF2B5EF4-FFF2-40B4-BE49-F238E27FC236}">
                <a16:creationId xmlns:a16="http://schemas.microsoft.com/office/drawing/2014/main" xmlns="" id="{BD28C63D-AF41-4980-BBD0-F20A7714BD55}"/>
              </a:ext>
            </a:extLst>
          </p:cNvPr>
          <p:cNvSpPr txBox="1"/>
          <p:nvPr/>
        </p:nvSpPr>
        <p:spPr>
          <a:xfrm>
            <a:off x="2714634" y="5803110"/>
            <a:ext cx="403819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Схема переходов, используемых в эксперименте.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92403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7A0E032A-E4F4-4CC1-9657-BB6FFE5A4A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</a:t>
            </a:fld>
            <a:endParaRPr lang="ru-RU"/>
          </a:p>
        </p:txBody>
      </p:sp>
      <p:sp>
        <p:nvSpPr>
          <p:cNvPr id="3" name="Google Shape;179;p23">
            <a:extLst>
              <a:ext uri="{FF2B5EF4-FFF2-40B4-BE49-F238E27FC236}">
                <a16:creationId xmlns:a16="http://schemas.microsoft.com/office/drawing/2014/main" xmlns="" id="{2E179253-D4AE-4831-935C-1868DD4633B1}"/>
              </a:ext>
            </a:extLst>
          </p:cNvPr>
          <p:cNvSpPr txBox="1"/>
          <p:nvPr/>
        </p:nvSpPr>
        <p:spPr>
          <a:xfrm>
            <a:off x="3386716" y="943692"/>
            <a:ext cx="4539639" cy="4470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охлаждения и пленения атомов использовалась частота, отстроенная от перехода ∣F = 2⟩ → ∣F’ = 3⟩ в длинноволновую область спектра на величину ~13 МГц.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осуществления оптической перекачки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в состояние ∣F =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⟩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использовался переход ∣F = 1⟩ → ∣F’ = 2⟩.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Для осуществления оптической накачки в состояние ∣F = 1⟩ использовался переход ∣F = 2⟩ → ∣F’ = 2⟩.</a:t>
            </a:r>
          </a:p>
          <a:p>
            <a:pPr marL="285750" lvl="0" indent="-285750">
              <a:spcBef>
                <a:spcPts val="300"/>
              </a:spcBef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Для подготовки атомов в немагнитное состояние ∣F = 1,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m = 0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⟩ использовался переход ∣F = 1⟩ → ∣F’ = 0⟩.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перекачки атомов из состояния ∣F = 1⟩  в ∣F = 2⟩</a:t>
            </a:r>
            <a:r>
              <a:rPr lang="en-US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с целью оценки эффективности оптической накачки</a:t>
            </a:r>
            <a:r>
              <a:rPr lang="ru-RU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использовалось СВЧ излучение на частоте часового перехода </a:t>
            </a:r>
            <a:r>
              <a:rPr lang="ru-RU" sz="1600" b="0" i="0" u="non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Rb.</a:t>
            </a:r>
            <a:endParaRPr sz="1600" b="0" i="0" u="non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1653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/>
          <p:nvPr/>
        </p:nvSpPr>
        <p:spPr>
          <a:xfrm>
            <a:off x="2504131" y="9471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Оптическая схема гравиметра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1779323" y="4722712"/>
            <a:ext cx="7968600" cy="18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180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Рис.3. Оптическая схема формирования лазерного излучения, используемого для лазерного охлаждения и пленения атомов рубидия и осуществления двухфотонных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рамановских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переходов в атомном интерферометре.  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180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AOM – акустооптический модулятор, EOM – электрооптический модулятор, ECDL – диодный лазер с внешним резонатором, λ/2 – полуволновая пластинка, λ/4 – четвертьволновая пластинка,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Iris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диафрагма, M – плоское зеркало, СM – сферическое зеркало,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lens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линза, OI – оптический изолятор Фарадея, PBS – поляризационный делительный кубик,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mpl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оптический усилитель,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частота модуляции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FFL –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цикл с заблокированной частотой,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PD –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быстрый фотодиод.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4B563F56-636A-4637-9331-B803C17D1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131" y="1054199"/>
            <a:ext cx="7243792" cy="35626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  <p:sp>
        <p:nvSpPr>
          <p:cNvPr id="200" name="Google Shape;200;p29"/>
          <p:cNvSpPr txBox="1"/>
          <p:nvPr/>
        </p:nvSpPr>
        <p:spPr>
          <a:xfrm>
            <a:off x="758897" y="712882"/>
            <a:ext cx="4913700" cy="3547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Оптическая схема формирования лазерного излучения, используемого для лазерного охлаждение и пленения атомов рубидия: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Выполнена на основе лазерной системы Toptica DL pro с выходной мощность более 1 Вт и длиной излучения около 780.24 нм.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формирования охлаждающих пучков излучение на выходе из лазерной системы дважды проходит через АОМ для создания отстройки, контролируемой во времени.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Перекачивающее излучение формировалось с помощью ЭОМ. Импульсы этого излучения формировались с помощью АОМ.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</a:t>
            </a: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Сдувающий» пучок формировался с помощью АОМ с частотой, равной частоте перехода </a:t>
            </a:r>
            <a:r>
              <a:rPr lang="ru-RU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∣F = 2⟩ → ∣F’ = 3⟩</a:t>
            </a: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9"/>
          <p:cNvSpPr txBox="1"/>
          <p:nvPr/>
        </p:nvSpPr>
        <p:spPr>
          <a:xfrm>
            <a:off x="1050947" y="4137012"/>
            <a:ext cx="4329600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Преимущества данной схемы по сравнению с предыдущей установкой:</a:t>
            </a:r>
            <a:b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возможность независимого контроля частоты охлаждающего/перекачивающего и т.д. излучения;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АОМ в схеме стабилизации частоты: отсутствие паразитной частотной модуляции в излучении лазера, отсутствие паразитной амплитудной модуляции пробного пучка = улучшена эффективность стабилизации частоты.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Исключен волоконный смеситель, приводящий к паразитным флуктуациям в поляризации охлаждающих пучков.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7030619" y="-17106"/>
            <a:ext cx="55797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Также справа представлена схема формирования лазерного излучения, используемая для осуществления двухфотонных Рамановских переходов в атомном интерферометре.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9"/>
          <p:cNvSpPr txBox="1"/>
          <p:nvPr/>
        </p:nvSpPr>
        <p:spPr>
          <a:xfrm>
            <a:off x="465550" y="0"/>
            <a:ext cx="6096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Была разработана и реализована оптическая схема формирования лазерного излучения, используемого для лазерного охлаждения и пленения атомов рубидия, в чем я принимал свое непосредственное участие.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9"/>
          <p:cNvSpPr txBox="1"/>
          <p:nvPr/>
        </p:nvSpPr>
        <p:spPr>
          <a:xfrm>
            <a:off x="6926419" y="861282"/>
            <a:ext cx="4506684" cy="418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оптической схеме b излучение рамановского пучка I1 с частотой излучения ω1 генерировалось волоконной лазерной системой: лазер Precilasers с λ = 1560 нм; усилитель/удвоитель частоты EYLSA Keopsys).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Излучение пучка I2 с частотой ω2 формировалось спомощью фазового электрооптического модулятора (ЭОМ) - положительная полоса первого порядка. Отношение интенсивностей рамановских пучков I1/I2 и отстройка δω контролируется мощностью и частотой СВЧ-генератора соответственно.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Импульсы рамановского излучения формировались с помощью акустооптического модулятора (АОМ) и доставлялись к вакуумной камере через одномодовое волокно и колиматор с сохранением поляризации.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1953208" y="5316316"/>
            <a:ext cx="8192278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4. Трехмерная модель экспериментальной установки. На рисунке представлены: вакуумная камера, три пары компенсационных магнитных катушек, охлаждающие лазерные пучки (розовые),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рамановские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пучки (фиолетовые), пробный пучок (жёлтый), оптика (коллиматоры,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зеркала,линзы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и видеокамера. На рисунке не показаны четвертьволновые пластинки и катушка анти-Гельмгольца(фронтальная сторона)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2"/>
          <p:cNvSpPr/>
          <p:nvPr/>
        </p:nvSpPr>
        <p:spPr>
          <a:xfrm>
            <a:off x="2448148" y="-30071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Экспериментальная установка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1433" y="782703"/>
            <a:ext cx="8824184" cy="4447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  <p:sp>
        <p:nvSpPr>
          <p:cNvPr id="160" name="Google Shape;160;p27"/>
          <p:cNvSpPr txBox="1"/>
          <p:nvPr/>
        </p:nvSpPr>
        <p:spPr>
          <a:xfrm>
            <a:off x="3347656" y="1166400"/>
            <a:ext cx="5628000" cy="319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Гравиметр состоит из: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Вакуумной камеры в форме октагон, с 10 окнами для ввода излучения.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Трёх пар взаимно ортогональных встречных пучков с круговой поляризацией, осуществляющих охлаждение и пленение атомов, а также вместе с охлаждающими пучками в вакуумную камеру попадает излучение накачки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Внешних катушек в конфигурации анти-Гельмгольца, создающих квадрупольное магнитное поле для работы МОТ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Наружных катушек, компенсирующих остаточное магнитное поле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Рамановского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пучка, используемого для селекции атомов по состояниям, скоростям, и для интерферометрии.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Видеокамеры, используемой для регистрации излучения.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4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26836" y="1402318"/>
            <a:ext cx="3422469" cy="349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A60FC236-512A-4E30-90F3-1F06253DE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280" y="1402318"/>
            <a:ext cx="5013556" cy="3674402"/>
          </a:xfrm>
          <a:prstGeom prst="rect">
            <a:avLst/>
          </a:prstGeom>
        </p:spPr>
      </p:pic>
      <p:sp>
        <p:nvSpPr>
          <p:cNvPr id="209" name="Google Shape;20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12</a:t>
            </a:fld>
            <a:endParaRPr dirty="0"/>
          </a:p>
        </p:txBody>
      </p:sp>
      <p:sp>
        <p:nvSpPr>
          <p:cNvPr id="210" name="Google Shape;210;p30"/>
          <p:cNvSpPr/>
          <p:nvPr/>
        </p:nvSpPr>
        <p:spPr>
          <a:xfrm>
            <a:off x="2504131" y="94717"/>
            <a:ext cx="6910755" cy="8694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Измерение неоднородности магнитного поля</a:t>
            </a:r>
            <a:endParaRPr sz="24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30"/>
          <p:cNvSpPr txBox="1"/>
          <p:nvPr/>
        </p:nvSpPr>
        <p:spPr>
          <a:xfrm>
            <a:off x="549327" y="4964297"/>
            <a:ext cx="26780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Изображение с камеры.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4097506" y="4966802"/>
            <a:ext cx="432958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Зависимость сигнала от частоты для одного из блоков пикселей видеокамеры.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3" name="Google Shape;213;p30"/>
          <p:cNvPicPr preferRelativeResize="0"/>
          <p:nvPr/>
        </p:nvPicPr>
        <p:blipFill rotWithShape="1">
          <a:blip r:embed="rId5">
            <a:alphaModFix/>
          </a:blip>
          <a:srcRect l="42877" t="43810" r="37156" b="27255"/>
          <a:stretch/>
        </p:blipFill>
        <p:spPr>
          <a:xfrm>
            <a:off x="595344" y="1866563"/>
            <a:ext cx="2457450" cy="267114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0"/>
          <p:cNvSpPr/>
          <p:nvPr/>
        </p:nvSpPr>
        <p:spPr>
          <a:xfrm>
            <a:off x="789649" y="2240109"/>
            <a:ext cx="1924050" cy="192405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1933207" y="2835887"/>
            <a:ext cx="236391" cy="236391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0"/>
          <p:cNvSpPr/>
          <p:nvPr/>
        </p:nvSpPr>
        <p:spPr>
          <a:xfrm>
            <a:off x="11153782" y="2699382"/>
            <a:ext cx="323714" cy="363778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0"/>
          <p:cNvSpPr txBox="1"/>
          <p:nvPr/>
        </p:nvSpPr>
        <p:spPr>
          <a:xfrm>
            <a:off x="8936421" y="4958488"/>
            <a:ext cx="2345469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Магнитное поле установки в центре вакуумной камеры.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p30"/>
          <p:cNvCxnSpPr>
            <a:cxnSpLocks/>
            <a:stCxn id="221" idx="1"/>
            <a:endCxn id="217" idx="1"/>
          </p:cNvCxnSpPr>
          <p:nvPr/>
        </p:nvCxnSpPr>
        <p:spPr>
          <a:xfrm rot="16200000" flipH="1">
            <a:off x="8897075" y="624565"/>
            <a:ext cx="230178" cy="4283235"/>
          </a:xfrm>
          <a:prstGeom prst="curvedConnector4">
            <a:avLst>
              <a:gd name="adj1" fmla="val -99314"/>
              <a:gd name="adj2" fmla="val 51449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1" name="Google Shape;221;p30"/>
          <p:cNvSpPr/>
          <p:nvPr/>
        </p:nvSpPr>
        <p:spPr>
          <a:xfrm rot="5400000">
            <a:off x="6739979" y="2199946"/>
            <a:ext cx="254703" cy="1156996"/>
          </a:xfrm>
          <a:prstGeom prst="leftBrace">
            <a:avLst>
              <a:gd name="adj1" fmla="val 68023"/>
              <a:gd name="adj2" fmla="val 49722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" name="Google Shape;222;p30"/>
          <p:cNvCxnSpPr/>
          <p:nvPr/>
        </p:nvCxnSpPr>
        <p:spPr>
          <a:xfrm rot="10800000" flipH="1">
            <a:off x="2220686" y="2699382"/>
            <a:ext cx="1441200" cy="254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  <p:sp>
        <p:nvSpPr>
          <p:cNvPr id="228" name="Google Shape;228;p31"/>
          <p:cNvSpPr txBox="1"/>
          <p:nvPr/>
        </p:nvSpPr>
        <p:spPr>
          <a:xfrm>
            <a:off x="2946919" y="136525"/>
            <a:ext cx="5886734" cy="590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Градиент магнитного поля приводит к снижению эффективности лазерного охлаждения и уменьшение контраста сигнала атомного интерферометра.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градиент магнитного поля также оказывает сильной влияние близкое расположение ионного насоса к вакуумной камере.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Также для эксперимента по измерению градиента магнитного поля производилась регистрация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магнитодипольных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переходов между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Зеемановских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подуровней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сверхтоного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расщепления основного состояния 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∣F = 1,2⟩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 счет сканирования отстройки частоты 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СВЧ излучения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от частоты часового перехода в атоме 87Rb. Видимое контролируемое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Зеемановское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расщепление создавалось постоянным магнитным полем компенсационных катушек.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Регистрация резонансов происходила путём измерения оптической плотность атомов в ∣F = 2⟩ методом флуоресценции. 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Величина постоянного магнитного поля, создаваемого компенсационными катушками, и диапазон СВЧ сканирования подбирались так, чтобы регистрировать только три линии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Зеемановского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расщепления – основную немагнитную и две боковые.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 значение частотного расщепления резонансов можно определить величину магнитного поля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пространственного измерения градиента магнитного поля использовался сигнал с каждого пикселя видеокамеры, и для увеличения точности пиксели объединялись в блоки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подсчёта величины магнитного поля и градиента магнитного поля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мной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 научным руководством была написана программа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  <p:sp>
        <p:nvSpPr>
          <p:cNvPr id="235" name="Google Shape;235;p32"/>
          <p:cNvSpPr/>
          <p:nvPr/>
        </p:nvSpPr>
        <p:spPr>
          <a:xfrm>
            <a:off x="2504131" y="94717"/>
            <a:ext cx="6910755" cy="8694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Результаты измерений и корректировки градиента магнитного поля</a:t>
            </a:r>
            <a:endParaRPr sz="24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32"/>
          <p:cNvSpPr txBox="1"/>
          <p:nvPr/>
        </p:nvSpPr>
        <p:spPr>
          <a:xfrm>
            <a:off x="148381" y="5398076"/>
            <a:ext cx="76323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центре вакуумной камеры магнитное поле не однородное.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Было продемонстрировано уменьшение неоднородности магнитного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поля.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dirty="0">
                <a:latin typeface="Times New Roman"/>
                <a:cs typeface="Times New Roman"/>
                <a:sym typeface="Times New Roman"/>
              </a:rPr>
              <a:t>Уменьшение неоднородности магнитного поля оказало положительный эффект на эффективность охлаждения,</a:t>
            </a:r>
            <a:r>
              <a:rPr lang="en-US" sz="1600" dirty="0">
                <a:latin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cs typeface="Times New Roman"/>
                <a:sym typeface="Times New Roman"/>
              </a:rPr>
              <a:t>А также и на шум в атомном интерферометре, что планируется экспериментально проверить в дальнейшем.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2"/>
          <p:cNvSpPr txBox="1"/>
          <p:nvPr/>
        </p:nvSpPr>
        <p:spPr>
          <a:xfrm>
            <a:off x="523409" y="4459673"/>
            <a:ext cx="291847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Магнитное поле и линии уровня при отсутствии ионного насоса и компенсации.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2"/>
          <p:cNvSpPr txBox="1"/>
          <p:nvPr/>
        </p:nvSpPr>
        <p:spPr>
          <a:xfrm>
            <a:off x="1119639" y="1018142"/>
            <a:ext cx="22107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Градиент  2.6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мГс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/мм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4870869" y="1016138"/>
            <a:ext cx="22107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Градиент 2.4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мГс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/мм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4207305" y="4359346"/>
            <a:ext cx="2918471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1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Магнитное поле и линии уровня при работе ионного насоса и использование постоянного компенсационного магнита.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5919" y="1323915"/>
            <a:ext cx="3319944" cy="3152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445" y="1325661"/>
            <a:ext cx="3422469" cy="3152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86201" y="1323915"/>
            <a:ext cx="3428695" cy="3152733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2"/>
          <p:cNvSpPr txBox="1"/>
          <p:nvPr/>
        </p:nvSpPr>
        <p:spPr>
          <a:xfrm>
            <a:off x="8383037" y="1016138"/>
            <a:ext cx="22107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Градиент  1.3 </a:t>
            </a:r>
            <a:r>
              <a:rPr lang="ru-RU" sz="1400" b="0" i="0" u="none" strike="noStrike" cap="none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мГс</a:t>
            </a:r>
            <a:r>
              <a:rPr lang="ru-RU" sz="1400" b="0" i="0" u="none" strike="noStrike" cap="none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/мм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49" name="Google Shape;249;p32"/>
          <p:cNvSpPr txBox="1"/>
          <p:nvPr/>
        </p:nvSpPr>
        <p:spPr>
          <a:xfrm>
            <a:off x="7891201" y="4359346"/>
            <a:ext cx="3194458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1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Магнитное поле и линии уровня при работе ионного насоса, использовании постоянных компенсационных магнитов и при корректировки магнитного поля компенсационных катушек.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C872C99A-3050-4DEF-BC91-EFF3798074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8369" y="701919"/>
            <a:ext cx="1074233" cy="48222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3FEC67FD-7724-4E8B-89C8-80630CB2D9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15</a:t>
            </a:fld>
            <a:endParaRPr lang="ru-RU"/>
          </a:p>
        </p:txBody>
      </p:sp>
      <p:sp>
        <p:nvSpPr>
          <p:cNvPr id="3" name="Google Shape;235;p32">
            <a:extLst>
              <a:ext uri="{FF2B5EF4-FFF2-40B4-BE49-F238E27FC236}">
                <a16:creationId xmlns:a16="http://schemas.microsoft.com/office/drawing/2014/main" xmlns="" id="{E943C429-4871-4ABB-BA3B-7000312C6F47}"/>
              </a:ext>
            </a:extLst>
          </p:cNvPr>
          <p:cNvSpPr/>
          <p:nvPr/>
        </p:nvSpPr>
        <p:spPr>
          <a:xfrm>
            <a:off x="2504131" y="94717"/>
            <a:ext cx="6910755" cy="8694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 измерения</a:t>
            </a:r>
            <a:r>
              <a:rPr lang="en-US" sz="2400" b="1" i="0" u="none" strike="noStrike" cap="none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b="1" i="0" u="none" strike="noStrike" cap="none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температуры </a:t>
            </a:r>
            <a:r>
              <a:rPr lang="ru-RU" sz="2400" b="1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после</a:t>
            </a:r>
            <a:r>
              <a:rPr lang="ru-RU" sz="2400" b="1" i="0" u="none" strike="noStrike" cap="none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корректировки градиента магнитного поля</a:t>
            </a:r>
            <a:endParaRPr sz="24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20CA7B74-B17B-4554-8912-2A5FB512E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500" y="1902056"/>
            <a:ext cx="2250319" cy="79423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61523788-2657-427A-AB3B-514DC87F4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48" y="1304109"/>
            <a:ext cx="6182031" cy="4493312"/>
          </a:xfrm>
          <a:prstGeom prst="rect">
            <a:avLst/>
          </a:prstGeom>
        </p:spPr>
      </p:pic>
      <p:sp>
        <p:nvSpPr>
          <p:cNvPr id="15" name="Google Shape;239;p32">
            <a:extLst>
              <a:ext uri="{FF2B5EF4-FFF2-40B4-BE49-F238E27FC236}">
                <a16:creationId xmlns:a16="http://schemas.microsoft.com/office/drawing/2014/main" xmlns="" id="{F1B9D5E0-C8C1-45FF-ABEC-46AD5018AC39}"/>
              </a:ext>
            </a:extLst>
          </p:cNvPr>
          <p:cNvSpPr txBox="1"/>
          <p:nvPr/>
        </p:nvSpPr>
        <p:spPr>
          <a:xfrm>
            <a:off x="2007527" y="5946711"/>
            <a:ext cx="2918471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Данные измерения температуры после </a:t>
            </a:r>
            <a:r>
              <a:rPr lang="ru-RU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субдоплеровского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охлаждения.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3358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>
          <a:xfrm>
            <a:off x="8549006" y="6336921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16</a:t>
            </a:fld>
            <a:endParaRPr lang="ru-RU" dirty="0"/>
          </a:p>
        </p:txBody>
      </p:sp>
      <p:sp>
        <p:nvSpPr>
          <p:cNvPr id="3" name="Google Shape;153;p22"/>
          <p:cNvSpPr/>
          <p:nvPr/>
        </p:nvSpPr>
        <p:spPr>
          <a:xfrm>
            <a:off x="2477137" y="31169"/>
            <a:ext cx="6910755" cy="68456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Методы подготовки атомов в немагнитном квантовое состояние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01746" y="1383643"/>
            <a:ext cx="1934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оптического и СВЧ излучения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2795" y="4380523"/>
            <a:ext cx="14118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в немагнитное состояние</a:t>
            </a:r>
          </a:p>
        </p:txBody>
      </p:sp>
      <p:cxnSp>
        <p:nvCxnSpPr>
          <p:cNvPr id="30" name="Прямая соединительная линия 29"/>
          <p:cNvCxnSpPr/>
          <p:nvPr/>
        </p:nvCxnSpPr>
        <p:spPr>
          <a:xfrm>
            <a:off x="6098357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/>
          <p:nvPr/>
        </p:nvCxnSpPr>
        <p:spPr>
          <a:xfrm>
            <a:off x="6607808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>
            <a:off x="7140071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7661546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>
            <a:off x="8175351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/>
          <p:nvPr/>
        </p:nvCxnSpPr>
        <p:spPr>
          <a:xfrm>
            <a:off x="6607808" y="2429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/>
        </p:nvCxnSpPr>
        <p:spPr>
          <a:xfrm>
            <a:off x="7140071" y="2429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>
            <a:off x="7657192" y="2429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88608" y="1661936"/>
            <a:ext cx="1384663" cy="30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388608" y="2275491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049671" y="2496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6466196" y="2496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7590837" y="2496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7049671" y="139830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7590836" y="139830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6508506" y="139770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8132001" y="1397702"/>
            <a:ext cx="541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m=2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5977052" y="1397701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m=-2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5727112" y="884269"/>
            <a:ext cx="2675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100"/>
            </a:pP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Перекачка в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1, </a:t>
            </a:r>
            <a:r>
              <a:rPr lang="en-US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 = 0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⟩ из ∣F = </a:t>
            </a:r>
            <a:r>
              <a:rPr lang="en-US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2, m=0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⟩</a:t>
            </a: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СВЧ излучением</a:t>
            </a:r>
          </a:p>
        </p:txBody>
      </p:sp>
      <p:cxnSp>
        <p:nvCxnSpPr>
          <p:cNvPr id="56" name="Прямая со стрелкой 55">
            <a:extLst>
              <a:ext uri="{FF2B5EF4-FFF2-40B4-BE49-F238E27FC236}">
                <a16:creationId xmlns:a16="http://schemas.microsoft.com/office/drawing/2014/main" xmlns="" id="{9E732432-0FE8-4ED2-905F-57EE8FF88059}"/>
              </a:ext>
            </a:extLst>
          </p:cNvPr>
          <p:cNvCxnSpPr>
            <a:cxnSpLocks/>
          </p:cNvCxnSpPr>
          <p:nvPr/>
        </p:nvCxnSpPr>
        <p:spPr>
          <a:xfrm>
            <a:off x="7305534" y="1930003"/>
            <a:ext cx="585" cy="4010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5" name="Овал 84"/>
          <p:cNvSpPr/>
          <p:nvPr/>
        </p:nvSpPr>
        <p:spPr>
          <a:xfrm>
            <a:off x="6173806" y="1734267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86" name="Овал 85"/>
          <p:cNvSpPr/>
          <p:nvPr/>
        </p:nvSpPr>
        <p:spPr>
          <a:xfrm>
            <a:off x="6690792" y="1739941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87" name="Овал 86"/>
          <p:cNvSpPr/>
          <p:nvPr/>
        </p:nvSpPr>
        <p:spPr>
          <a:xfrm>
            <a:off x="7741683" y="1741688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88" name="Овал 87"/>
          <p:cNvSpPr/>
          <p:nvPr/>
        </p:nvSpPr>
        <p:spPr>
          <a:xfrm>
            <a:off x="8258669" y="1729857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97" name="Прямая соединительная линия 96"/>
          <p:cNvCxnSpPr/>
          <p:nvPr/>
        </p:nvCxnSpPr>
        <p:spPr>
          <a:xfrm>
            <a:off x="9080229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Прямая соединительная линия 97"/>
          <p:cNvCxnSpPr/>
          <p:nvPr/>
        </p:nvCxnSpPr>
        <p:spPr>
          <a:xfrm>
            <a:off x="9589680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Прямая соединительная линия 98"/>
          <p:cNvCxnSpPr/>
          <p:nvPr/>
        </p:nvCxnSpPr>
        <p:spPr>
          <a:xfrm>
            <a:off x="10121943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Прямая соединительная линия 99"/>
          <p:cNvCxnSpPr/>
          <p:nvPr/>
        </p:nvCxnSpPr>
        <p:spPr>
          <a:xfrm>
            <a:off x="10643418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Прямая соединительная линия 100"/>
          <p:cNvCxnSpPr/>
          <p:nvPr/>
        </p:nvCxnSpPr>
        <p:spPr>
          <a:xfrm>
            <a:off x="11157223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2" name="Прямая соединительная линия 101"/>
          <p:cNvCxnSpPr/>
          <p:nvPr/>
        </p:nvCxnSpPr>
        <p:spPr>
          <a:xfrm>
            <a:off x="9589680" y="2429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Прямая соединительная линия 102"/>
          <p:cNvCxnSpPr/>
          <p:nvPr/>
        </p:nvCxnSpPr>
        <p:spPr>
          <a:xfrm>
            <a:off x="10121943" y="2429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" name="Прямая соединительная линия 103"/>
          <p:cNvCxnSpPr/>
          <p:nvPr/>
        </p:nvCxnSpPr>
        <p:spPr>
          <a:xfrm>
            <a:off x="10639064" y="2429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10031543" y="2496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08" name="TextBox 107"/>
          <p:cNvSpPr txBox="1"/>
          <p:nvPr/>
        </p:nvSpPr>
        <p:spPr>
          <a:xfrm>
            <a:off x="9448068" y="2496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09" name="TextBox 108"/>
          <p:cNvSpPr txBox="1"/>
          <p:nvPr/>
        </p:nvSpPr>
        <p:spPr>
          <a:xfrm>
            <a:off x="10572709" y="2496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10" name="TextBox 109"/>
          <p:cNvSpPr txBox="1"/>
          <p:nvPr/>
        </p:nvSpPr>
        <p:spPr>
          <a:xfrm>
            <a:off x="10031543" y="139830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11" name="TextBox 110"/>
          <p:cNvSpPr txBox="1"/>
          <p:nvPr/>
        </p:nvSpPr>
        <p:spPr>
          <a:xfrm>
            <a:off x="10572708" y="139830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12" name="TextBox 111"/>
          <p:cNvSpPr txBox="1"/>
          <p:nvPr/>
        </p:nvSpPr>
        <p:spPr>
          <a:xfrm>
            <a:off x="9490378" y="139770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13" name="TextBox 112"/>
          <p:cNvSpPr txBox="1"/>
          <p:nvPr/>
        </p:nvSpPr>
        <p:spPr>
          <a:xfrm>
            <a:off x="11113873" y="1397702"/>
            <a:ext cx="541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m=2</a:t>
            </a:r>
            <a:endParaRPr lang="ru-RU" dirty="0"/>
          </a:p>
        </p:txBody>
      </p:sp>
      <p:sp>
        <p:nvSpPr>
          <p:cNvPr id="114" name="TextBox 113"/>
          <p:cNvSpPr txBox="1"/>
          <p:nvPr/>
        </p:nvSpPr>
        <p:spPr>
          <a:xfrm>
            <a:off x="8958924" y="1397701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m=-2</a:t>
            </a:r>
            <a:endParaRPr lang="ru-RU" dirty="0"/>
          </a:p>
        </p:txBody>
      </p:sp>
      <p:sp>
        <p:nvSpPr>
          <p:cNvPr id="115" name="TextBox 114"/>
          <p:cNvSpPr txBox="1"/>
          <p:nvPr/>
        </p:nvSpPr>
        <p:spPr>
          <a:xfrm>
            <a:off x="8698219" y="882914"/>
            <a:ext cx="3178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100"/>
            </a:pP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Удаление </a:t>
            </a:r>
            <a:r>
              <a:rPr lang="ru-RU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атомов в состояни</a:t>
            </a: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и</a:t>
            </a:r>
            <a:r>
              <a:rPr lang="ru-RU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F=2</a:t>
            </a:r>
            <a:r>
              <a:rPr lang="ru-RU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оптическим излучением</a:t>
            </a:r>
            <a:endParaRPr lang="ru-RU" b="1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7" name="Овал 116"/>
          <p:cNvSpPr/>
          <p:nvPr/>
        </p:nvSpPr>
        <p:spPr>
          <a:xfrm>
            <a:off x="9155678" y="1734267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18" name="Овал 117"/>
          <p:cNvSpPr/>
          <p:nvPr/>
        </p:nvSpPr>
        <p:spPr>
          <a:xfrm>
            <a:off x="9672664" y="1739941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19" name="Овал 118"/>
          <p:cNvSpPr/>
          <p:nvPr/>
        </p:nvSpPr>
        <p:spPr>
          <a:xfrm>
            <a:off x="10723555" y="1741688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20" name="Овал 119"/>
          <p:cNvSpPr/>
          <p:nvPr/>
        </p:nvSpPr>
        <p:spPr>
          <a:xfrm>
            <a:off x="11240541" y="1729857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21" name="Овал 120"/>
          <p:cNvSpPr/>
          <p:nvPr/>
        </p:nvSpPr>
        <p:spPr>
          <a:xfrm>
            <a:off x="10205909" y="2342694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127" name="Прямая со стрелкой 126"/>
          <p:cNvCxnSpPr/>
          <p:nvPr/>
        </p:nvCxnSpPr>
        <p:spPr>
          <a:xfrm flipH="1" flipV="1">
            <a:off x="9146390" y="1641025"/>
            <a:ext cx="172998" cy="268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Прямая со стрелкой 127"/>
          <p:cNvCxnSpPr/>
          <p:nvPr/>
        </p:nvCxnSpPr>
        <p:spPr>
          <a:xfrm flipH="1" flipV="1">
            <a:off x="9662836" y="1644087"/>
            <a:ext cx="172998" cy="268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Прямая со стрелкой 128"/>
          <p:cNvCxnSpPr/>
          <p:nvPr/>
        </p:nvCxnSpPr>
        <p:spPr>
          <a:xfrm flipH="1" flipV="1">
            <a:off x="10702531" y="1650757"/>
            <a:ext cx="172998" cy="268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Прямая со стрелкой 129"/>
          <p:cNvCxnSpPr/>
          <p:nvPr/>
        </p:nvCxnSpPr>
        <p:spPr>
          <a:xfrm flipH="1" flipV="1">
            <a:off x="11229533" y="1641025"/>
            <a:ext cx="172998" cy="268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Прямая соединительная линия 140">
            <a:extLst>
              <a:ext uri="{FF2B5EF4-FFF2-40B4-BE49-F238E27FC236}">
                <a16:creationId xmlns:a16="http://schemas.microsoft.com/office/drawing/2014/main" xmlns="" id="{0D20938D-A97A-4350-9A9A-73D363AE0AC3}"/>
              </a:ext>
            </a:extLst>
          </p:cNvPr>
          <p:cNvCxnSpPr>
            <a:cxnSpLocks/>
          </p:cNvCxnSpPr>
          <p:nvPr/>
        </p:nvCxnSpPr>
        <p:spPr>
          <a:xfrm>
            <a:off x="6277081" y="4217766"/>
            <a:ext cx="180937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xmlns="" id="{7E18D490-C8D5-465B-A941-DDA6783F2AAF}"/>
              </a:ext>
            </a:extLst>
          </p:cNvPr>
          <p:cNvSpPr txBox="1"/>
          <p:nvPr/>
        </p:nvSpPr>
        <p:spPr>
          <a:xfrm>
            <a:off x="5292040" y="4060864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xmlns="" id="{47A2DEED-DC62-49B3-814C-74DA5E975204}"/>
              </a:ext>
            </a:extLst>
          </p:cNvPr>
          <p:cNvSpPr txBox="1"/>
          <p:nvPr/>
        </p:nvSpPr>
        <p:spPr>
          <a:xfrm>
            <a:off x="11146141" y="2508231"/>
            <a:ext cx="827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3/2</a:t>
            </a:r>
            <a:endParaRPr lang="ru-RU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7" name="Прямая со стрелкой 156"/>
          <p:cNvCxnSpPr/>
          <p:nvPr/>
        </p:nvCxnSpPr>
        <p:spPr>
          <a:xfrm flipH="1" flipV="1">
            <a:off x="7217809" y="4279983"/>
            <a:ext cx="7639" cy="8362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Прямая со стрелкой 158"/>
          <p:cNvCxnSpPr/>
          <p:nvPr/>
        </p:nvCxnSpPr>
        <p:spPr>
          <a:xfrm>
            <a:off x="7494268" y="4279983"/>
            <a:ext cx="0" cy="1506714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Прямоугольник 159"/>
          <p:cNvSpPr/>
          <p:nvPr/>
        </p:nvSpPr>
        <p:spPr>
          <a:xfrm>
            <a:off x="5313547" y="3593031"/>
            <a:ext cx="34115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из 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2⟩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1⟩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1" name="Прямая соединительная линия 160"/>
          <p:cNvCxnSpPr/>
          <p:nvPr/>
        </p:nvCxnSpPr>
        <p:spPr>
          <a:xfrm>
            <a:off x="6001789" y="5277008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2" name="Прямая соединительная линия 161"/>
          <p:cNvCxnSpPr/>
          <p:nvPr/>
        </p:nvCxnSpPr>
        <p:spPr>
          <a:xfrm>
            <a:off x="6511240" y="5277008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" name="Прямая соединительная линия 162"/>
          <p:cNvCxnSpPr/>
          <p:nvPr/>
        </p:nvCxnSpPr>
        <p:spPr>
          <a:xfrm>
            <a:off x="7043503" y="5277008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Прямая соединительная линия 163"/>
          <p:cNvCxnSpPr/>
          <p:nvPr/>
        </p:nvCxnSpPr>
        <p:spPr>
          <a:xfrm>
            <a:off x="7564978" y="5277008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Прямая соединительная линия 164"/>
          <p:cNvCxnSpPr/>
          <p:nvPr/>
        </p:nvCxnSpPr>
        <p:spPr>
          <a:xfrm>
            <a:off x="8078783" y="5277008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6" name="Прямая соединительная линия 165"/>
          <p:cNvCxnSpPr/>
          <p:nvPr/>
        </p:nvCxnSpPr>
        <p:spPr>
          <a:xfrm>
            <a:off x="6511240" y="5890963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7" name="Прямая соединительная линия 166"/>
          <p:cNvCxnSpPr/>
          <p:nvPr/>
        </p:nvCxnSpPr>
        <p:spPr>
          <a:xfrm>
            <a:off x="7043503" y="5890963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8" name="Прямая соединительная линия 167"/>
          <p:cNvCxnSpPr/>
          <p:nvPr/>
        </p:nvCxnSpPr>
        <p:spPr>
          <a:xfrm>
            <a:off x="7560624" y="5890963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5292040" y="5123519"/>
            <a:ext cx="1384663" cy="30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5292040" y="5737074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6953103" y="595776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72" name="TextBox 171"/>
          <p:cNvSpPr txBox="1"/>
          <p:nvPr/>
        </p:nvSpPr>
        <p:spPr>
          <a:xfrm>
            <a:off x="6369628" y="595776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73" name="TextBox 172"/>
          <p:cNvSpPr txBox="1"/>
          <p:nvPr/>
        </p:nvSpPr>
        <p:spPr>
          <a:xfrm>
            <a:off x="7494269" y="595776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74" name="TextBox 173"/>
          <p:cNvSpPr txBox="1"/>
          <p:nvPr/>
        </p:nvSpPr>
        <p:spPr>
          <a:xfrm>
            <a:off x="6935445" y="527646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75" name="TextBox 174"/>
          <p:cNvSpPr txBox="1"/>
          <p:nvPr/>
        </p:nvSpPr>
        <p:spPr>
          <a:xfrm>
            <a:off x="7494268" y="485988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76" name="TextBox 175"/>
          <p:cNvSpPr txBox="1"/>
          <p:nvPr/>
        </p:nvSpPr>
        <p:spPr>
          <a:xfrm>
            <a:off x="6411938" y="4859286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77" name="TextBox 176"/>
          <p:cNvSpPr txBox="1"/>
          <p:nvPr/>
        </p:nvSpPr>
        <p:spPr>
          <a:xfrm>
            <a:off x="8035433" y="4859285"/>
            <a:ext cx="541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m=2</a:t>
            </a:r>
            <a:endParaRPr lang="ru-RU" dirty="0"/>
          </a:p>
        </p:txBody>
      </p:sp>
      <p:sp>
        <p:nvSpPr>
          <p:cNvPr id="178" name="TextBox 177"/>
          <p:cNvSpPr txBox="1"/>
          <p:nvPr/>
        </p:nvSpPr>
        <p:spPr>
          <a:xfrm>
            <a:off x="5880484" y="485928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m=-2</a:t>
            </a:r>
            <a:endParaRPr lang="ru-RU" dirty="0"/>
          </a:p>
        </p:txBody>
      </p:sp>
      <p:sp>
        <p:nvSpPr>
          <p:cNvPr id="185" name="Овал 184"/>
          <p:cNvSpPr/>
          <p:nvPr/>
        </p:nvSpPr>
        <p:spPr>
          <a:xfrm>
            <a:off x="7224037" y="2345279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92" name="Овал 191"/>
          <p:cNvSpPr/>
          <p:nvPr/>
        </p:nvSpPr>
        <p:spPr>
          <a:xfrm>
            <a:off x="6590204" y="5817225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93" name="Овал 192"/>
          <p:cNvSpPr/>
          <p:nvPr/>
        </p:nvSpPr>
        <p:spPr>
          <a:xfrm>
            <a:off x="7122467" y="5823501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94" name="Овал 193"/>
          <p:cNvSpPr/>
          <p:nvPr/>
        </p:nvSpPr>
        <p:spPr>
          <a:xfrm>
            <a:off x="7628274" y="5817225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196" name="Прямая соединительная линия 195">
            <a:extLst>
              <a:ext uri="{FF2B5EF4-FFF2-40B4-BE49-F238E27FC236}">
                <a16:creationId xmlns:a16="http://schemas.microsoft.com/office/drawing/2014/main" xmlns="" id="{0D20938D-A97A-4350-9A9A-73D363AE0AC3}"/>
              </a:ext>
            </a:extLst>
          </p:cNvPr>
          <p:cNvCxnSpPr>
            <a:cxnSpLocks/>
          </p:cNvCxnSpPr>
          <p:nvPr/>
        </p:nvCxnSpPr>
        <p:spPr>
          <a:xfrm>
            <a:off x="10378684" y="4511496"/>
            <a:ext cx="358998" cy="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xmlns="" id="{7E18D490-C8D5-465B-A941-DDA6783F2AAF}"/>
              </a:ext>
            </a:extLst>
          </p:cNvPr>
          <p:cNvSpPr txBox="1"/>
          <p:nvPr/>
        </p:nvSpPr>
        <p:spPr>
          <a:xfrm>
            <a:off x="8837055" y="4352070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0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6" name="Прямая соединительная линия 205"/>
          <p:cNvCxnSpPr/>
          <p:nvPr/>
        </p:nvCxnSpPr>
        <p:spPr>
          <a:xfrm>
            <a:off x="9831549" y="5875033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7" name="Прямая соединительная линия 206"/>
          <p:cNvCxnSpPr/>
          <p:nvPr/>
        </p:nvCxnSpPr>
        <p:spPr>
          <a:xfrm>
            <a:off x="10363812" y="5875033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8" name="Прямая соединительная линия 207"/>
          <p:cNvCxnSpPr/>
          <p:nvPr/>
        </p:nvCxnSpPr>
        <p:spPr>
          <a:xfrm>
            <a:off x="10880933" y="5875033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0" name="TextBox 209"/>
          <p:cNvSpPr txBox="1"/>
          <p:nvPr/>
        </p:nvSpPr>
        <p:spPr>
          <a:xfrm>
            <a:off x="8857146" y="5729783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10273412" y="594183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212" name="TextBox 211"/>
          <p:cNvSpPr txBox="1"/>
          <p:nvPr/>
        </p:nvSpPr>
        <p:spPr>
          <a:xfrm>
            <a:off x="9689937" y="594183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213" name="TextBox 212"/>
          <p:cNvSpPr txBox="1"/>
          <p:nvPr/>
        </p:nvSpPr>
        <p:spPr>
          <a:xfrm>
            <a:off x="10814578" y="594183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225" name="Овал 224"/>
          <p:cNvSpPr/>
          <p:nvPr/>
        </p:nvSpPr>
        <p:spPr>
          <a:xfrm>
            <a:off x="10442776" y="5807571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228" name="Прямая со стрелкой 227"/>
          <p:cNvCxnSpPr/>
          <p:nvPr/>
        </p:nvCxnSpPr>
        <p:spPr>
          <a:xfrm flipV="1">
            <a:off x="10025920" y="4651209"/>
            <a:ext cx="391188" cy="107725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Прямая со стрелкой 228"/>
          <p:cNvCxnSpPr/>
          <p:nvPr/>
        </p:nvCxnSpPr>
        <p:spPr>
          <a:xfrm flipH="1" flipV="1">
            <a:off x="10679254" y="4651208"/>
            <a:ext cx="322441" cy="1083287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Прямая со стрелкой 229"/>
          <p:cNvCxnSpPr/>
          <p:nvPr/>
        </p:nvCxnSpPr>
        <p:spPr>
          <a:xfrm>
            <a:off x="10538179" y="4651208"/>
            <a:ext cx="20004" cy="1077249"/>
          </a:xfrm>
          <a:prstGeom prst="straightConnector1">
            <a:avLst/>
          </a:prstGeom>
          <a:ln w="19050"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TextBox 243"/>
          <p:cNvSpPr txBox="1"/>
          <p:nvPr/>
        </p:nvSpPr>
        <p:spPr>
          <a:xfrm>
            <a:off x="10766536" y="4325460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m’=0</a:t>
            </a:r>
            <a:endParaRPr lang="ru-RU" dirty="0"/>
          </a:p>
        </p:txBody>
      </p:sp>
      <p:sp>
        <p:nvSpPr>
          <p:cNvPr id="247" name="Прямоугольник 246"/>
          <p:cNvSpPr/>
          <p:nvPr/>
        </p:nvSpPr>
        <p:spPr>
          <a:xfrm>
            <a:off x="9482289" y="3492204"/>
            <a:ext cx="21205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в 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1, </a:t>
            </a:r>
            <a:r>
              <a:rPr lang="en-US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 = 0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⟩ из ∣F = 1⟩ </a:t>
            </a:r>
            <a:endParaRPr lang="en-US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8753617" y="908769"/>
            <a:ext cx="21101" cy="542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Прямая соединительная линия 115">
            <a:extLst>
              <a:ext uri="{FF2B5EF4-FFF2-40B4-BE49-F238E27FC236}">
                <a16:creationId xmlns:a16="http://schemas.microsoft.com/office/drawing/2014/main" xmlns="" id="{0D20938D-A97A-4350-9A9A-73D363AE0AC3}"/>
              </a:ext>
            </a:extLst>
          </p:cNvPr>
          <p:cNvCxnSpPr>
            <a:cxnSpLocks/>
          </p:cNvCxnSpPr>
          <p:nvPr/>
        </p:nvCxnSpPr>
        <p:spPr>
          <a:xfrm>
            <a:off x="9643493" y="4174961"/>
            <a:ext cx="180937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2" name="Прямая соединительная линия 121">
            <a:extLst>
              <a:ext uri="{FF2B5EF4-FFF2-40B4-BE49-F238E27FC236}">
                <a16:creationId xmlns:a16="http://schemas.microsoft.com/office/drawing/2014/main" xmlns="" id="{0D20938D-A97A-4350-9A9A-73D363AE0AC3}"/>
              </a:ext>
            </a:extLst>
          </p:cNvPr>
          <p:cNvCxnSpPr>
            <a:cxnSpLocks/>
          </p:cNvCxnSpPr>
          <p:nvPr/>
        </p:nvCxnSpPr>
        <p:spPr>
          <a:xfrm>
            <a:off x="7038310" y="4531459"/>
            <a:ext cx="358998" cy="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xmlns="" id="{7E18D490-C8D5-465B-A941-DDA6783F2AAF}"/>
              </a:ext>
            </a:extLst>
          </p:cNvPr>
          <p:cNvSpPr txBox="1"/>
          <p:nvPr/>
        </p:nvSpPr>
        <p:spPr>
          <a:xfrm>
            <a:off x="5288723" y="4371663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0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4" name="Прямая соединительная линия 123"/>
          <p:cNvCxnSpPr/>
          <p:nvPr/>
        </p:nvCxnSpPr>
        <p:spPr>
          <a:xfrm>
            <a:off x="874708" y="2816844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>
            <a:off x="1384159" y="2816844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6" name="Прямая соединительная линия 125"/>
          <p:cNvCxnSpPr/>
          <p:nvPr/>
        </p:nvCxnSpPr>
        <p:spPr>
          <a:xfrm>
            <a:off x="1916422" y="2816844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1" name="Прямая соединительная линия 130"/>
          <p:cNvCxnSpPr/>
          <p:nvPr/>
        </p:nvCxnSpPr>
        <p:spPr>
          <a:xfrm>
            <a:off x="2437897" y="2816844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2" name="Прямая соединительная линия 131"/>
          <p:cNvCxnSpPr/>
          <p:nvPr/>
        </p:nvCxnSpPr>
        <p:spPr>
          <a:xfrm>
            <a:off x="2951702" y="2816844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3" name="Прямая соединительная линия 132"/>
          <p:cNvCxnSpPr/>
          <p:nvPr/>
        </p:nvCxnSpPr>
        <p:spPr>
          <a:xfrm>
            <a:off x="1384159" y="3430799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4" name="Прямая соединительная линия 133"/>
          <p:cNvCxnSpPr/>
          <p:nvPr/>
        </p:nvCxnSpPr>
        <p:spPr>
          <a:xfrm>
            <a:off x="1916422" y="3430799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Прямая соединительная линия 134"/>
          <p:cNvCxnSpPr/>
          <p:nvPr/>
        </p:nvCxnSpPr>
        <p:spPr>
          <a:xfrm>
            <a:off x="2433543" y="3430799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164959" y="2549243"/>
            <a:ext cx="1384663" cy="30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164959" y="3162798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1826022" y="3497601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39" name="TextBox 138"/>
          <p:cNvSpPr txBox="1"/>
          <p:nvPr/>
        </p:nvSpPr>
        <p:spPr>
          <a:xfrm>
            <a:off x="1242547" y="3497601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40" name="TextBox 139"/>
          <p:cNvSpPr txBox="1"/>
          <p:nvPr/>
        </p:nvSpPr>
        <p:spPr>
          <a:xfrm>
            <a:off x="2367188" y="3497601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43" name="TextBox 142"/>
          <p:cNvSpPr txBox="1"/>
          <p:nvPr/>
        </p:nvSpPr>
        <p:spPr>
          <a:xfrm>
            <a:off x="1826022" y="239972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44" name="TextBox 143"/>
          <p:cNvSpPr txBox="1"/>
          <p:nvPr/>
        </p:nvSpPr>
        <p:spPr>
          <a:xfrm>
            <a:off x="2367187" y="2399721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46" name="TextBox 145"/>
          <p:cNvSpPr txBox="1"/>
          <p:nvPr/>
        </p:nvSpPr>
        <p:spPr>
          <a:xfrm>
            <a:off x="1284857" y="239912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47" name="TextBox 146"/>
          <p:cNvSpPr txBox="1"/>
          <p:nvPr/>
        </p:nvSpPr>
        <p:spPr>
          <a:xfrm>
            <a:off x="2908352" y="2399121"/>
            <a:ext cx="541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m=2</a:t>
            </a:r>
            <a:endParaRPr lang="ru-RU" dirty="0"/>
          </a:p>
        </p:txBody>
      </p:sp>
      <p:sp>
        <p:nvSpPr>
          <p:cNvPr id="148" name="TextBox 147"/>
          <p:cNvSpPr txBox="1"/>
          <p:nvPr/>
        </p:nvSpPr>
        <p:spPr>
          <a:xfrm>
            <a:off x="753403" y="2399120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m=-2</a:t>
            </a:r>
            <a:endParaRPr lang="ru-RU" dirty="0"/>
          </a:p>
        </p:txBody>
      </p:sp>
      <p:sp>
        <p:nvSpPr>
          <p:cNvPr id="149" name="TextBox 148"/>
          <p:cNvSpPr txBox="1"/>
          <p:nvPr/>
        </p:nvSpPr>
        <p:spPr>
          <a:xfrm>
            <a:off x="197669" y="3860805"/>
            <a:ext cx="3452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100"/>
            </a:pPr>
            <a:r>
              <a:rPr lang="ru-RU" sz="1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Начальное состояние системы после МОЛ и Охлаждения</a:t>
            </a:r>
            <a:endParaRPr lang="ru-RU" sz="1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1" name="Овал 150"/>
          <p:cNvSpPr/>
          <p:nvPr/>
        </p:nvSpPr>
        <p:spPr>
          <a:xfrm>
            <a:off x="950157" y="2735686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52" name="Овал 151"/>
          <p:cNvSpPr/>
          <p:nvPr/>
        </p:nvSpPr>
        <p:spPr>
          <a:xfrm>
            <a:off x="1467143" y="2741360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53" name="Овал 152"/>
          <p:cNvSpPr/>
          <p:nvPr/>
        </p:nvSpPr>
        <p:spPr>
          <a:xfrm>
            <a:off x="2518034" y="2743107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54" name="Овал 153"/>
          <p:cNvSpPr/>
          <p:nvPr/>
        </p:nvSpPr>
        <p:spPr>
          <a:xfrm>
            <a:off x="3035020" y="2731276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56" name="Овал 155"/>
          <p:cNvSpPr/>
          <p:nvPr/>
        </p:nvSpPr>
        <p:spPr>
          <a:xfrm>
            <a:off x="1973787" y="2730222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186" name="Прямая соединительная линия 185"/>
          <p:cNvCxnSpPr/>
          <p:nvPr/>
        </p:nvCxnSpPr>
        <p:spPr>
          <a:xfrm>
            <a:off x="5179112" y="908769"/>
            <a:ext cx="21101" cy="542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Прямая соединительная линия 186"/>
          <p:cNvCxnSpPr/>
          <p:nvPr/>
        </p:nvCxnSpPr>
        <p:spPr>
          <a:xfrm flipV="1">
            <a:off x="4343760" y="3306568"/>
            <a:ext cx="7715008" cy="334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xmlns="" id="{7E18D490-C8D5-465B-A941-DDA6783F2AAF}"/>
              </a:ext>
            </a:extLst>
          </p:cNvPr>
          <p:cNvSpPr txBox="1"/>
          <p:nvPr/>
        </p:nvSpPr>
        <p:spPr>
          <a:xfrm>
            <a:off x="8822582" y="4021716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9" name="Прямая соединительная линия 188"/>
          <p:cNvCxnSpPr/>
          <p:nvPr/>
        </p:nvCxnSpPr>
        <p:spPr>
          <a:xfrm>
            <a:off x="9333378" y="528040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0" name="Прямая соединительная линия 189"/>
          <p:cNvCxnSpPr/>
          <p:nvPr/>
        </p:nvCxnSpPr>
        <p:spPr>
          <a:xfrm>
            <a:off x="9842829" y="528040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1" name="Прямая соединительная линия 190"/>
          <p:cNvCxnSpPr/>
          <p:nvPr/>
        </p:nvCxnSpPr>
        <p:spPr>
          <a:xfrm>
            <a:off x="10375092" y="528040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5" name="Прямая соединительная линия 194"/>
          <p:cNvCxnSpPr/>
          <p:nvPr/>
        </p:nvCxnSpPr>
        <p:spPr>
          <a:xfrm>
            <a:off x="10896567" y="528040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8" name="Прямая соединительная линия 197"/>
          <p:cNvCxnSpPr/>
          <p:nvPr/>
        </p:nvCxnSpPr>
        <p:spPr>
          <a:xfrm>
            <a:off x="11410372" y="528040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10302350" y="4862677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200" name="TextBox 199"/>
          <p:cNvSpPr txBox="1"/>
          <p:nvPr/>
        </p:nvSpPr>
        <p:spPr>
          <a:xfrm>
            <a:off x="10825857" y="4863279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201" name="TextBox 200"/>
          <p:cNvSpPr txBox="1"/>
          <p:nvPr/>
        </p:nvSpPr>
        <p:spPr>
          <a:xfrm>
            <a:off x="9743527" y="4862680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202" name="TextBox 201"/>
          <p:cNvSpPr txBox="1"/>
          <p:nvPr/>
        </p:nvSpPr>
        <p:spPr>
          <a:xfrm>
            <a:off x="11367022" y="4862679"/>
            <a:ext cx="541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m=2</a:t>
            </a:r>
            <a:endParaRPr lang="ru-RU" dirty="0"/>
          </a:p>
        </p:txBody>
      </p:sp>
      <p:sp>
        <p:nvSpPr>
          <p:cNvPr id="203" name="TextBox 202"/>
          <p:cNvSpPr txBox="1"/>
          <p:nvPr/>
        </p:nvSpPr>
        <p:spPr>
          <a:xfrm>
            <a:off x="9212073" y="4862678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7650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303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18</a:t>
            </a:fld>
            <a:endParaRPr lang="ru-RU"/>
          </a:p>
        </p:txBody>
      </p:sp>
      <p:sp>
        <p:nvSpPr>
          <p:cNvPr id="3" name="Google Shape;153;p22"/>
          <p:cNvSpPr/>
          <p:nvPr/>
        </p:nvSpPr>
        <p:spPr>
          <a:xfrm>
            <a:off x="2456857" y="100558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Моделирование оптической накачки для подготовки атомов в немагнитном состоянии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29;p4">
            <a:extLst>
              <a:ext uri="{FF2B5EF4-FFF2-40B4-BE49-F238E27FC236}">
                <a16:creationId xmlns:a16="http://schemas.microsoft.com/office/drawing/2014/main" xmlns="" id="{B87B3228-1A15-4F4D-8491-889889246140}"/>
              </a:ext>
            </a:extLst>
          </p:cNvPr>
          <p:cNvSpPr txBox="1"/>
          <p:nvPr/>
        </p:nvSpPr>
        <p:spPr>
          <a:xfrm>
            <a:off x="858861" y="5418150"/>
            <a:ext cx="4038192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 . </a:t>
            </a: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ru-RU" sz="16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Эволюция населённостей </a:t>
            </a: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немагнитных состояний и нагрев облака атомов при накачке в схемах 1-0 и 1-2-2</a:t>
            </a:r>
            <a:r>
              <a:rPr lang="ru-RU" sz="16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EA90D2A3-C8E5-4D0D-9A3F-61CA37AEA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925" y="957398"/>
            <a:ext cx="5338768" cy="72894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xmlns="" id="{6ADA5FB4-FE77-4BEF-856D-774E39775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925" y="1669675"/>
            <a:ext cx="2324424" cy="44773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xmlns="" id="{D622559E-733E-4D12-AE29-B15CBF30631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0599" r="1480"/>
          <a:stretch/>
        </p:blipFill>
        <p:spPr>
          <a:xfrm>
            <a:off x="6426926" y="2289306"/>
            <a:ext cx="3622766" cy="54461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6E80829F-0677-4BA5-BEBC-C6FD115BE0C1}"/>
              </a:ext>
            </a:extLst>
          </p:cNvPr>
          <p:cNvSpPr txBox="1"/>
          <p:nvPr/>
        </p:nvSpPr>
        <p:spPr>
          <a:xfrm>
            <a:off x="6497253" y="6356350"/>
            <a:ext cx="45190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Peters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K.Y.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Metrologia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38.1, 25 (2001).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94" y="1275201"/>
            <a:ext cx="5315219" cy="405444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765693" y="1167982"/>
            <a:ext cx="570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765693" y="1772239"/>
            <a:ext cx="570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764032" y="2289306"/>
            <a:ext cx="570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01989" y="3507268"/>
            <a:ext cx="35692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Уравнение (1) выполняется вдали от насыщения перехода, в таком случае распад сильно быстрее вынужденного поглощения и излучения, и поэтому два последних явления определяют динамику процесса накачки.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791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19</a:t>
            </a:fld>
            <a:endParaRPr lang="ru-RU"/>
          </a:p>
        </p:txBody>
      </p:sp>
      <p:sp>
        <p:nvSpPr>
          <p:cNvPr id="3" name="Google Shape;153;p22"/>
          <p:cNvSpPr/>
          <p:nvPr/>
        </p:nvSpPr>
        <p:spPr>
          <a:xfrm>
            <a:off x="2456857" y="100558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2400"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Результат измерения населённости состояния ∣F = 1, </a:t>
            </a:r>
            <a:r>
              <a:rPr lang="en-US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m=0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⟩ после оптической накачки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D2A2D9D1-C3B2-4FFB-BF6C-C46FCDD128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289"/>
          <a:stretch/>
        </p:blipFill>
        <p:spPr>
          <a:xfrm>
            <a:off x="3210856" y="1113452"/>
            <a:ext cx="4853196" cy="3514531"/>
          </a:xfrm>
          <a:prstGeom prst="rect">
            <a:avLst/>
          </a:prstGeom>
        </p:spPr>
      </p:pic>
      <p:sp>
        <p:nvSpPr>
          <p:cNvPr id="6" name="Google Shape;129;p4">
            <a:extLst>
              <a:ext uri="{FF2B5EF4-FFF2-40B4-BE49-F238E27FC236}">
                <a16:creationId xmlns:a16="http://schemas.microsoft.com/office/drawing/2014/main" xmlns="" id="{9F2F9449-A41F-4954-9C15-CD0224C4DE58}"/>
              </a:ext>
            </a:extLst>
          </p:cNvPr>
          <p:cNvSpPr txBox="1"/>
          <p:nvPr/>
        </p:nvSpPr>
        <p:spPr>
          <a:xfrm>
            <a:off x="3301079" y="4627983"/>
            <a:ext cx="4762973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600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8. Зависимость населенности атомов до и после оптической накачки от отстройки относительно</a:t>
            </a:r>
          </a:p>
          <a:p>
            <a:pPr lvl="0" algn="ctr">
              <a:buSzPts val="1600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часового перехода.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61949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20</a:t>
            </a:fld>
            <a:endParaRPr lang="ru-RU"/>
          </a:p>
        </p:txBody>
      </p:sp>
      <p:sp>
        <p:nvSpPr>
          <p:cNvPr id="3" name="Google Shape;153;p22"/>
          <p:cNvSpPr/>
          <p:nvPr/>
        </p:nvSpPr>
        <p:spPr>
          <a:xfrm>
            <a:off x="2456857" y="100558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2400"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Результат измерения температуры до и после оптической накачки  в состояние </a:t>
            </a:r>
            <a:r>
              <a:rPr lang="en-US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∣F = 1, m=0⟩ 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6A5A2298-D0D5-457A-ADD2-2EF4FEE9F9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650"/>
          <a:stretch/>
        </p:blipFill>
        <p:spPr>
          <a:xfrm>
            <a:off x="2376667" y="1020147"/>
            <a:ext cx="6394108" cy="461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CAE9D85-C58F-4E82-8CFA-F36F8F2CACC9}"/>
              </a:ext>
            </a:extLst>
          </p:cNvPr>
          <p:cNvSpPr txBox="1"/>
          <p:nvPr/>
        </p:nvSpPr>
        <p:spPr>
          <a:xfrm>
            <a:off x="2376667" y="5635475"/>
            <a:ext cx="69730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9. Зависимости квадрата размера облака холодных атомов (1/e) от квадрата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времени свободного падения до и после оптической накачки в немагнитное состояние.</a:t>
            </a:r>
          </a:p>
        </p:txBody>
      </p:sp>
    </p:spTree>
    <p:extLst>
      <p:ext uri="{BB962C8B-B14F-4D97-AF65-F5344CB8AC3E}">
        <p14:creationId xmlns:p14="http://schemas.microsoft.com/office/powerpoint/2010/main" val="3309388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"/>
          <p:cNvSpPr/>
          <p:nvPr/>
        </p:nvSpPr>
        <p:spPr>
          <a:xfrm>
            <a:off x="2504131" y="9471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 txBox="1"/>
          <p:nvPr/>
        </p:nvSpPr>
        <p:spPr>
          <a:xfrm>
            <a:off x="2744425" y="906641"/>
            <a:ext cx="6755400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Численное</a:t>
            </a:r>
            <a:r>
              <a:rPr lang="ru-RU" sz="1800" b="0" i="0" u="non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моделирование оптической накачки в немагнитное квантовое состояния</a:t>
            </a: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показало эффективность, близкую к 100%, и нагрев около 1 </a:t>
            </a:r>
            <a:r>
              <a:rPr lang="ru-RU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мкК</a:t>
            </a: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b="0" i="0" u="non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Экспериментальная реализация оптической накачки в немагнитное состояния продемонстрировало эффективность более 90 % и нагрев в 1 </a:t>
            </a:r>
            <a:r>
              <a:rPr lang="ru-RU" sz="1800" b="0" i="0" u="non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мкК</a:t>
            </a:r>
            <a:r>
              <a:rPr lang="ru-RU" sz="1800" b="0" i="0" u="non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что близко к результатам моделирования. Расхождения объясняются несовершенством электро-оптической схемы.</a:t>
            </a:r>
            <a:endParaRPr sz="1800" b="0" i="0" u="non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дальнейшем планируется проверить влияние уменьшения потерь атомов на частоту измерений и на шум в атомном интерферометре.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29520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"/>
          <p:cNvSpPr/>
          <p:nvPr/>
        </p:nvSpPr>
        <p:spPr>
          <a:xfrm>
            <a:off x="2504131" y="9471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 txBox="1"/>
          <p:nvPr/>
        </p:nvSpPr>
        <p:spPr>
          <a:xfrm>
            <a:off x="2744425" y="906641"/>
            <a:ext cx="6755400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Проведены измерения неоднородности магнитного поля и выполнено уменьшение градиента магнитного поля до величины ~1.3 </a:t>
            </a:r>
            <a:r>
              <a:rPr lang="ru-RU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мГс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/мм. Реализовано программное обеспечение для детектирования неоднородности магнитного поля.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Уменьшение неоднородности позволило уменьшить температуру облака после </a:t>
            </a:r>
            <a:r>
              <a:rPr lang="ru-RU" sz="18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сизифого</a:t>
            </a:r>
            <a:r>
              <a:rPr lang="ru-RU" sz="18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 охлаждения с 6 до 2 </a:t>
            </a:r>
            <a:r>
              <a:rPr lang="ru-RU" sz="18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мкК</a:t>
            </a:r>
            <a:r>
              <a:rPr lang="ru-RU" sz="18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дальнейшем планируется проверить влияние уменьшения неоднородности магнитного поля на шум в атомном интерферометре.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22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</TotalTime>
  <Words>2068</Words>
  <Application>Microsoft Office PowerPoint</Application>
  <PresentationFormat>Широкоэкранный</PresentationFormat>
  <Paragraphs>256</Paragraphs>
  <Slides>22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kilrealladam@gmail.com</dc:creator>
  <cp:lastModifiedBy>Макаров Антон Олегович</cp:lastModifiedBy>
  <cp:revision>81</cp:revision>
  <dcterms:created xsi:type="dcterms:W3CDTF">2023-12-21T05:49:20Z</dcterms:created>
  <dcterms:modified xsi:type="dcterms:W3CDTF">2024-12-19T11:49:41Z</dcterms:modified>
</cp:coreProperties>
</file>