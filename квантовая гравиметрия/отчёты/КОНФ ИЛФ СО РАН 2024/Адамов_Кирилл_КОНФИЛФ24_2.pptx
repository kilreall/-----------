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87" r:id="rId6"/>
    <p:sldId id="290" r:id="rId7"/>
    <p:sldId id="291" r:id="rId8"/>
    <p:sldId id="268" r:id="rId9"/>
    <p:sldId id="269" r:id="rId10"/>
    <p:sldId id="264" r:id="rId11"/>
    <p:sldId id="265" r:id="rId12"/>
    <p:sldId id="283" r:id="rId13"/>
    <p:sldId id="292" r:id="rId14"/>
    <p:sldId id="284" r:id="rId15"/>
    <p:sldId id="285" r:id="rId16"/>
    <p:sldId id="286" r:id="rId17"/>
    <p:sldId id="288" r:id="rId18"/>
    <p:sldId id="270" r:id="rId19"/>
    <p:sldId id="271" r:id="rId20"/>
    <p:sldId id="272" r:id="rId21"/>
    <p:sldId id="282" r:id="rId22"/>
    <p:sldId id="281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ouDVospvBqDJ2IaPmer8mAxNsd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realladam@gmail.com" initials="k" lastIdx="1" clrIdx="0">
    <p:extLst>
      <p:ext uri="{19B8F6BF-5375-455C-9EA6-DF929625EA0E}">
        <p15:presenceInfo xmlns:p15="http://schemas.microsoft.com/office/powerpoint/2012/main" userId="06abd9abe9dc439d" providerId="Windows Live"/>
      </p:ext>
    </p:extLst>
  </p:cmAuthor>
  <p:cmAuthor id="2" name="Макаров Антон Олегович" initials="МАО" lastIdx="1" clrIdx="1">
    <p:extLst>
      <p:ext uri="{19B8F6BF-5375-455C-9EA6-DF929625EA0E}">
        <p15:presenceInfo xmlns:p15="http://schemas.microsoft.com/office/powerpoint/2012/main" userId="S-1-5-21-459334724-2767538070-3650366139-13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81286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1452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8060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Добавить преимущества квантового гравиметра.</a:t>
            </a:r>
            <a:endParaRPr/>
          </a:p>
        </p:txBody>
      </p:sp>
      <p:sp>
        <p:nvSpPr>
          <p:cNvPr id="104" name="Google Shape;10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9524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0922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1885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8837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Много текста</a:t>
            </a:r>
            <a:endParaRPr/>
          </a:p>
        </p:txBody>
      </p:sp>
      <p:sp>
        <p:nvSpPr>
          <p:cNvPr id="149" name="Google Shape;1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3046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8891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8751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5256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Подписать резонансы, указать формулу для расчета маг поля</a:t>
            </a:r>
            <a:endParaRPr dirty="0"/>
          </a:p>
        </p:txBody>
      </p:sp>
      <p:sp>
        <p:nvSpPr>
          <p:cNvPr id="207" name="Google Shape;2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9808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9928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Пересмотреть картинки, пересчитать градиенты (линии), сделать один цветовой масштаб, указать расстояние между белыми линиями</a:t>
            </a:r>
            <a:endParaRPr/>
          </a:p>
        </p:txBody>
      </p:sp>
      <p:sp>
        <p:nvSpPr>
          <p:cNvPr id="232" name="Google Shape;232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819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3610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21660" y="2140818"/>
            <a:ext cx="1036206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К.Н. Адамов</a:t>
            </a:r>
            <a:r>
              <a:rPr lang="ru-RU" sz="2400" i="0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Д.Н. Капуста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А.Э.Бонерт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А.Н. Гончаров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1,2,3</a:t>
            </a:r>
            <a:endParaRPr sz="2400" i="0" u="sng" strike="noStrike" cap="none" baseline="3000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-55685" y="634864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ru-RU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начального волнового пакета для квантового интерферометра-гравиметра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13CD34-9B2E-4915-B966-ECAAA8145C08}"/>
              </a:ext>
            </a:extLst>
          </p:cNvPr>
          <p:cNvSpPr txBox="1"/>
          <p:nvPr/>
        </p:nvSpPr>
        <p:spPr>
          <a:xfrm>
            <a:off x="149290" y="80866"/>
            <a:ext cx="41490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Новосибирск, Россия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47D8F47-E0BB-4E7A-859C-9128519CAC65}"/>
              </a:ext>
            </a:extLst>
          </p:cNvPr>
          <p:cNvSpPr txBox="1"/>
          <p:nvPr/>
        </p:nvSpPr>
        <p:spPr>
          <a:xfrm>
            <a:off x="2662334" y="3331391"/>
            <a:ext cx="785015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университет,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технический университет, Новосибирск, Россия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5DE045F-A47A-4C75-B787-B48904B8CAE6}"/>
              </a:ext>
            </a:extLst>
          </p:cNvPr>
          <p:cNvSpPr txBox="1"/>
          <p:nvPr/>
        </p:nvSpPr>
        <p:spPr>
          <a:xfrm>
            <a:off x="261256" y="5984033"/>
            <a:ext cx="3097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ofadamovkirill@gmail.com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1127158" y="755157"/>
            <a:ext cx="95247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План выступления: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Гравиметр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атомного гравиметра</a:t>
            </a:r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</a:t>
            </a:r>
            <a:r>
              <a:rPr lang="en-US" sz="20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Оптическая схема гравиметра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Экспериментальная установка гравиметра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Подготовка начального немагнитного состояния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Различные методики подготовки атомов в немагнитном квантовом состоянии</a:t>
            </a:r>
          </a:p>
          <a:p>
            <a:pPr marL="742950" lvl="1" indent="-285750">
              <a:spcBef>
                <a:spcPts val="300"/>
              </a:spcBef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Результаты компьютерного моделирования метода оптической накачки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экспериментальной реализация метода оптической накачки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504131" y="94717"/>
            <a:ext cx="6910755" cy="4775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0299442" y="133442"/>
            <a:ext cx="180391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Гал  ~ 10</a:t>
            </a:r>
            <a:r>
              <a:rPr lang="ru-RU" sz="2000" b="0" i="0" u="none" strike="noStrike" cap="none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</a:t>
            </a: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995961" y="2817899"/>
            <a:ext cx="468059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Геодезия и наблюдение за Землей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Археология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Разведка полезных ископаемых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подземной инфраструктуры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239427" y="2817899"/>
            <a:ext cx="4548674" cy="119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 скрытых объектов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Вулканы, исследования землетрясений и пр.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Фундаментальные физические исследования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793522" y="2283703"/>
            <a:ext cx="3982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Области применения гравиметров: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802293" y="752537"/>
            <a:ext cx="7503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квантового гравиметра над классическим: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698420" y="1086437"/>
            <a:ext cx="5260523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 подвижных элементов в конструкции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Высокая частота измерений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Может (гироскоп и акселерометр) и т.д.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67E3B1A-029A-4327-9EF0-D391A5F0BDEF}"/>
              </a:ext>
            </a:extLst>
          </p:cNvPr>
          <p:cNvSpPr txBox="1"/>
          <p:nvPr/>
        </p:nvSpPr>
        <p:spPr>
          <a:xfrm>
            <a:off x="2796073" y="4478433"/>
            <a:ext cx="6374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немагнитное квантовое состояние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564A0FFF-1164-43D7-A296-4897223993E0}"/>
              </a:ext>
            </a:extLst>
          </p:cNvPr>
          <p:cNvSpPr txBox="1"/>
          <p:nvPr/>
        </p:nvSpPr>
        <p:spPr>
          <a:xfrm>
            <a:off x="2856723" y="4960673"/>
            <a:ext cx="757614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5" indent="-285750">
              <a:spcBef>
                <a:spcPts val="6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помощью СВЧ и оптического излучения (потери более 80%)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помощью оптической накачки (потери менее 10%)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120" name="Google Shape;120;p25"/>
          <p:cNvSpPr txBox="1"/>
          <p:nvPr/>
        </p:nvSpPr>
        <p:spPr>
          <a:xfrm>
            <a:off x="460308" y="258901"/>
            <a:ext cx="11545079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Абсолютный квантовый гравиметр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это устройство, позволяющее измерять гравитационное поле земли с высокой чувствительностью, точностью и надёжностью за счёт быстрого высокочувствительного квантового механизма на котором основан принцип его работы. Преимуществами квантового гравиметра над классическим является отсутствие подвижных элементов в конструкции, высокая скорость измерений и возможност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ь переоборудовать гравиметр в акселерометр и гироскоп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Применения квантового гравиметра: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Геодезия 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Археология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Разведка полезных ископаемых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Оценка подземной инфраструктуры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Навигация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Поиск скрытых объектов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Вулканы, исследования землетрясений и пр.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точность и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чуствительность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работы квантового гравиметра влияют потери атомов в ходе измерительного цикла гравиметра, для проведения атомной интерференции необходимо подготовить атомы в немагнитном квантовом состоянии,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что может приводить к существенным потерям атомов,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данной работе был реализован метод подготовки атомов в немагнитное квантовое состояния с использованием оптической накачки с потерями менее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0%, предыдущий же метод подготовки в немагнитное состояние через селекцию по магнитным состояниям имел минимальные потери в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0 %.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88B3876-4C9B-44B7-90CC-440DA9C30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="" xmlns:a16="http://schemas.microsoft.com/office/drawing/2014/main" id="{839F4945-9D74-4B8C-897B-6CE0EB1BFA5F}"/>
              </a:ext>
            </a:extLst>
          </p:cNvPr>
          <p:cNvSpPr/>
          <p:nvPr/>
        </p:nvSpPr>
        <p:spPr>
          <a:xfrm>
            <a:off x="2948472" y="1885477"/>
            <a:ext cx="311020" cy="31724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="" xmlns:a16="http://schemas.microsoft.com/office/drawing/2014/main" id="{AF0DCB50-B4C1-4A57-B451-5B2BAD1CCAFD}"/>
              </a:ext>
            </a:extLst>
          </p:cNvPr>
          <p:cNvCxnSpPr>
            <a:cxnSpLocks/>
          </p:cNvCxnSpPr>
          <p:nvPr/>
        </p:nvCxnSpPr>
        <p:spPr>
          <a:xfrm>
            <a:off x="3097761" y="958637"/>
            <a:ext cx="0" cy="7775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="" xmlns:a16="http://schemas.microsoft.com/office/drawing/2014/main" id="{9F59D60F-EACF-44BD-AA3A-E3FFA94DD692}"/>
              </a:ext>
            </a:extLst>
          </p:cNvPr>
          <p:cNvCxnSpPr>
            <a:cxnSpLocks/>
          </p:cNvCxnSpPr>
          <p:nvPr/>
        </p:nvCxnSpPr>
        <p:spPr>
          <a:xfrm flipV="1">
            <a:off x="3097761" y="2376889"/>
            <a:ext cx="0" cy="7464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="" xmlns:a16="http://schemas.microsoft.com/office/drawing/2014/main" id="{6E8EE65A-8353-44B3-8EDF-F5E6D46B8865}"/>
              </a:ext>
            </a:extLst>
          </p:cNvPr>
          <p:cNvCxnSpPr>
            <a:cxnSpLocks/>
          </p:cNvCxnSpPr>
          <p:nvPr/>
        </p:nvCxnSpPr>
        <p:spPr>
          <a:xfrm>
            <a:off x="2326431" y="1387844"/>
            <a:ext cx="447870" cy="34834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="" xmlns:a16="http://schemas.microsoft.com/office/drawing/2014/main" id="{94BE0C1F-2D1C-4D6F-84F5-6E443D1BA35D}"/>
              </a:ext>
            </a:extLst>
          </p:cNvPr>
          <p:cNvCxnSpPr>
            <a:cxnSpLocks/>
          </p:cNvCxnSpPr>
          <p:nvPr/>
        </p:nvCxnSpPr>
        <p:spPr>
          <a:xfrm flipH="1" flipV="1">
            <a:off x="3415005" y="2252484"/>
            <a:ext cx="771328" cy="54894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="" xmlns:a16="http://schemas.microsoft.com/office/drawing/2014/main" id="{D9E14132-7567-45B0-8D8C-03401800B35A}"/>
              </a:ext>
            </a:extLst>
          </p:cNvPr>
          <p:cNvCxnSpPr>
            <a:cxnSpLocks/>
          </p:cNvCxnSpPr>
          <p:nvPr/>
        </p:nvCxnSpPr>
        <p:spPr>
          <a:xfrm flipV="1">
            <a:off x="1946988" y="2096972"/>
            <a:ext cx="821092" cy="15551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="" xmlns:a16="http://schemas.microsoft.com/office/drawing/2014/main" id="{32621570-AB0C-49E0-9242-014A69B9E20B}"/>
              </a:ext>
            </a:extLst>
          </p:cNvPr>
          <p:cNvCxnSpPr>
            <a:cxnSpLocks/>
          </p:cNvCxnSpPr>
          <p:nvPr/>
        </p:nvCxnSpPr>
        <p:spPr>
          <a:xfrm flipH="1">
            <a:off x="3415005" y="1806166"/>
            <a:ext cx="964162" cy="15862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57D9114C-0BAF-4A68-A6A6-A6F7B6588357}"/>
              </a:ext>
            </a:extLst>
          </p:cNvPr>
          <p:cNvSpPr txBox="1"/>
          <p:nvPr/>
        </p:nvSpPr>
        <p:spPr>
          <a:xfrm>
            <a:off x="3270223" y="145864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</a:t>
            </a:r>
          </a:p>
        </p:txBody>
      </p:sp>
      <p:pic>
        <p:nvPicPr>
          <p:cNvPr id="41" name="Рисунок 40">
            <a:extLst>
              <a:ext uri="{FF2B5EF4-FFF2-40B4-BE49-F238E27FC236}">
                <a16:creationId xmlns="" xmlns:a16="http://schemas.microsoft.com/office/drawing/2014/main" id="{EE460C1C-8D50-4C3C-BB92-3B7D2ED5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446" y="3207562"/>
            <a:ext cx="499155" cy="48519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FBBB57CA-A075-45E2-B876-CEA37387CBC5}"/>
              </a:ext>
            </a:extLst>
          </p:cNvPr>
          <p:cNvSpPr txBox="1"/>
          <p:nvPr/>
        </p:nvSpPr>
        <p:spPr>
          <a:xfrm>
            <a:off x="3383899" y="3059668"/>
            <a:ext cx="1492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в немагнитное состояние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="" xmlns:a16="http://schemas.microsoft.com/office/drawing/2014/main" id="{7BA0B989-90EF-4993-9301-0913179DC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836445" y="3718232"/>
            <a:ext cx="540558" cy="74925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228A9D4D-6335-431D-8F55-90CFC84CF771}"/>
              </a:ext>
            </a:extLst>
          </p:cNvPr>
          <p:cNvSpPr txBox="1"/>
          <p:nvPr/>
        </p:nvSpPr>
        <p:spPr>
          <a:xfrm>
            <a:off x="3270223" y="3845993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Скоростная селекция</a:t>
            </a:r>
          </a:p>
        </p:txBody>
      </p:sp>
      <p:pic>
        <p:nvPicPr>
          <p:cNvPr id="48" name="Рисунок 47">
            <a:extLst>
              <a:ext uri="{FF2B5EF4-FFF2-40B4-BE49-F238E27FC236}">
                <a16:creationId xmlns="" xmlns:a16="http://schemas.microsoft.com/office/drawing/2014/main" id="{FDE3C731-B6E1-4FFE-B0F5-F4400DCC77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25" b="17878"/>
          <a:stretch/>
        </p:blipFill>
        <p:spPr>
          <a:xfrm>
            <a:off x="2556589" y="4543863"/>
            <a:ext cx="858416" cy="28535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B0D3E0D9-53A6-49C4-8177-D11076D6633F}"/>
              </a:ext>
            </a:extLst>
          </p:cNvPr>
          <p:cNvSpPr txBox="1"/>
          <p:nvPr/>
        </p:nvSpPr>
        <p:spPr>
          <a:xfrm>
            <a:off x="3250161" y="4356499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Атомная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Интерференция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="" xmlns:a16="http://schemas.microsoft.com/office/drawing/2014/main" id="{FA170C71-6EC6-4D59-B67E-1E2DC6FDE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446" y="4890281"/>
            <a:ext cx="370702" cy="320152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="" xmlns:a16="http://schemas.microsoft.com/office/drawing/2014/main" id="{A61134B6-4291-42BA-B24F-539549836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082" y="5166840"/>
            <a:ext cx="370702" cy="320152"/>
          </a:xfrm>
          <a:prstGeom prst="rect">
            <a:avLst/>
          </a:prstGeom>
        </p:spPr>
      </p:pic>
      <p:cxnSp>
        <p:nvCxnSpPr>
          <p:cNvPr id="55" name="Прямая со стрелкой 54">
            <a:extLst>
              <a:ext uri="{FF2B5EF4-FFF2-40B4-BE49-F238E27FC236}">
                <a16:creationId xmlns="" xmlns:a16="http://schemas.microsoft.com/office/drawing/2014/main" id="{F228DCAD-216D-4DE7-A72E-2C338A4CDA73}"/>
              </a:ext>
            </a:extLst>
          </p:cNvPr>
          <p:cNvCxnSpPr>
            <a:cxnSpLocks/>
          </p:cNvCxnSpPr>
          <p:nvPr/>
        </p:nvCxnSpPr>
        <p:spPr>
          <a:xfrm flipV="1">
            <a:off x="2072810" y="5037033"/>
            <a:ext cx="596851" cy="1332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A5E534B1-B82D-4149-9CD1-F2A05002DF41}"/>
              </a:ext>
            </a:extLst>
          </p:cNvPr>
          <p:cNvSpPr txBox="1"/>
          <p:nvPr/>
        </p:nvSpPr>
        <p:spPr>
          <a:xfrm>
            <a:off x="3203512" y="5019139"/>
            <a:ext cx="174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Детектирование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754637B8-70DA-4752-B96A-8382552E8714}"/>
              </a:ext>
            </a:extLst>
          </p:cNvPr>
          <p:cNvSpPr txBox="1"/>
          <p:nvPr/>
        </p:nvSpPr>
        <p:spPr>
          <a:xfrm>
            <a:off x="1363641" y="5213705"/>
            <a:ext cx="678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7DC2BF98-76B1-4BE9-A8E7-7D80803E9666}"/>
              </a:ext>
            </a:extLst>
          </p:cNvPr>
          <p:cNvSpPr txBox="1"/>
          <p:nvPr/>
        </p:nvSpPr>
        <p:spPr>
          <a:xfrm>
            <a:off x="1245342" y="4883144"/>
            <a:ext cx="9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="" xmlns:a16="http://schemas.microsoft.com/office/drawing/2014/main" id="{E18170C4-CE86-42AE-A1E2-4A7F3001A524}"/>
              </a:ext>
            </a:extLst>
          </p:cNvPr>
          <p:cNvCxnSpPr>
            <a:cxnSpLocks/>
          </p:cNvCxnSpPr>
          <p:nvPr/>
        </p:nvCxnSpPr>
        <p:spPr>
          <a:xfrm>
            <a:off x="3006612" y="733925"/>
            <a:ext cx="0" cy="4494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Прямая со стрелкой 64">
            <a:extLst>
              <a:ext uri="{FF2B5EF4-FFF2-40B4-BE49-F238E27FC236}">
                <a16:creationId xmlns="" xmlns:a16="http://schemas.microsoft.com/office/drawing/2014/main" id="{A7CCDB74-BFCB-4DC5-B2F7-C69B0654DE3F}"/>
              </a:ext>
            </a:extLst>
          </p:cNvPr>
          <p:cNvCxnSpPr>
            <a:cxnSpLocks/>
          </p:cNvCxnSpPr>
          <p:nvPr/>
        </p:nvCxnSpPr>
        <p:spPr>
          <a:xfrm>
            <a:off x="3180476" y="733925"/>
            <a:ext cx="0" cy="4494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8122D100-3553-4F84-8B06-A90593B47611}"/>
              </a:ext>
            </a:extLst>
          </p:cNvPr>
          <p:cNvSpPr txBox="1"/>
          <p:nvPr/>
        </p:nvSpPr>
        <p:spPr>
          <a:xfrm>
            <a:off x="2948472" y="685397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Рамановские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Пучки</a:t>
            </a:r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="" xmlns:a16="http://schemas.microsoft.com/office/drawing/2014/main" id="{CCBC9411-05D8-4863-BBCF-D00DA8995E61}"/>
              </a:ext>
            </a:extLst>
          </p:cNvPr>
          <p:cNvCxnSpPr>
            <a:cxnSpLocks/>
          </p:cNvCxnSpPr>
          <p:nvPr/>
        </p:nvCxnSpPr>
        <p:spPr>
          <a:xfrm flipV="1">
            <a:off x="2057848" y="5336632"/>
            <a:ext cx="596851" cy="1332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4" name="Рисунок 73">
            <a:extLst>
              <a:ext uri="{FF2B5EF4-FFF2-40B4-BE49-F238E27FC236}">
                <a16:creationId xmlns="" xmlns:a16="http://schemas.microsoft.com/office/drawing/2014/main" id="{5FB992A0-4C03-4DCF-9139-DC26524994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973" b="20315"/>
          <a:stretch/>
        </p:blipFill>
        <p:spPr>
          <a:xfrm>
            <a:off x="2610665" y="5532836"/>
            <a:ext cx="804340" cy="24274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="" xmlns:a16="http://schemas.microsoft.com/office/drawing/2014/main" id="{9127257B-389F-491F-871E-B070006F1813}"/>
              </a:ext>
            </a:extLst>
          </p:cNvPr>
          <p:cNvSpPr txBox="1"/>
          <p:nvPr/>
        </p:nvSpPr>
        <p:spPr>
          <a:xfrm>
            <a:off x="2584208" y="5753999"/>
            <a:ext cx="1045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Зеркало</a:t>
            </a:r>
          </a:p>
        </p:txBody>
      </p:sp>
      <p:sp>
        <p:nvSpPr>
          <p:cNvPr id="76" name="Google Shape;129;p4">
            <a:extLst>
              <a:ext uri="{FF2B5EF4-FFF2-40B4-BE49-F238E27FC236}">
                <a16:creationId xmlns="" xmlns:a16="http://schemas.microsoft.com/office/drawing/2014/main" id="{7336519C-8DFF-4700-B8F3-ECB3A196A90D}"/>
              </a:ext>
            </a:extLst>
          </p:cNvPr>
          <p:cNvSpPr txBox="1"/>
          <p:nvPr/>
        </p:nvSpPr>
        <p:spPr>
          <a:xfrm>
            <a:off x="1357907" y="6064468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1. Качественная схема работы абсолютного атомного гравиметра.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125;p4">
            <a:extLst>
              <a:ext uri="{FF2B5EF4-FFF2-40B4-BE49-F238E27FC236}">
                <a16:creationId xmlns="" xmlns:a16="http://schemas.microsoft.com/office/drawing/2014/main" id="{0528E022-B0EE-44E1-9B9B-C44D66059416}"/>
              </a:ext>
            </a:extLst>
          </p:cNvPr>
          <p:cNvSpPr/>
          <p:nvPr/>
        </p:nvSpPr>
        <p:spPr>
          <a:xfrm>
            <a:off x="2504131" y="94718"/>
            <a:ext cx="6910755" cy="47118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126;p4">
            <a:extLst>
              <a:ext uri="{FF2B5EF4-FFF2-40B4-BE49-F238E27FC236}">
                <a16:creationId xmlns="" xmlns:a16="http://schemas.microsoft.com/office/drawing/2014/main" id="{8B71CD09-2C30-4A14-A5E6-945A3E41767C}"/>
              </a:ext>
            </a:extLst>
          </p:cNvPr>
          <p:cNvSpPr txBox="1"/>
          <p:nvPr/>
        </p:nvSpPr>
        <p:spPr>
          <a:xfrm>
            <a:off x="5770500" y="1251308"/>
            <a:ext cx="5583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атомов в магнитооптическую ловушку (МОЛ) с целью их захвата и охлаждения до низких температур.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Высвобождение облака атомов из МОЛ.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немагнитном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квантовом состоянии.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Скоростная селекция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атомной интерференции.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122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72B87A89-7551-4824-8615-731759BBE0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="" xmlns:a16="http://schemas.microsoft.com/office/drawing/2014/main" id="{5CCDE318-2DE6-4106-93EA-036BD6D100DE}"/>
              </a:ext>
            </a:extLst>
          </p:cNvPr>
          <p:cNvCxnSpPr>
            <a:cxnSpLocks/>
          </p:cNvCxnSpPr>
          <p:nvPr/>
        </p:nvCxnSpPr>
        <p:spPr>
          <a:xfrm>
            <a:off x="4154408" y="5083310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5E5DF398-F243-4F0E-A62C-4F6A89B7A350}"/>
              </a:ext>
            </a:extLst>
          </p:cNvPr>
          <p:cNvCxnSpPr>
            <a:cxnSpLocks/>
          </p:cNvCxnSpPr>
          <p:nvPr/>
        </p:nvCxnSpPr>
        <p:spPr>
          <a:xfrm>
            <a:off x="4154408" y="5490747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120E5FCB-6802-41EE-AF1C-B93B53B6BC33}"/>
              </a:ext>
            </a:extLst>
          </p:cNvPr>
          <p:cNvSpPr txBox="1"/>
          <p:nvPr/>
        </p:nvSpPr>
        <p:spPr>
          <a:xfrm>
            <a:off x="3415369" y="5336858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6D517324-7FE5-4882-9426-F67C45D19FA7}"/>
              </a:ext>
            </a:extLst>
          </p:cNvPr>
          <p:cNvSpPr txBox="1"/>
          <p:nvPr/>
        </p:nvSpPr>
        <p:spPr>
          <a:xfrm>
            <a:off x="3415369" y="490437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910418A-82E1-49CA-A1FD-09BAA9D7BC4F}"/>
              </a:ext>
            </a:extLst>
          </p:cNvPr>
          <p:cNvSpPr txBox="1"/>
          <p:nvPr/>
        </p:nvSpPr>
        <p:spPr>
          <a:xfrm>
            <a:off x="2783997" y="5119819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="" xmlns:a16="http://schemas.microsoft.com/office/drawing/2014/main" id="{22406656-00BF-419E-A56D-FBDAA937C00F}"/>
              </a:ext>
            </a:extLst>
          </p:cNvPr>
          <p:cNvCxnSpPr>
            <a:cxnSpLocks/>
          </p:cNvCxnSpPr>
          <p:nvPr/>
        </p:nvCxnSpPr>
        <p:spPr>
          <a:xfrm>
            <a:off x="4154404" y="2620647"/>
            <a:ext cx="10271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6817A250-6EFC-4CA4-BB0B-65EF0D65C2C6}"/>
              </a:ext>
            </a:extLst>
          </p:cNvPr>
          <p:cNvSpPr txBox="1"/>
          <p:nvPr/>
        </p:nvSpPr>
        <p:spPr>
          <a:xfrm>
            <a:off x="3381520" y="244834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="" xmlns:a16="http://schemas.microsoft.com/office/drawing/2014/main" id="{9720B3EC-F913-47F7-82EC-090481520512}"/>
              </a:ext>
            </a:extLst>
          </p:cNvPr>
          <p:cNvCxnSpPr>
            <a:cxnSpLocks/>
          </p:cNvCxnSpPr>
          <p:nvPr/>
        </p:nvCxnSpPr>
        <p:spPr>
          <a:xfrm>
            <a:off x="4154405" y="2247533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21A83279-BFA3-48FB-94C3-37675D6209FE}"/>
              </a:ext>
            </a:extLst>
          </p:cNvPr>
          <p:cNvSpPr txBox="1"/>
          <p:nvPr/>
        </p:nvSpPr>
        <p:spPr>
          <a:xfrm>
            <a:off x="3381520" y="20888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="" xmlns:a16="http://schemas.microsoft.com/office/drawing/2014/main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4154405" y="1891731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7E18D490-C8D5-465B-A941-DDA6783F2AAF}"/>
              </a:ext>
            </a:extLst>
          </p:cNvPr>
          <p:cNvSpPr txBox="1"/>
          <p:nvPr/>
        </p:nvSpPr>
        <p:spPr>
          <a:xfrm>
            <a:off x="3381520" y="17401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="" xmlns:a16="http://schemas.microsoft.com/office/drawing/2014/main" id="{989B3E6C-347C-4EC3-806D-2660834F8176}"/>
              </a:ext>
            </a:extLst>
          </p:cNvPr>
          <p:cNvCxnSpPr>
            <a:cxnSpLocks/>
          </p:cNvCxnSpPr>
          <p:nvPr/>
        </p:nvCxnSpPr>
        <p:spPr>
          <a:xfrm>
            <a:off x="4154405" y="1558586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E1B80C94-7C79-4358-9A1D-8000FE71BBF4}"/>
              </a:ext>
            </a:extLst>
          </p:cNvPr>
          <p:cNvSpPr txBox="1"/>
          <p:nvPr/>
        </p:nvSpPr>
        <p:spPr>
          <a:xfrm>
            <a:off x="3366333" y="140469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47A2DEED-DC62-49B3-814C-74DA5E975204}"/>
              </a:ext>
            </a:extLst>
          </p:cNvPr>
          <p:cNvSpPr txBox="1"/>
          <p:nvPr/>
        </p:nvSpPr>
        <p:spPr>
          <a:xfrm>
            <a:off x="2783997" y="1894065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="" xmlns:a16="http://schemas.microsoft.com/office/drawing/2014/main" id="{23BC8F99-0400-4CAF-A9F0-56DD297FD78C}"/>
              </a:ext>
            </a:extLst>
          </p:cNvPr>
          <p:cNvCxnSpPr>
            <a:cxnSpLocks/>
          </p:cNvCxnSpPr>
          <p:nvPr/>
        </p:nvCxnSpPr>
        <p:spPr>
          <a:xfrm flipV="1">
            <a:off x="4241027" y="1908881"/>
            <a:ext cx="0" cy="356400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="" xmlns:a16="http://schemas.microsoft.com/office/drawing/2014/main" id="{C23A9834-42A3-48A4-8E9B-1611BC7F986B}"/>
              </a:ext>
            </a:extLst>
          </p:cNvPr>
          <p:cNvCxnSpPr>
            <a:endCxn id="21" idx="3"/>
          </p:cNvCxnSpPr>
          <p:nvPr/>
        </p:nvCxnSpPr>
        <p:spPr>
          <a:xfrm>
            <a:off x="4349620" y="1891731"/>
            <a:ext cx="0" cy="3166533"/>
          </a:xfrm>
          <a:prstGeom prst="straightConnector1">
            <a:avLst/>
          </a:prstGeom>
          <a:ln w="190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="" xmlns:a16="http://schemas.microsoft.com/office/drawing/2014/main" id="{5997D986-A325-49F3-867E-49464F064411}"/>
              </a:ext>
            </a:extLst>
          </p:cNvPr>
          <p:cNvCxnSpPr>
            <a:cxnSpLocks/>
          </p:cNvCxnSpPr>
          <p:nvPr/>
        </p:nvCxnSpPr>
        <p:spPr>
          <a:xfrm flipV="1">
            <a:off x="4484914" y="1712474"/>
            <a:ext cx="0" cy="334578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oogle Shape;175;p23">
            <a:extLst>
              <a:ext uri="{FF2B5EF4-FFF2-40B4-BE49-F238E27FC236}">
                <a16:creationId xmlns="" xmlns:a16="http://schemas.microsoft.com/office/drawing/2014/main" id="{17DC9342-B65E-41BC-BD77-0B6FB02AB970}"/>
              </a:ext>
            </a:extLst>
          </p:cNvPr>
          <p:cNvCxnSpPr>
            <a:cxnSpLocks/>
          </p:cNvCxnSpPr>
          <p:nvPr/>
        </p:nvCxnSpPr>
        <p:spPr>
          <a:xfrm>
            <a:off x="4484914" y="1558585"/>
            <a:ext cx="0" cy="15388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stealth" w="sm" len="sm"/>
            <a:tailEnd type="stealth" w="sm" len="sm"/>
          </a:ln>
        </p:spPr>
      </p:cxnSp>
      <p:sp>
        <p:nvSpPr>
          <p:cNvPr id="46" name="Google Shape;176;p23">
            <a:extLst>
              <a:ext uri="{FF2B5EF4-FFF2-40B4-BE49-F238E27FC236}">
                <a16:creationId xmlns="" xmlns:a16="http://schemas.microsoft.com/office/drawing/2014/main" id="{DAA8F91E-2DC0-4CCB-8E9A-95ED221A0A3A}"/>
              </a:ext>
            </a:extLst>
          </p:cNvPr>
          <p:cNvSpPr txBox="1"/>
          <p:nvPr/>
        </p:nvSpPr>
        <p:spPr>
          <a:xfrm>
            <a:off x="4444539" y="1496408"/>
            <a:ext cx="2891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="" xmlns:a16="http://schemas.microsoft.com/office/drawing/2014/main" id="{78F6B650-06F5-47DF-8E71-D3D068F3B22E}"/>
              </a:ext>
            </a:extLst>
          </p:cNvPr>
          <p:cNvCxnSpPr/>
          <p:nvPr/>
        </p:nvCxnSpPr>
        <p:spPr>
          <a:xfrm flipV="1">
            <a:off x="4603102" y="1908881"/>
            <a:ext cx="0" cy="314938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="" xmlns:a16="http://schemas.microsoft.com/office/drawing/2014/main" id="{B742686C-22FA-449A-8DB3-14F561A4C974}"/>
              </a:ext>
            </a:extLst>
          </p:cNvPr>
          <p:cNvCxnSpPr/>
          <p:nvPr/>
        </p:nvCxnSpPr>
        <p:spPr>
          <a:xfrm>
            <a:off x="4733730" y="1908881"/>
            <a:ext cx="0" cy="3564000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="" xmlns:a16="http://schemas.microsoft.com/office/drawing/2014/main" id="{0E231D11-077E-4866-8E6D-6574187C5101}"/>
              </a:ext>
            </a:extLst>
          </p:cNvPr>
          <p:cNvCxnSpPr/>
          <p:nvPr/>
        </p:nvCxnSpPr>
        <p:spPr>
          <a:xfrm>
            <a:off x="4889240" y="2620647"/>
            <a:ext cx="0" cy="2852234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="" xmlns:a16="http://schemas.microsoft.com/office/drawing/2014/main" id="{42AE88B1-2F98-4563-A269-6DD1248E1D59}"/>
              </a:ext>
            </a:extLst>
          </p:cNvPr>
          <p:cNvCxnSpPr/>
          <p:nvPr/>
        </p:nvCxnSpPr>
        <p:spPr>
          <a:xfrm flipV="1">
            <a:off x="5044750" y="5083310"/>
            <a:ext cx="0" cy="39600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556F8164-A9B7-49CA-A271-A84BA7A204FB}"/>
              </a:ext>
            </a:extLst>
          </p:cNvPr>
          <p:cNvSpPr txBox="1"/>
          <p:nvPr/>
        </p:nvSpPr>
        <p:spPr>
          <a:xfrm>
            <a:off x="2763320" y="3426485"/>
            <a:ext cx="1518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lang="ru-RU" sz="3600" b="1" dirty="0"/>
          </a:p>
        </p:txBody>
      </p:sp>
      <p:cxnSp>
        <p:nvCxnSpPr>
          <p:cNvPr id="76" name="Прямая соединительная линия 75">
            <a:extLst>
              <a:ext uri="{FF2B5EF4-FFF2-40B4-BE49-F238E27FC236}">
                <a16:creationId xmlns="" xmlns:a16="http://schemas.microsoft.com/office/drawing/2014/main" id="{FAC3F817-C946-4477-B336-35A6C976B726}"/>
              </a:ext>
            </a:extLst>
          </p:cNvPr>
          <p:cNvCxnSpPr/>
          <p:nvPr/>
        </p:nvCxnSpPr>
        <p:spPr>
          <a:xfrm>
            <a:off x="6345674" y="3038736"/>
            <a:ext cx="4789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="" xmlns:a16="http://schemas.microsoft.com/office/drawing/2014/main" id="{2644F219-5B01-466C-B5A0-7CA19683D5C3}"/>
              </a:ext>
            </a:extLst>
          </p:cNvPr>
          <p:cNvCxnSpPr/>
          <p:nvPr/>
        </p:nvCxnSpPr>
        <p:spPr>
          <a:xfrm>
            <a:off x="6345673" y="3260999"/>
            <a:ext cx="47897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="" xmlns:a16="http://schemas.microsoft.com/office/drawing/2014/main" id="{18E6020C-8550-4EDA-B364-F466A7546F5D}"/>
              </a:ext>
            </a:extLst>
          </p:cNvPr>
          <p:cNvCxnSpPr/>
          <p:nvPr/>
        </p:nvCxnSpPr>
        <p:spPr>
          <a:xfrm>
            <a:off x="6345673" y="3454505"/>
            <a:ext cx="47897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="" xmlns:a16="http://schemas.microsoft.com/office/drawing/2014/main" id="{C1FA5A2C-5AF7-4EC1-B65F-B002609E5B31}"/>
              </a:ext>
            </a:extLst>
          </p:cNvPr>
          <p:cNvCxnSpPr/>
          <p:nvPr/>
        </p:nvCxnSpPr>
        <p:spPr>
          <a:xfrm>
            <a:off x="6345671" y="3662640"/>
            <a:ext cx="4789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>
            <a:extLst>
              <a:ext uri="{FF2B5EF4-FFF2-40B4-BE49-F238E27FC236}">
                <a16:creationId xmlns="" xmlns:a16="http://schemas.microsoft.com/office/drawing/2014/main" id="{6E27222D-8776-4AE0-9C5D-872881104A4B}"/>
              </a:ext>
            </a:extLst>
          </p:cNvPr>
          <p:cNvCxnSpPr/>
          <p:nvPr/>
        </p:nvCxnSpPr>
        <p:spPr>
          <a:xfrm>
            <a:off x="6345671" y="3879851"/>
            <a:ext cx="47897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="" xmlns:a16="http://schemas.microsoft.com/office/drawing/2014/main" id="{638ABE0B-2466-40B3-BD50-84935F2CB835}"/>
              </a:ext>
            </a:extLst>
          </p:cNvPr>
          <p:cNvSpPr txBox="1"/>
          <p:nvPr/>
        </p:nvSpPr>
        <p:spPr>
          <a:xfrm>
            <a:off x="6917094" y="2602233"/>
            <a:ext cx="378441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Легенда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Охлаждение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перекачка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в ∣F = 2⟩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2⟩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1⟩ 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СВЧ перекачка 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в ∣F = 2⟩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82" name="Google Shape;166;p23">
            <a:extLst>
              <a:ext uri="{FF2B5EF4-FFF2-40B4-BE49-F238E27FC236}">
                <a16:creationId xmlns="" xmlns:a16="http://schemas.microsoft.com/office/drawing/2014/main" id="{6D297ADD-D5CE-42CB-98CE-E84170ED1773}"/>
              </a:ext>
            </a:extLst>
          </p:cNvPr>
          <p:cNvSpPr/>
          <p:nvPr/>
        </p:nvSpPr>
        <p:spPr>
          <a:xfrm>
            <a:off x="2541453" y="22789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атома </a:t>
            </a:r>
            <a:r>
              <a:rPr lang="ru-RU" sz="2400" b="1" i="0" u="none" strike="noStrike" cap="none" baseline="3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80;p23">
            <a:extLst>
              <a:ext uri="{FF2B5EF4-FFF2-40B4-BE49-F238E27FC236}">
                <a16:creationId xmlns="" xmlns:a16="http://schemas.microsoft.com/office/drawing/2014/main" id="{BD28C63D-AF41-4980-BBD0-F20A7714BD55}"/>
              </a:ext>
            </a:extLst>
          </p:cNvPr>
          <p:cNvSpPr txBox="1"/>
          <p:nvPr/>
        </p:nvSpPr>
        <p:spPr>
          <a:xfrm>
            <a:off x="2714634" y="5803110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Схема переходов, используемых в эксперименте.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240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7A0E032A-E4F4-4CC1-9657-BB6FFE5A4A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/>
          </a:p>
        </p:txBody>
      </p:sp>
      <p:sp>
        <p:nvSpPr>
          <p:cNvPr id="3" name="Google Shape;179;p23">
            <a:extLst>
              <a:ext uri="{FF2B5EF4-FFF2-40B4-BE49-F238E27FC236}">
                <a16:creationId xmlns="" xmlns:a16="http://schemas.microsoft.com/office/drawing/2014/main" id="{2E179253-D4AE-4831-935C-1868DD4633B1}"/>
              </a:ext>
            </a:extLst>
          </p:cNvPr>
          <p:cNvSpPr txBox="1"/>
          <p:nvPr/>
        </p:nvSpPr>
        <p:spPr>
          <a:xfrm>
            <a:off x="3386716" y="943692"/>
            <a:ext cx="4539639" cy="447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охлаждения и пленения атомов использовалась частота, отстроенная от перехода ∣F = 2⟩ → ∣F’ = 3⟩ в длинноволновую область спектра на величину ~13 МГц.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перекачки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 состояние ∣F =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использовался переход ∣F = 1⟩ → ∣F’ = 2⟩.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накачки в состояние ∣F = 1⟩ использовался переход ∣F = 2⟩ → ∣F’ = 2⟩.</a:t>
            </a:r>
          </a:p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подготовки атомов в немагнитное состояние ∣F = 1,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 = 0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 использовался переход ∣F = 1⟩ → ∣F’ = 0⟩.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перекачки атомов из состояния ∣F = 1⟩  в ∣F = 2⟩</a:t>
            </a:r>
            <a:r>
              <a:rPr lang="en-US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 целью оценки эффективности оптической накачки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использовалось СВЧ излучение на частоте часового перехода </a:t>
            </a:r>
            <a:r>
              <a:rPr lang="ru-RU" sz="1600" b="0" i="0" u="non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Rb.</a:t>
            </a:r>
            <a:endParaRPr sz="1600" b="0" i="0" u="non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1653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1831757" y="4905634"/>
            <a:ext cx="79686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8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Рис.3. Оптическая схема формирования лазерного излучения, используемого для лазерного охлаждения и пленения атомов рубидия (a) и осуществления двухфотонных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в атомном интерферометре (b). 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18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AOM – акустооптический модулятор, EOM – электрооптический модулятор, ECDL – диодный лазер с внешним резонатором, λ/2 – полуволновая пластинка, λ/4 – четвертьволновая пластинка,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Iris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диафрагма, M – плоское зеркало, СM – сферическое зеркало,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линза, OI – оптический изолятор Фарадея, PBS – поляризационный делительный кубик, TA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ampl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оптический усилитель,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частота модуляции.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8977" y="1008375"/>
            <a:ext cx="7345909" cy="3815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758897" y="712882"/>
            <a:ext cx="4913700" cy="354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формирования лазерного излучения, используемого для лазерного охлаждение и пленения атомов рубидия: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Выполнена на основе лазерной системы Toptica DL pro с выходной мощность более 1 Вт и длиной излучения около 780.24 нм.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формирования охлаждающих пучков излучение на выходе из лазерной системы дважды проходит через АОМ для создания отстройки, контролируемой во времени.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Перекачивающее излучение формировалось с помощью ЭОМ. Импульсы этого излучения формировались с помощью АОМ.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Сдувающий» пучок формировался с помощью АОМ с частотой, равной частоте перехода </a:t>
            </a:r>
            <a:r>
              <a:rPr lang="ru-RU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2⟩ → ∣F’ = 3⟩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1050947" y="4137012"/>
            <a:ext cx="432960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данной схемы по сравнению с предыдущей установкой:</a:t>
            </a:r>
            <a:b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возможность независимого контроля частоты охлаждающего/перекачивающего и т.д. излучения;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АОМ в схеме стабилизации частоты: отсутствие паразитной частотной модуляции в излучении лазера, отсутствие паразитной амплитудной модуляции пробного пучка = улучшена эффективность стабилизации частоты.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Исключен волоконный смеситель, приводящий к паразитным флуктуациям в поляризации охлаждающих пучков.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7030619" y="-17106"/>
            <a:ext cx="55797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справа представлена схема формирования лазерного излучения, используемая для осуществления двухфотонных Рамановских переходов в атомном интерферометре.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465550" y="0"/>
            <a:ext cx="6096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Была разработана и реализована оптическая схема формирования лазерного излучения, используемого для лазерного охлаждения и пленения атомов рубидия, в чем я принимал свое непосредственное участие.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6926419" y="861282"/>
            <a:ext cx="4506684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оптической схеме b излучение рамановского пучка I1 с частотой излучения ω1 генерировалось волоконной лазерной системой: лазер Precilasers с λ = 1560 нм; усилитель/удвоитель частоты EYLSA Keopsys).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Излучение пучка I2 с частотой ω2 формировалось спомощью фазового электрооптического модулятора (ЭОМ) - положительная полоса первого порядка. Отношение интенсивностей рамановских пучков I1/I2 и отстройка δω контролируется мощностью и частотой СВЧ-генератора соответственно.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Импульсы рамановского излучения формировались с помощью акустооптического модулятора (АОМ) и доставлялись к вакуумной камере через одномодовое волокно и колиматор с сохранением поляризации.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1953208" y="5316316"/>
            <a:ext cx="819227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4. Трехмерная модель экспериментальной установки. На рисунке представлены: вакуумная камера, три пары компенсационных магнитных катушек, охлаждающие лазерные пучки (розовые),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пучки (фиолетовые), пробный пучок (жёлтый), оптика (коллиматоры,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зеркала,линзы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и видеокамера. На рисунке не показаны четвертьволновые пластинки и катушка анти-Гельмгольца(фронтальная сторона)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2448148" y="-30071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установка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1433" y="782703"/>
            <a:ext cx="8824184" cy="444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3347656" y="1166400"/>
            <a:ext cx="5628000" cy="319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Гравиметр состоит из: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Вакуумной камеры в форме октагон, с 10 окнами для ввода излучения.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Трёх пар взаимно ортогональных встречных пучков с круговой поляризацией, осуществляющих охлаждение и пленение атомов, а также вместе с охлаждающими пучками в вакуумную камеру попадает излучение накачки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Внешних катушек в конфигурации анти-Гельмгольца, создающих квадрупольное магнитное поле для работы МОТ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Наружных катушек, компенсирующих остаточное магнитное поле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пучка, используемого для селекции атомов по состояниям, скоростям, и для интерферометрии.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Видеокамеры, используемой для регистрации излучения.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12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Методы подготовки атомов в немагнитном квантовое состояние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2099529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2608980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3141243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3662718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176523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2608980" y="42062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3141243" y="42062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658364" y="42062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89780" y="3438848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= 2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1389780" y="4052403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= 1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3050843" y="42730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2467368" y="42730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3592009" y="42730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3050843" y="317521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592008" y="317521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2509678" y="317461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4133173" y="317461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1978224" y="317461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3103059" y="3707216"/>
            <a:ext cx="20269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1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Перекачивающее СВЧ излучение</a:t>
            </a:r>
          </a:p>
        </p:txBody>
      </p:sp>
      <p:cxnSp>
        <p:nvCxnSpPr>
          <p:cNvPr id="32" name="Прямая со стрелкой 31"/>
          <p:cNvCxnSpPr/>
          <p:nvPr/>
        </p:nvCxnSpPr>
        <p:spPr>
          <a:xfrm flipV="1">
            <a:off x="3823827" y="2191174"/>
            <a:ext cx="0" cy="13432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582849" y="2428457"/>
            <a:ext cx="139451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100" dirty="0" smtClean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Сдувающее </a:t>
            </a:r>
            <a:r>
              <a:rPr lang="ru-RU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оптическое излучение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983" y="1255997"/>
            <a:ext cx="416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оптического и СВЧ излучения</a:t>
            </a:r>
          </a:p>
        </p:txBody>
      </p:sp>
      <p:cxnSp>
        <p:nvCxnSpPr>
          <p:cNvPr id="39" name="Прямая соединительная линия 38"/>
          <p:cNvCxnSpPr>
            <a:cxnSpLocks/>
          </p:cNvCxnSpPr>
          <p:nvPr/>
        </p:nvCxnSpPr>
        <p:spPr>
          <a:xfrm>
            <a:off x="2101029" y="2064329"/>
            <a:ext cx="2600475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591358" y="4864503"/>
            <a:ext cx="305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Потери не менее 80%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9927" y="1240770"/>
            <a:ext cx="3613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немагнитное состояние</a:t>
            </a:r>
          </a:p>
        </p:txBody>
      </p:sp>
      <p:cxnSp>
        <p:nvCxnSpPr>
          <p:cNvPr id="43" name="Прямая соединительная линия 42"/>
          <p:cNvCxnSpPr/>
          <p:nvPr/>
        </p:nvCxnSpPr>
        <p:spPr>
          <a:xfrm>
            <a:off x="8347021" y="42238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/>
          <p:nvPr/>
        </p:nvCxnSpPr>
        <p:spPr>
          <a:xfrm>
            <a:off x="8879284" y="42238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>
            <a:off x="9396405" y="42238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410849" y="4070003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= 1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8788884" y="42906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8205409" y="42906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9330050" y="42906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cxnSp>
        <p:nvCxnSpPr>
          <p:cNvPr id="50" name="Прямая соединительная линия 49"/>
          <p:cNvCxnSpPr/>
          <p:nvPr/>
        </p:nvCxnSpPr>
        <p:spPr>
          <a:xfrm>
            <a:off x="8879284" y="231327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764415" y="1938698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m’=0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7410849" y="2159387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F’ = 0</a:t>
            </a:r>
            <a:endParaRPr lang="ru-RU" dirty="0"/>
          </a:p>
        </p:txBody>
      </p:sp>
      <p:cxnSp>
        <p:nvCxnSpPr>
          <p:cNvPr id="54" name="Прямая со стрелкой 53"/>
          <p:cNvCxnSpPr/>
          <p:nvPr/>
        </p:nvCxnSpPr>
        <p:spPr>
          <a:xfrm flipV="1">
            <a:off x="8512484" y="2395641"/>
            <a:ext cx="414698" cy="1794851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 flipH="1" flipV="1">
            <a:off x="9166863" y="2413479"/>
            <a:ext cx="395005" cy="177701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255038" y="2713103"/>
            <a:ext cx="20269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1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Накачивающее оптическое излучение с круговой поляризацией</a:t>
            </a:r>
          </a:p>
        </p:txBody>
      </p:sp>
      <p:cxnSp>
        <p:nvCxnSpPr>
          <p:cNvPr id="61" name="Прямая со стрелкой 60"/>
          <p:cNvCxnSpPr/>
          <p:nvPr/>
        </p:nvCxnSpPr>
        <p:spPr>
          <a:xfrm>
            <a:off x="9044747" y="2395641"/>
            <a:ext cx="0" cy="1794850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478389" y="4864503"/>
            <a:ext cx="305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Потери менее 10%</a:t>
            </a:r>
          </a:p>
        </p:txBody>
      </p:sp>
      <p:cxnSp>
        <p:nvCxnSpPr>
          <p:cNvPr id="53" name="Прямая со стрелкой 52">
            <a:extLst>
              <a:ext uri="{FF2B5EF4-FFF2-40B4-BE49-F238E27FC236}">
                <a16:creationId xmlns="" xmlns:a16="http://schemas.microsoft.com/office/drawing/2014/main" id="{093BFED4-00B0-4954-B0C0-BC8BFCB6A455}"/>
              </a:ext>
            </a:extLst>
          </p:cNvPr>
          <p:cNvCxnSpPr/>
          <p:nvPr/>
        </p:nvCxnSpPr>
        <p:spPr>
          <a:xfrm flipV="1">
            <a:off x="2774443" y="2191173"/>
            <a:ext cx="0" cy="13432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="" xmlns:a16="http://schemas.microsoft.com/office/drawing/2014/main" id="{B3A64612-244A-4437-83D8-3281AD8C3838}"/>
              </a:ext>
            </a:extLst>
          </p:cNvPr>
          <p:cNvCxnSpPr/>
          <p:nvPr/>
        </p:nvCxnSpPr>
        <p:spPr>
          <a:xfrm flipV="1">
            <a:off x="2264992" y="2191172"/>
            <a:ext cx="0" cy="13432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="" xmlns:a16="http://schemas.microsoft.com/office/drawing/2014/main" id="{404D9E25-702F-4243-9D38-880DBFB63DC6}"/>
              </a:ext>
            </a:extLst>
          </p:cNvPr>
          <p:cNvCxnSpPr/>
          <p:nvPr/>
        </p:nvCxnSpPr>
        <p:spPr>
          <a:xfrm flipV="1">
            <a:off x="4341986" y="2198097"/>
            <a:ext cx="0" cy="13432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32648467-0236-4E54-ABB1-47187F23263E}"/>
              </a:ext>
            </a:extLst>
          </p:cNvPr>
          <p:cNvSpPr txBox="1"/>
          <p:nvPr/>
        </p:nvSpPr>
        <p:spPr>
          <a:xfrm>
            <a:off x="1389780" y="1901927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F’ = 3</a:t>
            </a:r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="" xmlns:a16="http://schemas.microsoft.com/office/drawing/2014/main" id="{9E732432-0FE8-4ED2-905F-57EE8FF88059}"/>
              </a:ext>
            </a:extLst>
          </p:cNvPr>
          <p:cNvCxnSpPr>
            <a:cxnSpLocks/>
          </p:cNvCxnSpPr>
          <p:nvPr/>
        </p:nvCxnSpPr>
        <p:spPr>
          <a:xfrm>
            <a:off x="3303037" y="3651380"/>
            <a:ext cx="0" cy="521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743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>
          <a:xfrm>
            <a:off x="8565056" y="6076998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13</a:t>
            </a:fld>
            <a:endParaRPr lang="ru-RU" dirty="0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Методы подготовки атомов в немагнитном квантовое состояние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051" y="1663271"/>
            <a:ext cx="1934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оптического и СВЧ излучения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71767" y="4759033"/>
            <a:ext cx="2167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немагнитное состояние</a:t>
            </a:r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3929374" y="210572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4438825" y="210572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4971088" y="210572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5492563" y="210572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6006368" y="210572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4438825" y="2719681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4971088" y="2719681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5488209" y="2719681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219625" y="1952237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219625" y="2565792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80688" y="278648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4297213" y="278648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5421854" y="278648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4880688" y="168860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421853" y="16886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4339523" y="168800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5963018" y="1688003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808069" y="168800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558129" y="1174570"/>
            <a:ext cx="2675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Перекач</a:t>
            </a: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ка в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</a:t>
            </a:r>
            <a:r>
              <a:rPr lang="en-US" b="1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2, m=0</a:t>
            </a:r>
            <a:r>
              <a:rPr lang="ru-RU" b="1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</a:t>
            </a: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СВЧ </a:t>
            </a: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излучением</a:t>
            </a:r>
            <a:endParaRPr lang="ru-RU" b="1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6" name="Прямая со стрелкой 55">
            <a:extLst>
              <a:ext uri="{FF2B5EF4-FFF2-40B4-BE49-F238E27FC236}">
                <a16:creationId xmlns="" xmlns:a16="http://schemas.microsoft.com/office/drawing/2014/main" id="{9E732432-0FE8-4ED2-905F-57EE8FF88059}"/>
              </a:ext>
            </a:extLst>
          </p:cNvPr>
          <p:cNvCxnSpPr>
            <a:cxnSpLocks/>
          </p:cNvCxnSpPr>
          <p:nvPr/>
        </p:nvCxnSpPr>
        <p:spPr>
          <a:xfrm>
            <a:off x="5136551" y="2220304"/>
            <a:ext cx="585" cy="4010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5" name="Овал 84"/>
          <p:cNvSpPr/>
          <p:nvPr/>
        </p:nvSpPr>
        <p:spPr>
          <a:xfrm>
            <a:off x="4004823" y="202456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4521809" y="2030242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572700" y="2031989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089686" y="202015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5041656" y="2020470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97" name="Прямая соединительная линия 96"/>
          <p:cNvCxnSpPr/>
          <p:nvPr/>
        </p:nvCxnSpPr>
        <p:spPr>
          <a:xfrm>
            <a:off x="6911246" y="210572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/>
          <p:cNvCxnSpPr/>
          <p:nvPr/>
        </p:nvCxnSpPr>
        <p:spPr>
          <a:xfrm>
            <a:off x="7420697" y="210572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/>
          <p:nvPr/>
        </p:nvCxnSpPr>
        <p:spPr>
          <a:xfrm>
            <a:off x="7952960" y="210572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/>
          <p:nvPr/>
        </p:nvCxnSpPr>
        <p:spPr>
          <a:xfrm>
            <a:off x="8474435" y="210572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Прямая соединительная линия 100"/>
          <p:cNvCxnSpPr/>
          <p:nvPr/>
        </p:nvCxnSpPr>
        <p:spPr>
          <a:xfrm>
            <a:off x="8988240" y="2105726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Прямая соединительная линия 101"/>
          <p:cNvCxnSpPr/>
          <p:nvPr/>
        </p:nvCxnSpPr>
        <p:spPr>
          <a:xfrm>
            <a:off x="7420697" y="2719681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102"/>
          <p:cNvCxnSpPr/>
          <p:nvPr/>
        </p:nvCxnSpPr>
        <p:spPr>
          <a:xfrm>
            <a:off x="7952960" y="2719681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Прямая соединительная линия 103"/>
          <p:cNvCxnSpPr/>
          <p:nvPr/>
        </p:nvCxnSpPr>
        <p:spPr>
          <a:xfrm>
            <a:off x="8470081" y="2719681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7862560" y="278648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08" name="TextBox 107"/>
          <p:cNvSpPr txBox="1"/>
          <p:nvPr/>
        </p:nvSpPr>
        <p:spPr>
          <a:xfrm>
            <a:off x="7279085" y="278648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09" name="TextBox 108"/>
          <p:cNvSpPr txBox="1"/>
          <p:nvPr/>
        </p:nvSpPr>
        <p:spPr>
          <a:xfrm>
            <a:off x="8403726" y="278648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10" name="TextBox 109"/>
          <p:cNvSpPr txBox="1"/>
          <p:nvPr/>
        </p:nvSpPr>
        <p:spPr>
          <a:xfrm>
            <a:off x="7862560" y="168860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11" name="TextBox 110"/>
          <p:cNvSpPr txBox="1"/>
          <p:nvPr/>
        </p:nvSpPr>
        <p:spPr>
          <a:xfrm>
            <a:off x="8403725" y="16886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12" name="TextBox 111"/>
          <p:cNvSpPr txBox="1"/>
          <p:nvPr/>
        </p:nvSpPr>
        <p:spPr>
          <a:xfrm>
            <a:off x="7321395" y="168800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13" name="TextBox 112"/>
          <p:cNvSpPr txBox="1"/>
          <p:nvPr/>
        </p:nvSpPr>
        <p:spPr>
          <a:xfrm>
            <a:off x="8944890" y="1688003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14" name="TextBox 113"/>
          <p:cNvSpPr txBox="1"/>
          <p:nvPr/>
        </p:nvSpPr>
        <p:spPr>
          <a:xfrm>
            <a:off x="6789941" y="168800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15" name="TextBox 114"/>
          <p:cNvSpPr txBox="1"/>
          <p:nvPr/>
        </p:nvSpPr>
        <p:spPr>
          <a:xfrm>
            <a:off x="6529236" y="1173215"/>
            <a:ext cx="3178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Удаление</a:t>
            </a: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оптическим излучением</a:t>
            </a:r>
            <a:endParaRPr lang="ru-RU" b="1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7" name="Овал 116"/>
          <p:cNvSpPr/>
          <p:nvPr/>
        </p:nvSpPr>
        <p:spPr>
          <a:xfrm>
            <a:off x="6986695" y="202456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8" name="Овал 117"/>
          <p:cNvSpPr/>
          <p:nvPr/>
        </p:nvSpPr>
        <p:spPr>
          <a:xfrm>
            <a:off x="7503681" y="2030242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9" name="Овал 118"/>
          <p:cNvSpPr/>
          <p:nvPr/>
        </p:nvSpPr>
        <p:spPr>
          <a:xfrm>
            <a:off x="8554572" y="2031989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20" name="Овал 119"/>
          <p:cNvSpPr/>
          <p:nvPr/>
        </p:nvSpPr>
        <p:spPr>
          <a:xfrm>
            <a:off x="9071558" y="202015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21" name="Овал 120"/>
          <p:cNvSpPr/>
          <p:nvPr/>
        </p:nvSpPr>
        <p:spPr>
          <a:xfrm>
            <a:off x="8036926" y="2632995"/>
            <a:ext cx="172998" cy="14747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27" name="Прямая со стрелкой 126"/>
          <p:cNvCxnSpPr/>
          <p:nvPr/>
        </p:nvCxnSpPr>
        <p:spPr>
          <a:xfrm flipH="1" flipV="1">
            <a:off x="6977407" y="1931326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Прямая со стрелкой 127"/>
          <p:cNvCxnSpPr/>
          <p:nvPr/>
        </p:nvCxnSpPr>
        <p:spPr>
          <a:xfrm flipH="1" flipV="1">
            <a:off x="7493853" y="1934388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/>
          <p:nvPr/>
        </p:nvCxnSpPr>
        <p:spPr>
          <a:xfrm flipH="1" flipV="1">
            <a:off x="8533548" y="1941058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/>
          <p:nvPr/>
        </p:nvCxnSpPr>
        <p:spPr>
          <a:xfrm flipH="1" flipV="1">
            <a:off x="9060550" y="1931326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Прямая соединительная линия 140">
            <a:extLst>
              <a:ext uri="{FF2B5EF4-FFF2-40B4-BE49-F238E27FC236}">
                <a16:creationId xmlns="" xmlns:a16="http://schemas.microsoft.com/office/drawing/2014/main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4108098" y="4508067"/>
            <a:ext cx="18093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="" xmlns:a16="http://schemas.microsoft.com/office/drawing/2014/main" id="{7E18D490-C8D5-465B-A941-DDA6783F2AAF}"/>
              </a:ext>
            </a:extLst>
          </p:cNvPr>
          <p:cNvSpPr txBox="1"/>
          <p:nvPr/>
        </p:nvSpPr>
        <p:spPr>
          <a:xfrm>
            <a:off x="3123057" y="435116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="" xmlns:a16="http://schemas.microsoft.com/office/drawing/2014/main" id="{47A2DEED-DC62-49B3-814C-74DA5E975204}"/>
              </a:ext>
            </a:extLst>
          </p:cNvPr>
          <p:cNvSpPr txBox="1"/>
          <p:nvPr/>
        </p:nvSpPr>
        <p:spPr>
          <a:xfrm>
            <a:off x="8977158" y="2798532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7" name="Прямая со стрелкой 156"/>
          <p:cNvCxnSpPr/>
          <p:nvPr/>
        </p:nvCxnSpPr>
        <p:spPr>
          <a:xfrm flipH="1" flipV="1">
            <a:off x="5048826" y="4570284"/>
            <a:ext cx="7639" cy="8362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Прямая со стрелкой 158"/>
          <p:cNvCxnSpPr/>
          <p:nvPr/>
        </p:nvCxnSpPr>
        <p:spPr>
          <a:xfrm>
            <a:off x="5325285" y="4570284"/>
            <a:ext cx="0" cy="1506714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Прямоугольник 159"/>
          <p:cNvSpPr/>
          <p:nvPr/>
        </p:nvSpPr>
        <p:spPr>
          <a:xfrm>
            <a:off x="3144564" y="3883332"/>
            <a:ext cx="34115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из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2⟩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1" name="Прямая соединительная линия 160"/>
          <p:cNvCxnSpPr/>
          <p:nvPr/>
        </p:nvCxnSpPr>
        <p:spPr>
          <a:xfrm>
            <a:off x="3832806" y="556730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Прямая соединительная линия 161"/>
          <p:cNvCxnSpPr/>
          <p:nvPr/>
        </p:nvCxnSpPr>
        <p:spPr>
          <a:xfrm>
            <a:off x="4342257" y="556730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Прямая соединительная линия 162"/>
          <p:cNvCxnSpPr/>
          <p:nvPr/>
        </p:nvCxnSpPr>
        <p:spPr>
          <a:xfrm>
            <a:off x="4874520" y="556730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Прямая соединительная линия 163"/>
          <p:cNvCxnSpPr/>
          <p:nvPr/>
        </p:nvCxnSpPr>
        <p:spPr>
          <a:xfrm>
            <a:off x="5395995" y="556730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Прямая соединительная линия 164"/>
          <p:cNvCxnSpPr/>
          <p:nvPr/>
        </p:nvCxnSpPr>
        <p:spPr>
          <a:xfrm>
            <a:off x="5909800" y="556730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6" name="Прямая соединительная линия 165"/>
          <p:cNvCxnSpPr/>
          <p:nvPr/>
        </p:nvCxnSpPr>
        <p:spPr>
          <a:xfrm>
            <a:off x="4342257" y="618126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Прямая соединительная линия 166"/>
          <p:cNvCxnSpPr/>
          <p:nvPr/>
        </p:nvCxnSpPr>
        <p:spPr>
          <a:xfrm>
            <a:off x="4874520" y="618126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Прямая соединительная линия 167"/>
          <p:cNvCxnSpPr/>
          <p:nvPr/>
        </p:nvCxnSpPr>
        <p:spPr>
          <a:xfrm>
            <a:off x="5391641" y="618126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3123057" y="5413820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3123057" y="6027375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4784120" y="6248066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72" name="TextBox 171"/>
          <p:cNvSpPr txBox="1"/>
          <p:nvPr/>
        </p:nvSpPr>
        <p:spPr>
          <a:xfrm>
            <a:off x="4200645" y="6248066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73" name="TextBox 172"/>
          <p:cNvSpPr txBox="1"/>
          <p:nvPr/>
        </p:nvSpPr>
        <p:spPr>
          <a:xfrm>
            <a:off x="5325286" y="6248066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74" name="TextBox 173"/>
          <p:cNvSpPr txBox="1"/>
          <p:nvPr/>
        </p:nvSpPr>
        <p:spPr>
          <a:xfrm>
            <a:off x="4784120" y="5150187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75" name="TextBox 174"/>
          <p:cNvSpPr txBox="1"/>
          <p:nvPr/>
        </p:nvSpPr>
        <p:spPr>
          <a:xfrm>
            <a:off x="5325285" y="5150186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76" name="TextBox 175"/>
          <p:cNvSpPr txBox="1"/>
          <p:nvPr/>
        </p:nvSpPr>
        <p:spPr>
          <a:xfrm>
            <a:off x="4242955" y="5149587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77" name="TextBox 176"/>
          <p:cNvSpPr txBox="1"/>
          <p:nvPr/>
        </p:nvSpPr>
        <p:spPr>
          <a:xfrm>
            <a:off x="5866450" y="5149586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78" name="TextBox 177"/>
          <p:cNvSpPr txBox="1"/>
          <p:nvPr/>
        </p:nvSpPr>
        <p:spPr>
          <a:xfrm>
            <a:off x="3711501" y="514958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80" name="Овал 179"/>
          <p:cNvSpPr/>
          <p:nvPr/>
        </p:nvSpPr>
        <p:spPr>
          <a:xfrm>
            <a:off x="3908255" y="548615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81" name="Овал 180"/>
          <p:cNvSpPr/>
          <p:nvPr/>
        </p:nvSpPr>
        <p:spPr>
          <a:xfrm>
            <a:off x="4425241" y="5491825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82" name="Овал 181"/>
          <p:cNvSpPr/>
          <p:nvPr/>
        </p:nvSpPr>
        <p:spPr>
          <a:xfrm>
            <a:off x="5476132" y="5493572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83" name="Овал 182"/>
          <p:cNvSpPr/>
          <p:nvPr/>
        </p:nvSpPr>
        <p:spPr>
          <a:xfrm>
            <a:off x="5993118" y="548174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84" name="Овал 183"/>
          <p:cNvSpPr/>
          <p:nvPr/>
        </p:nvSpPr>
        <p:spPr>
          <a:xfrm>
            <a:off x="4962327" y="5480224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85" name="Овал 184"/>
          <p:cNvSpPr/>
          <p:nvPr/>
        </p:nvSpPr>
        <p:spPr>
          <a:xfrm>
            <a:off x="5055054" y="2635580"/>
            <a:ext cx="172998" cy="14747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2" name="Овал 191"/>
          <p:cNvSpPr/>
          <p:nvPr/>
        </p:nvSpPr>
        <p:spPr>
          <a:xfrm>
            <a:off x="4421221" y="6107526"/>
            <a:ext cx="172998" cy="14747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3" name="Овал 192"/>
          <p:cNvSpPr/>
          <p:nvPr/>
        </p:nvSpPr>
        <p:spPr>
          <a:xfrm>
            <a:off x="4953484" y="6113802"/>
            <a:ext cx="172998" cy="14747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4" name="Овал 193"/>
          <p:cNvSpPr/>
          <p:nvPr/>
        </p:nvSpPr>
        <p:spPr>
          <a:xfrm>
            <a:off x="5459291" y="6107526"/>
            <a:ext cx="172998" cy="14747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96" name="Прямая соединительная линия 195">
            <a:extLst>
              <a:ext uri="{FF2B5EF4-FFF2-40B4-BE49-F238E27FC236}">
                <a16:creationId xmlns="" xmlns:a16="http://schemas.microsoft.com/office/drawing/2014/main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8610344" y="4816843"/>
            <a:ext cx="358998" cy="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="" xmlns:a16="http://schemas.microsoft.com/office/drawing/2014/main" id="{7E18D490-C8D5-465B-A941-DDA6783F2AAF}"/>
              </a:ext>
            </a:extLst>
          </p:cNvPr>
          <p:cNvSpPr txBox="1"/>
          <p:nvPr/>
        </p:nvSpPr>
        <p:spPr>
          <a:xfrm>
            <a:off x="6823918" y="4648778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6" name="Прямая соединительная линия 205"/>
          <p:cNvCxnSpPr/>
          <p:nvPr/>
        </p:nvCxnSpPr>
        <p:spPr>
          <a:xfrm>
            <a:off x="8063209" y="6180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7" name="Прямая соединительная линия 206"/>
          <p:cNvCxnSpPr/>
          <p:nvPr/>
        </p:nvCxnSpPr>
        <p:spPr>
          <a:xfrm>
            <a:off x="8595472" y="6180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8" name="Прямая соединительная линия 207"/>
          <p:cNvCxnSpPr/>
          <p:nvPr/>
        </p:nvCxnSpPr>
        <p:spPr>
          <a:xfrm>
            <a:off x="9112593" y="6180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6844009" y="6026491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8505072" y="6247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12" name="TextBox 211"/>
          <p:cNvSpPr txBox="1"/>
          <p:nvPr/>
        </p:nvSpPr>
        <p:spPr>
          <a:xfrm>
            <a:off x="7921597" y="6247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13" name="TextBox 212"/>
          <p:cNvSpPr txBox="1"/>
          <p:nvPr/>
        </p:nvSpPr>
        <p:spPr>
          <a:xfrm>
            <a:off x="9046238" y="6247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24" name="Овал 223"/>
          <p:cNvSpPr/>
          <p:nvPr/>
        </p:nvSpPr>
        <p:spPr>
          <a:xfrm>
            <a:off x="8142173" y="6106642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225" name="Овал 224"/>
          <p:cNvSpPr/>
          <p:nvPr/>
        </p:nvSpPr>
        <p:spPr>
          <a:xfrm>
            <a:off x="8674436" y="6112918"/>
            <a:ext cx="172998" cy="14747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226" name="Овал 225"/>
          <p:cNvSpPr/>
          <p:nvPr/>
        </p:nvSpPr>
        <p:spPr>
          <a:xfrm>
            <a:off x="9180243" y="6106642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228" name="Прямая со стрелкой 227"/>
          <p:cNvCxnSpPr/>
          <p:nvPr/>
        </p:nvCxnSpPr>
        <p:spPr>
          <a:xfrm flipV="1">
            <a:off x="8257580" y="4956556"/>
            <a:ext cx="391188" cy="107725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рямая со стрелкой 228"/>
          <p:cNvCxnSpPr/>
          <p:nvPr/>
        </p:nvCxnSpPr>
        <p:spPr>
          <a:xfrm flipH="1" flipV="1">
            <a:off x="8910914" y="4956555"/>
            <a:ext cx="322441" cy="1083287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рямая со стрелкой 229"/>
          <p:cNvCxnSpPr/>
          <p:nvPr/>
        </p:nvCxnSpPr>
        <p:spPr>
          <a:xfrm>
            <a:off x="8769839" y="4956555"/>
            <a:ext cx="20004" cy="1077249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8443105" y="440418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m’=0</a:t>
            </a:r>
            <a:endParaRPr lang="ru-RU" dirty="0"/>
          </a:p>
        </p:txBody>
      </p:sp>
      <p:sp>
        <p:nvSpPr>
          <p:cNvPr id="247" name="Прямоугольник 246"/>
          <p:cNvSpPr/>
          <p:nvPr/>
        </p:nvSpPr>
        <p:spPr>
          <a:xfrm>
            <a:off x="6669300" y="3875800"/>
            <a:ext cx="39324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1⟩ </a:t>
            </a:r>
            <a:endParaRPr lang="en-US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7650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Моделирование оптической накачки для подготовки атомов в немагнитном состоянии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29;p4">
            <a:extLst>
              <a:ext uri="{FF2B5EF4-FFF2-40B4-BE49-F238E27FC236}">
                <a16:creationId xmlns="" xmlns:a16="http://schemas.microsoft.com/office/drawing/2014/main" id="{B87B3228-1A15-4F4D-8491-889889246140}"/>
              </a:ext>
            </a:extLst>
          </p:cNvPr>
          <p:cNvSpPr txBox="1"/>
          <p:nvPr/>
        </p:nvSpPr>
        <p:spPr>
          <a:xfrm>
            <a:off x="1359153" y="4401169"/>
            <a:ext cx="403819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Эволюция населённостей магнитных состояний ∣F = 1⟩ при накачки в ∣F = 1,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m=0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129;p4">
            <a:extLst>
              <a:ext uri="{FF2B5EF4-FFF2-40B4-BE49-F238E27FC236}">
                <a16:creationId xmlns="" xmlns:a16="http://schemas.microsoft.com/office/drawing/2014/main" id="{D49EF95C-7447-4B7F-A7F6-20B1232C8268}"/>
              </a:ext>
            </a:extLst>
          </p:cNvPr>
          <p:cNvSpPr txBox="1"/>
          <p:nvPr/>
        </p:nvSpPr>
        <p:spPr>
          <a:xfrm>
            <a:off x="5175477" y="4355022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Эволюция числа фотонов при накачки из ∣F = 1⟩ в ∣F = 1,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m=0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="" xmlns:a16="http://schemas.microsoft.com/office/drawing/2014/main" id="{78CB6444-303E-4D2F-9C12-8A6E690E0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109" y="1529595"/>
            <a:ext cx="3792928" cy="2871574"/>
          </a:xfrm>
          <a:prstGeom prst="rect">
            <a:avLst/>
          </a:prstGeom>
        </p:spPr>
      </p:pic>
      <p:sp>
        <p:nvSpPr>
          <p:cNvPr id="20" name="Google Shape;129;p4">
            <a:extLst>
              <a:ext uri="{FF2B5EF4-FFF2-40B4-BE49-F238E27FC236}">
                <a16:creationId xmlns="" xmlns:a16="http://schemas.microsoft.com/office/drawing/2014/main" id="{E7373528-195F-48BD-806F-0918AEB35682}"/>
              </a:ext>
            </a:extLst>
          </p:cNvPr>
          <p:cNvSpPr txBox="1"/>
          <p:nvPr/>
        </p:nvSpPr>
        <p:spPr>
          <a:xfrm>
            <a:off x="9107562" y="1911831"/>
            <a:ext cx="403819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мкК</a:t>
            </a:r>
            <a:endParaRPr sz="16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="" xmlns:a16="http://schemas.microsoft.com/office/drawing/2014/main" id="{62A2A34F-DBC6-4CD4-BAE4-372B6C648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549" y="1529595"/>
            <a:ext cx="3915539" cy="286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91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15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населённости состояния ∣F = 1,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m=0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⟩ после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D2A2D9D1-C3B2-4FFB-BF6C-C46FCDD12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89"/>
          <a:stretch/>
        </p:blipFill>
        <p:spPr>
          <a:xfrm>
            <a:off x="3210856" y="1113452"/>
            <a:ext cx="4853196" cy="3514531"/>
          </a:xfrm>
          <a:prstGeom prst="rect">
            <a:avLst/>
          </a:prstGeom>
        </p:spPr>
      </p:pic>
      <p:sp>
        <p:nvSpPr>
          <p:cNvPr id="6" name="Google Shape;129;p4">
            <a:extLst>
              <a:ext uri="{FF2B5EF4-FFF2-40B4-BE49-F238E27FC236}">
                <a16:creationId xmlns="" xmlns:a16="http://schemas.microsoft.com/office/drawing/2014/main" id="{9F2F9449-A41F-4954-9C15-CD0224C4DE58}"/>
              </a:ext>
            </a:extLst>
          </p:cNvPr>
          <p:cNvSpPr txBox="1"/>
          <p:nvPr/>
        </p:nvSpPr>
        <p:spPr>
          <a:xfrm>
            <a:off x="3301079" y="4627983"/>
            <a:ext cx="476297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8. Зависимость населенности атомов до и после оптической накачки от отстройки относительно</a:t>
            </a:r>
          </a:p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часового перехода.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1949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16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температуры до и после оптической накачки  в состояние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∣F = 1, m=0⟩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6A5A2298-D0D5-457A-ADD2-2EF4FEE9F9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50"/>
          <a:stretch/>
        </p:blipFill>
        <p:spPr>
          <a:xfrm>
            <a:off x="2376667" y="1020147"/>
            <a:ext cx="6394108" cy="461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CAE9D85-C58F-4E82-8CFA-F36F8F2CACC9}"/>
              </a:ext>
            </a:extLst>
          </p:cNvPr>
          <p:cNvSpPr txBox="1"/>
          <p:nvPr/>
        </p:nvSpPr>
        <p:spPr>
          <a:xfrm>
            <a:off x="2376667" y="5635475"/>
            <a:ext cx="6973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9. Зависимости квадрата размера облака холодных атомов (1/e) от квадрата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 свободного падения до и после оптической накачки в немагнитное состояние.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3309388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2744425" y="906641"/>
            <a:ext cx="6755400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Численное</a:t>
            </a: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моделирование оптической накачки в немагнитное квантовое состояния</a:t>
            </a: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показало эффективность, близкую к 100%, и нагрев около 1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реализация оптической накачки в немагнитное состояния продемонстрировало эффективность более 90 % и нагрев в 1 </a:t>
            </a:r>
            <a:r>
              <a:rPr lang="ru-RU" sz="1800" b="0" i="0" u="non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что близко к результатам моделирования. Расхождения объясняются несовершенством электро-оптической схемы.</a:t>
            </a:r>
            <a:endParaRPr sz="1800" b="0" i="0" u="non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дальнейшем планируется проверить влияние уменьшения потерь атомов на частоту измерений и на шум в атомном интерферометре.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2952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18</a:t>
            </a:fld>
            <a:endParaRPr dirty="0"/>
          </a:p>
        </p:txBody>
      </p:sp>
      <p:sp>
        <p:nvSpPr>
          <p:cNvPr id="210" name="Google Shape;210;p30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Измерение неоднородности магнитного поля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789649" y="4966802"/>
            <a:ext cx="2678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6. Изображение с камеры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4079455" y="4966802"/>
            <a:ext cx="432958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7. Зависимость сигнала от частоты для одного из блоков пикселей видеокамеры.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 rotWithShape="1">
          <a:blip r:embed="rId3">
            <a:alphaModFix/>
          </a:blip>
          <a:srcRect l="42877" t="43810" r="37156" b="27255"/>
          <a:stretch/>
        </p:blipFill>
        <p:spPr>
          <a:xfrm>
            <a:off x="595344" y="1866563"/>
            <a:ext cx="2457450" cy="2671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/>
          <p:nvPr/>
        </p:nvSpPr>
        <p:spPr>
          <a:xfrm>
            <a:off x="789649" y="2240109"/>
            <a:ext cx="1924050" cy="192405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1933207" y="2835887"/>
            <a:ext cx="236391" cy="23639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29326" y="2013222"/>
            <a:ext cx="3007527" cy="252448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/>
          <p:nvPr/>
        </p:nvSpPr>
        <p:spPr>
          <a:xfrm>
            <a:off x="10476063" y="2752546"/>
            <a:ext cx="236400" cy="27057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9297204" y="4964297"/>
            <a:ext cx="234546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8. Магнитное поле установки в центре вакуумной камеры.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62675" y="1670630"/>
            <a:ext cx="4862690" cy="32096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30"/>
          <p:cNvCxnSpPr>
            <a:cxnSpLocks/>
            <a:stCxn id="221" idx="1"/>
            <a:endCxn id="217" idx="1"/>
          </p:cNvCxnSpPr>
          <p:nvPr/>
        </p:nvCxnSpPr>
        <p:spPr>
          <a:xfrm rot="16200000" flipH="1">
            <a:off x="8444479" y="856248"/>
            <a:ext cx="236741" cy="3826426"/>
          </a:xfrm>
          <a:prstGeom prst="curvedConnector4">
            <a:avLst>
              <a:gd name="adj1" fmla="val -96561"/>
              <a:gd name="adj2" fmla="val 5198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1" name="Google Shape;221;p30"/>
          <p:cNvSpPr/>
          <p:nvPr/>
        </p:nvSpPr>
        <p:spPr>
          <a:xfrm rot="5400000">
            <a:off x="6491680" y="2242971"/>
            <a:ext cx="309653" cy="1125892"/>
          </a:xfrm>
          <a:prstGeom prst="leftBrace">
            <a:avLst>
              <a:gd name="adj1" fmla="val 68023"/>
              <a:gd name="adj2" fmla="val 4972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30"/>
          <p:cNvCxnSpPr/>
          <p:nvPr/>
        </p:nvCxnSpPr>
        <p:spPr>
          <a:xfrm rot="10800000" flipH="1">
            <a:off x="2220686" y="2699382"/>
            <a:ext cx="1441200" cy="254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2946919" y="136525"/>
            <a:ext cx="5886734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Градиент магнитного поля приводит к снижению эффективности лазерного охлаждения и уменьшение контраста сигнала атомного интерферометра.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градиент магнитного поля также оказывает сильной влияние близкое расположение ионного насоса к вакуумной камере.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для эксперимента по измерению градиента магнитного поля производилась регистрация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магнитодипольных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между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подуровней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сверхтоного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основного состояния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1,2⟩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 счет сканирования отстройки частоты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СВЧ излучения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от частоты часового перехода в атоме 87Rb. Видимое контролируемое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расщепление создавалось постоянным магнитным полем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Регистрация резонансов происходила путём измерения оптической плотность атомов в ∣F = 2⟩ методом флуоресценции.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Величина постоянного магнитного поля, создаваемого компенсационными катушками, и диапазон СВЧ сканирования подбирались так, чтобы регистрировать только три линии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– основную немагнитную и две боковые.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значение частотного расщепления резонансов можно определить величину магнитного поля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пространственного измерения градиента магнитного поля использовался сигнал с каждого пикселя видеокамеры, и для увеличения точности пиксели объединялись в блоки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подсчёта величины магнитного поля и градиента магнитного поля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мной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 научным руководством была написана программа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  <p:sp>
        <p:nvSpPr>
          <p:cNvPr id="235" name="Google Shape;235;p32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измерений и корректировки градиента магнитного поля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146499" y="5305074"/>
            <a:ext cx="76323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центре вакуумной камеры магнитное поле не однородное.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Было продемонстрировано уменьшение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неодородности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магнитного.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dirty="0">
                <a:latin typeface="Times New Roman"/>
                <a:cs typeface="Times New Roman"/>
                <a:sym typeface="Times New Roman"/>
              </a:rPr>
              <a:t>Уменьшение неоднородности магнитного поля оказало положительный эффект на эффективность охлаждения,</a:t>
            </a:r>
            <a:r>
              <a:rPr lang="en-US" sz="1600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cs typeface="Times New Roman"/>
                <a:sym typeface="Times New Roman"/>
              </a:rPr>
              <a:t>А также и на шум в атомном интерферометре, что планируется экспериментально проверить в дальнейшем.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19915" y="4279035"/>
            <a:ext cx="29184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9. Магнитное поле и линии уровня при отсутствии ионного насоса и компенсации.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373758" y="1309518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 2.6 мГс/мм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2643674" y="4285060"/>
            <a:ext cx="29184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10. Магнитное поле и линии уровня при работе ионного насоса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3122667" y="1302126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 1.4 мГс/мм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5700544" y="1288514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2.4 мГс/мм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5457151" y="4212448"/>
            <a:ext cx="291847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11. Магнитное поле и линии уровня при работе ионного насоса и использование постоянного компенсационного магнита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5949" y="1609903"/>
            <a:ext cx="2682334" cy="26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0377" y="1617295"/>
            <a:ext cx="2584544" cy="26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636981"/>
            <a:ext cx="2584545" cy="2583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9296" y="1658280"/>
            <a:ext cx="2747543" cy="265434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8607748" y="1291746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 1.3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8372893" y="4366336"/>
            <a:ext cx="2682334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12. Магнитное поле и линии уровня при работе ионного насоса, использовании постоянных компенсационных магнитов и при корректировки магнитного поля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C872C99A-3050-4DEF-BC91-EFF3798074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3342" y="701919"/>
            <a:ext cx="1074233" cy="48222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3FEC67FD-7724-4E8B-89C8-80630CB2D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21</a:t>
            </a:fld>
            <a:endParaRPr lang="ru-RU"/>
          </a:p>
        </p:txBody>
      </p:sp>
      <p:sp>
        <p:nvSpPr>
          <p:cNvPr id="3" name="Google Shape;235;p32">
            <a:extLst>
              <a:ext uri="{FF2B5EF4-FFF2-40B4-BE49-F238E27FC236}">
                <a16:creationId xmlns="" xmlns:a16="http://schemas.microsoft.com/office/drawing/2014/main" id="{E943C429-4871-4ABB-BA3B-7000312C6F47}"/>
              </a:ext>
            </a:extLst>
          </p:cNvPr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измерений и корректировки градиента магнитного поля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20CA7B74-B17B-4554-8912-2A5FB512E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04" y="3146978"/>
            <a:ext cx="2631129" cy="928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083A715-CC79-49A6-8295-22A6563FAE3D}"/>
              </a:ext>
            </a:extLst>
          </p:cNvPr>
          <p:cNvSpPr txBox="1"/>
          <p:nvPr/>
        </p:nvSpPr>
        <p:spPr>
          <a:xfrm>
            <a:off x="6981057" y="4325607"/>
            <a:ext cx="1592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</a:t>
            </a:r>
            <a:r>
              <a:rPr lang="ru-RU" dirty="0"/>
              <a:t>=</a:t>
            </a:r>
            <a:r>
              <a:rPr lang="en-US" dirty="0"/>
              <a:t> 2 </a:t>
            </a:r>
            <a:r>
              <a:rPr lang="ru-RU" dirty="0" err="1"/>
              <a:t>мкК</a:t>
            </a:r>
            <a:r>
              <a:rPr lang="ru-RU" dirty="0"/>
              <a:t>, ранее было 6 </a:t>
            </a:r>
            <a:r>
              <a:rPr lang="ru-RU" dirty="0" err="1"/>
              <a:t>мкК</a:t>
            </a:r>
            <a:r>
              <a:rPr lang="ru-RU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119A464-DA1C-4EFB-956A-AB29ECEA0C31}"/>
              </a:ext>
            </a:extLst>
          </p:cNvPr>
          <p:cNvSpPr txBox="1"/>
          <p:nvPr/>
        </p:nvSpPr>
        <p:spPr>
          <a:xfrm rot="16200000">
            <a:off x="-37799" y="2993089"/>
            <a:ext cx="1385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Время, мс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8974B4BA-7E00-4D6B-BE14-A2510EC72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87" y="1291745"/>
            <a:ext cx="5287113" cy="40582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8A348235-93F3-4B5F-93D2-5744992B336F}"/>
              </a:ext>
            </a:extLst>
          </p:cNvPr>
          <p:cNvSpPr txBox="1"/>
          <p:nvPr/>
        </p:nvSpPr>
        <p:spPr>
          <a:xfrm>
            <a:off x="2904531" y="5349961"/>
            <a:ext cx="2000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облака, м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39846A2-34F8-4171-B8C8-09C31D9868E1}"/>
              </a:ext>
            </a:extLst>
          </p:cNvPr>
          <p:cNvSpPr txBox="1"/>
          <p:nvPr/>
        </p:nvSpPr>
        <p:spPr>
          <a:xfrm>
            <a:off x="6654437" y="2158319"/>
            <a:ext cx="39123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 облака измеряется после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Сизифового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охлаждения, которое идёт сразу после выключения МОЛ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358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2744425" y="906641"/>
            <a:ext cx="67554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Проведены измерения неоднородности магнитного поля и выполнено уменьшение градиента магнитного поля до величины ~1.3 </a:t>
            </a:r>
            <a:r>
              <a:rPr lang="ru-RU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мГс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/мм. Реализовано программное обеспечение для детектирования неоднородности магнитного поля.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Уменьшение неоднородности позволило уменьшить температуру облака после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сизифого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охлаждения с 6 до 2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мкК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дальнейшем планируется проверить влияние уменьшения неоднородности магнитного поля на шум в атомном интерферометре.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2091</Words>
  <Application>Microsoft Office PowerPoint</Application>
  <PresentationFormat>Широкоэкранный</PresentationFormat>
  <Paragraphs>265</Paragraphs>
  <Slides>22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Макаров Антон Олегович</cp:lastModifiedBy>
  <cp:revision>64</cp:revision>
  <dcterms:created xsi:type="dcterms:W3CDTF">2023-12-21T05:49:20Z</dcterms:created>
  <dcterms:modified xsi:type="dcterms:W3CDTF">2024-12-18T08:53:43Z</dcterms:modified>
</cp:coreProperties>
</file>