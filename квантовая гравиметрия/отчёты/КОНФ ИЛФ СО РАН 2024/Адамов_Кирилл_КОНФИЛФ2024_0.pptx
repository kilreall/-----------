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6" r:id="rId9"/>
    <p:sldId id="267" r:id="rId10"/>
    <p:sldId id="268" r:id="rId11"/>
    <p:sldId id="269" r:id="rId12"/>
    <p:sldId id="264" r:id="rId13"/>
    <p:sldId id="265" r:id="rId14"/>
    <p:sldId id="283" r:id="rId15"/>
    <p:sldId id="284" r:id="rId16"/>
    <p:sldId id="285" r:id="rId17"/>
    <p:sldId id="286" r:id="rId18"/>
    <p:sldId id="270" r:id="rId19"/>
    <p:sldId id="271" r:id="rId20"/>
    <p:sldId id="272" r:id="rId21"/>
    <p:sldId id="282" r:id="rId22"/>
    <p:sldId id="281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jouDVospvBqDJ2IaPmer8mAxNsd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realladam@gmail.com" initials="k" lastIdx="1" clrIdx="0">
    <p:extLst>
      <p:ext uri="{19B8F6BF-5375-455C-9EA6-DF929625EA0E}">
        <p15:presenceInfo xmlns:p15="http://schemas.microsoft.com/office/powerpoint/2012/main" userId="06abd9abe9dc439d" providerId="Windows Live"/>
      </p:ext>
    </p:extLst>
  </p:cmAuthor>
  <p:cmAuthor id="2" name="Макаров Антон Олегович" initials="МАО" lastIdx="1" clrIdx="1">
    <p:extLst>
      <p:ext uri="{19B8F6BF-5375-455C-9EA6-DF929625EA0E}">
        <p15:presenceInfo xmlns:p15="http://schemas.microsoft.com/office/powerpoint/2012/main" userId="S-1-5-21-459334724-2767538070-3650366139-13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customschemas.google.com/relationships/presentationmetadata" Target="meta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81286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71452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8060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Добавить преимущества квантового гравиметра.</a:t>
            </a:r>
            <a:endParaRPr/>
          </a:p>
        </p:txBody>
      </p:sp>
      <p:sp>
        <p:nvSpPr>
          <p:cNvPr id="104" name="Google Shape;104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9524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0922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Корректировки:</a:t>
            </a:r>
            <a:br>
              <a:rPr lang="ru-RU"/>
            </a:br>
            <a:r>
              <a:rPr lang="ru-RU"/>
              <a:t>1. Заменить рисунок; 2. Нумерация рисунков и подпись сделать больше;</a:t>
            </a: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69546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Коррективы:</a:t>
            </a:r>
            <a:br>
              <a:rPr lang="ru-RU"/>
            </a:br>
            <a:r>
              <a:rPr lang="ru-RU"/>
              <a:t>1. Заменить текст на формулы; 2. Переписать формулы с правильными индексами как на картинке и дать определения обозначениям (хоть как-то);</a:t>
            </a:r>
            <a:endParaRPr/>
          </a:p>
        </p:txBody>
      </p:sp>
      <p:sp>
        <p:nvSpPr>
          <p:cNvPr id="133" name="Google Shape;13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3995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829262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1. Тут про Рамана нет</a:t>
            </a:r>
            <a:endParaRPr/>
          </a:p>
        </p:txBody>
      </p:sp>
      <p:sp>
        <p:nvSpPr>
          <p:cNvPr id="163" name="Google Shape;16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24751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3" name="Google Shape;18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10448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1885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18837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Корректировки:</a:t>
            </a:r>
            <a:br>
              <a:rPr lang="ru-RU"/>
            </a:br>
            <a:r>
              <a:rPr lang="ru-RU"/>
              <a:t>1. Много текста</a:t>
            </a:r>
            <a:endParaRPr/>
          </a:p>
        </p:txBody>
      </p:sp>
      <p:sp>
        <p:nvSpPr>
          <p:cNvPr id="149" name="Google Shape;14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30462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88891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87517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Подписать резонансы, указать формулу для расчета маг поля</a:t>
            </a:r>
            <a:endParaRPr/>
          </a:p>
        </p:txBody>
      </p:sp>
      <p:sp>
        <p:nvSpPr>
          <p:cNvPr id="207" name="Google Shape;20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98081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9928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Пересмотреть картинки, пересчитать градиенты (линии), сделать один цветовой масштаб, указать расстояние между белыми линиями</a:t>
            </a:r>
            <a:endParaRPr/>
          </a:p>
        </p:txBody>
      </p:sp>
      <p:sp>
        <p:nvSpPr>
          <p:cNvPr id="232" name="Google Shape;232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8198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3610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859281" y="1752908"/>
            <a:ext cx="10362068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0" i="0" u="sng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К.Н. Адамов</a:t>
            </a:r>
            <a:r>
              <a:rPr lang="ru-RU" sz="32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Д.Н. Капуста, </a:t>
            </a:r>
            <a:r>
              <a:rPr lang="ru-RU" sz="3200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А.Э.Бонерт</a:t>
            </a:r>
            <a:r>
              <a:rPr lang="ru-RU" sz="32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А.Н. Гончаров</a:t>
            </a:r>
            <a:endParaRPr sz="1400" b="0" i="0" u="sng" strike="noStrike" cap="none" dirty="0">
              <a:solidFill>
                <a:srgbClr val="000000"/>
              </a:solidFill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-111370" y="427345"/>
            <a:ext cx="1230337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ru-RU" sz="32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</a:t>
            </a:r>
            <a:r>
              <a:rPr lang="ru-RU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начального волнового пакета для квантового интерферометра-гравиметра</a:t>
            </a:r>
            <a:endParaRPr sz="3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1096056" y="52251"/>
            <a:ext cx="9524700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План выступления: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Гравиметр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атомного гравиметра</a:t>
            </a:r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Используемые 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переходы </a:t>
            </a:r>
            <a:r>
              <a:rPr lang="en-US" sz="2000" b="0" i="0" u="none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Оптическая схема </a:t>
            </a:r>
            <a:r>
              <a:rPr lang="ru-RU" sz="2000" b="0" i="0" u="none" strike="noStrike" cap="none" dirty="0" smtClean="0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гравиметра</a:t>
            </a:r>
            <a:r>
              <a:rPr lang="en-US" sz="2000" b="0" i="0" u="none" strike="noStrike" cap="none" dirty="0" smtClean="0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?</a:t>
            </a:r>
            <a:endParaRPr lang="ru-RU" sz="2000" b="0" i="0" u="none" strike="noStrike" cap="none" dirty="0">
              <a:solidFill>
                <a:schemeClr val="dk1"/>
              </a:solidFill>
              <a:latin typeface="Times New Roman"/>
              <a:ea typeface="Arial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Экспериментальная установка гравиметра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 smtClean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Подготовка начального немагнитного состояния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 smtClean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Различные методики подготовки атомов в немагнитном квантовом состоянии</a:t>
            </a:r>
            <a:endParaRPr lang="ru-RU" sz="2000" dirty="0">
              <a:solidFill>
                <a:schemeClr val="dk1"/>
              </a:solidFill>
              <a:latin typeface="Times New Roman"/>
              <a:cs typeface="Times New Roman"/>
              <a:sym typeface="Times New Roman"/>
            </a:endParaRPr>
          </a:p>
          <a:p>
            <a:pPr marL="742950" lvl="1" indent="-285750">
              <a:spcBef>
                <a:spcPts val="300"/>
              </a:spcBef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 smtClean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Результаты компьютерного моделирования метода оптической накачки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 экспериментальной реализация метода оптической накачки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2504131" y="94717"/>
            <a:ext cx="6910755" cy="4775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10299442" y="133442"/>
            <a:ext cx="180391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Гал  ~ 10</a:t>
            </a:r>
            <a:r>
              <a:rPr lang="ru-RU" sz="2000" b="0" i="0" u="none" strike="noStrike" cap="none" baseline="30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</a:t>
            </a:r>
            <a:r>
              <a:rPr lang="ru-RU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</a:t>
            </a:r>
            <a:endParaRPr sz="20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2008401" y="2513371"/>
            <a:ext cx="468059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Геодезия и наблюдение за Землей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Археология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Разведка полезных ископаемых 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подземной инфраструктуры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6251867" y="2513371"/>
            <a:ext cx="4548674" cy="1192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Навигация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к скрытых объектов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Вулканы, исследования землетрясений и пр.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Фундаментальные физические исследования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3805962" y="1979175"/>
            <a:ext cx="39829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Области применения гравиметров:</a:t>
            </a: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2796073" y="644321"/>
            <a:ext cx="7503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Преимущества квантового гравиметра над классическим:</a:t>
            </a:r>
            <a:endParaRPr sz="18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3692200" y="978221"/>
            <a:ext cx="5260523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Отсутствие подвижных элементов в конструкции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Высокая частота измерений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Может (гироскоп и акселерометр) и т.д.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367E3B1A-029A-4327-9EF0-D391A5F0BDEF}"/>
              </a:ext>
            </a:extLst>
          </p:cNvPr>
          <p:cNvSpPr txBox="1"/>
          <p:nvPr/>
        </p:nvSpPr>
        <p:spPr>
          <a:xfrm>
            <a:off x="2796073" y="3958994"/>
            <a:ext cx="6374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атомов в немагнитное квантовое состояние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564A0FFF-1164-43D7-A296-4897223993E0}"/>
              </a:ext>
            </a:extLst>
          </p:cNvPr>
          <p:cNvSpPr txBox="1"/>
          <p:nvPr/>
        </p:nvSpPr>
        <p:spPr>
          <a:xfrm>
            <a:off x="2856723" y="4441234"/>
            <a:ext cx="757614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5" indent="-285750">
              <a:spcBef>
                <a:spcPts val="600"/>
              </a:spcBef>
              <a:buSzPts val="1600"/>
              <a:buFont typeface="Arial"/>
              <a:buChar char="•"/>
            </a:pPr>
            <a:r>
              <a:rPr lang="ru-RU" sz="16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 помощью СВЧ и оптического излучения (потери более 80%)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1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 помощью оптической накачки (потери менее 10%)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120" name="Google Shape;120;p25"/>
          <p:cNvSpPr txBox="1"/>
          <p:nvPr/>
        </p:nvSpPr>
        <p:spPr>
          <a:xfrm>
            <a:off x="460308" y="258901"/>
            <a:ext cx="11545079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Абсолютный квантовый гравиметр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это устройство, позволяющее измерять гравитационное поле земли с высокой чувствительностью, точностью и надёжностью за счёт быстрого высокочувствительного квантового механизма на котором основан принцип его работы. Преимуществами квантового гравиметра над классическим является отсутствие подвижных элементов в конструкции, высокая скорость измерений и возможност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ь переоборудовать гравиметр в акселерометр и гироскоп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Применения квантового гравиметра: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Геодезия </a:t>
            </a:r>
            <a:endParaRPr lang="ru-RU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Археология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Разведка полезных ископаемых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Оценка подземной инфраструктуры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Навигация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Обнаружение подводных лодок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Вулканы, исследования землетрясений и пр.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ru-RU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ru-RU"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точность и частоту работы квантового гравиметра влияют потери атомов в ходе различных этапов работы гравиметра, для проведения атомной интерференции необходимо подготовить атомы в немагнитном квантовом состоянии, </a:t>
            </a:r>
            <a:r>
              <a:rPr lang="ru-RU" dirty="0" smtClean="0">
                <a:latin typeface="Times New Roman"/>
                <a:ea typeface="Times New Roman"/>
                <a:cs typeface="Times New Roman"/>
                <a:sym typeface="Times New Roman"/>
              </a:rPr>
              <a:t>что может приводить к существенным потерям, </a:t>
            </a:r>
            <a:r>
              <a:rPr lang="ru-RU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данной работе был реализован метод подготовки атомов в немагнитное квантовое состояния с использованием оптической накачки с потерями менее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0%, предыдущий же метод подготовки в немагнитное состояние через селекцию по магнитным состояниям имел минимальные потери в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ru-RU" sz="14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0 %.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гравиметра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5432961" y="960172"/>
            <a:ext cx="55833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гравиметра: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Загрузка атомов в магнитооптическую ловушку (МОЛ) с целью их захвата и охлаждения до низких температур.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Высвобождение облака </a:t>
            </a:r>
            <a:r>
              <a:rPr lang="ru-RU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атомов из МОЛ.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атомов в </a:t>
            </a:r>
            <a:r>
              <a:rPr lang="ru-RU" sz="2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немагнитном</a:t>
            </a:r>
            <a:r>
              <a:rPr lang="ru-RU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квантовом </a:t>
            </a:r>
            <a:r>
              <a:rPr lang="ru-RU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состоянии.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Скоростная селекция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Реализация атомной интерференции.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Детектирование.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pic>
        <p:nvPicPr>
          <p:cNvPr id="128" name="Google Shape;12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59" y="963933"/>
            <a:ext cx="3516670" cy="461956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/>
        </p:nvSpPr>
        <p:spPr>
          <a:xfrm>
            <a:off x="939949" y="5583493"/>
            <a:ext cx="403819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 . 1. Качественная схема работы абсолютного атомного гравиметра.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136" name="Google Shape;136;p21"/>
          <p:cNvSpPr/>
          <p:nvPr/>
        </p:nvSpPr>
        <p:spPr>
          <a:xfrm>
            <a:off x="2510352" y="226456"/>
            <a:ext cx="6910755" cy="62364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атомного интерферометра-гравиметра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4967" y="990196"/>
            <a:ext cx="4915271" cy="353576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4590660" y="4173894"/>
            <a:ext cx="5094515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1"/>
          <p:cNvSpPr txBox="1"/>
          <p:nvPr/>
        </p:nvSpPr>
        <p:spPr>
          <a:xfrm>
            <a:off x="6679092" y="4656347"/>
            <a:ext cx="4375363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2. Иллюстрация принципа работы атомного интерферометра в гравитационном поле (кривые линии) и при его отсутствии (прямые линии). Атом может находиться в состоянии ∣a⟩ (черные линии), или в состоянии ∣b⟩ (серые линии).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669008" y="990196"/>
            <a:ext cx="5954100" cy="570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Атом может находиться в состояниях ∣a⟩ и ∣b⟩.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ru-RU" sz="1600" b="0" i="0" u="none" strike="noStrike" cap="none" baseline="-2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эффективный волновой вектор действующего излучения.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– время между импульсами. 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0" lvl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1) </a:t>
            </a:r>
            <a:r>
              <a:rPr lang="ru-RU" sz="1800" dirty="0">
                <a:latin typeface="Times New Roman"/>
                <a:ea typeface="Times New Roman"/>
                <a:cs typeface="Times New Roman"/>
                <a:sym typeface="Times New Roman"/>
              </a:rPr>
              <a:t>Расщепление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R="0" lvl="0" algn="l" rtl="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π/2: ∣a, p</a:t>
            </a:r>
            <a:r>
              <a:rPr lang="ru-RU" sz="1800" b="0" i="0" u="none" strike="noStrike" cap="none" baseline="-2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⟩ → ∣a, p</a:t>
            </a:r>
            <a:r>
              <a:rPr lang="ru-RU" sz="1800" b="0" i="0" u="none" strike="noStrike" cap="none" baseline="-2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⟩ + ∣b, p</a:t>
            </a:r>
            <a:r>
              <a:rPr lang="ru-RU" sz="1800" b="0" i="0" u="none" strike="noStrike" cap="none" baseline="-2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ru-RU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hk</a:t>
            </a:r>
            <a:r>
              <a:rPr lang="ru-RU" sz="1800" b="0" i="0" u="none" strike="noStrike" cap="none" baseline="-2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</a:t>
            </a:r>
            <a:r>
              <a:rPr lang="ru-RU" sz="1800" b="0" i="0" u="none" strike="noStrike" cap="none" baseline="-2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⟩;</a:t>
            </a:r>
            <a:endParaRPr lang="en-US"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0" lvl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1800" dirty="0">
                <a:latin typeface="Times New Roman"/>
                <a:cs typeface="Times New Roman"/>
                <a:sym typeface="Times New Roman"/>
              </a:rPr>
              <a:t>2) </a:t>
            </a:r>
            <a:r>
              <a:rPr lang="ru-RU" sz="1800" dirty="0">
                <a:latin typeface="Times New Roman"/>
                <a:cs typeface="Times New Roman"/>
                <a:sym typeface="Times New Roman"/>
              </a:rPr>
              <a:t>Инвертирование</a:t>
            </a:r>
            <a:r>
              <a:rPr lang="en-US" sz="1800" dirty="0">
                <a:latin typeface="Times New Roman"/>
                <a:cs typeface="Times New Roman"/>
                <a:sym typeface="Times New Roman"/>
              </a:rPr>
              <a:t>:</a:t>
            </a:r>
            <a:endParaRPr lang="en-U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π: ∣a, </a:t>
            </a:r>
            <a:r>
              <a:rPr lang="ru-RU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ru-RU" sz="1800" b="0" i="0" u="none" strike="noStrike" cap="none" baseline="-2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⟩ → ∣b, </a:t>
            </a:r>
            <a:r>
              <a:rPr lang="ru-RU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ru-RU" sz="1800" b="0" i="0" u="none" strike="noStrike" cap="none" baseline="-2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ru-RU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ru-RU" sz="1800" b="0" i="0" u="none" strike="noStrike" cap="none" baseline="-2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⟩;</a:t>
            </a:r>
            <a:endParaRPr lang="en-US"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0" lvl="0" algn="l" rtl="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∣b, </a:t>
            </a:r>
            <a:r>
              <a:rPr lang="ru-RU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ru-RU" sz="1800" b="0" i="0" u="none" strike="noStrike" cap="none" baseline="-2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ru-RU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hk</a:t>
            </a:r>
            <a:r>
              <a:rPr lang="ru-RU" sz="1800" b="0" i="0" u="none" strike="noStrike" cap="none" baseline="-2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</a:t>
            </a:r>
            <a:r>
              <a:rPr lang="ru-RU" sz="1800" b="0" i="0" u="none" strike="noStrike" cap="none" baseline="-2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⟩ → ∣a, </a:t>
            </a:r>
            <a:r>
              <a:rPr lang="ru-RU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ru-RU" sz="1800" b="0" i="0" u="none" strike="noStrike" cap="none" baseline="-2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⟩</a:t>
            </a: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</a:p>
          <a:p>
            <a:pPr marR="0" lvl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1800" dirty="0">
                <a:latin typeface="Times New Roman"/>
                <a:ea typeface="Arial"/>
                <a:cs typeface="Times New Roman"/>
                <a:sym typeface="Times New Roman"/>
              </a:rPr>
              <a:t>3) </a:t>
            </a:r>
            <a:r>
              <a:rPr lang="ru-RU" sz="1800" dirty="0">
                <a:latin typeface="Times New Roman"/>
                <a:ea typeface="Arial"/>
                <a:cs typeface="Times New Roman"/>
                <a:sym typeface="Times New Roman"/>
              </a:rPr>
              <a:t>Рекомбинация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π/2: ∣a, p</a:t>
            </a:r>
            <a:r>
              <a:rPr lang="ru-RU" sz="1800" b="0" i="0" u="none" strike="noStrike" cap="none" baseline="-2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2T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⟩ → ∣a, p</a:t>
            </a:r>
            <a:r>
              <a:rPr lang="ru-RU" sz="1800" b="0" i="0" u="none" strike="noStrike" cap="none" baseline="-2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2T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⟩ + ∣b, p + </a:t>
            </a:r>
            <a:r>
              <a:rPr lang="ru-RU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hk</a:t>
            </a:r>
            <a:r>
              <a:rPr lang="ru-RU" sz="1800" b="0" i="0" u="none" strike="noStrike" cap="none" baseline="-2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</a:t>
            </a:r>
            <a:r>
              <a:rPr lang="ru-RU" sz="1800" b="0" i="0" u="none" strike="noStrike" cap="none" baseline="-2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⟩; 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∣b, p</a:t>
            </a:r>
            <a:r>
              <a:rPr lang="ru-RU" sz="1800" b="0" i="0" u="none" strike="noStrike" cap="none" baseline="-2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2T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ru-RU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hk</a:t>
            </a:r>
            <a:r>
              <a:rPr lang="ru-RU" sz="1800" b="0" i="0" u="none" strike="noStrike" cap="none" baseline="-2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⟩ → ∣a, p</a:t>
            </a:r>
            <a:r>
              <a:rPr lang="ru-RU" sz="1800" b="0" i="0" u="none" strike="noStrike" cap="none" baseline="-2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2T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⟩ + ∣b, p</a:t>
            </a:r>
            <a:r>
              <a:rPr lang="ru-RU" sz="1800" b="0" i="0" u="none" strike="noStrike" cap="none" baseline="-2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2T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ru-RU" sz="18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hk</a:t>
            </a:r>
            <a:r>
              <a:rPr lang="ru-RU" sz="1800" b="0" i="0" u="none" strike="noStrike" cap="none" baseline="-2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</a:t>
            </a:r>
            <a:r>
              <a:rPr lang="ru-RU" sz="1800" b="0" i="0" u="none" strike="noStrike" cap="none" baseline="-2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⟩;</a:t>
            </a:r>
            <a:endParaRPr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Итоговая разность фаз между двумя путями: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Δφ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k</a:t>
            </a:r>
            <a:r>
              <a:rPr lang="ru-RU" sz="1600" b="0" i="0" u="none" strike="noStrike" cap="none" baseline="-2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</a:t>
            </a:r>
            <a:r>
              <a:rPr lang="ru-RU" sz="16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Конечная населённость состояний: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ru-RU" sz="1600" b="0" i="0" u="none" strike="noStrike" cap="none" baseline="-250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(1 +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Δφ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))/2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ru-RU" sz="1600" b="0" i="0" u="none" strike="noStrike" cap="none" baseline="-25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(1 -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Δφ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))/2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2779800" y="610001"/>
            <a:ext cx="5830800" cy="48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Последовательность работы трёх-импульсной схемы: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π/2 импульс, разделяющий атомы поровну по состояниям, а также передающий верхнему состоянию некоторый импульс.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Атомы разделяются на две пространственные группы, которые свободно распространяются по различным пространственно-временным траекториям в поле тяжести на протяжении времени 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 импульс, меняющий состояние атомов на противоположное.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Атомы вновь падают время T и по итогу встречаются в одной точке.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π/2 импульс, делающий так, что теперь каждое состояние несёт в себе информацию об путях обоих групп, эти пути имеют разный набег фаз за счёт наличия ускорения свободного падения. В конце можно измерить этот набег фаз измерив населённость одного из состояний.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Измерение населённости состояний.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841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166" name="Google Shape;166;p23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Используемые переходы атома </a:t>
            </a:r>
            <a:r>
              <a:rPr lang="ru-RU" sz="2400" b="1" i="0" u="none" strike="noStrike" cap="none" baseline="3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5676" y="932077"/>
            <a:ext cx="3987334" cy="49938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23"/>
          <p:cNvCxnSpPr/>
          <p:nvPr/>
        </p:nvCxnSpPr>
        <p:spPr>
          <a:xfrm rot="10800000">
            <a:off x="3204456" y="1237116"/>
            <a:ext cx="0" cy="2981301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6862"/>
              </a:srgbClr>
            </a:outerShdw>
          </a:effectLst>
        </p:spPr>
      </p:cxnSp>
      <p:sp>
        <p:nvSpPr>
          <p:cNvPr id="169" name="Google Shape;169;p23"/>
          <p:cNvSpPr txBox="1"/>
          <p:nvPr/>
        </p:nvSpPr>
        <p:spPr>
          <a:xfrm>
            <a:off x="760957" y="3522107"/>
            <a:ext cx="154070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 dirty="0">
                <a:solidFill>
                  <a:srgbClr val="75707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«охлаждающий»</a:t>
            </a:r>
            <a:endParaRPr sz="1400" b="0" i="0" u="none" strike="noStrike" cap="none" dirty="0">
              <a:solidFill>
                <a:srgbClr val="7570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3"/>
          <p:cNvSpPr txBox="1"/>
          <p:nvPr/>
        </p:nvSpPr>
        <p:spPr>
          <a:xfrm>
            <a:off x="4444029" y="4659571"/>
            <a:ext cx="140514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Перекачка атомов с помощью СВЧ</a:t>
            </a:r>
            <a:endParaRPr sz="1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" name="Google Shape;171;p23"/>
          <p:cNvCxnSpPr/>
          <p:nvPr/>
        </p:nvCxnSpPr>
        <p:spPr>
          <a:xfrm rot="10800000">
            <a:off x="2895945" y="1704692"/>
            <a:ext cx="0" cy="3896400"/>
          </a:xfrm>
          <a:prstGeom prst="straightConnector1">
            <a:avLst/>
          </a:prstGeom>
          <a:noFill/>
          <a:ln w="19050" cap="flat" cmpd="sng">
            <a:solidFill>
              <a:srgbClr val="171616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2" name="Google Shape;172;p23"/>
          <p:cNvSpPr txBox="1"/>
          <p:nvPr/>
        </p:nvSpPr>
        <p:spPr>
          <a:xfrm>
            <a:off x="2185787" y="2730993"/>
            <a:ext cx="765848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b="0" i="0" u="none" strike="noStrike" cap="none" dirty="0" err="1">
                <a:solidFill>
                  <a:srgbClr val="17161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Repumper</a:t>
            </a:r>
            <a:endParaRPr sz="1100" b="0" i="0" u="none" strike="noStrike" cap="none" dirty="0">
              <a:solidFill>
                <a:srgbClr val="17161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3" name="Google Shape;173;p23"/>
          <p:cNvCxnSpPr/>
          <p:nvPr/>
        </p:nvCxnSpPr>
        <p:spPr>
          <a:xfrm>
            <a:off x="3032980" y="1704692"/>
            <a:ext cx="0" cy="2501100"/>
          </a:xfrm>
          <a:prstGeom prst="straightConnector1">
            <a:avLst/>
          </a:prstGeom>
          <a:noFill/>
          <a:ln w="19050" cap="flat" cmpd="sng">
            <a:solidFill>
              <a:srgbClr val="171616"/>
            </a:solidFill>
            <a:prstDash val="dash"/>
            <a:miter lim="800000"/>
            <a:headEnd type="none" w="sm" len="sm"/>
            <a:tailEnd type="triangle" w="med" len="med"/>
          </a:ln>
        </p:spPr>
      </p:cxnSp>
      <p:cxnSp>
        <p:nvCxnSpPr>
          <p:cNvPr id="174" name="Google Shape;174;p23"/>
          <p:cNvCxnSpPr/>
          <p:nvPr/>
        </p:nvCxnSpPr>
        <p:spPr>
          <a:xfrm>
            <a:off x="3626586" y="1242846"/>
            <a:ext cx="734008" cy="0"/>
          </a:xfrm>
          <a:prstGeom prst="straightConnector1">
            <a:avLst/>
          </a:prstGeom>
          <a:noFill/>
          <a:ln w="9525" cap="flat" cmpd="sng">
            <a:solidFill>
              <a:srgbClr val="A1A1A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5" name="Google Shape;175;p23"/>
          <p:cNvCxnSpPr/>
          <p:nvPr/>
        </p:nvCxnSpPr>
        <p:spPr>
          <a:xfrm>
            <a:off x="3211620" y="1070401"/>
            <a:ext cx="0" cy="172445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stealth" w="sm" len="sm"/>
            <a:tailEnd type="stealth" w="sm" len="sm"/>
          </a:ln>
        </p:spPr>
      </p:cxnSp>
      <p:sp>
        <p:nvSpPr>
          <p:cNvPr id="176" name="Google Shape;176;p23"/>
          <p:cNvSpPr txBox="1"/>
          <p:nvPr/>
        </p:nvSpPr>
        <p:spPr>
          <a:xfrm>
            <a:off x="3192228" y="1018123"/>
            <a:ext cx="28919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4282874" y="2673374"/>
            <a:ext cx="12765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100" dirty="0" smtClean="0">
                <a:solidFill>
                  <a:srgbClr val="1F3864"/>
                </a:solidFill>
                <a:latin typeface="Times New Roman"/>
                <a:cs typeface="Times New Roman"/>
                <a:sym typeface="Times New Roman"/>
              </a:rPr>
              <a:t>Накачка в состояние </a:t>
            </a:r>
            <a:r>
              <a:rPr lang="en-US" sz="1100" dirty="0" smtClean="0">
                <a:solidFill>
                  <a:srgbClr val="1F3864"/>
                </a:solidFill>
                <a:latin typeface="Times New Roman"/>
                <a:cs typeface="Times New Roman"/>
                <a:sym typeface="Times New Roman"/>
              </a:rPr>
              <a:t>F = 1</a:t>
            </a:r>
            <a:endParaRPr sz="1400" b="0" i="0" u="none" strike="noStrike" cap="none" dirty="0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6689939" y="1295122"/>
            <a:ext cx="4539639" cy="4224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охлаждения и пленения атомов использовалась частота, отстроенная от перехода ∣F = 2⟩ → ∣F’ = 3⟩ в длинноволновую область спектра на величину ~13 МГц.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осуществления оптической </a:t>
            </a:r>
            <a:r>
              <a:rPr lang="ru-RU" sz="16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перекачки использовался 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переход ∣F = 1⟩ → ∣F’ = </a:t>
            </a:r>
            <a:r>
              <a:rPr lang="ru-RU" sz="16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2⟩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Для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осуществления оптической 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накачки в состояние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∣F = 1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⟩ использовался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переход ∣F = 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2⟩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→ ∣F’ = 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2⟩</a:t>
            </a:r>
          </a:p>
          <a:p>
            <a:pPr marL="285750" lvl="0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Для подготовки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атомов в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 немагнитное состояние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∣F = 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1, </a:t>
            </a:r>
            <a:r>
              <a:rPr lang="en-US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m = 0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⟩ использовался переход ∣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F = 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1⟩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→ ∣F’ = 0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⟩.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перекачки атомов из состояния ∣F = 1⟩  в ∣F = 2</a:t>
            </a:r>
            <a:r>
              <a:rPr lang="ru-RU" sz="1600" b="0" i="0" u="non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⟩</a:t>
            </a:r>
            <a:r>
              <a:rPr lang="en-US" sz="1600" b="0" i="0" u="non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с целью оценки эффективности оптической накачки</a:t>
            </a:r>
            <a:r>
              <a:rPr lang="ru-RU" sz="1600" b="0" i="0" u="non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использовалось </a:t>
            </a: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СВЧ излучение на частоте часового перехода </a:t>
            </a:r>
            <a:r>
              <a:rPr lang="ru-RU" sz="1600" b="0" i="0" u="non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  <a:r>
              <a:rPr lang="ru-RU" sz="1600" b="0" i="0" u="non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b="0" i="0" u="non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3"/>
          <p:cNvSpPr txBox="1"/>
          <p:nvPr/>
        </p:nvSpPr>
        <p:spPr>
          <a:xfrm>
            <a:off x="1537899" y="5887637"/>
            <a:ext cx="4038192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4. Схема уровней атома </a:t>
            </a:r>
            <a:r>
              <a:rPr lang="ru-RU" sz="1600" b="0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 вместе с частотами излучений, используемых на экспериментальной установке.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 flipV="1">
            <a:off x="4220567" y="1704692"/>
            <a:ext cx="0" cy="25011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4293326" y="1704692"/>
            <a:ext cx="0" cy="389640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flipV="1">
            <a:off x="1939340" y="3245637"/>
            <a:ext cx="1187037" cy="407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2216" y="3896333"/>
            <a:ext cx="20269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sz="11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Накачка в немагнитное состояние</a:t>
            </a:r>
            <a:endParaRPr lang="ru-RU" sz="1100" dirty="0">
              <a:solidFill>
                <a:schemeClr val="accent2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22" name="Прямая со стрелкой 21"/>
          <p:cNvCxnSpPr/>
          <p:nvPr/>
        </p:nvCxnSpPr>
        <p:spPr>
          <a:xfrm flipV="1">
            <a:off x="3788229" y="2560320"/>
            <a:ext cx="17417" cy="3040774"/>
          </a:xfrm>
          <a:prstGeom prst="straightConnector1">
            <a:avLst/>
          </a:prstGeom>
          <a:ln w="19050">
            <a:prstDash val="dashDot"/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flipV="1">
            <a:off x="2099853" y="3530683"/>
            <a:ext cx="1633295" cy="495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sp>
        <p:nvSpPr>
          <p:cNvPr id="186" name="Google Shape;186;p28"/>
          <p:cNvSpPr txBox="1"/>
          <p:nvPr/>
        </p:nvSpPr>
        <p:spPr>
          <a:xfrm>
            <a:off x="3344883" y="602022"/>
            <a:ext cx="4678800" cy="550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селекции атомов по состояниям и в </a:t>
            </a:r>
            <a:r>
              <a:rPr lang="ru-RU" sz="16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подсветки</a:t>
            </a: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атомов использовался переход ∣F = 2⟩ → ∣F’ = 3⟩.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охлаждения и пленения атомов использовалась частота, отстроенная от перехода ∣F = 2⟩ → ∣F’ = 3⟩ в длинноволновую область спектра на величину ~13 МГц.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осуществления оптической накачки использовался переход ∣F = 1⟩ → ∣F’ = 2⟩, атомы из ∣F’ = 2⟩ спонтанно переходят в ∣F = 2⟩.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перекачки атомов из состояния ∣F = 1⟩  в ∣F = 2⟩, нужной при селекции атомов по состояниям, использовалось СВЧ излучение на частоте часового перехода </a:t>
            </a:r>
            <a:r>
              <a:rPr lang="ru-RU" sz="16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Rb. 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Также для эксперимента по измерению градиента магнитного поля производилась регистрация магнитодипольных переходов между зеемановских подуровней сверхтоного расщепления основного состояния </a:t>
            </a:r>
            <a:r>
              <a:rPr lang="ru-RU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∣F = 1,2⟩ </a:t>
            </a: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 счет сканирования отстройки частоты </a:t>
            </a:r>
            <a:r>
              <a:rPr lang="ru-RU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СВЧ излучения</a:t>
            </a: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от частоты часового перехода в атоме 87Rb.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Оптическая схема гравиметра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1831757" y="4905634"/>
            <a:ext cx="79686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18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Рис.5. Оптическая схема формирования лазерного излучения, используемого для лазерного охлаждения и пленения атомов рубидия (a) и осуществления двухфотонных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рамановских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переходов в атомном интерферометре (b). 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180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AOM – акустооптический модулятор, EOM – электрооптический модулятор, ECDL – диодный лазер с внешним резонатором, λ/2 – полуволновая пластинка, λ/4 – четвертьволновая пластинка,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Iris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диафрагма, M – плоское зеркало, СM – сферическое зеркало,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lens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линза, OI – оптический изолятор Фарадея, PBS – поляризационный делительный кубик, TA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ampl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оптический усилитель,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частота модуляции.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4" name="Google Shape;19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68977" y="1008375"/>
            <a:ext cx="7345909" cy="3815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  <p:sp>
        <p:nvSpPr>
          <p:cNvPr id="200" name="Google Shape;200;p29"/>
          <p:cNvSpPr txBox="1"/>
          <p:nvPr/>
        </p:nvSpPr>
        <p:spPr>
          <a:xfrm>
            <a:off x="758897" y="712882"/>
            <a:ext cx="4913700" cy="354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Оптическая схема формирования лазерного излучения, используемого для лазерного охлаждение и пленения атомов рубидия: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Выполнена на основе лазерной системы Toptica DL pro с выходной мощность более 1 Вт и длиной излучения около 780.24 нм.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формирования охлаждающих пучков излучение на выходе из лазерной системы дважды проходит через АОМ для создания отстройки, контролируемой во времени.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Перекачивающее излучение формировалось с помощью ЭОМ. Импульсы этого излучения формировались с помощью АОМ.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</a:t>
            </a: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Сдувающий» пучок формировался с помощью АОМ с частотой, равной частоте перехода </a:t>
            </a:r>
            <a:r>
              <a:rPr lang="ru-RU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∣F = 2⟩ → ∣F’ = 3⟩</a:t>
            </a: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1050947" y="4137012"/>
            <a:ext cx="4329600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Преимущества данной схемы по сравнению с предыдущей установкой:</a:t>
            </a:r>
            <a:b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возможность независимого контроля частоты охлаждающего/перекачивающего и т.д. излучения;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АОМ в схеме стабилизации частоты: отсутствие паразитной частотной модуляции в излучении лазера, отсутствие паразитной амплитудной модуляции пробного пучка = улучшена эффективность стабилизации частоты.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Исключен волоконный смеситель, приводящий к паразитным флуктуациям в поляризации охлаждающих пучков.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7030619" y="-17106"/>
            <a:ext cx="55797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Также справа представлена схема формирования лазерного излучения, используемая для осуществления двухфотонных Рамановских переходов в атомном интерферометре.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465550" y="0"/>
            <a:ext cx="6096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Была разработана и реализована оптическая схема формирования лазерного излучения, используемого для лазерного охлаждения и пленения атомов рубидия, в чем я принимал свое непосредственное участие.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6926419" y="861282"/>
            <a:ext cx="4506684" cy="418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оптической схеме b излучение рамановского пучка I1 с частотой излучения ω1 генерировалось волоконной лазерной системой: лазер Precilasers с λ = 1560 нм; усилитель/удвоитель частоты EYLSA Keopsys).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Излучение пучка I2 с частотой ω2 формировалось спомощью фазового электрооптического модулятора (ЭОМ) - положительная полоса первого порядка. Отношение интенсивностей рамановских пучков I1/I2 и отстройка δω контролируется мощностью и частотой СВЧ-генератора соответственно.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Импульсы рамановского излучения формировались с помощью акустооптического модулятора (АОМ) и доставлялись к вакуумной камере через одномодовое волокно и колиматор с сохранением поляризации.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2855525" y="5282618"/>
            <a:ext cx="6096000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3. Трехмерная модель экспериментальной установки. На рисунке представлены: вакуумная камера, три пары компенсационных магнитных катушек, охлаждающие лазерные пучки (розовые), рамановские пучки (фиолетовые), пробный пучок (жёлтый), оптика (коллиматоры, зеркала,линзы) и видеокамера. На рисунке не показаны четвертьволновые пластинки и катушка анти-Гельмгольца(фронтальная сторона)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2448148" y="-30071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установка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1433" y="782703"/>
            <a:ext cx="8824184" cy="4447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  <p:sp>
        <p:nvSpPr>
          <p:cNvPr id="160" name="Google Shape;160;p27"/>
          <p:cNvSpPr txBox="1"/>
          <p:nvPr/>
        </p:nvSpPr>
        <p:spPr>
          <a:xfrm>
            <a:off x="3347656" y="1166400"/>
            <a:ext cx="562800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Гравиметр состоит из: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Вакуумной камеры в форме октагон, с 10 окнами для ввода излучения.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Трёх пар взаимно ортогональных встречных пучков с круговой поляризацией, осуществляющих охлаждение и пленение атомов, а также вместе с охлаждающими пучками в вакуумную камеру попадает излучение накачки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Внешних катушек в конфигурации анти-Гельмгольца, создающих квадрупольное магнитное поле для работы МОТ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Наружных катушек, компенсирующих остаточное магнитное поле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Рамановского пучка, используемого для селекции атомов по состояниям, скоростям, и для интерферометрии.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Пробного пучка, используемого при абсорбционным методе регистрации оптической плотности атомов.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Видеокамеры, используемой для регистрации излучения атомов при реализации флуоресцентного метода измерения оптической плотности атомов, подсветка осуществляется охлаждающим излучением, или регистрации пробного пучка при реализации абсорбционного метода измерения оптической плотности атомов.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14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 smtClean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Методы подготовки атомов в немагнитном квантовое состояние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2099529" y="3592337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2608980" y="3592337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3141243" y="3592337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3662718" y="3592337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4176523" y="3592337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2608980" y="420629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3141243" y="420629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3658364" y="420629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3306706" y="3592337"/>
            <a:ext cx="0" cy="613955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389780" y="3438848"/>
            <a:ext cx="1384663" cy="30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 = 2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1389780" y="4052403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 = 1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3050843" y="427309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m=0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2467368" y="427309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m=-1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3592009" y="427309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m=1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3050843" y="317521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m=0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3592008" y="317521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m=1</a:t>
            </a:r>
            <a:endParaRPr lang="ru-RU" dirty="0"/>
          </a:p>
        </p:txBody>
      </p:sp>
      <p:sp>
        <p:nvSpPr>
          <p:cNvPr id="26" name="TextBox 25"/>
          <p:cNvSpPr txBox="1"/>
          <p:nvPr/>
        </p:nvSpPr>
        <p:spPr>
          <a:xfrm>
            <a:off x="2509678" y="317461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m=-1</a:t>
            </a:r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>
            <a:off x="4133173" y="317461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m=2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1978224" y="317461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m=-2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3119713" y="3742004"/>
            <a:ext cx="20269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sz="1100" dirty="0" smtClean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rPr>
              <a:t>Перекачивающее СВЧ излучение</a:t>
            </a:r>
            <a:endParaRPr lang="ru-RU" sz="1100" dirty="0">
              <a:solidFill>
                <a:schemeClr val="accent2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32" name="Прямая со стрелкой 31"/>
          <p:cNvCxnSpPr/>
          <p:nvPr/>
        </p:nvCxnSpPr>
        <p:spPr>
          <a:xfrm flipV="1">
            <a:off x="3823827" y="2191174"/>
            <a:ext cx="0" cy="13432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037383" y="2574093"/>
            <a:ext cx="20269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sz="1100" dirty="0" smtClean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</a:rPr>
              <a:t>Выводящее оптическое излучение</a:t>
            </a:r>
            <a:endParaRPr lang="ru-RU" sz="1100" dirty="0">
              <a:solidFill>
                <a:schemeClr val="accent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591358" y="1240770"/>
            <a:ext cx="3056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 селекции по магнитным состояниям</a:t>
            </a:r>
            <a:endParaRPr lang="ru-RU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Прямая соединительная линия 38"/>
          <p:cNvCxnSpPr/>
          <p:nvPr/>
        </p:nvCxnSpPr>
        <p:spPr>
          <a:xfrm flipV="1">
            <a:off x="1663060" y="2036767"/>
            <a:ext cx="3204754" cy="19968"/>
          </a:xfrm>
          <a:prstGeom prst="line">
            <a:avLst/>
          </a:prstGeom>
          <a:ln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591358" y="4864503"/>
            <a:ext cx="3056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Потери не менее 80%</a:t>
            </a: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199927" y="1240770"/>
            <a:ext cx="3613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оптической накачки в немагнитное состояние</a:t>
            </a: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3" name="Прямая соединительная линия 42"/>
          <p:cNvCxnSpPr/>
          <p:nvPr/>
        </p:nvCxnSpPr>
        <p:spPr>
          <a:xfrm>
            <a:off x="8309018" y="4483291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/>
          <p:nvPr/>
        </p:nvCxnSpPr>
        <p:spPr>
          <a:xfrm>
            <a:off x="8841281" y="4483291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/>
          <p:nvPr/>
        </p:nvCxnSpPr>
        <p:spPr>
          <a:xfrm>
            <a:off x="9358402" y="4483291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372846" y="4329402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 = 1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8750881" y="455009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m=0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8167406" y="455009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m=-1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9292047" y="455009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m=1</a:t>
            </a:r>
            <a:endParaRPr lang="ru-RU" dirty="0"/>
          </a:p>
        </p:txBody>
      </p:sp>
      <p:cxnSp>
        <p:nvCxnSpPr>
          <p:cNvPr id="50" name="Прямая соединительная линия 49"/>
          <p:cNvCxnSpPr/>
          <p:nvPr/>
        </p:nvCxnSpPr>
        <p:spPr>
          <a:xfrm>
            <a:off x="8841281" y="257267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726412" y="2198097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  <a:r>
              <a:rPr lang="en-US" dirty="0" smtClean="0"/>
              <a:t>’=0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>
            <a:off x="7372846" y="2418786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F’ = 0</a:t>
            </a:r>
            <a:endParaRPr lang="ru-RU" dirty="0"/>
          </a:p>
        </p:txBody>
      </p:sp>
      <p:cxnSp>
        <p:nvCxnSpPr>
          <p:cNvPr id="54" name="Прямая со стрелкой 53"/>
          <p:cNvCxnSpPr/>
          <p:nvPr/>
        </p:nvCxnSpPr>
        <p:spPr>
          <a:xfrm flipV="1">
            <a:off x="8474481" y="2655040"/>
            <a:ext cx="414698" cy="1794851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/>
          <p:cNvCxnSpPr/>
          <p:nvPr/>
        </p:nvCxnSpPr>
        <p:spPr>
          <a:xfrm flipH="1" flipV="1">
            <a:off x="9128860" y="2672878"/>
            <a:ext cx="395005" cy="1777013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850986" y="3127496"/>
            <a:ext cx="20269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sz="1100" dirty="0" smtClean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Накачивающее оптическое излучение с круговой поляризацией</a:t>
            </a:r>
            <a:endParaRPr lang="ru-RU" sz="1100" dirty="0">
              <a:solidFill>
                <a:srgbClr val="002060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61" name="Прямая со стрелкой 60"/>
          <p:cNvCxnSpPr/>
          <p:nvPr/>
        </p:nvCxnSpPr>
        <p:spPr>
          <a:xfrm>
            <a:off x="9006744" y="2655040"/>
            <a:ext cx="0" cy="1794850"/>
          </a:xfrm>
          <a:prstGeom prst="straightConnector1">
            <a:avLst/>
          </a:prstGeom>
          <a:ln w="19050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7478389" y="4862287"/>
            <a:ext cx="3056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Потери менее 10%</a:t>
            </a: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743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15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 smtClean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Моделирование оптической накачки для подготовки атомов в немагнитном состоянии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1791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16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ru-RU" sz="2400" b="1" dirty="0" smtClean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Результат измерения населённости состояния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∣F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=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1, </a:t>
            </a:r>
            <a:r>
              <a:rPr lang="en-US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m=0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⟩ </a:t>
            </a:r>
            <a:r>
              <a:rPr lang="ru-RU" sz="2400" b="1" dirty="0" smtClean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после оптической накачки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1949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17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ru-RU" sz="2400" b="1" dirty="0" smtClean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Результат измерения температуры до и после оптической накачки  в состояние </a:t>
            </a:r>
            <a:r>
              <a:rPr lang="en-US" sz="2400" b="1" dirty="0" smtClean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∣</a:t>
            </a:r>
            <a:r>
              <a:rPr lang="en-US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F = 1, m=0⟩ </a:t>
            </a:r>
            <a:r>
              <a:rPr lang="ru-RU" sz="2400" b="1" dirty="0" smtClean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9388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18</a:t>
            </a:fld>
            <a:endParaRPr dirty="0"/>
          </a:p>
        </p:txBody>
      </p:sp>
      <p:sp>
        <p:nvSpPr>
          <p:cNvPr id="210" name="Google Shape;210;p30"/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Измерение неоднородности магнитного поля</a:t>
            </a:r>
            <a:endParaRPr sz="24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789649" y="4966802"/>
            <a:ext cx="26780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6. Изображение с камеры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4079455" y="4966802"/>
            <a:ext cx="432958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7. Зависимость сигнала от частоты для одного из блоков пикселей видеокамеры.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" name="Google Shape;213;p30"/>
          <p:cNvPicPr preferRelativeResize="0"/>
          <p:nvPr/>
        </p:nvPicPr>
        <p:blipFill rotWithShape="1">
          <a:blip r:embed="rId3">
            <a:alphaModFix/>
          </a:blip>
          <a:srcRect l="42877" t="43810" r="37156" b="27255"/>
          <a:stretch/>
        </p:blipFill>
        <p:spPr>
          <a:xfrm>
            <a:off x="595344" y="1866563"/>
            <a:ext cx="2457450" cy="267114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0"/>
          <p:cNvSpPr/>
          <p:nvPr/>
        </p:nvSpPr>
        <p:spPr>
          <a:xfrm>
            <a:off x="789649" y="2240109"/>
            <a:ext cx="1924050" cy="192405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1933207" y="2835887"/>
            <a:ext cx="236391" cy="236391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29326" y="2013222"/>
            <a:ext cx="3007527" cy="252448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0"/>
          <p:cNvSpPr/>
          <p:nvPr/>
        </p:nvSpPr>
        <p:spPr>
          <a:xfrm>
            <a:off x="10476063" y="2752546"/>
            <a:ext cx="236400" cy="270572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9297204" y="4964297"/>
            <a:ext cx="2345469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8. Магнитное поле установки в центре вакуумной камеры.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62675" y="1670630"/>
            <a:ext cx="4862690" cy="32096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30"/>
          <p:cNvCxnSpPr>
            <a:cxnSpLocks/>
            <a:stCxn id="221" idx="1"/>
            <a:endCxn id="217" idx="1"/>
          </p:cNvCxnSpPr>
          <p:nvPr/>
        </p:nvCxnSpPr>
        <p:spPr>
          <a:xfrm rot="16200000" flipH="1">
            <a:off x="8444479" y="856248"/>
            <a:ext cx="236741" cy="3826426"/>
          </a:xfrm>
          <a:prstGeom prst="curvedConnector4">
            <a:avLst>
              <a:gd name="adj1" fmla="val -96561"/>
              <a:gd name="adj2" fmla="val 51982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1" name="Google Shape;221;p30"/>
          <p:cNvSpPr/>
          <p:nvPr/>
        </p:nvSpPr>
        <p:spPr>
          <a:xfrm rot="5400000">
            <a:off x="6491680" y="2242971"/>
            <a:ext cx="309653" cy="1125892"/>
          </a:xfrm>
          <a:prstGeom prst="leftBrace">
            <a:avLst>
              <a:gd name="adj1" fmla="val 68023"/>
              <a:gd name="adj2" fmla="val 49722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p30"/>
          <p:cNvCxnSpPr/>
          <p:nvPr/>
        </p:nvCxnSpPr>
        <p:spPr>
          <a:xfrm rot="10800000" flipH="1">
            <a:off x="2220686" y="2699382"/>
            <a:ext cx="1441200" cy="254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19</a:t>
            </a:fld>
            <a:endParaRPr/>
          </a:p>
        </p:txBody>
      </p:sp>
      <p:sp>
        <p:nvSpPr>
          <p:cNvPr id="228" name="Google Shape;228;p31"/>
          <p:cNvSpPr txBox="1"/>
          <p:nvPr/>
        </p:nvSpPr>
        <p:spPr>
          <a:xfrm>
            <a:off x="2946919" y="136525"/>
            <a:ext cx="5886734" cy="590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Градиент магнитного поля приводит к снижению эффективности лазерного охлаждения и уменьшение контраста сигнала атомного интерферометра.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градиент магнитного поля также оказывает сильной влияние близкое расположение ионного насоса к вакуумной камере.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Также для эксперимента по измерению градиента магнитного поля производилась регистрация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магнитодипольных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переходов между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Зеемановских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подуровней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сверхтоного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расщепления основного состояния 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∣F = 1,2⟩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 счет сканирования отстройки частоты 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СВЧ излучения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от частоты часового перехода в атоме 87Rb. Видимое контролируемое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Зеемановское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расщепление создавалось постоянным магнитным полем компенсационных катушек.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Регистрация резонансов происходила путём измерения оптической плотность атомов в ∣F = 2⟩ методом флуоресценции.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Величина постоянного магнитного поля, создаваемого компенсационными катушками, и диапазон СВЧ сканирования подбирались так, чтобы регистрировать только три линии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Зеемановского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расщепления – основную немагнитную и две боковые.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 значение частотного расщепления резонансов можно определить величину магнитного поля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пространственного измерения градиента магнитного поля использовался сигнал с каждого пикселя видеокамеры, и для увеличения точности пиксели объединялись в блоки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подсчёта величины магнитного поля и градиента магнитного поля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мной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 научным руководством была написана программа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20</a:t>
            </a:fld>
            <a:endParaRPr/>
          </a:p>
        </p:txBody>
      </p:sp>
      <p:sp>
        <p:nvSpPr>
          <p:cNvPr id="235" name="Google Shape;235;p32"/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 измерений и корректировки градиента магнитного поля</a:t>
            </a:r>
            <a:endParaRPr sz="24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32"/>
          <p:cNvSpPr txBox="1"/>
          <p:nvPr/>
        </p:nvSpPr>
        <p:spPr>
          <a:xfrm>
            <a:off x="146499" y="5305074"/>
            <a:ext cx="76323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центре вакуумной камеры магнитное поле не однородное.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Было продемонстрировано уменьшение </a:t>
            </a:r>
            <a:r>
              <a:rPr lang="ru-RU" sz="16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неодородности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магнитного.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dirty="0">
                <a:latin typeface="Times New Roman"/>
                <a:cs typeface="Times New Roman"/>
                <a:sym typeface="Times New Roman"/>
              </a:rPr>
              <a:t>Уменьшение неоднородности магнитного поля оказало положительный эффект на эффективность охлаждения,</a:t>
            </a:r>
            <a:r>
              <a:rPr lang="en-US" sz="1600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cs typeface="Times New Roman"/>
                <a:sym typeface="Times New Roman"/>
              </a:rPr>
              <a:t>А также и на шум в атомном интерферометре, что планируется экспериментально проверить в дальнейшем.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2"/>
          <p:cNvSpPr txBox="1"/>
          <p:nvPr/>
        </p:nvSpPr>
        <p:spPr>
          <a:xfrm>
            <a:off x="19915" y="4279035"/>
            <a:ext cx="291847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9. Магнитное поле и линии уровня при отсутствии ионного насоса и компенсации.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373758" y="1309518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Градиент  2.6 мГс/мм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32"/>
          <p:cNvSpPr txBox="1"/>
          <p:nvPr/>
        </p:nvSpPr>
        <p:spPr>
          <a:xfrm>
            <a:off x="2643674" y="4285060"/>
            <a:ext cx="291847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10. Магнитное поле и линии уровня при работе ионного насоса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2"/>
          <p:cNvSpPr txBox="1"/>
          <p:nvPr/>
        </p:nvSpPr>
        <p:spPr>
          <a:xfrm>
            <a:off x="3122667" y="1302126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Градиент  1.4 мГс/мм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5700544" y="1288514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Градиент 2.4 мГс/мм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5457151" y="4212448"/>
            <a:ext cx="291847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11. Магнитное поле и линии уровня при работе ионного насоса и использование постоянного компенсационного магнита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45949" y="1609903"/>
            <a:ext cx="2682334" cy="2654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70377" y="1617295"/>
            <a:ext cx="2584544" cy="2654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636981"/>
            <a:ext cx="2584545" cy="2583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9296" y="1658280"/>
            <a:ext cx="2747543" cy="265434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2"/>
          <p:cNvSpPr txBox="1"/>
          <p:nvPr/>
        </p:nvSpPr>
        <p:spPr>
          <a:xfrm>
            <a:off x="8607748" y="1291746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Градиент  1.3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мГс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/мм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2"/>
          <p:cNvSpPr txBox="1"/>
          <p:nvPr/>
        </p:nvSpPr>
        <p:spPr>
          <a:xfrm>
            <a:off x="8372893" y="4366336"/>
            <a:ext cx="2682334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12. Магнитное поле и линии уровня при работе ионного насоса, использовании постоянных компенсационных магнитов и при корректировки магнитного поля компенсационных катушек.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C872C99A-3050-4DEF-BC91-EFF3798074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3342" y="701919"/>
            <a:ext cx="1074233" cy="48222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3FEC67FD-7724-4E8B-89C8-80630CB2D9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21</a:t>
            </a:fld>
            <a:endParaRPr lang="ru-RU"/>
          </a:p>
        </p:txBody>
      </p:sp>
      <p:sp>
        <p:nvSpPr>
          <p:cNvPr id="3" name="Google Shape;235;p32">
            <a:extLst>
              <a:ext uri="{FF2B5EF4-FFF2-40B4-BE49-F238E27FC236}">
                <a16:creationId xmlns="" xmlns:a16="http://schemas.microsoft.com/office/drawing/2014/main" id="{E943C429-4871-4ABB-BA3B-7000312C6F47}"/>
              </a:ext>
            </a:extLst>
          </p:cNvPr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 измерений и корректировки градиента магнитного поля</a:t>
            </a:r>
            <a:endParaRPr sz="24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20CA7B74-B17B-4554-8912-2A5FB512E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704" y="3146978"/>
            <a:ext cx="2631129" cy="9286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9083A715-CC79-49A6-8295-22A6563FAE3D}"/>
              </a:ext>
            </a:extLst>
          </p:cNvPr>
          <p:cNvSpPr txBox="1"/>
          <p:nvPr/>
        </p:nvSpPr>
        <p:spPr>
          <a:xfrm>
            <a:off x="6981057" y="4325607"/>
            <a:ext cx="1592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 </a:t>
            </a:r>
            <a:r>
              <a:rPr lang="ru-RU" dirty="0"/>
              <a:t>=</a:t>
            </a:r>
            <a:r>
              <a:rPr lang="en-US" dirty="0"/>
              <a:t> 2 </a:t>
            </a:r>
            <a:r>
              <a:rPr lang="ru-RU" dirty="0" err="1"/>
              <a:t>мкК</a:t>
            </a:r>
            <a:r>
              <a:rPr lang="ru-RU" dirty="0"/>
              <a:t>, ранее было 6 </a:t>
            </a:r>
            <a:r>
              <a:rPr lang="ru-RU" dirty="0" err="1"/>
              <a:t>мкК</a:t>
            </a:r>
            <a:r>
              <a:rPr lang="ru-RU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4119A464-DA1C-4EFB-956A-AB29ECEA0C31}"/>
              </a:ext>
            </a:extLst>
          </p:cNvPr>
          <p:cNvSpPr txBox="1"/>
          <p:nvPr/>
        </p:nvSpPr>
        <p:spPr>
          <a:xfrm rot="16200000">
            <a:off x="-37799" y="2993089"/>
            <a:ext cx="13855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Время, мс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="" xmlns:a16="http://schemas.microsoft.com/office/drawing/2014/main" id="{8974B4BA-7E00-4D6B-BE14-A2510EC72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87" y="1291745"/>
            <a:ext cx="5287113" cy="40582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8A348235-93F3-4B5F-93D2-5744992B336F}"/>
              </a:ext>
            </a:extLst>
          </p:cNvPr>
          <p:cNvSpPr txBox="1"/>
          <p:nvPr/>
        </p:nvSpPr>
        <p:spPr>
          <a:xfrm>
            <a:off x="2904531" y="5349961"/>
            <a:ext cx="20005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 облака, м</a:t>
            </a:r>
            <a:r>
              <a:rPr lang="ru-RU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39846A2-34F8-4171-B8C8-09C31D9868E1}"/>
              </a:ext>
            </a:extLst>
          </p:cNvPr>
          <p:cNvSpPr txBox="1"/>
          <p:nvPr/>
        </p:nvSpPr>
        <p:spPr>
          <a:xfrm>
            <a:off x="6654437" y="2158319"/>
            <a:ext cx="39123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Температура облака измеряется после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Сизифового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охлаждения, которое идёт сразу после выключения МОЛ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3581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 txBox="1"/>
          <p:nvPr/>
        </p:nvSpPr>
        <p:spPr>
          <a:xfrm>
            <a:off x="2744425" y="906641"/>
            <a:ext cx="6755400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Численное</a:t>
            </a:r>
            <a:r>
              <a:rPr lang="ru-RU" sz="1800" b="0" i="0" u="non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моделирование оптической накачки в немагнитное квантовое состояния</a:t>
            </a:r>
            <a:r>
              <a:rPr lang="ru-RU" sz="1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показало эффективность, близкую к 100%, и нагрев около 1 </a:t>
            </a:r>
            <a:r>
              <a:rPr lang="ru-RU" sz="1800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мкК</a:t>
            </a:r>
            <a:r>
              <a:rPr lang="ru-RU" sz="1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реализация оптической накачки в немагнитное состояния продемонстрировало эффективность более 90 % и нагрев в 1 </a:t>
            </a:r>
            <a:r>
              <a:rPr lang="ru-RU" sz="1800" b="0" i="0" u="none" cap="none" dirty="0" err="1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мкК</a:t>
            </a:r>
            <a:r>
              <a:rPr lang="ru-RU" sz="1800" b="0" i="0" u="non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что близко к результатам моделирования. Расхождения объясняются несовершенством электро-оптической схемы.</a:t>
            </a:r>
            <a:endParaRPr sz="1800" b="0" i="0" u="non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Проведены измерения неоднородности магнитного поля и выполнено уменьшение градиента магнитного поля до величины ~1.3 </a:t>
            </a:r>
            <a:r>
              <a:rPr lang="ru-RU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мГс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/мм. Реализовано программное обеспечение для детектирования неоднородности магнитного поля.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Уменьшение неоднородности позволило уменьшить температуру облака после </a:t>
            </a:r>
            <a:r>
              <a:rPr lang="ru-RU" sz="18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сизифого</a:t>
            </a:r>
            <a:r>
              <a:rPr lang="ru-RU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 охлаждения с 6 до 2 </a:t>
            </a:r>
            <a:r>
              <a:rPr lang="ru-RU" sz="18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мкК</a:t>
            </a:r>
            <a:r>
              <a:rPr lang="ru-RU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дальнейшем планируется </a:t>
            </a:r>
            <a:r>
              <a:rPr lang="ru-RU" sz="18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проверить влияние 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уменьшения неоднородности магнитного поля </a:t>
            </a:r>
            <a:r>
              <a:rPr lang="ru-RU" sz="18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 потерь атомов на 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эффективность охлаждения и на шум </a:t>
            </a:r>
            <a:r>
              <a:rPr lang="ru-RU" sz="1800" b="0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интерферометра.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22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2248</Words>
  <Application>Microsoft Office PowerPoint</Application>
  <PresentationFormat>Широкоэкранный</PresentationFormat>
  <Paragraphs>220</Paragraphs>
  <Slides>22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kilrealladam@gmail.com</dc:creator>
  <cp:lastModifiedBy>Макаров Антон Олегович</cp:lastModifiedBy>
  <cp:revision>33</cp:revision>
  <dcterms:created xsi:type="dcterms:W3CDTF">2023-12-21T05:49:20Z</dcterms:created>
  <dcterms:modified xsi:type="dcterms:W3CDTF">2024-12-12T10:34:01Z</dcterms:modified>
</cp:coreProperties>
</file>