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87" r:id="rId4"/>
    <p:sldId id="290" r:id="rId5"/>
    <p:sldId id="268" r:id="rId6"/>
    <p:sldId id="264" r:id="rId7"/>
    <p:sldId id="270" r:id="rId8"/>
    <p:sldId id="272" r:id="rId9"/>
    <p:sldId id="282" r:id="rId10"/>
    <p:sldId id="292" r:id="rId11"/>
    <p:sldId id="293" r:id="rId12"/>
    <p:sldId id="284" r:id="rId13"/>
    <p:sldId id="285" r:id="rId14"/>
    <p:sldId id="295" r:id="rId15"/>
    <p:sldId id="288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ouDVospvBqDJ2IaPmer8mAxNsd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realladam@gmail.com" initials="k" lastIdx="1" clrIdx="0">
    <p:extLst>
      <p:ext uri="{19B8F6BF-5375-455C-9EA6-DF929625EA0E}">
        <p15:presenceInfo xmlns:p15="http://schemas.microsoft.com/office/powerpoint/2012/main" userId="06abd9abe9dc439d" providerId="Windows Live"/>
      </p:ext>
    </p:extLst>
  </p:cmAuthor>
  <p:cmAuthor id="2" name="Макаров Антон Олегович" initials="МАО" lastIdx="1" clrIdx="1">
    <p:extLst>
      <p:ext uri="{19B8F6BF-5375-455C-9EA6-DF929625EA0E}">
        <p15:presenceInfo xmlns:p15="http://schemas.microsoft.com/office/powerpoint/2012/main" userId="S-1-5-21-459334724-2767538070-3650366139-13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76" autoAdjust="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3" Type="http://customschemas.google.com/relationships/presentationmetadata" Target="meta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81286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1452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Добавить преимущества квантового гравиметра.</a:t>
            </a:r>
            <a:endParaRPr/>
          </a:p>
        </p:txBody>
      </p:sp>
      <p:sp>
        <p:nvSpPr>
          <p:cNvPr id="104" name="Google Shape;104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9524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1885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Корректировки:</a:t>
            </a:r>
            <a:br>
              <a:rPr lang="ru-RU"/>
            </a:br>
            <a:r>
              <a:rPr lang="ru-RU"/>
              <a:t>1. Много текста</a:t>
            </a:r>
            <a:endParaRPr/>
          </a:p>
        </p:txBody>
      </p:sp>
      <p:sp>
        <p:nvSpPr>
          <p:cNvPr id="149" name="Google Shape;14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3046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Подписать резонансы, указать формулу для расчета маг поля</a:t>
            </a:r>
            <a:endParaRPr dirty="0"/>
          </a:p>
        </p:txBody>
      </p:sp>
      <p:sp>
        <p:nvSpPr>
          <p:cNvPr id="207" name="Google Shape;20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9808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Пересмотреть картинки, пересчитать градиенты (линии), сделать один цветовой масштаб, указать расстояние между белыми линиями</a:t>
            </a:r>
            <a:endParaRPr/>
          </a:p>
        </p:txBody>
      </p:sp>
      <p:sp>
        <p:nvSpPr>
          <p:cNvPr id="232" name="Google Shape;232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819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2682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5256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21660" y="3508614"/>
            <a:ext cx="1036206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40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К.Н. Адамов</a:t>
            </a:r>
            <a:r>
              <a:rPr lang="ru-RU" sz="2400" i="0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Д.Н. Капуста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А.Э.Бонерт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А.Н. Гончаров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1,2,3</a:t>
            </a:r>
            <a:endParaRPr sz="2400" i="0" u="sng" strike="noStrike" cap="none" baseline="3000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-55685" y="1985877"/>
            <a:ext cx="123033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ru-RU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начального волнового пакета для квантового интерферометра-гравиметра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213CD34-9B2E-4915-B966-ECAAA8145C08}"/>
              </a:ext>
            </a:extLst>
          </p:cNvPr>
          <p:cNvSpPr txBox="1"/>
          <p:nvPr/>
        </p:nvSpPr>
        <p:spPr>
          <a:xfrm>
            <a:off x="4156140" y="80866"/>
            <a:ext cx="41490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лазерной физики СО РАН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Новосибирск, Россия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47D8F47-E0BB-4E7A-859C-9128519CAC65}"/>
              </a:ext>
            </a:extLst>
          </p:cNvPr>
          <p:cNvSpPr txBox="1"/>
          <p:nvPr/>
        </p:nvSpPr>
        <p:spPr>
          <a:xfrm>
            <a:off x="2662334" y="4061202"/>
            <a:ext cx="78501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лазерной физики СО РАН, Новосибирск, Россия</a:t>
            </a:r>
          </a:p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Новосибирский государственный университет, Новосибирск, Россия</a:t>
            </a:r>
          </a:p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Новосибирский государственный технический университет, Новосибирск, </a:t>
            </a:r>
            <a:r>
              <a:rPr lang="ru-RU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Россия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5DE045F-A47A-4C75-B787-B48904B8CAE6}"/>
              </a:ext>
            </a:extLst>
          </p:cNvPr>
          <p:cNvSpPr txBox="1"/>
          <p:nvPr/>
        </p:nvSpPr>
        <p:spPr>
          <a:xfrm>
            <a:off x="261256" y="5984033"/>
            <a:ext cx="3097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ofadamovkirill@gmail.com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2504131" y="94717"/>
            <a:ext cx="6910755" cy="4775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10299442" y="133442"/>
            <a:ext cx="180391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Гал  ~ 10</a:t>
            </a:r>
            <a:r>
              <a:rPr lang="ru-RU" sz="2000" b="0" i="0" u="none" strike="noStrike" cap="none" baseline="30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</a:t>
            </a:r>
            <a:r>
              <a:rPr lang="ru-RU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</a:t>
            </a:r>
            <a:endParaRPr sz="20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957395" y="2963644"/>
            <a:ext cx="468059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Геодезия и наблюдение за Землей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Археология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Разведка полезных ископаемых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подземной инфраструктуры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6200861" y="2963644"/>
            <a:ext cx="4548674" cy="119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Навигация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к скрытых объектов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Вулканы, исследования землетрясений и пр.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Фундаментальные физические исследования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786059" y="2528933"/>
            <a:ext cx="39829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Области применения гравиметров: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2796073" y="989435"/>
            <a:ext cx="7503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 квантового гравиметра над классическим: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692200" y="1323335"/>
            <a:ext cx="5260523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Отсутствие подвижных элементов в конструкции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Высокая частота измерений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Может (гироскоп и акселерометр) и т.д.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67E3B1A-029A-4327-9EF0-D391A5F0BDEF}"/>
              </a:ext>
            </a:extLst>
          </p:cNvPr>
          <p:cNvSpPr txBox="1"/>
          <p:nvPr/>
        </p:nvSpPr>
        <p:spPr>
          <a:xfrm>
            <a:off x="4155278" y="4744595"/>
            <a:ext cx="626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Проведённые исследования</a:t>
            </a: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564A0FFF-1164-43D7-A296-4897223993E0}"/>
              </a:ext>
            </a:extLst>
          </p:cNvPr>
          <p:cNvSpPr txBox="1"/>
          <p:nvPr/>
        </p:nvSpPr>
        <p:spPr>
          <a:xfrm>
            <a:off x="2940745" y="5145442"/>
            <a:ext cx="757614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5" indent="-285750">
              <a:spcBef>
                <a:spcPts val="6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К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омпенсация неоднородности магнитного поля.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Увеличение эффективности п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одготовки атомов в немагнитном состоянии. 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88B3876-4C9B-44B7-90CC-440DA9C300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</a:t>
            </a:fld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xmlns="" id="{839F4945-9D74-4B8C-897B-6CE0EB1BFA5F}"/>
              </a:ext>
            </a:extLst>
          </p:cNvPr>
          <p:cNvSpPr/>
          <p:nvPr/>
        </p:nvSpPr>
        <p:spPr>
          <a:xfrm>
            <a:off x="2948472" y="1885477"/>
            <a:ext cx="311020" cy="31724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xmlns="" id="{AF0DCB50-B4C1-4A57-B451-5B2BAD1CCAFD}"/>
              </a:ext>
            </a:extLst>
          </p:cNvPr>
          <p:cNvCxnSpPr>
            <a:cxnSpLocks/>
          </p:cNvCxnSpPr>
          <p:nvPr/>
        </p:nvCxnSpPr>
        <p:spPr>
          <a:xfrm>
            <a:off x="3097761" y="958637"/>
            <a:ext cx="0" cy="7775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xmlns="" id="{9F59D60F-EACF-44BD-AA3A-E3FFA94DD692}"/>
              </a:ext>
            </a:extLst>
          </p:cNvPr>
          <p:cNvCxnSpPr>
            <a:cxnSpLocks/>
          </p:cNvCxnSpPr>
          <p:nvPr/>
        </p:nvCxnSpPr>
        <p:spPr>
          <a:xfrm flipV="1">
            <a:off x="3097761" y="2376889"/>
            <a:ext cx="0" cy="7464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xmlns="" id="{6E8EE65A-8353-44B3-8EDF-F5E6D46B8865}"/>
              </a:ext>
            </a:extLst>
          </p:cNvPr>
          <p:cNvCxnSpPr>
            <a:cxnSpLocks/>
          </p:cNvCxnSpPr>
          <p:nvPr/>
        </p:nvCxnSpPr>
        <p:spPr>
          <a:xfrm>
            <a:off x="2326431" y="1387844"/>
            <a:ext cx="447870" cy="34834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xmlns="" id="{94BE0C1F-2D1C-4D6F-84F5-6E443D1BA35D}"/>
              </a:ext>
            </a:extLst>
          </p:cNvPr>
          <p:cNvCxnSpPr>
            <a:cxnSpLocks/>
          </p:cNvCxnSpPr>
          <p:nvPr/>
        </p:nvCxnSpPr>
        <p:spPr>
          <a:xfrm flipH="1" flipV="1">
            <a:off x="3415005" y="2252484"/>
            <a:ext cx="771328" cy="54894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xmlns="" id="{D9E14132-7567-45B0-8D8C-03401800B35A}"/>
              </a:ext>
            </a:extLst>
          </p:cNvPr>
          <p:cNvCxnSpPr>
            <a:cxnSpLocks/>
          </p:cNvCxnSpPr>
          <p:nvPr/>
        </p:nvCxnSpPr>
        <p:spPr>
          <a:xfrm flipV="1">
            <a:off x="1946988" y="2096972"/>
            <a:ext cx="821092" cy="15551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xmlns="" id="{32621570-AB0C-49E0-9242-014A69B9E20B}"/>
              </a:ext>
            </a:extLst>
          </p:cNvPr>
          <p:cNvCxnSpPr>
            <a:cxnSpLocks/>
          </p:cNvCxnSpPr>
          <p:nvPr/>
        </p:nvCxnSpPr>
        <p:spPr>
          <a:xfrm flipH="1">
            <a:off x="3415005" y="1806166"/>
            <a:ext cx="964162" cy="15862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57D9114C-0BAF-4A68-A6A6-A6F7B6588357}"/>
              </a:ext>
            </a:extLst>
          </p:cNvPr>
          <p:cNvSpPr txBox="1"/>
          <p:nvPr/>
        </p:nvSpPr>
        <p:spPr>
          <a:xfrm>
            <a:off x="3270223" y="145864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</a:t>
            </a:r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xmlns="" id="{EE460C1C-8D50-4C3C-BB92-3B7D2ED5A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446" y="3207562"/>
            <a:ext cx="499155" cy="48519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FBBB57CA-A075-45E2-B876-CEA37387CBC5}"/>
              </a:ext>
            </a:extLst>
          </p:cNvPr>
          <p:cNvSpPr txBox="1"/>
          <p:nvPr/>
        </p:nvSpPr>
        <p:spPr>
          <a:xfrm>
            <a:off x="3383899" y="3059668"/>
            <a:ext cx="1492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в немагнитное состояние</a:t>
            </a: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xmlns="" id="{7BA0B989-90EF-4993-9301-0913179DC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836445" y="3718232"/>
            <a:ext cx="540558" cy="74925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228A9D4D-6335-431D-8F55-90CFC84CF771}"/>
              </a:ext>
            </a:extLst>
          </p:cNvPr>
          <p:cNvSpPr txBox="1"/>
          <p:nvPr/>
        </p:nvSpPr>
        <p:spPr>
          <a:xfrm>
            <a:off x="3270223" y="3845993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Скоростная селекция</a:t>
            </a:r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xmlns="" id="{FDE3C731-B6E1-4FFE-B0F5-F4400DCC77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225" b="17878"/>
          <a:stretch/>
        </p:blipFill>
        <p:spPr>
          <a:xfrm>
            <a:off x="2556589" y="4543863"/>
            <a:ext cx="858416" cy="28535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B0D3E0D9-53A6-49C4-8177-D11076D6633F}"/>
              </a:ext>
            </a:extLst>
          </p:cNvPr>
          <p:cNvSpPr txBox="1"/>
          <p:nvPr/>
        </p:nvSpPr>
        <p:spPr>
          <a:xfrm>
            <a:off x="3250161" y="4356499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Атомная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Интерференция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xmlns="" id="{FA170C71-6EC6-4D59-B67E-1E2DC6FDE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446" y="4890281"/>
            <a:ext cx="370702" cy="320152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xmlns="" id="{A61134B6-4291-42BA-B24F-539549836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082" y="5166840"/>
            <a:ext cx="370702" cy="320152"/>
          </a:xfrm>
          <a:prstGeom prst="rect">
            <a:avLst/>
          </a:prstGeom>
        </p:spPr>
      </p:pic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xmlns="" id="{F228DCAD-216D-4DE7-A72E-2C338A4CDA73}"/>
              </a:ext>
            </a:extLst>
          </p:cNvPr>
          <p:cNvCxnSpPr>
            <a:cxnSpLocks/>
          </p:cNvCxnSpPr>
          <p:nvPr/>
        </p:nvCxnSpPr>
        <p:spPr>
          <a:xfrm flipV="1">
            <a:off x="2072810" y="5037033"/>
            <a:ext cx="596851" cy="1332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A5E534B1-B82D-4149-9CD1-F2A05002DF41}"/>
              </a:ext>
            </a:extLst>
          </p:cNvPr>
          <p:cNvSpPr txBox="1"/>
          <p:nvPr/>
        </p:nvSpPr>
        <p:spPr>
          <a:xfrm>
            <a:off x="3203512" y="5019139"/>
            <a:ext cx="1741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Детектирование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754637B8-70DA-4752-B96A-8382552E8714}"/>
              </a:ext>
            </a:extLst>
          </p:cNvPr>
          <p:cNvSpPr txBox="1"/>
          <p:nvPr/>
        </p:nvSpPr>
        <p:spPr>
          <a:xfrm>
            <a:off x="1363641" y="5213705"/>
            <a:ext cx="678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7DC2BF98-76B1-4BE9-A8E7-7D80803E9666}"/>
              </a:ext>
            </a:extLst>
          </p:cNvPr>
          <p:cNvSpPr txBox="1"/>
          <p:nvPr/>
        </p:nvSpPr>
        <p:spPr>
          <a:xfrm>
            <a:off x="1245342" y="4883144"/>
            <a:ext cx="9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xmlns="" id="{E18170C4-CE86-42AE-A1E2-4A7F3001A524}"/>
              </a:ext>
            </a:extLst>
          </p:cNvPr>
          <p:cNvCxnSpPr>
            <a:cxnSpLocks/>
          </p:cNvCxnSpPr>
          <p:nvPr/>
        </p:nvCxnSpPr>
        <p:spPr>
          <a:xfrm>
            <a:off x="3006612" y="733925"/>
            <a:ext cx="0" cy="4494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Прямая со стрелкой 64">
            <a:extLst>
              <a:ext uri="{FF2B5EF4-FFF2-40B4-BE49-F238E27FC236}">
                <a16:creationId xmlns:a16="http://schemas.microsoft.com/office/drawing/2014/main" xmlns="" id="{A7CCDB74-BFCB-4DC5-B2F7-C69B0654DE3F}"/>
              </a:ext>
            </a:extLst>
          </p:cNvPr>
          <p:cNvCxnSpPr>
            <a:cxnSpLocks/>
          </p:cNvCxnSpPr>
          <p:nvPr/>
        </p:nvCxnSpPr>
        <p:spPr>
          <a:xfrm>
            <a:off x="3180476" y="733925"/>
            <a:ext cx="0" cy="4494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8122D100-3553-4F84-8B06-A90593B47611}"/>
              </a:ext>
            </a:extLst>
          </p:cNvPr>
          <p:cNvSpPr txBox="1"/>
          <p:nvPr/>
        </p:nvSpPr>
        <p:spPr>
          <a:xfrm>
            <a:off x="2948472" y="685397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Рамановские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Пучки</a:t>
            </a:r>
          </a:p>
        </p:txBody>
      </p: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xmlns="" id="{CCBC9411-05D8-4863-BBCF-D00DA8995E61}"/>
              </a:ext>
            </a:extLst>
          </p:cNvPr>
          <p:cNvCxnSpPr>
            <a:cxnSpLocks/>
          </p:cNvCxnSpPr>
          <p:nvPr/>
        </p:nvCxnSpPr>
        <p:spPr>
          <a:xfrm flipV="1">
            <a:off x="2057848" y="5336632"/>
            <a:ext cx="596851" cy="1332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4" name="Рисунок 73">
            <a:extLst>
              <a:ext uri="{FF2B5EF4-FFF2-40B4-BE49-F238E27FC236}">
                <a16:creationId xmlns:a16="http://schemas.microsoft.com/office/drawing/2014/main" xmlns="" id="{5FB992A0-4C03-4DCF-9139-DC26524994B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973" b="20315"/>
          <a:stretch/>
        </p:blipFill>
        <p:spPr>
          <a:xfrm>
            <a:off x="2610665" y="5532836"/>
            <a:ext cx="804340" cy="242747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9127257B-389F-491F-871E-B070006F1813}"/>
              </a:ext>
            </a:extLst>
          </p:cNvPr>
          <p:cNvSpPr txBox="1"/>
          <p:nvPr/>
        </p:nvSpPr>
        <p:spPr>
          <a:xfrm>
            <a:off x="2584208" y="5753999"/>
            <a:ext cx="1045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Зеркало</a:t>
            </a:r>
          </a:p>
        </p:txBody>
      </p:sp>
      <p:sp>
        <p:nvSpPr>
          <p:cNvPr id="76" name="Google Shape;129;p4">
            <a:extLst>
              <a:ext uri="{FF2B5EF4-FFF2-40B4-BE49-F238E27FC236}">
                <a16:creationId xmlns:a16="http://schemas.microsoft.com/office/drawing/2014/main" xmlns="" id="{7336519C-8DFF-4700-B8F3-ECB3A196A90D}"/>
              </a:ext>
            </a:extLst>
          </p:cNvPr>
          <p:cNvSpPr txBox="1"/>
          <p:nvPr/>
        </p:nvSpPr>
        <p:spPr>
          <a:xfrm>
            <a:off x="1357907" y="6064468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 . 1. 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Принципиальная</a:t>
            </a:r>
            <a:r>
              <a:rPr lang="ru-RU" sz="16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схема работы абсолютного атомного гравиметра.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125;p4">
            <a:extLst>
              <a:ext uri="{FF2B5EF4-FFF2-40B4-BE49-F238E27FC236}">
                <a16:creationId xmlns:a16="http://schemas.microsoft.com/office/drawing/2014/main" xmlns="" id="{0528E022-B0EE-44E1-9B9B-C44D66059416}"/>
              </a:ext>
            </a:extLst>
          </p:cNvPr>
          <p:cNvSpPr/>
          <p:nvPr/>
        </p:nvSpPr>
        <p:spPr>
          <a:xfrm>
            <a:off x="2504131" y="94718"/>
            <a:ext cx="6910755" cy="47118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126;p4">
            <a:extLst>
              <a:ext uri="{FF2B5EF4-FFF2-40B4-BE49-F238E27FC236}">
                <a16:creationId xmlns:a16="http://schemas.microsoft.com/office/drawing/2014/main" xmlns="" id="{8B71CD09-2C30-4A14-A5E6-945A3E41767C}"/>
              </a:ext>
            </a:extLst>
          </p:cNvPr>
          <p:cNvSpPr txBox="1"/>
          <p:nvPr/>
        </p:nvSpPr>
        <p:spPr>
          <a:xfrm>
            <a:off x="5770500" y="1251308"/>
            <a:ext cx="55833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гравиметра: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 атомов в магнитооптическую ловушку (МОЛ) с целью их захвата и охлаждения до низких температур.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Высвобождение облака атомов из МОЛ.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атомов в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немагнитном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квантовом состоянии.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Скоростная селекция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 атомной интерференции.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Детектирование.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122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72B87A89-7551-4824-8615-731759BBE0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</a:t>
            </a:fld>
            <a:endParaRPr lang="ru-RU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5CCDE318-2DE6-4106-93EA-036BD6D100DE}"/>
              </a:ext>
            </a:extLst>
          </p:cNvPr>
          <p:cNvCxnSpPr>
            <a:cxnSpLocks/>
          </p:cNvCxnSpPr>
          <p:nvPr/>
        </p:nvCxnSpPr>
        <p:spPr>
          <a:xfrm>
            <a:off x="4154408" y="5083310"/>
            <a:ext cx="1027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5E5DF398-F243-4F0E-A62C-4F6A89B7A350}"/>
              </a:ext>
            </a:extLst>
          </p:cNvPr>
          <p:cNvCxnSpPr>
            <a:cxnSpLocks/>
          </p:cNvCxnSpPr>
          <p:nvPr/>
        </p:nvCxnSpPr>
        <p:spPr>
          <a:xfrm>
            <a:off x="4154408" y="5490747"/>
            <a:ext cx="1027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20E5FCB-6802-41EE-AF1C-B93B53B6BC33}"/>
              </a:ext>
            </a:extLst>
          </p:cNvPr>
          <p:cNvSpPr txBox="1"/>
          <p:nvPr/>
        </p:nvSpPr>
        <p:spPr>
          <a:xfrm>
            <a:off x="3415369" y="5336858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6D517324-7FE5-4882-9426-F67C45D19FA7}"/>
              </a:ext>
            </a:extLst>
          </p:cNvPr>
          <p:cNvSpPr txBox="1"/>
          <p:nvPr/>
        </p:nvSpPr>
        <p:spPr>
          <a:xfrm>
            <a:off x="3415369" y="4904375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910418A-82E1-49CA-A1FD-09BAA9D7BC4F}"/>
              </a:ext>
            </a:extLst>
          </p:cNvPr>
          <p:cNvSpPr txBox="1"/>
          <p:nvPr/>
        </p:nvSpPr>
        <p:spPr>
          <a:xfrm>
            <a:off x="2783997" y="5119819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22406656-00BF-419E-A56D-FBDAA937C00F}"/>
              </a:ext>
            </a:extLst>
          </p:cNvPr>
          <p:cNvCxnSpPr>
            <a:cxnSpLocks/>
          </p:cNvCxnSpPr>
          <p:nvPr/>
        </p:nvCxnSpPr>
        <p:spPr>
          <a:xfrm>
            <a:off x="4154404" y="2620647"/>
            <a:ext cx="10271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6817A250-6EFC-4CA4-BB0B-65EF0D65C2C6}"/>
              </a:ext>
            </a:extLst>
          </p:cNvPr>
          <p:cNvSpPr txBox="1"/>
          <p:nvPr/>
        </p:nvSpPr>
        <p:spPr>
          <a:xfrm>
            <a:off x="3381520" y="2448345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xmlns="" id="{9720B3EC-F913-47F7-82EC-090481520512}"/>
              </a:ext>
            </a:extLst>
          </p:cNvPr>
          <p:cNvCxnSpPr>
            <a:cxnSpLocks/>
          </p:cNvCxnSpPr>
          <p:nvPr/>
        </p:nvCxnSpPr>
        <p:spPr>
          <a:xfrm>
            <a:off x="4154405" y="2247533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21A83279-BFA3-48FB-94C3-37675D6209FE}"/>
              </a:ext>
            </a:extLst>
          </p:cNvPr>
          <p:cNvSpPr txBox="1"/>
          <p:nvPr/>
        </p:nvSpPr>
        <p:spPr>
          <a:xfrm>
            <a:off x="3381520" y="208887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4154405" y="1891731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3381520" y="174017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xmlns="" id="{989B3E6C-347C-4EC3-806D-2660834F8176}"/>
              </a:ext>
            </a:extLst>
          </p:cNvPr>
          <p:cNvCxnSpPr>
            <a:cxnSpLocks/>
          </p:cNvCxnSpPr>
          <p:nvPr/>
        </p:nvCxnSpPr>
        <p:spPr>
          <a:xfrm>
            <a:off x="4154405" y="1558586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E1B80C94-7C79-4358-9A1D-8000FE71BBF4}"/>
              </a:ext>
            </a:extLst>
          </p:cNvPr>
          <p:cNvSpPr txBox="1"/>
          <p:nvPr/>
        </p:nvSpPr>
        <p:spPr>
          <a:xfrm>
            <a:off x="3366333" y="140469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47A2DEED-DC62-49B3-814C-74DA5E975204}"/>
              </a:ext>
            </a:extLst>
          </p:cNvPr>
          <p:cNvSpPr txBox="1"/>
          <p:nvPr/>
        </p:nvSpPr>
        <p:spPr>
          <a:xfrm>
            <a:off x="2783997" y="1894065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xmlns="" id="{23BC8F99-0400-4CAF-A9F0-56DD297FD78C}"/>
              </a:ext>
            </a:extLst>
          </p:cNvPr>
          <p:cNvCxnSpPr>
            <a:cxnSpLocks/>
          </p:cNvCxnSpPr>
          <p:nvPr/>
        </p:nvCxnSpPr>
        <p:spPr>
          <a:xfrm flipV="1">
            <a:off x="4241027" y="1908881"/>
            <a:ext cx="0" cy="356400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xmlns="" id="{C23A9834-42A3-48A4-8E9B-1611BC7F986B}"/>
              </a:ext>
            </a:extLst>
          </p:cNvPr>
          <p:cNvCxnSpPr>
            <a:endCxn id="21" idx="3"/>
          </p:cNvCxnSpPr>
          <p:nvPr/>
        </p:nvCxnSpPr>
        <p:spPr>
          <a:xfrm>
            <a:off x="4349620" y="1891731"/>
            <a:ext cx="0" cy="3166533"/>
          </a:xfrm>
          <a:prstGeom prst="straightConnector1">
            <a:avLst/>
          </a:prstGeom>
          <a:ln w="1905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xmlns="" id="{5997D986-A325-49F3-867E-49464F064411}"/>
              </a:ext>
            </a:extLst>
          </p:cNvPr>
          <p:cNvCxnSpPr>
            <a:cxnSpLocks/>
          </p:cNvCxnSpPr>
          <p:nvPr/>
        </p:nvCxnSpPr>
        <p:spPr>
          <a:xfrm flipV="1">
            <a:off x="4484914" y="1712474"/>
            <a:ext cx="0" cy="3345789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oogle Shape;175;p23">
            <a:extLst>
              <a:ext uri="{FF2B5EF4-FFF2-40B4-BE49-F238E27FC236}">
                <a16:creationId xmlns:a16="http://schemas.microsoft.com/office/drawing/2014/main" xmlns="" id="{17DC9342-B65E-41BC-BD77-0B6FB02AB970}"/>
              </a:ext>
            </a:extLst>
          </p:cNvPr>
          <p:cNvCxnSpPr>
            <a:cxnSpLocks/>
          </p:cNvCxnSpPr>
          <p:nvPr/>
        </p:nvCxnSpPr>
        <p:spPr>
          <a:xfrm>
            <a:off x="4484914" y="1558585"/>
            <a:ext cx="0" cy="15388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stealth" w="sm" len="sm"/>
            <a:tailEnd type="stealth" w="sm" len="sm"/>
          </a:ln>
        </p:spPr>
      </p:cxnSp>
      <p:sp>
        <p:nvSpPr>
          <p:cNvPr id="46" name="Google Shape;176;p23">
            <a:extLst>
              <a:ext uri="{FF2B5EF4-FFF2-40B4-BE49-F238E27FC236}">
                <a16:creationId xmlns:a16="http://schemas.microsoft.com/office/drawing/2014/main" xmlns="" id="{DAA8F91E-2DC0-4CCB-8E9A-95ED221A0A3A}"/>
              </a:ext>
            </a:extLst>
          </p:cNvPr>
          <p:cNvSpPr txBox="1"/>
          <p:nvPr/>
        </p:nvSpPr>
        <p:spPr>
          <a:xfrm>
            <a:off x="4444539" y="1496408"/>
            <a:ext cx="28919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xmlns="" id="{78F6B650-06F5-47DF-8E71-D3D068F3B22E}"/>
              </a:ext>
            </a:extLst>
          </p:cNvPr>
          <p:cNvCxnSpPr/>
          <p:nvPr/>
        </p:nvCxnSpPr>
        <p:spPr>
          <a:xfrm flipV="1">
            <a:off x="4603102" y="1908881"/>
            <a:ext cx="0" cy="3149382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xmlns="" id="{B742686C-22FA-449A-8DB3-14F561A4C974}"/>
              </a:ext>
            </a:extLst>
          </p:cNvPr>
          <p:cNvCxnSpPr/>
          <p:nvPr/>
        </p:nvCxnSpPr>
        <p:spPr>
          <a:xfrm>
            <a:off x="4733730" y="1908881"/>
            <a:ext cx="0" cy="3564000"/>
          </a:xfrm>
          <a:prstGeom prst="straightConnector1">
            <a:avLst/>
          </a:prstGeom>
          <a:ln w="1905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xmlns="" id="{0E231D11-077E-4866-8E6D-6574187C5101}"/>
              </a:ext>
            </a:extLst>
          </p:cNvPr>
          <p:cNvCxnSpPr/>
          <p:nvPr/>
        </p:nvCxnSpPr>
        <p:spPr>
          <a:xfrm>
            <a:off x="4889240" y="2620647"/>
            <a:ext cx="0" cy="2852234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xmlns="" id="{42AE88B1-2F98-4563-A269-6DD1248E1D59}"/>
              </a:ext>
            </a:extLst>
          </p:cNvPr>
          <p:cNvCxnSpPr/>
          <p:nvPr/>
        </p:nvCxnSpPr>
        <p:spPr>
          <a:xfrm flipV="1">
            <a:off x="5044750" y="5083310"/>
            <a:ext cx="0" cy="39600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556F8164-A9B7-49CA-A271-A84BA7A204FB}"/>
              </a:ext>
            </a:extLst>
          </p:cNvPr>
          <p:cNvSpPr txBox="1"/>
          <p:nvPr/>
        </p:nvSpPr>
        <p:spPr>
          <a:xfrm>
            <a:off x="2763320" y="3426485"/>
            <a:ext cx="15186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lang="ru-RU" sz="3600" b="1" dirty="0"/>
          </a:p>
        </p:txBody>
      </p: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xmlns="" id="{FAC3F817-C946-4477-B336-35A6C976B726}"/>
              </a:ext>
            </a:extLst>
          </p:cNvPr>
          <p:cNvCxnSpPr/>
          <p:nvPr/>
        </p:nvCxnSpPr>
        <p:spPr>
          <a:xfrm>
            <a:off x="6345674" y="3038736"/>
            <a:ext cx="4789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xmlns="" id="{2644F219-5B01-466C-B5A0-7CA19683D5C3}"/>
              </a:ext>
            </a:extLst>
          </p:cNvPr>
          <p:cNvCxnSpPr/>
          <p:nvPr/>
        </p:nvCxnSpPr>
        <p:spPr>
          <a:xfrm>
            <a:off x="6345673" y="3260999"/>
            <a:ext cx="47897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xmlns="" id="{18E6020C-8550-4EDA-B364-F466A7546F5D}"/>
              </a:ext>
            </a:extLst>
          </p:cNvPr>
          <p:cNvCxnSpPr/>
          <p:nvPr/>
        </p:nvCxnSpPr>
        <p:spPr>
          <a:xfrm>
            <a:off x="6345673" y="3454505"/>
            <a:ext cx="47897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xmlns="" id="{C1FA5A2C-5AF7-4EC1-B65F-B002609E5B31}"/>
              </a:ext>
            </a:extLst>
          </p:cNvPr>
          <p:cNvCxnSpPr/>
          <p:nvPr/>
        </p:nvCxnSpPr>
        <p:spPr>
          <a:xfrm>
            <a:off x="6345671" y="3662640"/>
            <a:ext cx="47897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>
            <a:extLst>
              <a:ext uri="{FF2B5EF4-FFF2-40B4-BE49-F238E27FC236}">
                <a16:creationId xmlns:a16="http://schemas.microsoft.com/office/drawing/2014/main" xmlns="" id="{6E27222D-8776-4AE0-9C5D-872881104A4B}"/>
              </a:ext>
            </a:extLst>
          </p:cNvPr>
          <p:cNvCxnSpPr/>
          <p:nvPr/>
        </p:nvCxnSpPr>
        <p:spPr>
          <a:xfrm>
            <a:off x="6345671" y="3879851"/>
            <a:ext cx="47897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638ABE0B-2466-40B3-BD50-84935F2CB835}"/>
              </a:ext>
            </a:extLst>
          </p:cNvPr>
          <p:cNvSpPr txBox="1"/>
          <p:nvPr/>
        </p:nvSpPr>
        <p:spPr>
          <a:xfrm>
            <a:off x="6917094" y="2602233"/>
            <a:ext cx="378441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Легенда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Охлаждающее излучение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Перекачивающее излучение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sz="1400" dirty="0" smtClean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</a:t>
            </a:r>
            <a:endParaRPr lang="en-US"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СВЧ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излучение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82" name="Google Shape;166;p23">
            <a:extLst>
              <a:ext uri="{FF2B5EF4-FFF2-40B4-BE49-F238E27FC236}">
                <a16:creationId xmlns:a16="http://schemas.microsoft.com/office/drawing/2014/main" xmlns="" id="{6D297ADD-D5CE-42CB-98CE-E84170ED1773}"/>
              </a:ext>
            </a:extLst>
          </p:cNvPr>
          <p:cNvSpPr/>
          <p:nvPr/>
        </p:nvSpPr>
        <p:spPr>
          <a:xfrm>
            <a:off x="2541453" y="22789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переходы атома </a:t>
            </a:r>
            <a:r>
              <a:rPr lang="ru-RU" sz="2400" b="1" i="0" u="none" strike="noStrike" cap="none" baseline="3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80;p23">
            <a:extLst>
              <a:ext uri="{FF2B5EF4-FFF2-40B4-BE49-F238E27FC236}">
                <a16:creationId xmlns:a16="http://schemas.microsoft.com/office/drawing/2014/main" xmlns="" id="{BD28C63D-AF41-4980-BBD0-F20A7714BD55}"/>
              </a:ext>
            </a:extLst>
          </p:cNvPr>
          <p:cNvSpPr txBox="1"/>
          <p:nvPr/>
        </p:nvSpPr>
        <p:spPr>
          <a:xfrm>
            <a:off x="2714634" y="5803110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Схема переходов, используемых в эксперименте.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9240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гравиметра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275540" y="5267607"/>
            <a:ext cx="11673864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80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Рис.3. Оптическая схема формирования лазерного излучения, используемого для лазерного охлаждения и пленения атомов рубидия и осуществления двухфотонных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рамановских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переходов в атомном интерферометре. 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180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AOM – акустооптический модулятор, EOM – электрооптический модулятор, ECDL – диодный лазер с внешним резонатором, λ/2 – полуволновая пластинка, λ/4 – четвертьволновая пластинка,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Iris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диафрагма, M – плоское зеркало, СM – сферическое зеркало,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линза, OI – оптический изолятор Фарадея, PBS – поляризационный делительный кубик,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mpl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оптический усилитель,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частота модуляции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FFL – </a:t>
            </a:r>
            <a:r>
              <a:rPr lang="ru-RU" dirty="0" smtClean="0">
                <a:latin typeface="Times New Roman"/>
                <a:ea typeface="Times New Roman"/>
                <a:cs typeface="Times New Roman"/>
                <a:sym typeface="Times New Roman"/>
              </a:rPr>
              <a:t>частотная автоподстройка частоты,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PD –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быстрый фотодиод.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F672B8D4-50E3-459F-AED6-EDF0CDE91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752" y="833967"/>
            <a:ext cx="8168499" cy="4433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1953208" y="5316316"/>
            <a:ext cx="819227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4. Трехмерная модель экспериментальной установки. На рисунке представлены: вакуумная камера, три пары компенсационных магнитных катушек, охлаждающие лазерные пучки (розовые),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рамановские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пучки (фиолетовые), пробный пучок (жёлтый), оптика (коллиматоры,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зеркала,линзы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и видеокамера. На рисунке не показаны четвертьволновые пластинки и катушка анти-Гельмгольца(фронтальная сторона)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2448148" y="-30071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установка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1433" y="782703"/>
            <a:ext cx="8824184" cy="4447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4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9562" y="1727846"/>
            <a:ext cx="2935934" cy="2969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A60FC236-512A-4E30-90F3-1F06253DE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888" y="1727846"/>
            <a:ext cx="4408065" cy="3230642"/>
          </a:xfrm>
          <a:prstGeom prst="rect">
            <a:avLst/>
          </a:prstGeom>
        </p:spPr>
      </p:pic>
      <p:sp>
        <p:nvSpPr>
          <p:cNvPr id="209" name="Google Shape;20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7</a:t>
            </a:fld>
            <a:endParaRPr dirty="0"/>
          </a:p>
        </p:txBody>
      </p:sp>
      <p:sp>
        <p:nvSpPr>
          <p:cNvPr id="210" name="Google Shape;210;p30"/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Измерение неоднородности магнитного поля</a:t>
            </a:r>
            <a:endParaRPr sz="24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549327" y="4964297"/>
            <a:ext cx="2678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Изображение с камеры.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4097506" y="4966802"/>
            <a:ext cx="4329582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Зависимость сигнала флуоресценции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</a:t>
            </a:r>
            <a:r>
              <a:rPr lang="ru-RU" dirty="0" smtClean="0">
                <a:latin typeface="Times New Roman"/>
                <a:ea typeface="Times New Roman"/>
                <a:cs typeface="Times New Roman"/>
                <a:sym typeface="Times New Roman"/>
              </a:rPr>
              <a:t>отстройки частоты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головного перехода в атоме </a:t>
            </a:r>
            <a:r>
              <a:rPr lang="en-US" sz="1400" b="0" i="0" u="none" strike="noStrike" cap="none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r>
              <a:rPr lang="en-US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одного из блоков пикселей видеокамеры.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30"/>
          <p:cNvPicPr preferRelativeResize="0"/>
          <p:nvPr/>
        </p:nvPicPr>
        <p:blipFill rotWithShape="1">
          <a:blip r:embed="rId5">
            <a:alphaModFix/>
          </a:blip>
          <a:srcRect l="42877" t="43810" r="37156" b="27255"/>
          <a:stretch/>
        </p:blipFill>
        <p:spPr>
          <a:xfrm>
            <a:off x="716676" y="1876967"/>
            <a:ext cx="2442420" cy="267114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/>
          <p:nvPr/>
        </p:nvSpPr>
        <p:spPr>
          <a:xfrm>
            <a:off x="956998" y="2186242"/>
            <a:ext cx="1924050" cy="192405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2100556" y="2782020"/>
            <a:ext cx="236391" cy="23639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11086010" y="2802587"/>
            <a:ext cx="267790" cy="309523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9104069" y="4958488"/>
            <a:ext cx="272359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поле</a:t>
            </a:r>
            <a:r>
              <a:rPr lang="en-US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центре вакуумной камеры.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30"/>
          <p:cNvCxnSpPr>
            <a:cxnSpLocks/>
            <a:stCxn id="221" idx="1"/>
            <a:endCxn id="217" idx="1"/>
          </p:cNvCxnSpPr>
          <p:nvPr/>
        </p:nvCxnSpPr>
        <p:spPr>
          <a:xfrm rot="16200000" flipH="1">
            <a:off x="8825150" y="696490"/>
            <a:ext cx="306256" cy="4215463"/>
          </a:xfrm>
          <a:prstGeom prst="curvedConnector4">
            <a:avLst>
              <a:gd name="adj1" fmla="val -74643"/>
              <a:gd name="adj2" fmla="val 51472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1" name="Google Shape;221;p30"/>
          <p:cNvSpPr/>
          <p:nvPr/>
        </p:nvSpPr>
        <p:spPr>
          <a:xfrm rot="5400000">
            <a:off x="6739979" y="2199946"/>
            <a:ext cx="254703" cy="1156996"/>
          </a:xfrm>
          <a:prstGeom prst="leftBrace">
            <a:avLst>
              <a:gd name="adj1" fmla="val 68023"/>
              <a:gd name="adj2" fmla="val 49722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30"/>
          <p:cNvCxnSpPr/>
          <p:nvPr/>
        </p:nvCxnSpPr>
        <p:spPr>
          <a:xfrm flipV="1">
            <a:off x="2220686" y="2651092"/>
            <a:ext cx="1876820" cy="30299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235" name="Google Shape;235;p32"/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измерений и корректировки градиента магнитного поля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32"/>
          <p:cNvSpPr txBox="1"/>
          <p:nvPr/>
        </p:nvSpPr>
        <p:spPr>
          <a:xfrm>
            <a:off x="109091" y="5279172"/>
            <a:ext cx="76323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центре вакуумной камеры магнитное поле не однородное.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Было продемонстрировано уменьшение неоднородности магнитного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поля.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dirty="0">
                <a:latin typeface="Times New Roman"/>
                <a:cs typeface="Times New Roman"/>
                <a:sym typeface="Times New Roman"/>
              </a:rPr>
              <a:t>Уменьшение неоднородности магнитного поля оказало положительный эффект на эффективность </a:t>
            </a:r>
            <a:r>
              <a:rPr lang="ru-RU" sz="1600" dirty="0" smtClean="0">
                <a:latin typeface="Times New Roman"/>
                <a:cs typeface="Times New Roman"/>
                <a:sym typeface="Times New Roman"/>
              </a:rPr>
              <a:t>охлаждения</a:t>
            </a:r>
            <a:r>
              <a:rPr lang="ru-RU" sz="1600" dirty="0">
                <a:latin typeface="Times New Roman"/>
                <a:cs typeface="Times New Roman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492326" y="4043266"/>
            <a:ext cx="291847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поле и линии уровня при отсутствии ионного насоса и компенсации.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1119639" y="1018142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Градиент  2.6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мГс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/мм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4870869" y="1016138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Градиент 2.4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мГс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/мм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4410669" y="4042106"/>
            <a:ext cx="291847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поле и линии уровня при работе ионного насоса и использование постоянного компенсационного магнита.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7391" y="1323916"/>
            <a:ext cx="2918471" cy="27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18" y="1325661"/>
            <a:ext cx="2918471" cy="2717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02939" y="1323916"/>
            <a:ext cx="3065214" cy="27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2"/>
          <p:cNvSpPr txBox="1"/>
          <p:nvPr/>
        </p:nvSpPr>
        <p:spPr>
          <a:xfrm>
            <a:off x="8383037" y="1016138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Градиент  1.3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мГс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/мм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7634536" y="4045989"/>
            <a:ext cx="3560699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поле и линии уровня при работе ионного насоса, использовании постоянных компенсационных магнитов и при корректировки магнитного поля компенсационных катушек.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872C99A-3050-4DEF-BC91-EFF37980745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6986"/>
          <a:stretch/>
        </p:blipFill>
        <p:spPr>
          <a:xfrm>
            <a:off x="11173922" y="1016138"/>
            <a:ext cx="891765" cy="48222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3FEC67FD-7724-4E8B-89C8-80630CB2D9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</a:t>
            </a:fld>
            <a:endParaRPr lang="ru-RU"/>
          </a:p>
        </p:txBody>
      </p:sp>
      <p:sp>
        <p:nvSpPr>
          <p:cNvPr id="3" name="Google Shape;235;p32">
            <a:extLst>
              <a:ext uri="{FF2B5EF4-FFF2-40B4-BE49-F238E27FC236}">
                <a16:creationId xmlns:a16="http://schemas.microsoft.com/office/drawing/2014/main" xmlns="" id="{E943C429-4871-4ABB-BA3B-7000312C6F47}"/>
              </a:ext>
            </a:extLst>
          </p:cNvPr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 измерения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температуры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после</a:t>
            </a: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корректировки градиента магнитного поля</a:t>
            </a:r>
            <a:endParaRPr sz="24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239;p32">
            <a:extLst>
              <a:ext uri="{FF2B5EF4-FFF2-40B4-BE49-F238E27FC236}">
                <a16:creationId xmlns:a16="http://schemas.microsoft.com/office/drawing/2014/main" xmlns="" id="{F1B9D5E0-C8C1-45FF-ABEC-46AD5018AC39}"/>
              </a:ext>
            </a:extLst>
          </p:cNvPr>
          <p:cNvSpPr txBox="1"/>
          <p:nvPr/>
        </p:nvSpPr>
        <p:spPr>
          <a:xfrm>
            <a:off x="925407" y="5422696"/>
            <a:ext cx="7099998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Зависимость квадрата размера облака атомов от времени его разлёта после субдоплеровского охлаждения до (</a:t>
            </a:r>
            <a:r>
              <a:rPr lang="en-US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и</a:t>
            </a:r>
            <a:r>
              <a:rPr lang="en-US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после</a:t>
            </a:r>
            <a:r>
              <a:rPr lang="en-US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(b)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компенсации градиентов магнитного поля.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62F1C18-C1FC-4319-A5FF-2A4AD0BD76F5}"/>
              </a:ext>
            </a:extLst>
          </p:cNvPr>
          <p:cNvSpPr txBox="1"/>
          <p:nvPr/>
        </p:nvSpPr>
        <p:spPr>
          <a:xfrm>
            <a:off x="8819606" y="2075982"/>
            <a:ext cx="421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Time-of-flight: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5C0344F-92AE-4F6F-9CFA-75D6DE86BD31}"/>
              </a:ext>
            </a:extLst>
          </p:cNvPr>
          <p:cNvSpPr txBox="1"/>
          <p:nvPr/>
        </p:nvSpPr>
        <p:spPr>
          <a:xfrm>
            <a:off x="8909845" y="3370270"/>
            <a:ext cx="32821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облака атомов (1/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25CE95E7-AB5F-4BEB-8EC1-E5C93FE915F7}"/>
                  </a:ext>
                </a:extLst>
              </p:cNvPr>
              <p:cNvSpPr txBox="1"/>
              <p:nvPr/>
            </p:nvSpPr>
            <p:spPr>
              <a:xfrm>
                <a:off x="8909845" y="2820553"/>
                <a:ext cx="1750672" cy="467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600" b="0" i="1" baseline="30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600" i="1" baseline="30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(0)+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600" i="1" baseline="30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5CE95E7-AB5F-4BEB-8EC1-E5C93FE91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845" y="2820553"/>
                <a:ext cx="1750672" cy="4675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47" y="2033539"/>
            <a:ext cx="3962880" cy="287725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406" y="2059541"/>
            <a:ext cx="3927068" cy="28512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2547" y="1521635"/>
            <a:ext cx="1123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75406" y="1521635"/>
            <a:ext cx="1123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358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>
          <a:xfrm>
            <a:off x="8549006" y="6336921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</a:t>
            </a:fld>
            <a:endParaRPr lang="ru-RU" dirty="0"/>
          </a:p>
        </p:txBody>
      </p:sp>
      <p:sp>
        <p:nvSpPr>
          <p:cNvPr id="3" name="Google Shape;153;p22"/>
          <p:cNvSpPr/>
          <p:nvPr/>
        </p:nvSpPr>
        <p:spPr>
          <a:xfrm>
            <a:off x="2477137" y="31169"/>
            <a:ext cx="6910755" cy="68456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Методы подготовки атомов в немагнитном квантовое состояние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01746" y="1383643"/>
            <a:ext cx="1934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оптического и СВЧ излучения*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2795" y="4380523"/>
            <a:ext cx="14118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немагнитное состояние</a:t>
            </a:r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6098357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6607808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7140071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7661546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8175351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6607808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7140071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7657192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88608" y="1661936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88608" y="2275491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49671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6466196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7590837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7049671" y="13983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7590836" y="139830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6508506" y="13977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8132001" y="1397702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5977052" y="13977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5727112" y="884269"/>
            <a:ext cx="2675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Перекачка в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из ∣F = </a:t>
            </a: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2, m=0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СВЧ излучением</a:t>
            </a:r>
          </a:p>
        </p:txBody>
      </p: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xmlns="" id="{9E732432-0FE8-4ED2-905F-57EE8FF88059}"/>
              </a:ext>
            </a:extLst>
          </p:cNvPr>
          <p:cNvCxnSpPr>
            <a:cxnSpLocks/>
          </p:cNvCxnSpPr>
          <p:nvPr/>
        </p:nvCxnSpPr>
        <p:spPr>
          <a:xfrm>
            <a:off x="7305534" y="1930003"/>
            <a:ext cx="585" cy="4010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5" name="Овал 84"/>
          <p:cNvSpPr/>
          <p:nvPr/>
        </p:nvSpPr>
        <p:spPr>
          <a:xfrm>
            <a:off x="6173806" y="173426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6690792" y="173994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7741683" y="1741688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8258669" y="172985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97" name="Прямая соединительная линия 96"/>
          <p:cNvCxnSpPr/>
          <p:nvPr/>
        </p:nvCxnSpPr>
        <p:spPr>
          <a:xfrm>
            <a:off x="9080229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Прямая соединительная линия 97"/>
          <p:cNvCxnSpPr/>
          <p:nvPr/>
        </p:nvCxnSpPr>
        <p:spPr>
          <a:xfrm>
            <a:off x="9589680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Прямая соединительная линия 98"/>
          <p:cNvCxnSpPr/>
          <p:nvPr/>
        </p:nvCxnSpPr>
        <p:spPr>
          <a:xfrm>
            <a:off x="10121943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Прямая соединительная линия 99"/>
          <p:cNvCxnSpPr/>
          <p:nvPr/>
        </p:nvCxnSpPr>
        <p:spPr>
          <a:xfrm>
            <a:off x="10643418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Прямая соединительная линия 100"/>
          <p:cNvCxnSpPr/>
          <p:nvPr/>
        </p:nvCxnSpPr>
        <p:spPr>
          <a:xfrm>
            <a:off x="11157223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Прямая соединительная линия 101"/>
          <p:cNvCxnSpPr/>
          <p:nvPr/>
        </p:nvCxnSpPr>
        <p:spPr>
          <a:xfrm>
            <a:off x="9589680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Прямая соединительная линия 102"/>
          <p:cNvCxnSpPr/>
          <p:nvPr/>
        </p:nvCxnSpPr>
        <p:spPr>
          <a:xfrm>
            <a:off x="10121943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Прямая соединительная линия 103"/>
          <p:cNvCxnSpPr/>
          <p:nvPr/>
        </p:nvCxnSpPr>
        <p:spPr>
          <a:xfrm>
            <a:off x="10639064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0031543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08" name="TextBox 107"/>
          <p:cNvSpPr txBox="1"/>
          <p:nvPr/>
        </p:nvSpPr>
        <p:spPr>
          <a:xfrm>
            <a:off x="9448068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09" name="TextBox 108"/>
          <p:cNvSpPr txBox="1"/>
          <p:nvPr/>
        </p:nvSpPr>
        <p:spPr>
          <a:xfrm>
            <a:off x="10572709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10" name="TextBox 109"/>
          <p:cNvSpPr txBox="1"/>
          <p:nvPr/>
        </p:nvSpPr>
        <p:spPr>
          <a:xfrm>
            <a:off x="10031543" y="13983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11" name="TextBox 110"/>
          <p:cNvSpPr txBox="1"/>
          <p:nvPr/>
        </p:nvSpPr>
        <p:spPr>
          <a:xfrm>
            <a:off x="10572708" y="139830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12" name="TextBox 111"/>
          <p:cNvSpPr txBox="1"/>
          <p:nvPr/>
        </p:nvSpPr>
        <p:spPr>
          <a:xfrm>
            <a:off x="9490378" y="13977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13" name="TextBox 112"/>
          <p:cNvSpPr txBox="1"/>
          <p:nvPr/>
        </p:nvSpPr>
        <p:spPr>
          <a:xfrm>
            <a:off x="11113873" y="1397702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114" name="TextBox 113"/>
          <p:cNvSpPr txBox="1"/>
          <p:nvPr/>
        </p:nvSpPr>
        <p:spPr>
          <a:xfrm>
            <a:off x="8958924" y="13977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15" name="TextBox 114"/>
          <p:cNvSpPr txBox="1"/>
          <p:nvPr/>
        </p:nvSpPr>
        <p:spPr>
          <a:xfrm>
            <a:off x="8698219" y="882914"/>
            <a:ext cx="317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Удаление атомов в состоянии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F=2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оптическим излучением</a:t>
            </a:r>
          </a:p>
        </p:txBody>
      </p:sp>
      <p:sp>
        <p:nvSpPr>
          <p:cNvPr id="117" name="Овал 116"/>
          <p:cNvSpPr/>
          <p:nvPr/>
        </p:nvSpPr>
        <p:spPr>
          <a:xfrm>
            <a:off x="9155678" y="173426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18" name="Овал 117"/>
          <p:cNvSpPr/>
          <p:nvPr/>
        </p:nvSpPr>
        <p:spPr>
          <a:xfrm>
            <a:off x="9672664" y="173994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19" name="Овал 118"/>
          <p:cNvSpPr/>
          <p:nvPr/>
        </p:nvSpPr>
        <p:spPr>
          <a:xfrm>
            <a:off x="10723555" y="1741688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20" name="Овал 119"/>
          <p:cNvSpPr/>
          <p:nvPr/>
        </p:nvSpPr>
        <p:spPr>
          <a:xfrm>
            <a:off x="11240541" y="172985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21" name="Овал 120"/>
          <p:cNvSpPr/>
          <p:nvPr/>
        </p:nvSpPr>
        <p:spPr>
          <a:xfrm>
            <a:off x="10205909" y="2342694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127" name="Прямая со стрелкой 126"/>
          <p:cNvCxnSpPr/>
          <p:nvPr/>
        </p:nvCxnSpPr>
        <p:spPr>
          <a:xfrm flipH="1" flipV="1">
            <a:off x="9146390" y="1641025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Прямая со стрелкой 127"/>
          <p:cNvCxnSpPr/>
          <p:nvPr/>
        </p:nvCxnSpPr>
        <p:spPr>
          <a:xfrm flipH="1" flipV="1">
            <a:off x="9662836" y="1644087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/>
          <p:nvPr/>
        </p:nvCxnSpPr>
        <p:spPr>
          <a:xfrm flipH="1" flipV="1">
            <a:off x="10702531" y="1650757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Прямая со стрелкой 129"/>
          <p:cNvCxnSpPr/>
          <p:nvPr/>
        </p:nvCxnSpPr>
        <p:spPr>
          <a:xfrm flipH="1" flipV="1">
            <a:off x="11229533" y="1641025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Прямая соединительная линия 140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6277081" y="4217766"/>
            <a:ext cx="18093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5292040" y="4060864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xmlns="" id="{47A2DEED-DC62-49B3-814C-74DA5E975204}"/>
              </a:ext>
            </a:extLst>
          </p:cNvPr>
          <p:cNvSpPr txBox="1"/>
          <p:nvPr/>
        </p:nvSpPr>
        <p:spPr>
          <a:xfrm>
            <a:off x="11146141" y="2508231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7" name="Прямая со стрелкой 156"/>
          <p:cNvCxnSpPr/>
          <p:nvPr/>
        </p:nvCxnSpPr>
        <p:spPr>
          <a:xfrm flipH="1" flipV="1">
            <a:off x="7217809" y="4279983"/>
            <a:ext cx="7639" cy="8362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Прямая со стрелкой 158"/>
          <p:cNvCxnSpPr/>
          <p:nvPr/>
        </p:nvCxnSpPr>
        <p:spPr>
          <a:xfrm>
            <a:off x="7494268" y="4279983"/>
            <a:ext cx="0" cy="1506714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Прямоугольник 159"/>
          <p:cNvSpPr/>
          <p:nvPr/>
        </p:nvSpPr>
        <p:spPr>
          <a:xfrm>
            <a:off x="5313547" y="3593031"/>
            <a:ext cx="34115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из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2⟩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1" name="Прямая соединительная линия 160"/>
          <p:cNvCxnSpPr/>
          <p:nvPr/>
        </p:nvCxnSpPr>
        <p:spPr>
          <a:xfrm>
            <a:off x="6001789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2" name="Прямая соединительная линия 161"/>
          <p:cNvCxnSpPr/>
          <p:nvPr/>
        </p:nvCxnSpPr>
        <p:spPr>
          <a:xfrm>
            <a:off x="6511240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Прямая соединительная линия 162"/>
          <p:cNvCxnSpPr/>
          <p:nvPr/>
        </p:nvCxnSpPr>
        <p:spPr>
          <a:xfrm>
            <a:off x="7043503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Прямая соединительная линия 163"/>
          <p:cNvCxnSpPr/>
          <p:nvPr/>
        </p:nvCxnSpPr>
        <p:spPr>
          <a:xfrm>
            <a:off x="7564978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Прямая соединительная линия 164"/>
          <p:cNvCxnSpPr/>
          <p:nvPr/>
        </p:nvCxnSpPr>
        <p:spPr>
          <a:xfrm>
            <a:off x="8078783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6" name="Прямая соединительная линия 165"/>
          <p:cNvCxnSpPr/>
          <p:nvPr/>
        </p:nvCxnSpPr>
        <p:spPr>
          <a:xfrm>
            <a:off x="6511240" y="589096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7" name="Прямая соединительная линия 166"/>
          <p:cNvCxnSpPr/>
          <p:nvPr/>
        </p:nvCxnSpPr>
        <p:spPr>
          <a:xfrm>
            <a:off x="7043503" y="589096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Прямая соединительная линия 167"/>
          <p:cNvCxnSpPr/>
          <p:nvPr/>
        </p:nvCxnSpPr>
        <p:spPr>
          <a:xfrm>
            <a:off x="7560624" y="589096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5292040" y="5123519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5292040" y="5737074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6953103" y="595776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72" name="TextBox 171"/>
          <p:cNvSpPr txBox="1"/>
          <p:nvPr/>
        </p:nvSpPr>
        <p:spPr>
          <a:xfrm>
            <a:off x="6369628" y="595776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73" name="TextBox 172"/>
          <p:cNvSpPr txBox="1"/>
          <p:nvPr/>
        </p:nvSpPr>
        <p:spPr>
          <a:xfrm>
            <a:off x="7494269" y="595776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74" name="TextBox 173"/>
          <p:cNvSpPr txBox="1"/>
          <p:nvPr/>
        </p:nvSpPr>
        <p:spPr>
          <a:xfrm>
            <a:off x="6935445" y="527646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75" name="TextBox 174"/>
          <p:cNvSpPr txBox="1"/>
          <p:nvPr/>
        </p:nvSpPr>
        <p:spPr>
          <a:xfrm>
            <a:off x="7494268" y="485988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76" name="TextBox 175"/>
          <p:cNvSpPr txBox="1"/>
          <p:nvPr/>
        </p:nvSpPr>
        <p:spPr>
          <a:xfrm>
            <a:off x="6411938" y="4859286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77" name="TextBox 176"/>
          <p:cNvSpPr txBox="1"/>
          <p:nvPr/>
        </p:nvSpPr>
        <p:spPr>
          <a:xfrm>
            <a:off x="8035433" y="4859285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178" name="TextBox 177"/>
          <p:cNvSpPr txBox="1"/>
          <p:nvPr/>
        </p:nvSpPr>
        <p:spPr>
          <a:xfrm>
            <a:off x="5880484" y="485928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85" name="Овал 184"/>
          <p:cNvSpPr/>
          <p:nvPr/>
        </p:nvSpPr>
        <p:spPr>
          <a:xfrm>
            <a:off x="7224037" y="2345279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92" name="Овал 191"/>
          <p:cNvSpPr/>
          <p:nvPr/>
        </p:nvSpPr>
        <p:spPr>
          <a:xfrm>
            <a:off x="6590204" y="5817225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93" name="Овал 192"/>
          <p:cNvSpPr/>
          <p:nvPr/>
        </p:nvSpPr>
        <p:spPr>
          <a:xfrm>
            <a:off x="7122467" y="582350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94" name="Овал 193"/>
          <p:cNvSpPr/>
          <p:nvPr/>
        </p:nvSpPr>
        <p:spPr>
          <a:xfrm>
            <a:off x="7628274" y="5817225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196" name="Прямая соединительная линия 195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10360208" y="4509831"/>
            <a:ext cx="358998" cy="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8837055" y="4352070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6" name="Прямая соединительная линия 205"/>
          <p:cNvCxnSpPr/>
          <p:nvPr/>
        </p:nvCxnSpPr>
        <p:spPr>
          <a:xfrm>
            <a:off x="9831549" y="587503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7" name="Прямая соединительная линия 206"/>
          <p:cNvCxnSpPr/>
          <p:nvPr/>
        </p:nvCxnSpPr>
        <p:spPr>
          <a:xfrm>
            <a:off x="10363812" y="587503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8" name="Прямая соединительная линия 207"/>
          <p:cNvCxnSpPr/>
          <p:nvPr/>
        </p:nvCxnSpPr>
        <p:spPr>
          <a:xfrm>
            <a:off x="10880933" y="587503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8857146" y="5729783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10273412" y="594183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212" name="TextBox 211"/>
          <p:cNvSpPr txBox="1"/>
          <p:nvPr/>
        </p:nvSpPr>
        <p:spPr>
          <a:xfrm>
            <a:off x="9689937" y="594183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213" name="TextBox 212"/>
          <p:cNvSpPr txBox="1"/>
          <p:nvPr/>
        </p:nvSpPr>
        <p:spPr>
          <a:xfrm>
            <a:off x="10814578" y="594183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225" name="Овал 224"/>
          <p:cNvSpPr/>
          <p:nvPr/>
        </p:nvSpPr>
        <p:spPr>
          <a:xfrm>
            <a:off x="10442776" y="580757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228" name="Прямая со стрелкой 227"/>
          <p:cNvCxnSpPr/>
          <p:nvPr/>
        </p:nvCxnSpPr>
        <p:spPr>
          <a:xfrm flipV="1">
            <a:off x="10025920" y="4651209"/>
            <a:ext cx="391188" cy="107725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рямая со стрелкой 228"/>
          <p:cNvCxnSpPr/>
          <p:nvPr/>
        </p:nvCxnSpPr>
        <p:spPr>
          <a:xfrm flipH="1" flipV="1">
            <a:off x="10679254" y="4651208"/>
            <a:ext cx="322441" cy="1083287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рямая со стрелкой 229"/>
          <p:cNvCxnSpPr/>
          <p:nvPr/>
        </p:nvCxnSpPr>
        <p:spPr>
          <a:xfrm>
            <a:off x="10538179" y="4651208"/>
            <a:ext cx="20004" cy="1077249"/>
          </a:xfrm>
          <a:prstGeom prst="straightConnector1">
            <a:avLst/>
          </a:prstGeom>
          <a:ln w="19050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TextBox 243"/>
          <p:cNvSpPr txBox="1"/>
          <p:nvPr/>
        </p:nvSpPr>
        <p:spPr>
          <a:xfrm>
            <a:off x="10766536" y="432546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m’=0</a:t>
            </a:r>
            <a:endParaRPr lang="ru-RU" dirty="0"/>
          </a:p>
        </p:txBody>
      </p:sp>
      <p:sp>
        <p:nvSpPr>
          <p:cNvPr id="247" name="Прямоугольник 246"/>
          <p:cNvSpPr/>
          <p:nvPr/>
        </p:nvSpPr>
        <p:spPr>
          <a:xfrm>
            <a:off x="9482289" y="3492204"/>
            <a:ext cx="21205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из ∣F = 1⟩ </a:t>
            </a:r>
            <a:endParaRPr lang="en-US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8753617" y="908769"/>
            <a:ext cx="21101" cy="542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единительная линия 115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9643493" y="4174961"/>
            <a:ext cx="18093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Прямая соединительная линия 121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7038310" y="4531459"/>
            <a:ext cx="358998" cy="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5288723" y="4371663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Прямая соединительная линия 123"/>
          <p:cNvCxnSpPr/>
          <p:nvPr/>
        </p:nvCxnSpPr>
        <p:spPr>
          <a:xfrm>
            <a:off x="874708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>
            <a:off x="1384159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Прямая соединительная линия 125"/>
          <p:cNvCxnSpPr/>
          <p:nvPr/>
        </p:nvCxnSpPr>
        <p:spPr>
          <a:xfrm>
            <a:off x="1916422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1" name="Прямая соединительная линия 130"/>
          <p:cNvCxnSpPr/>
          <p:nvPr/>
        </p:nvCxnSpPr>
        <p:spPr>
          <a:xfrm>
            <a:off x="2437897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Прямая соединительная линия 131"/>
          <p:cNvCxnSpPr/>
          <p:nvPr/>
        </p:nvCxnSpPr>
        <p:spPr>
          <a:xfrm>
            <a:off x="2951702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Прямая соединительная линия 132"/>
          <p:cNvCxnSpPr/>
          <p:nvPr/>
        </p:nvCxnSpPr>
        <p:spPr>
          <a:xfrm>
            <a:off x="1384159" y="343079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Прямая соединительная линия 133"/>
          <p:cNvCxnSpPr/>
          <p:nvPr/>
        </p:nvCxnSpPr>
        <p:spPr>
          <a:xfrm>
            <a:off x="1916422" y="343079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Прямая соединительная линия 134"/>
          <p:cNvCxnSpPr/>
          <p:nvPr/>
        </p:nvCxnSpPr>
        <p:spPr>
          <a:xfrm>
            <a:off x="2433543" y="343079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64959" y="2549243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64959" y="3162798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826022" y="34976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39" name="TextBox 138"/>
          <p:cNvSpPr txBox="1"/>
          <p:nvPr/>
        </p:nvSpPr>
        <p:spPr>
          <a:xfrm>
            <a:off x="1242547" y="34976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40" name="TextBox 139"/>
          <p:cNvSpPr txBox="1"/>
          <p:nvPr/>
        </p:nvSpPr>
        <p:spPr>
          <a:xfrm>
            <a:off x="2367188" y="34976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1826022" y="239972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44" name="TextBox 143"/>
          <p:cNvSpPr txBox="1"/>
          <p:nvPr/>
        </p:nvSpPr>
        <p:spPr>
          <a:xfrm>
            <a:off x="2367187" y="239972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46" name="TextBox 145"/>
          <p:cNvSpPr txBox="1"/>
          <p:nvPr/>
        </p:nvSpPr>
        <p:spPr>
          <a:xfrm>
            <a:off x="1284857" y="239912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47" name="TextBox 146"/>
          <p:cNvSpPr txBox="1"/>
          <p:nvPr/>
        </p:nvSpPr>
        <p:spPr>
          <a:xfrm>
            <a:off x="2908352" y="2399121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148" name="TextBox 147"/>
          <p:cNvSpPr txBox="1"/>
          <p:nvPr/>
        </p:nvSpPr>
        <p:spPr>
          <a:xfrm>
            <a:off x="753403" y="239912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49" name="TextBox 148"/>
          <p:cNvSpPr txBox="1"/>
          <p:nvPr/>
        </p:nvSpPr>
        <p:spPr>
          <a:xfrm>
            <a:off x="197669" y="3860805"/>
            <a:ext cx="3452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Начальное состояние </a:t>
            </a:r>
            <a:r>
              <a:rPr lang="ru-RU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атомов к концу охлаждения</a:t>
            </a:r>
            <a:endParaRPr lang="ru-RU" sz="1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1" name="Овал 150"/>
          <p:cNvSpPr/>
          <p:nvPr/>
        </p:nvSpPr>
        <p:spPr>
          <a:xfrm>
            <a:off x="950157" y="2735686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2" name="Овал 151"/>
          <p:cNvSpPr/>
          <p:nvPr/>
        </p:nvSpPr>
        <p:spPr>
          <a:xfrm>
            <a:off x="1467143" y="2741360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3" name="Овал 152"/>
          <p:cNvSpPr/>
          <p:nvPr/>
        </p:nvSpPr>
        <p:spPr>
          <a:xfrm>
            <a:off x="2518034" y="274310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4" name="Овал 153"/>
          <p:cNvSpPr/>
          <p:nvPr/>
        </p:nvSpPr>
        <p:spPr>
          <a:xfrm>
            <a:off x="3035020" y="2731276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6" name="Овал 155"/>
          <p:cNvSpPr/>
          <p:nvPr/>
        </p:nvSpPr>
        <p:spPr>
          <a:xfrm>
            <a:off x="1973787" y="2730222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186" name="Прямая соединительная линия 185"/>
          <p:cNvCxnSpPr/>
          <p:nvPr/>
        </p:nvCxnSpPr>
        <p:spPr>
          <a:xfrm>
            <a:off x="5179112" y="908769"/>
            <a:ext cx="21101" cy="542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Прямая соединительная линия 186"/>
          <p:cNvCxnSpPr/>
          <p:nvPr/>
        </p:nvCxnSpPr>
        <p:spPr>
          <a:xfrm flipV="1">
            <a:off x="4343760" y="3306568"/>
            <a:ext cx="7715008" cy="334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8822582" y="4021716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9" name="Прямая соединительная линия 188"/>
          <p:cNvCxnSpPr/>
          <p:nvPr/>
        </p:nvCxnSpPr>
        <p:spPr>
          <a:xfrm>
            <a:off x="9333378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Прямая соединительная линия 189"/>
          <p:cNvCxnSpPr/>
          <p:nvPr/>
        </p:nvCxnSpPr>
        <p:spPr>
          <a:xfrm>
            <a:off x="9842829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1" name="Прямая соединительная линия 190"/>
          <p:cNvCxnSpPr/>
          <p:nvPr/>
        </p:nvCxnSpPr>
        <p:spPr>
          <a:xfrm>
            <a:off x="10375092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5" name="Прямая соединительная линия 194"/>
          <p:cNvCxnSpPr/>
          <p:nvPr/>
        </p:nvCxnSpPr>
        <p:spPr>
          <a:xfrm>
            <a:off x="10896567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Прямая соединительная линия 197"/>
          <p:cNvCxnSpPr/>
          <p:nvPr/>
        </p:nvCxnSpPr>
        <p:spPr>
          <a:xfrm>
            <a:off x="11410372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10302350" y="4862677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200" name="TextBox 199"/>
          <p:cNvSpPr txBox="1"/>
          <p:nvPr/>
        </p:nvSpPr>
        <p:spPr>
          <a:xfrm>
            <a:off x="10825857" y="4863279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201" name="TextBox 200"/>
          <p:cNvSpPr txBox="1"/>
          <p:nvPr/>
        </p:nvSpPr>
        <p:spPr>
          <a:xfrm>
            <a:off x="9743527" y="486268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202" name="TextBox 201"/>
          <p:cNvSpPr txBox="1"/>
          <p:nvPr/>
        </p:nvSpPr>
        <p:spPr>
          <a:xfrm>
            <a:off x="11367022" y="4862679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203" name="TextBox 202"/>
          <p:cNvSpPr txBox="1"/>
          <p:nvPr/>
        </p:nvSpPr>
        <p:spPr>
          <a:xfrm>
            <a:off x="9212073" y="4862678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xmlns="" id="{405E9B0E-A113-43D4-967F-63DA112AC302}"/>
              </a:ext>
            </a:extLst>
          </p:cNvPr>
          <p:cNvSpPr txBox="1"/>
          <p:nvPr/>
        </p:nvSpPr>
        <p:spPr>
          <a:xfrm>
            <a:off x="0" y="6548157"/>
            <a:ext cx="46350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*A. Peters, K.Y. Chung, S. Chu,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Metrologia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38.1, 25 (2001).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65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</a:t>
            </a:fld>
            <a:endParaRPr lang="ru-RU" dirty="0"/>
          </a:p>
        </p:txBody>
      </p:sp>
      <p:sp>
        <p:nvSpPr>
          <p:cNvPr id="3" name="Google Shape;153;p22">
            <a:extLst>
              <a:ext uri="{FF2B5EF4-FFF2-40B4-BE49-F238E27FC236}">
                <a16:creationId xmlns:a16="http://schemas.microsoft.com/office/drawing/2014/main" xmlns="" id="{5C8D614A-9781-4EA2-8EF1-9A6EB749F649}"/>
              </a:ext>
            </a:extLst>
          </p:cNvPr>
          <p:cNvSpPr/>
          <p:nvPr/>
        </p:nvSpPr>
        <p:spPr>
          <a:xfrm>
            <a:off x="2640622" y="136525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Моделирование оптической накачки для подготовки атомов в немагнитном состоянии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A1660A8-1C73-4B54-BAD7-7297626326D5}"/>
              </a:ext>
            </a:extLst>
          </p:cNvPr>
          <p:cNvSpPr txBox="1"/>
          <p:nvPr/>
        </p:nvSpPr>
        <p:spPr>
          <a:xfrm>
            <a:off x="6294141" y="1784975"/>
            <a:ext cx="570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BF62941-6B49-4D25-9513-8AC8C02180AC}"/>
              </a:ext>
            </a:extLst>
          </p:cNvPr>
          <p:cNvSpPr txBox="1"/>
          <p:nvPr/>
        </p:nvSpPr>
        <p:spPr>
          <a:xfrm>
            <a:off x="6294141" y="2518422"/>
            <a:ext cx="570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89E0AAB-A303-495E-9EDD-4E7144FA1C42}"/>
              </a:ext>
            </a:extLst>
          </p:cNvPr>
          <p:cNvSpPr txBox="1"/>
          <p:nvPr/>
        </p:nvSpPr>
        <p:spPr>
          <a:xfrm>
            <a:off x="6294141" y="3080876"/>
            <a:ext cx="570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F08E7B88-E2FF-4655-B5D7-D0558B1BF06F}"/>
                  </a:ext>
                </a:extLst>
              </p:cNvPr>
              <p:cNvSpPr txBox="1"/>
              <p:nvPr/>
            </p:nvSpPr>
            <p:spPr>
              <a:xfrm>
                <a:off x="1110654" y="4415632"/>
                <a:ext cx="575410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населённость 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нижнего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-уровня,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𝑖𝑗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скорость 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поглощения для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𝑖𝑗</m:t>
                    </m:r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перехода,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𝑖𝑗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относительная скорость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𝑖𝑗</m:t>
                    </m:r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перехода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естественная ширина линии, 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𝑠𝑎𝑡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интенсивность 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насыщения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𝑗𝑘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отстройка от 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частоты перехода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08E7B88-E2FF-4655-B5D7-D0558B1BF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654" y="4415632"/>
                <a:ext cx="5754105" cy="1384995"/>
              </a:xfrm>
              <a:prstGeom prst="rect">
                <a:avLst/>
              </a:prstGeom>
              <a:blipFill rotWithShape="0">
                <a:blip r:embed="rId2"/>
                <a:stretch>
                  <a:fillRect t="-439" b="-35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71174D6D-26D1-4FAE-AC4A-DBE0A0CD6B2D}"/>
              </a:ext>
            </a:extLst>
          </p:cNvPr>
          <p:cNvSpPr txBox="1"/>
          <p:nvPr/>
        </p:nvSpPr>
        <p:spPr>
          <a:xfrm>
            <a:off x="10877" y="6538912"/>
            <a:ext cx="63416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*F.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Atoneche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Kastberg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European Journal of Physics 38.4, 045703 (2017).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97421659-E36C-406C-9A01-B8DC8FF723F7}"/>
                  </a:ext>
                </a:extLst>
              </p:cNvPr>
              <p:cNvSpPr txBox="1"/>
              <p:nvPr/>
            </p:nvSpPr>
            <p:spPr>
              <a:xfrm>
                <a:off x="1201062" y="1633075"/>
                <a:ext cx="4783104" cy="684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b="0" i="1" baseline="-25000" smtClean="0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b="0" i="1" baseline="-250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𝑛𝑘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421659-E36C-406C-9A01-B8DC8FF72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062" y="1633075"/>
                <a:ext cx="4783104" cy="6847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F2420BCD-000A-4169-ADC5-A11663BA3047}"/>
                  </a:ext>
                </a:extLst>
              </p:cNvPr>
              <p:cNvSpPr txBox="1"/>
              <p:nvPr/>
            </p:nvSpPr>
            <p:spPr>
              <a:xfrm>
                <a:off x="1201062" y="3080876"/>
                <a:ext cx="1952073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𝑗𝑘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Г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baseline="-25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420BCD-000A-4169-ADC5-A11663BA3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062" y="3080876"/>
                <a:ext cx="1952073" cy="210507"/>
              </a:xfrm>
              <a:prstGeom prst="rect">
                <a:avLst/>
              </a:prstGeom>
              <a:blipFill>
                <a:blip r:embed="rId4"/>
                <a:stretch>
                  <a:fillRect l="-938" b="-3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2A2DDE01-D186-4BD1-98D1-E1FF8A0A6F08}"/>
                  </a:ext>
                </a:extLst>
              </p:cNvPr>
              <p:cNvSpPr txBox="1"/>
              <p:nvPr/>
            </p:nvSpPr>
            <p:spPr>
              <a:xfrm>
                <a:off x="1201062" y="2389232"/>
                <a:ext cx="3028330" cy="6208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𝑗𝑘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𝑗𝑘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Г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𝑠𝑎𝑡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b="0" i="1" baseline="-250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𝑠𝑎𝑡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+(2∆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Г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2DDE01-D186-4BD1-98D1-E1FF8A0A6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062" y="2389232"/>
                <a:ext cx="3028330" cy="620876"/>
              </a:xfrm>
              <a:prstGeom prst="rect">
                <a:avLst/>
              </a:prstGeom>
              <a:blipFill>
                <a:blip r:embed="rId5"/>
                <a:stretch>
                  <a:fillRect l="-805" t="-1961" r="-1408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Группа 6"/>
          <p:cNvGrpSpPr/>
          <p:nvPr/>
        </p:nvGrpSpPr>
        <p:grpSpPr>
          <a:xfrm>
            <a:off x="8062822" y="2007715"/>
            <a:ext cx="2258072" cy="2407917"/>
            <a:chOff x="7675472" y="1317768"/>
            <a:chExt cx="2258072" cy="2407917"/>
          </a:xfrm>
        </p:grpSpPr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xmlns="" id="{241395B2-8D8F-44D5-8DBA-3D4EE986536D}"/>
                </a:ext>
              </a:extLst>
            </p:cNvPr>
            <p:cNvCxnSpPr>
              <a:cxnSpLocks/>
            </p:cNvCxnSpPr>
            <p:nvPr/>
          </p:nvCxnSpPr>
          <p:spPr>
            <a:xfrm>
              <a:off x="7675472" y="3309245"/>
              <a:ext cx="927946" cy="134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7BABEF32-CCDD-4005-AA2F-0AA5D7FB1D40}"/>
                </a:ext>
              </a:extLst>
            </p:cNvPr>
            <p:cNvSpPr txBox="1"/>
            <p:nvPr/>
          </p:nvSpPr>
          <p:spPr>
            <a:xfrm>
              <a:off x="8061552" y="3417908"/>
              <a:ext cx="541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g1</a:t>
              </a:r>
              <a:endParaRPr lang="ru-RU" dirty="0"/>
            </a:p>
          </p:txBody>
        </p:sp>
        <p:cxnSp>
          <p:nvCxnSpPr>
            <p:cNvPr id="40" name="Прямая соединительная линия 39">
              <a:extLst>
                <a:ext uri="{FF2B5EF4-FFF2-40B4-BE49-F238E27FC236}">
                  <a16:creationId xmlns:a16="http://schemas.microsoft.com/office/drawing/2014/main" xmlns="" id="{BE877E63-6CF4-428C-B5D9-CF466C6A9C10}"/>
                </a:ext>
              </a:extLst>
            </p:cNvPr>
            <p:cNvCxnSpPr>
              <a:cxnSpLocks/>
            </p:cNvCxnSpPr>
            <p:nvPr/>
          </p:nvCxnSpPr>
          <p:spPr>
            <a:xfrm>
              <a:off x="9243498" y="2821794"/>
              <a:ext cx="49445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EB6166F5-920E-44F4-B858-BD1BE267CEBB}"/>
                </a:ext>
              </a:extLst>
            </p:cNvPr>
            <p:cNvSpPr txBox="1"/>
            <p:nvPr/>
          </p:nvSpPr>
          <p:spPr>
            <a:xfrm>
              <a:off x="9311232" y="2909866"/>
              <a:ext cx="6223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g2</a:t>
              </a:r>
              <a:endParaRPr lang="ru-RU" dirty="0"/>
            </a:p>
          </p:txBody>
        </p: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xmlns="" id="{A52F5078-EC77-4471-A2F4-A0A15AA11930}"/>
                </a:ext>
              </a:extLst>
            </p:cNvPr>
            <p:cNvCxnSpPr>
              <a:cxnSpLocks/>
            </p:cNvCxnSpPr>
            <p:nvPr/>
          </p:nvCxnSpPr>
          <p:spPr>
            <a:xfrm>
              <a:off x="8447631" y="1620378"/>
              <a:ext cx="49445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154C5138-A7CC-4D0B-938A-57FBD5D9AA12}"/>
                </a:ext>
              </a:extLst>
            </p:cNvPr>
            <p:cNvSpPr txBox="1"/>
            <p:nvPr/>
          </p:nvSpPr>
          <p:spPr>
            <a:xfrm>
              <a:off x="8478112" y="1317768"/>
              <a:ext cx="6223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e1</a:t>
              </a:r>
              <a:endParaRPr lang="ru-RU" dirty="0"/>
            </a:p>
          </p:txBody>
        </p:sp>
        <p:grpSp>
          <p:nvGrpSpPr>
            <p:cNvPr id="36" name="Группа 35">
              <a:extLst>
                <a:ext uri="{FF2B5EF4-FFF2-40B4-BE49-F238E27FC236}">
                  <a16:creationId xmlns:a16="http://schemas.microsoft.com/office/drawing/2014/main" xmlns="" id="{A01585F4-0578-47BD-B30F-AE81C1A41381}"/>
                </a:ext>
              </a:extLst>
            </p:cNvPr>
            <p:cNvGrpSpPr/>
            <p:nvPr/>
          </p:nvGrpSpPr>
          <p:grpSpPr>
            <a:xfrm rot="1429140">
              <a:off x="7813803" y="1658872"/>
              <a:ext cx="695101" cy="1623907"/>
              <a:chOff x="9828421" y="3429000"/>
              <a:chExt cx="695101" cy="1623907"/>
            </a:xfrm>
          </p:grpSpPr>
          <p:cxnSp>
            <p:nvCxnSpPr>
              <p:cNvPr id="31" name="Прямая со стрелкой 30">
                <a:extLst>
                  <a:ext uri="{FF2B5EF4-FFF2-40B4-BE49-F238E27FC236}">
                    <a16:creationId xmlns:a16="http://schemas.microsoft.com/office/drawing/2014/main" xmlns="" id="{5F98E3B5-72BF-4253-ABD1-0DEDA4DBE52B}"/>
                  </a:ext>
                </a:extLst>
              </p:cNvPr>
              <p:cNvCxnSpPr/>
              <p:nvPr/>
            </p:nvCxnSpPr>
            <p:spPr>
              <a:xfrm>
                <a:off x="10160000" y="4416213"/>
                <a:ext cx="0" cy="636694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xmlns="" id="{4551774E-ACBD-4010-B247-29D52F42B014}"/>
                      </a:ext>
                    </a:extLst>
                  </p:cNvPr>
                  <p:cNvSpPr txBox="1"/>
                  <p:nvPr/>
                </p:nvSpPr>
                <p:spPr>
                  <a:xfrm rot="20170860">
                    <a:off x="9828421" y="4065840"/>
                    <a:ext cx="695101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dirty="0">
                        <a:solidFill>
                          <a:srgbClr val="00B050"/>
                        </a:solidFill>
                      </a:rPr>
                      <a:t>Г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oMath>
                    </a14:m>
                    <a:r>
                      <a:rPr lang="ru-RU" dirty="0">
                        <a:solidFill>
                          <a:srgbClr val="00B050"/>
                        </a:solidFill>
                      </a:rPr>
                      <a:t>11</a:t>
                    </a: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4551774E-ACBD-4010-B247-29D52F42B0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0170860">
                    <a:off x="9828421" y="4065840"/>
                    <a:ext cx="695101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632" t="-4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0" name="Прямая со стрелкой 49">
                <a:extLst>
                  <a:ext uri="{FF2B5EF4-FFF2-40B4-BE49-F238E27FC236}">
                    <a16:creationId xmlns:a16="http://schemas.microsoft.com/office/drawing/2014/main" xmlns="" id="{98D7D6C3-84F5-4D85-91C5-8D11D31C65D4}"/>
                  </a:ext>
                </a:extLst>
              </p:cNvPr>
              <p:cNvCxnSpPr/>
              <p:nvPr/>
            </p:nvCxnSpPr>
            <p:spPr>
              <a:xfrm>
                <a:off x="10160000" y="3429000"/>
                <a:ext cx="0" cy="636694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Группа 51">
              <a:extLst>
                <a:ext uri="{FF2B5EF4-FFF2-40B4-BE49-F238E27FC236}">
                  <a16:creationId xmlns:a16="http://schemas.microsoft.com/office/drawing/2014/main" xmlns="" id="{B41883CE-7274-4D06-8090-96A4F5B4BFC1}"/>
                </a:ext>
              </a:extLst>
            </p:cNvPr>
            <p:cNvGrpSpPr/>
            <p:nvPr/>
          </p:nvGrpSpPr>
          <p:grpSpPr>
            <a:xfrm rot="19720359">
              <a:off x="8954310" y="1619801"/>
              <a:ext cx="695101" cy="1192945"/>
              <a:chOff x="9873364" y="3429000"/>
              <a:chExt cx="695101" cy="1623907"/>
            </a:xfrm>
          </p:grpSpPr>
          <p:cxnSp>
            <p:nvCxnSpPr>
              <p:cNvPr id="53" name="Прямая со стрелкой 52">
                <a:extLst>
                  <a:ext uri="{FF2B5EF4-FFF2-40B4-BE49-F238E27FC236}">
                    <a16:creationId xmlns:a16="http://schemas.microsoft.com/office/drawing/2014/main" xmlns="" id="{49A9ABDB-D633-4E25-8C12-D99A63A1FD3B}"/>
                  </a:ext>
                </a:extLst>
              </p:cNvPr>
              <p:cNvCxnSpPr/>
              <p:nvPr/>
            </p:nvCxnSpPr>
            <p:spPr>
              <a:xfrm>
                <a:off x="10160000" y="4416213"/>
                <a:ext cx="0" cy="636694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xmlns="" id="{5B411CE1-5BDA-4AB3-9C11-B4DCAEDBB2F2}"/>
                      </a:ext>
                    </a:extLst>
                  </p:cNvPr>
                  <p:cNvSpPr txBox="1"/>
                  <p:nvPr/>
                </p:nvSpPr>
                <p:spPr>
                  <a:xfrm rot="1879641">
                    <a:off x="9873364" y="4025582"/>
                    <a:ext cx="695101" cy="47339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dirty="0">
                        <a:solidFill>
                          <a:srgbClr val="00B050"/>
                        </a:solidFill>
                      </a:rPr>
                      <a:t>Г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ru-RU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a14:m>
                    <a:r>
                      <a:rPr lang="ru-RU" dirty="0">
                        <a:solidFill>
                          <a:srgbClr val="00B050"/>
                        </a:solidFill>
                      </a:rPr>
                      <a:t>1</a:t>
                    </a:r>
                  </a:p>
                </p:txBody>
              </p:sp>
            </mc:Choice>
            <mc:Fallback xmlns="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5B411CE1-5BDA-4AB3-9C11-B4DCAEDBB2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879641">
                    <a:off x="9873364" y="4025582"/>
                    <a:ext cx="695101" cy="47339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632" t="-3509" b="-7018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Прямая со стрелкой 55">
                <a:extLst>
                  <a:ext uri="{FF2B5EF4-FFF2-40B4-BE49-F238E27FC236}">
                    <a16:creationId xmlns:a16="http://schemas.microsoft.com/office/drawing/2014/main" xmlns="" id="{4AEE34E7-50DF-4FE9-9DAB-BA965984D723}"/>
                  </a:ext>
                </a:extLst>
              </p:cNvPr>
              <p:cNvCxnSpPr/>
              <p:nvPr/>
            </p:nvCxnSpPr>
            <p:spPr>
              <a:xfrm>
                <a:off x="10160000" y="3429000"/>
                <a:ext cx="0" cy="636694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Группа 59">
              <a:extLst>
                <a:ext uri="{FF2B5EF4-FFF2-40B4-BE49-F238E27FC236}">
                  <a16:creationId xmlns:a16="http://schemas.microsoft.com/office/drawing/2014/main" xmlns="" id="{7A341113-97A9-4AD7-B6EB-204C5FA0DEFF}"/>
                </a:ext>
              </a:extLst>
            </p:cNvPr>
            <p:cNvGrpSpPr/>
            <p:nvPr/>
          </p:nvGrpSpPr>
          <p:grpSpPr>
            <a:xfrm rot="11279419">
              <a:off x="8356430" y="1706482"/>
              <a:ext cx="695101" cy="1529262"/>
              <a:chOff x="9707278" y="3429000"/>
              <a:chExt cx="695101" cy="1623907"/>
            </a:xfrm>
          </p:grpSpPr>
          <p:cxnSp>
            <p:nvCxnSpPr>
              <p:cNvPr id="62" name="Прямая со стрелкой 61">
                <a:extLst>
                  <a:ext uri="{FF2B5EF4-FFF2-40B4-BE49-F238E27FC236}">
                    <a16:creationId xmlns:a16="http://schemas.microsoft.com/office/drawing/2014/main" xmlns="" id="{CDD9F6EB-B5C5-4D4C-B0E1-FA02B19996A6}"/>
                  </a:ext>
                </a:extLst>
              </p:cNvPr>
              <p:cNvCxnSpPr/>
              <p:nvPr/>
            </p:nvCxnSpPr>
            <p:spPr>
              <a:xfrm>
                <a:off x="10160000" y="4416213"/>
                <a:ext cx="0" cy="63669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xmlns="" id="{EA7A657C-A527-4B58-8AC7-34B017C145BA}"/>
                  </a:ext>
                </a:extLst>
              </p:cNvPr>
              <p:cNvSpPr txBox="1"/>
              <p:nvPr/>
            </p:nvSpPr>
            <p:spPr>
              <a:xfrm rot="10320581">
                <a:off x="9707278" y="4135374"/>
                <a:ext cx="69510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R</a:t>
                </a:r>
                <a:r>
                  <a:rPr lang="ru-RU" dirty="0">
                    <a:solidFill>
                      <a:srgbClr val="FF0000"/>
                    </a:solidFill>
                  </a:rPr>
                  <a:t>11</a:t>
                </a:r>
              </a:p>
            </p:txBody>
          </p:sp>
          <p:cxnSp>
            <p:nvCxnSpPr>
              <p:cNvPr id="66" name="Прямая со стрелкой 65">
                <a:extLst>
                  <a:ext uri="{FF2B5EF4-FFF2-40B4-BE49-F238E27FC236}">
                    <a16:creationId xmlns:a16="http://schemas.microsoft.com/office/drawing/2014/main" xmlns="" id="{E85ACD86-2581-4418-80D3-87A9DB3F927C}"/>
                  </a:ext>
                </a:extLst>
              </p:cNvPr>
              <p:cNvCxnSpPr/>
              <p:nvPr/>
            </p:nvCxnSpPr>
            <p:spPr>
              <a:xfrm>
                <a:off x="10160000" y="3429000"/>
                <a:ext cx="0" cy="63669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prstDash val="solid"/>
                <a:headEnd type="stealth" w="lg" len="me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Google Shape;239;p32">
            <a:extLst>
              <a:ext uri="{FF2B5EF4-FFF2-40B4-BE49-F238E27FC236}">
                <a16:creationId xmlns:a16="http://schemas.microsoft.com/office/drawing/2014/main" xmlns="" id="{0B7D4B08-2F8A-43CF-A5A7-F0B45DBF91D0}"/>
              </a:ext>
            </a:extLst>
          </p:cNvPr>
          <p:cNvSpPr txBox="1"/>
          <p:nvPr/>
        </p:nvSpPr>
        <p:spPr>
          <a:xfrm>
            <a:off x="7157020" y="4695289"/>
            <a:ext cx="372605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Принципиальная схема оптической накачки в немагнитное состояние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D89E0AAB-A303-495E-9EDD-4E7144FA1C42}"/>
              </a:ext>
            </a:extLst>
          </p:cNvPr>
          <p:cNvSpPr txBox="1"/>
          <p:nvPr/>
        </p:nvSpPr>
        <p:spPr>
          <a:xfrm>
            <a:off x="6294141" y="3644699"/>
            <a:ext cx="570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201062" y="3579073"/>
                <a:ext cx="874727" cy="630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𝑗𝑘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062" y="3579073"/>
                <a:ext cx="874727" cy="630173"/>
              </a:xfrm>
              <a:prstGeom prst="rect">
                <a:avLst/>
              </a:prstGeom>
              <a:blipFill rotWithShape="0">
                <a:blip r:embed="rId8"/>
                <a:stretch>
                  <a:fillRect b="-9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30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12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254251" y="100559"/>
            <a:ext cx="7315968" cy="451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Результаты </a:t>
            </a:r>
            <a:r>
              <a:rPr lang="ru-RU" sz="24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моделирования оптической накачки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CFBDE2DD-5A3D-45F3-9E8E-4EF530700877}"/>
              </a:ext>
            </a:extLst>
          </p:cNvPr>
          <p:cNvSpPr txBox="1"/>
          <p:nvPr/>
        </p:nvSpPr>
        <p:spPr>
          <a:xfrm>
            <a:off x="3460684" y="2696438"/>
            <a:ext cx="111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1</a:t>
            </a:r>
          </a:p>
        </p:txBody>
      </p:sp>
      <p:pic>
        <p:nvPicPr>
          <p:cNvPr id="487" name="Рисунок 486">
            <a:extLst>
              <a:ext uri="{FF2B5EF4-FFF2-40B4-BE49-F238E27FC236}">
                <a16:creationId xmlns:a16="http://schemas.microsoft.com/office/drawing/2014/main" xmlns="" id="{2B79D5ED-4871-482D-85F5-B48A721D9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982" y="801838"/>
            <a:ext cx="4363235" cy="2005070"/>
          </a:xfrm>
          <a:prstGeom prst="rect">
            <a:avLst/>
          </a:prstGeom>
        </p:spPr>
      </p:pic>
      <p:pic>
        <p:nvPicPr>
          <p:cNvPr id="491" name="Рисунок 490">
            <a:extLst>
              <a:ext uri="{FF2B5EF4-FFF2-40B4-BE49-F238E27FC236}">
                <a16:creationId xmlns:a16="http://schemas.microsoft.com/office/drawing/2014/main" xmlns="" id="{8484CAE8-6A90-440E-B1E2-A0F6665EE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770" y="3065758"/>
            <a:ext cx="3552214" cy="2403070"/>
          </a:xfrm>
          <a:prstGeom prst="rect">
            <a:avLst/>
          </a:prstGeom>
        </p:spPr>
      </p:pic>
      <p:pic>
        <p:nvPicPr>
          <p:cNvPr id="493" name="Рисунок 492">
            <a:extLst>
              <a:ext uri="{FF2B5EF4-FFF2-40B4-BE49-F238E27FC236}">
                <a16:creationId xmlns:a16="http://schemas.microsoft.com/office/drawing/2014/main" xmlns="" id="{B2CB972A-EB71-4534-BA81-09DA0FC42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105" y="3065758"/>
            <a:ext cx="3552216" cy="2403070"/>
          </a:xfrm>
          <a:prstGeom prst="rect">
            <a:avLst/>
          </a:prstGeom>
        </p:spPr>
      </p:pic>
      <p:sp>
        <p:nvSpPr>
          <p:cNvPr id="495" name="TextBox 494">
            <a:extLst>
              <a:ext uri="{FF2B5EF4-FFF2-40B4-BE49-F238E27FC236}">
                <a16:creationId xmlns:a16="http://schemas.microsoft.com/office/drawing/2014/main" xmlns="" id="{59D89966-52D3-48DF-A392-4672060C9AC6}"/>
              </a:ext>
            </a:extLst>
          </p:cNvPr>
          <p:cNvSpPr txBox="1"/>
          <p:nvPr/>
        </p:nvSpPr>
        <p:spPr>
          <a:xfrm>
            <a:off x="901700" y="5551924"/>
            <a:ext cx="1053168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Рис. 1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Схема уровней и переходов в атоме </a:t>
            </a:r>
            <a:r>
              <a:rPr lang="ru-RU" sz="1400" b="0" i="0" u="none" strike="noStrike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87</a:t>
            </a: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Rb (D2 линия), используемых в процессе оптической накачки, (сверху) и соответствующие графики зависимости населенности атомов в немагнитных состояниях и температуры нагрева от длительности цикла оптической </a:t>
            </a:r>
            <a:r>
              <a:rPr lang="ru-RU" sz="1400" b="0" i="0" u="none" strike="noStrike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накачки (снизу)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055E216-F34A-45B8-B6E8-AE2DBD4FC375}"/>
              </a:ext>
            </a:extLst>
          </p:cNvPr>
          <p:cNvSpPr txBox="1"/>
          <p:nvPr/>
        </p:nvSpPr>
        <p:spPr>
          <a:xfrm>
            <a:off x="8250522" y="2700938"/>
            <a:ext cx="1117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024" y="1034250"/>
            <a:ext cx="18097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79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13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106639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 измерения населённости состояния ∣F = 1, 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m=0</a:t>
            </a:r>
            <a:r>
              <a:rPr lang="ru-RU" sz="24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⟩ и температуры</a:t>
            </a:r>
            <a:r>
              <a:rPr lang="en-US" sz="24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ru-RU" sz="24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до и после оптической накачки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D2A2D9D1-C3B2-4FFB-BF6C-C46FCDD128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89"/>
          <a:stretch/>
        </p:blipFill>
        <p:spPr>
          <a:xfrm>
            <a:off x="750489" y="1588766"/>
            <a:ext cx="4206399" cy="3046141"/>
          </a:xfrm>
          <a:prstGeom prst="rect">
            <a:avLst/>
          </a:prstGeom>
        </p:spPr>
      </p:pic>
      <p:sp>
        <p:nvSpPr>
          <p:cNvPr id="6" name="Google Shape;129;p4">
            <a:extLst>
              <a:ext uri="{FF2B5EF4-FFF2-40B4-BE49-F238E27FC236}">
                <a16:creationId xmlns:a16="http://schemas.microsoft.com/office/drawing/2014/main" xmlns="" id="{9F2F9449-A41F-4954-9C15-CD0224C4DE58}"/>
              </a:ext>
            </a:extLst>
          </p:cNvPr>
          <p:cNvSpPr txBox="1"/>
          <p:nvPr/>
        </p:nvSpPr>
        <p:spPr>
          <a:xfrm>
            <a:off x="823108" y="4765822"/>
            <a:ext cx="4173247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14. Зависимость населенности атомов до и после оптической накачки от отстройки </a:t>
            </a:r>
            <a:r>
              <a:rPr lang="ru-RU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относительно часового </a:t>
            </a:r>
            <a:r>
              <a:rPr lang="ru-RU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перехода.</a:t>
            </a:r>
            <a:endParaRPr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6A5A2298-D0D5-457A-ADD2-2EF4FEE9F9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650"/>
          <a:stretch/>
        </p:blipFill>
        <p:spPr>
          <a:xfrm>
            <a:off x="6985677" y="1588766"/>
            <a:ext cx="4244576" cy="3063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CAE9D85-C58F-4E82-8CFA-F36F8F2CACC9}"/>
              </a:ext>
            </a:extLst>
          </p:cNvPr>
          <p:cNvSpPr txBox="1"/>
          <p:nvPr/>
        </p:nvSpPr>
        <p:spPr>
          <a:xfrm>
            <a:off x="6637779" y="4765822"/>
            <a:ext cx="51223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15. Зависимости квадрата размера облака холодных атомов (1/e) от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квадрата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свободного падения до и после оптической накачки в немагнитное состояние.</a:t>
            </a:r>
          </a:p>
        </p:txBody>
      </p:sp>
    </p:spTree>
    <p:extLst>
      <p:ext uri="{BB962C8B-B14F-4D97-AF65-F5344CB8AC3E}">
        <p14:creationId xmlns:p14="http://schemas.microsoft.com/office/powerpoint/2010/main" val="356194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D58D0B99-2C89-44FF-AE45-915A5ABCAB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14</a:t>
            </a:fld>
            <a:endParaRPr lang="ru-RU"/>
          </a:p>
        </p:txBody>
      </p:sp>
      <p:sp>
        <p:nvSpPr>
          <p:cNvPr id="3" name="Google Shape;235;p32">
            <a:extLst>
              <a:ext uri="{FF2B5EF4-FFF2-40B4-BE49-F238E27FC236}">
                <a16:creationId xmlns:a16="http://schemas.microsoft.com/office/drawing/2014/main" xmlns="" id="{BAD9C47B-71AB-46CE-BFD8-D8D40FDA75A7}"/>
              </a:ext>
            </a:extLst>
          </p:cNvPr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Моделирование влияния температуры на количество атомов после скоростной селекции</a:t>
            </a:r>
            <a:endParaRPr sz="24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239;p32">
            <a:extLst>
              <a:ext uri="{FF2B5EF4-FFF2-40B4-BE49-F238E27FC236}">
                <a16:creationId xmlns:a16="http://schemas.microsoft.com/office/drawing/2014/main" xmlns="" id="{5778EE27-C06D-47AA-A5FB-C2CC5ECA2F11}"/>
              </a:ext>
            </a:extLst>
          </p:cNvPr>
          <p:cNvSpPr txBox="1"/>
          <p:nvPr/>
        </p:nvSpPr>
        <p:spPr>
          <a:xfrm>
            <a:off x="4345293" y="4642158"/>
            <a:ext cx="3868786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Результат моделирования п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роцента оставшихся атомов после скоростной селекции </a:t>
            </a:r>
            <a:r>
              <a:rPr lang="ru-RU" dirty="0" err="1">
                <a:latin typeface="Times New Roman"/>
                <a:ea typeface="Times New Roman"/>
                <a:cs typeface="Times New Roman"/>
                <a:sym typeface="Times New Roman"/>
              </a:rPr>
              <a:t>Рамановскими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 пучками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293" y="1590777"/>
            <a:ext cx="3856231" cy="28680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10600" y="2107475"/>
            <a:ext cx="20813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l-G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0.07</a:t>
            </a:r>
          </a:p>
          <a:p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0.004 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/>
              <a:t>  </a:t>
            </a:r>
            <a:endParaRPr lang="ru-RU" dirty="0"/>
          </a:p>
          <a:p>
            <a:r>
              <a:rPr lang="en-US" dirty="0" smtClean="0"/>
              <a:t>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5124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0" name="Google Shape;340;p8"/>
              <p:cNvSpPr txBox="1"/>
              <p:nvPr/>
            </p:nvSpPr>
            <p:spPr>
              <a:xfrm>
                <a:off x="2744425" y="1211441"/>
                <a:ext cx="6755400" cy="4524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342900" marR="0" lvl="0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Char char="-"/>
                </a:pPr>
                <a:r>
                  <a:rPr lang="ru-RU" sz="1800" b="0" i="0" u="none" strike="noStrike" cap="none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Проведены измерения неоднородности магнитного поля, выполнена его компенсация до величины ~1.3 </a:t>
                </a:r>
                <a:r>
                  <a:rPr lang="ru-RU" sz="1800" b="0" i="0" u="none" strike="noStrik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мГс/мм. Реализовано программное обеспечение для </a:t>
                </a:r>
                <a:r>
                  <a:rPr lang="ru-RU" sz="1800" b="0" i="0" u="none" strike="noStrike" cap="none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обработки измерений </a:t>
                </a:r>
                <a:r>
                  <a:rPr lang="ru-RU" sz="1800" b="0" i="0" u="none" strike="noStrik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неоднородности магнитного поля.</a:t>
                </a:r>
              </a:p>
              <a:p>
                <a:pPr marL="342900" marR="0" lvl="0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Char char="-"/>
                </a:pPr>
                <a:r>
                  <a:rPr lang="ru-RU" sz="1800" dirty="0" smtClean="0">
                    <a:solidFill>
                      <a:schemeClr val="dk1"/>
                    </a:solidFill>
                    <a:latin typeface="Times New Roman"/>
                    <a:cs typeface="Times New Roman"/>
                    <a:sym typeface="Times New Roman"/>
                  </a:rPr>
                  <a:t>В результате компенсации </a:t>
                </a:r>
                <a:r>
                  <a:rPr lang="ru-RU" sz="1800" dirty="0">
                    <a:solidFill>
                      <a:schemeClr val="dk1"/>
                    </a:solidFill>
                    <a:latin typeface="Times New Roman"/>
                    <a:cs typeface="Times New Roman"/>
                    <a:sym typeface="Times New Roman"/>
                  </a:rPr>
                  <a:t>неоднородности </a:t>
                </a:r>
                <a:r>
                  <a:rPr lang="ru-RU" sz="1800" dirty="0" smtClean="0">
                    <a:solidFill>
                      <a:schemeClr val="dk1"/>
                    </a:solidFill>
                    <a:latin typeface="Times New Roman"/>
                    <a:cs typeface="Times New Roman"/>
                    <a:sym typeface="Times New Roman"/>
                  </a:rPr>
                  <a:t>магнитного поля увеличена эффективность субдоплеровского охлаждения: температура атомов уменьшена с </a:t>
                </a:r>
                <a:r>
                  <a:rPr lang="ru-RU" sz="1800" dirty="0">
                    <a:solidFill>
                      <a:schemeClr val="dk1"/>
                    </a:solidFill>
                    <a:latin typeface="Times New Roman"/>
                    <a:cs typeface="Times New Roman"/>
                    <a:sym typeface="Times New Roman"/>
                  </a:rPr>
                  <a:t>6 до </a:t>
                </a:r>
                <a:r>
                  <a:rPr lang="ru-RU" sz="1800" dirty="0" smtClean="0">
                    <a:solidFill>
                      <a:schemeClr val="dk1"/>
                    </a:solidFill>
                    <a:latin typeface="Times New Roman"/>
                    <a:cs typeface="Times New Roman"/>
                    <a:sym typeface="Times New Roman"/>
                  </a:rPr>
                  <a:t>2.5 </a:t>
                </a:r>
                <a:r>
                  <a:rPr lang="ru-RU" sz="1800" dirty="0">
                    <a:solidFill>
                      <a:schemeClr val="dk1"/>
                    </a:solidFill>
                    <a:latin typeface="Times New Roman"/>
                    <a:cs typeface="Times New Roman"/>
                    <a:sym typeface="Times New Roman"/>
                  </a:rPr>
                  <a:t>мкК</a:t>
                </a:r>
                <a:r>
                  <a:rPr lang="ru-RU" sz="1800" dirty="0" smtClean="0">
                    <a:solidFill>
                      <a:schemeClr val="dk1"/>
                    </a:solidFill>
                    <a:latin typeface="Times New Roman"/>
                    <a:cs typeface="Times New Roman"/>
                    <a:sym typeface="Times New Roman"/>
                  </a:rPr>
                  <a:t>.</a:t>
                </a:r>
              </a:p>
              <a:p>
                <a:pPr marL="342900" marR="0" lvl="0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Char char="-"/>
                </a:pPr>
                <a:r>
                  <a:rPr lang="ru-RU" sz="18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Проведено численное моделирование и анализ оптической накачки атомов </a:t>
                </a:r>
                <a:r>
                  <a:rPr lang="ru-RU" sz="1800" baseline="300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87</a:t>
                </a:r>
                <a:r>
                  <a:rPr lang="en-US" sz="18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Rb</a:t>
                </a:r>
                <a:r>
                  <a:rPr lang="ru-RU" sz="18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в немагнитное квантовое состояние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|</m:t>
                    </m:r>
                    <m:r>
                      <a:rPr lang="en-US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𝐹</m:t>
                    </m:r>
                    <m:r>
                      <a:rPr lang="en-US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=1, 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𝑚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𝐹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=0〉</m:t>
                    </m:r>
                  </m:oMath>
                </a14:m>
                <a:r>
                  <a:rPr lang="ru-RU" sz="18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 </a:t>
                </a:r>
                <a:r>
                  <a:rPr lang="ru-RU" sz="1800" b="0" i="0" u="none" cap="none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Экспериментальная </a:t>
                </a:r>
                <a:r>
                  <a:rPr lang="ru-RU" sz="1800" b="0" i="0" u="non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реализация </a:t>
                </a:r>
                <a:r>
                  <a:rPr lang="ru-RU" sz="1800" b="0" i="0" u="none" cap="none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данной схемы оптической </a:t>
                </a:r>
                <a:r>
                  <a:rPr lang="ru-RU" sz="1800" b="0" i="0" u="non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накачки </a:t>
                </a:r>
                <a:r>
                  <a:rPr lang="ru-RU" sz="1800" b="0" i="0" u="none" cap="none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продемонстрировало </a:t>
                </a:r>
                <a:r>
                  <a:rPr lang="ru-RU" sz="1800" b="0" i="0" u="non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эффективность более 90 % и нагрев </a:t>
                </a:r>
                <a:r>
                  <a:rPr lang="ru-RU" sz="1800" b="0" i="0" u="none" cap="none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около </a:t>
                </a:r>
                <a:r>
                  <a:rPr lang="ru-RU" sz="1800" b="0" i="0" u="none" cap="none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 мкК, </a:t>
                </a:r>
                <a:r>
                  <a:rPr lang="ru-RU" sz="1800" b="0" i="0" u="none" cap="none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что согласуется с результатами моделирования.</a:t>
                </a:r>
              </a:p>
              <a:p>
                <a:pPr marL="342900" marR="0" lvl="0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Char char="-"/>
                </a:pPr>
                <a:r>
                  <a:rPr lang="ru-RU" sz="1800" dirty="0" smtClean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В будущем мы планируем провести исследование влияния данной схемы оптической накачки на эффективность атомного интерферометра-гравиметра.</a:t>
                </a:r>
                <a:endParaRPr lang="ru-RU" sz="1800" b="0" i="0" u="none" cap="none" dirty="0" smtClean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 xmlns="">
          <p:sp>
            <p:nvSpPr>
              <p:cNvPr id="340" name="Google Shape;340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4425" y="1211441"/>
                <a:ext cx="6755400" cy="4524275"/>
              </a:xfrm>
              <a:prstGeom prst="rect">
                <a:avLst/>
              </a:prstGeom>
              <a:blipFill>
                <a:blip r:embed="rId3"/>
                <a:stretch>
                  <a:fillRect l="-1173" t="-2156" r="-1444" b="-12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1" name="Google Shape;3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29520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</TotalTime>
  <Words>1254</Words>
  <Application>Microsoft Office PowerPoint</Application>
  <PresentationFormat>Широкоэкранный</PresentationFormat>
  <Paragraphs>216</Paragraphs>
  <Slides>15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Cambria Math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kilrealladam@gmail.com</dc:creator>
  <cp:lastModifiedBy>Макаров Антон Олегович</cp:lastModifiedBy>
  <cp:revision>129</cp:revision>
  <dcterms:created xsi:type="dcterms:W3CDTF">2023-12-21T05:49:20Z</dcterms:created>
  <dcterms:modified xsi:type="dcterms:W3CDTF">2024-12-23T08:05:33Z</dcterms:modified>
</cp:coreProperties>
</file>