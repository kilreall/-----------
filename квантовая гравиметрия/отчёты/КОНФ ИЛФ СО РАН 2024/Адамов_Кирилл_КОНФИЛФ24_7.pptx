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87" r:id="rId5"/>
    <p:sldId id="290" r:id="rId6"/>
    <p:sldId id="291" r:id="rId7"/>
    <p:sldId id="268" r:id="rId8"/>
    <p:sldId id="269" r:id="rId9"/>
    <p:sldId id="264" r:id="rId10"/>
    <p:sldId id="265" r:id="rId11"/>
    <p:sldId id="270" r:id="rId12"/>
    <p:sldId id="271" r:id="rId13"/>
    <p:sldId id="272" r:id="rId14"/>
    <p:sldId id="282" r:id="rId15"/>
    <p:sldId id="292" r:id="rId16"/>
    <p:sldId id="293" r:id="rId17"/>
    <p:sldId id="294" r:id="rId18"/>
    <p:sldId id="284" r:id="rId19"/>
    <p:sldId id="285" r:id="rId20"/>
    <p:sldId id="286" r:id="rId21"/>
    <p:sldId id="295" r:id="rId22"/>
    <p:sldId id="288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922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837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891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Подписать резонансы, указать формулу для расчета маг поля</a:t>
            </a:r>
            <a:endParaRPr dirty="0"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28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682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525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1660" y="214081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i="0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i="0" u="sng" strike="noStrike" cap="none" baseline="3000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55685" y="634864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3CD34-9B2E-4915-B966-ECAAA8145C08}"/>
              </a:ext>
            </a:extLst>
          </p:cNvPr>
          <p:cNvSpPr txBox="1"/>
          <p:nvPr/>
        </p:nvSpPr>
        <p:spPr>
          <a:xfrm>
            <a:off x="149290" y="80866"/>
            <a:ext cx="41490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Россия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D8F47-E0BB-4E7A-859C-9128519CAC65}"/>
              </a:ext>
            </a:extLst>
          </p:cNvPr>
          <p:cNvSpPr txBox="1"/>
          <p:nvPr/>
        </p:nvSpPr>
        <p:spPr>
          <a:xfrm>
            <a:off x="2662334" y="3331391"/>
            <a:ext cx="78501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университет,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технический университет, Новосибирск, Россия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E045F-A47A-4C75-B787-B48904B8CAE6}"/>
              </a:ext>
            </a:extLst>
          </p:cNvPr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ofadamovkirill@gmail.com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939977" y="2429248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183443" y="2429248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768641" y="1994537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802293" y="752537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8420" y="1086437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E3B1A-029A-4327-9EF0-D391A5F0BDEF}"/>
              </a:ext>
            </a:extLst>
          </p:cNvPr>
          <p:cNvSpPr txBox="1"/>
          <p:nvPr/>
        </p:nvSpPr>
        <p:spPr>
          <a:xfrm>
            <a:off x="4146570" y="3965021"/>
            <a:ext cx="626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Проведённые исследования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A0FFF-1164-43D7-A296-4897223993E0}"/>
              </a:ext>
            </a:extLst>
          </p:cNvPr>
          <p:cNvSpPr txBox="1"/>
          <p:nvPr/>
        </p:nvSpPr>
        <p:spPr>
          <a:xfrm>
            <a:off x="2932037" y="4365868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омпенсация неоднородности магнитного поля.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Увеличение эффективности п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одготовки атомов в немагнитном состоянии. 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460308" y="258901"/>
            <a:ext cx="11545079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Абсолютный квантовый гравиметр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устройство, позволяющее измерять гравитационное поле земли с высокой чувствительностью, точностью и надёжностью за счёт быстрого высокочувствительного квантового механизма на котором основан принцип его работы. Преимуществами квантового гравиметра над классическим является отсутствие подвижных элементов в конструкции, высокая скорость измерений и возможност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ь переоборудовать гравиметр в акселерометр и гироскоп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Применения квантового гравиметра: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Геодезия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Археология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Разведка полезных ископаемых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Оценка подземной инфраструктуры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Навигация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Поиск скрытых объектов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Вулканы, исследования землетрясений и пр.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точность 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чуствительность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квантового гравиметра влияют потери атомов в ходе измерительного цикла гравиметра, для проведения атомной интерференции необходимо подготовить атомы в немагнитном квантовом состоянии,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что может приводить к существенным потерям атомов,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данной работе был реализован метод подготовки атомов в немагнитное квантовое состояния с использованием оптической накачки с потерями менее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0%, предыдущий же метод подготовки в немагнитное состояние через селекцию по магнитным состояниям имел минимальные потери в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0 %.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8B3876-4C9B-44B7-90CC-440DA9C30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39F4945-9D74-4B8C-897B-6CE0EB1BFA5F}"/>
              </a:ext>
            </a:extLst>
          </p:cNvPr>
          <p:cNvSpPr/>
          <p:nvPr/>
        </p:nvSpPr>
        <p:spPr>
          <a:xfrm>
            <a:off x="2948472" y="1885477"/>
            <a:ext cx="311020" cy="31724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F0DCB50-B4C1-4A57-B451-5B2BAD1CCAFD}"/>
              </a:ext>
            </a:extLst>
          </p:cNvPr>
          <p:cNvCxnSpPr>
            <a:cxnSpLocks/>
          </p:cNvCxnSpPr>
          <p:nvPr/>
        </p:nvCxnSpPr>
        <p:spPr>
          <a:xfrm>
            <a:off x="3097761" y="958637"/>
            <a:ext cx="0" cy="7775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9F59D60F-EACF-44BD-AA3A-E3FFA94DD692}"/>
              </a:ext>
            </a:extLst>
          </p:cNvPr>
          <p:cNvCxnSpPr>
            <a:cxnSpLocks/>
          </p:cNvCxnSpPr>
          <p:nvPr/>
        </p:nvCxnSpPr>
        <p:spPr>
          <a:xfrm flipV="1">
            <a:off x="3097761" y="2376889"/>
            <a:ext cx="0" cy="74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E8EE65A-8353-44B3-8EDF-F5E6D46B8865}"/>
              </a:ext>
            </a:extLst>
          </p:cNvPr>
          <p:cNvCxnSpPr>
            <a:cxnSpLocks/>
          </p:cNvCxnSpPr>
          <p:nvPr/>
        </p:nvCxnSpPr>
        <p:spPr>
          <a:xfrm>
            <a:off x="2326431" y="1387844"/>
            <a:ext cx="447870" cy="3483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4BE0C1F-2D1C-4D6F-84F5-6E443D1BA35D}"/>
              </a:ext>
            </a:extLst>
          </p:cNvPr>
          <p:cNvCxnSpPr>
            <a:cxnSpLocks/>
          </p:cNvCxnSpPr>
          <p:nvPr/>
        </p:nvCxnSpPr>
        <p:spPr>
          <a:xfrm flipH="1" flipV="1">
            <a:off x="3415005" y="2252484"/>
            <a:ext cx="771328" cy="5489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9E14132-7567-45B0-8D8C-03401800B35A}"/>
              </a:ext>
            </a:extLst>
          </p:cNvPr>
          <p:cNvCxnSpPr>
            <a:cxnSpLocks/>
          </p:cNvCxnSpPr>
          <p:nvPr/>
        </p:nvCxnSpPr>
        <p:spPr>
          <a:xfrm flipV="1">
            <a:off x="1946988" y="2096972"/>
            <a:ext cx="821092" cy="1555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2621570-AB0C-49E0-9242-014A69B9E20B}"/>
              </a:ext>
            </a:extLst>
          </p:cNvPr>
          <p:cNvCxnSpPr>
            <a:cxnSpLocks/>
          </p:cNvCxnSpPr>
          <p:nvPr/>
        </p:nvCxnSpPr>
        <p:spPr>
          <a:xfrm flipH="1">
            <a:off x="3415005" y="1806166"/>
            <a:ext cx="964162" cy="1586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7D9114C-0BAF-4A68-A6A6-A6F7B6588357}"/>
              </a:ext>
            </a:extLst>
          </p:cNvPr>
          <p:cNvSpPr txBox="1"/>
          <p:nvPr/>
        </p:nvSpPr>
        <p:spPr>
          <a:xfrm>
            <a:off x="3270223" y="145864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E460C1C-8D50-4C3C-BB92-3B7D2ED5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46" y="3207562"/>
            <a:ext cx="499155" cy="48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BBB57CA-A075-45E2-B876-CEA37387CBC5}"/>
              </a:ext>
            </a:extLst>
          </p:cNvPr>
          <p:cNvSpPr txBox="1"/>
          <p:nvPr/>
        </p:nvSpPr>
        <p:spPr>
          <a:xfrm>
            <a:off x="3383899" y="3059668"/>
            <a:ext cx="1492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немагнитное состояние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BA0B989-90EF-4993-9301-0913179D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36445" y="3718232"/>
            <a:ext cx="540558" cy="74925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28A9D4D-6335-431D-8F55-90CFC84CF771}"/>
              </a:ext>
            </a:extLst>
          </p:cNvPr>
          <p:cNvSpPr txBox="1"/>
          <p:nvPr/>
        </p:nvSpPr>
        <p:spPr>
          <a:xfrm>
            <a:off x="3270223" y="3845993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Скоростная селекция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DE3C731-B6E1-4FFE-B0F5-F4400DCC77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25" b="17878"/>
          <a:stretch/>
        </p:blipFill>
        <p:spPr>
          <a:xfrm>
            <a:off x="2556589" y="4543863"/>
            <a:ext cx="858416" cy="28535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0D3E0D9-53A6-49C4-8177-D11076D6633F}"/>
              </a:ext>
            </a:extLst>
          </p:cNvPr>
          <p:cNvSpPr txBox="1"/>
          <p:nvPr/>
        </p:nvSpPr>
        <p:spPr>
          <a:xfrm>
            <a:off x="3250161" y="4356499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Атомная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FA170C71-6EC6-4D59-B67E-1E2DC6F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446" y="4890281"/>
            <a:ext cx="370702" cy="32015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A61134B6-4291-42BA-B24F-53954983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82" y="5166840"/>
            <a:ext cx="370702" cy="320152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F228DCAD-216D-4DE7-A72E-2C338A4CDA73}"/>
              </a:ext>
            </a:extLst>
          </p:cNvPr>
          <p:cNvCxnSpPr>
            <a:cxnSpLocks/>
          </p:cNvCxnSpPr>
          <p:nvPr/>
        </p:nvCxnSpPr>
        <p:spPr>
          <a:xfrm flipV="1">
            <a:off x="2072810" y="5037033"/>
            <a:ext cx="596851" cy="133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5E534B1-B82D-4149-9CD1-F2A05002DF41}"/>
              </a:ext>
            </a:extLst>
          </p:cNvPr>
          <p:cNvSpPr txBox="1"/>
          <p:nvPr/>
        </p:nvSpPr>
        <p:spPr>
          <a:xfrm>
            <a:off x="3203512" y="5019139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4637B8-70DA-4752-B96A-8382552E8714}"/>
              </a:ext>
            </a:extLst>
          </p:cNvPr>
          <p:cNvSpPr txBox="1"/>
          <p:nvPr/>
        </p:nvSpPr>
        <p:spPr>
          <a:xfrm>
            <a:off x="1363641" y="5213705"/>
            <a:ext cx="67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C2BF98-76B1-4BE9-A8E7-7D80803E9666}"/>
              </a:ext>
            </a:extLst>
          </p:cNvPr>
          <p:cNvSpPr txBox="1"/>
          <p:nvPr/>
        </p:nvSpPr>
        <p:spPr>
          <a:xfrm>
            <a:off x="1245342" y="4883144"/>
            <a:ext cx="9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E18170C4-CE86-42AE-A1E2-4A7F3001A524}"/>
              </a:ext>
            </a:extLst>
          </p:cNvPr>
          <p:cNvCxnSpPr>
            <a:cxnSpLocks/>
          </p:cNvCxnSpPr>
          <p:nvPr/>
        </p:nvCxnSpPr>
        <p:spPr>
          <a:xfrm>
            <a:off x="3006612" y="733925"/>
            <a:ext cx="0" cy="449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A7CCDB74-BFCB-4DC5-B2F7-C69B0654DE3F}"/>
              </a:ext>
            </a:extLst>
          </p:cNvPr>
          <p:cNvCxnSpPr>
            <a:cxnSpLocks/>
          </p:cNvCxnSpPr>
          <p:nvPr/>
        </p:nvCxnSpPr>
        <p:spPr>
          <a:xfrm>
            <a:off x="3180476" y="733925"/>
            <a:ext cx="0" cy="449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122D100-3553-4F84-8B06-A90593B47611}"/>
              </a:ext>
            </a:extLst>
          </p:cNvPr>
          <p:cNvSpPr txBox="1"/>
          <p:nvPr/>
        </p:nvSpPr>
        <p:spPr>
          <a:xfrm>
            <a:off x="2948472" y="685397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Рамановские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Пучки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CCBC9411-05D8-4863-BBCF-D00DA8995E61}"/>
              </a:ext>
            </a:extLst>
          </p:cNvPr>
          <p:cNvCxnSpPr>
            <a:cxnSpLocks/>
          </p:cNvCxnSpPr>
          <p:nvPr/>
        </p:nvCxnSpPr>
        <p:spPr>
          <a:xfrm flipV="1">
            <a:off x="2057848" y="5336632"/>
            <a:ext cx="596851" cy="1332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5FB992A0-4C03-4DCF-9139-DC26524994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973" b="20315"/>
          <a:stretch/>
        </p:blipFill>
        <p:spPr>
          <a:xfrm>
            <a:off x="2610665" y="5532836"/>
            <a:ext cx="804340" cy="24274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127257B-389F-491F-871E-B070006F1813}"/>
              </a:ext>
            </a:extLst>
          </p:cNvPr>
          <p:cNvSpPr txBox="1"/>
          <p:nvPr/>
        </p:nvSpPr>
        <p:spPr>
          <a:xfrm>
            <a:off x="2584208" y="5753999"/>
            <a:ext cx="104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Зеркало</a:t>
            </a:r>
          </a:p>
        </p:txBody>
      </p:sp>
      <p:sp>
        <p:nvSpPr>
          <p:cNvPr id="76" name="Google Shape;129;p4">
            <a:extLst>
              <a:ext uri="{FF2B5EF4-FFF2-40B4-BE49-F238E27FC236}">
                <a16:creationId xmlns:a16="http://schemas.microsoft.com/office/drawing/2014/main" id="{7336519C-8DFF-4700-B8F3-ECB3A196A90D}"/>
              </a:ext>
            </a:extLst>
          </p:cNvPr>
          <p:cNvSpPr txBox="1"/>
          <p:nvPr/>
        </p:nvSpPr>
        <p:spPr>
          <a:xfrm>
            <a:off x="1357907" y="6064468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Качественная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125;p4">
            <a:extLst>
              <a:ext uri="{FF2B5EF4-FFF2-40B4-BE49-F238E27FC236}">
                <a16:creationId xmlns:a16="http://schemas.microsoft.com/office/drawing/2014/main" id="{0528E022-B0EE-44E1-9B9B-C44D66059416}"/>
              </a:ext>
            </a:extLst>
          </p:cNvPr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6;p4">
            <a:extLst>
              <a:ext uri="{FF2B5EF4-FFF2-40B4-BE49-F238E27FC236}">
                <a16:creationId xmlns:a16="http://schemas.microsoft.com/office/drawing/2014/main" id="{8B71CD09-2C30-4A14-A5E6-945A3E41767C}"/>
              </a:ext>
            </a:extLst>
          </p:cNvPr>
          <p:cNvSpPr txBox="1"/>
          <p:nvPr/>
        </p:nvSpPr>
        <p:spPr>
          <a:xfrm>
            <a:off x="5770500" y="1251308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квантовом 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22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B87A89-7551-4824-8615-731759BBE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CDE318-2DE6-4106-93EA-036BD6D100DE}"/>
              </a:ext>
            </a:extLst>
          </p:cNvPr>
          <p:cNvCxnSpPr>
            <a:cxnSpLocks/>
          </p:cNvCxnSpPr>
          <p:nvPr/>
        </p:nvCxnSpPr>
        <p:spPr>
          <a:xfrm>
            <a:off x="4154408" y="5083310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5E5DF398-F243-4F0E-A62C-4F6A89B7A350}"/>
              </a:ext>
            </a:extLst>
          </p:cNvPr>
          <p:cNvCxnSpPr>
            <a:cxnSpLocks/>
          </p:cNvCxnSpPr>
          <p:nvPr/>
        </p:nvCxnSpPr>
        <p:spPr>
          <a:xfrm>
            <a:off x="4154408" y="5490747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0E5FCB-6802-41EE-AF1C-B93B53B6BC33}"/>
              </a:ext>
            </a:extLst>
          </p:cNvPr>
          <p:cNvSpPr txBox="1"/>
          <p:nvPr/>
        </p:nvSpPr>
        <p:spPr>
          <a:xfrm>
            <a:off x="3415369" y="5336858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517324-7FE5-4882-9426-F67C45D19FA7}"/>
              </a:ext>
            </a:extLst>
          </p:cNvPr>
          <p:cNvSpPr txBox="1"/>
          <p:nvPr/>
        </p:nvSpPr>
        <p:spPr>
          <a:xfrm>
            <a:off x="3415369" y="490437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10418A-82E1-49CA-A1FD-09BAA9D7BC4F}"/>
              </a:ext>
            </a:extLst>
          </p:cNvPr>
          <p:cNvSpPr txBox="1"/>
          <p:nvPr/>
        </p:nvSpPr>
        <p:spPr>
          <a:xfrm>
            <a:off x="2783997" y="5119819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2406656-00BF-419E-A56D-FBDAA937C00F}"/>
              </a:ext>
            </a:extLst>
          </p:cNvPr>
          <p:cNvCxnSpPr>
            <a:cxnSpLocks/>
          </p:cNvCxnSpPr>
          <p:nvPr/>
        </p:nvCxnSpPr>
        <p:spPr>
          <a:xfrm>
            <a:off x="4154404" y="2620647"/>
            <a:ext cx="1027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17A250-6EFC-4CA4-BB0B-65EF0D65C2C6}"/>
              </a:ext>
            </a:extLst>
          </p:cNvPr>
          <p:cNvSpPr txBox="1"/>
          <p:nvPr/>
        </p:nvSpPr>
        <p:spPr>
          <a:xfrm>
            <a:off x="3381520" y="244834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720B3EC-F913-47F7-82EC-090481520512}"/>
              </a:ext>
            </a:extLst>
          </p:cNvPr>
          <p:cNvCxnSpPr>
            <a:cxnSpLocks/>
          </p:cNvCxnSpPr>
          <p:nvPr/>
        </p:nvCxnSpPr>
        <p:spPr>
          <a:xfrm>
            <a:off x="4154405" y="2247533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A83279-BFA3-48FB-94C3-37675D6209FE}"/>
              </a:ext>
            </a:extLst>
          </p:cNvPr>
          <p:cNvSpPr txBox="1"/>
          <p:nvPr/>
        </p:nvSpPr>
        <p:spPr>
          <a:xfrm>
            <a:off x="3381520" y="20888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54405" y="1891731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3381520" y="17401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89B3E6C-347C-4EC3-806D-2660834F8176}"/>
              </a:ext>
            </a:extLst>
          </p:cNvPr>
          <p:cNvCxnSpPr>
            <a:cxnSpLocks/>
          </p:cNvCxnSpPr>
          <p:nvPr/>
        </p:nvCxnSpPr>
        <p:spPr>
          <a:xfrm>
            <a:off x="4154405" y="1558586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B80C94-7C79-4358-9A1D-8000FE71BBF4}"/>
              </a:ext>
            </a:extLst>
          </p:cNvPr>
          <p:cNvSpPr txBox="1"/>
          <p:nvPr/>
        </p:nvSpPr>
        <p:spPr>
          <a:xfrm>
            <a:off x="3366333" y="140469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A2DEED-DC62-49B3-814C-74DA5E975204}"/>
              </a:ext>
            </a:extLst>
          </p:cNvPr>
          <p:cNvSpPr txBox="1"/>
          <p:nvPr/>
        </p:nvSpPr>
        <p:spPr>
          <a:xfrm>
            <a:off x="2783997" y="1894065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23BC8F99-0400-4CAF-A9F0-56DD297FD78C}"/>
              </a:ext>
            </a:extLst>
          </p:cNvPr>
          <p:cNvCxnSpPr>
            <a:cxnSpLocks/>
          </p:cNvCxnSpPr>
          <p:nvPr/>
        </p:nvCxnSpPr>
        <p:spPr>
          <a:xfrm flipV="1">
            <a:off x="4241027" y="1908881"/>
            <a:ext cx="0" cy="35640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C23A9834-42A3-48A4-8E9B-1611BC7F986B}"/>
              </a:ext>
            </a:extLst>
          </p:cNvPr>
          <p:cNvCxnSpPr>
            <a:endCxn id="21" idx="3"/>
          </p:cNvCxnSpPr>
          <p:nvPr/>
        </p:nvCxnSpPr>
        <p:spPr>
          <a:xfrm>
            <a:off x="4349620" y="1891731"/>
            <a:ext cx="0" cy="3166533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5997D986-A325-49F3-867E-49464F064411}"/>
              </a:ext>
            </a:extLst>
          </p:cNvPr>
          <p:cNvCxnSpPr>
            <a:cxnSpLocks/>
          </p:cNvCxnSpPr>
          <p:nvPr/>
        </p:nvCxnSpPr>
        <p:spPr>
          <a:xfrm flipV="1">
            <a:off x="4484914" y="1712474"/>
            <a:ext cx="0" cy="3345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oogle Shape;175;p23">
            <a:extLst>
              <a:ext uri="{FF2B5EF4-FFF2-40B4-BE49-F238E27FC236}">
                <a16:creationId xmlns:a16="http://schemas.microsoft.com/office/drawing/2014/main" id="{17DC9342-B65E-41BC-BD77-0B6FB02AB970}"/>
              </a:ext>
            </a:extLst>
          </p:cNvPr>
          <p:cNvCxnSpPr>
            <a:cxnSpLocks/>
          </p:cNvCxnSpPr>
          <p:nvPr/>
        </p:nvCxnSpPr>
        <p:spPr>
          <a:xfrm>
            <a:off x="4484914" y="1558585"/>
            <a:ext cx="0" cy="15388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46" name="Google Shape;176;p23">
            <a:extLst>
              <a:ext uri="{FF2B5EF4-FFF2-40B4-BE49-F238E27FC236}">
                <a16:creationId xmlns:a16="http://schemas.microsoft.com/office/drawing/2014/main" id="{DAA8F91E-2DC0-4CCB-8E9A-95ED221A0A3A}"/>
              </a:ext>
            </a:extLst>
          </p:cNvPr>
          <p:cNvSpPr txBox="1"/>
          <p:nvPr/>
        </p:nvSpPr>
        <p:spPr>
          <a:xfrm>
            <a:off x="4444539" y="1496408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8F6B650-06F5-47DF-8E71-D3D068F3B22E}"/>
              </a:ext>
            </a:extLst>
          </p:cNvPr>
          <p:cNvCxnSpPr/>
          <p:nvPr/>
        </p:nvCxnSpPr>
        <p:spPr>
          <a:xfrm flipV="1">
            <a:off x="4603102" y="1908881"/>
            <a:ext cx="0" cy="314938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B742686C-22FA-449A-8DB3-14F561A4C974}"/>
              </a:ext>
            </a:extLst>
          </p:cNvPr>
          <p:cNvCxnSpPr/>
          <p:nvPr/>
        </p:nvCxnSpPr>
        <p:spPr>
          <a:xfrm>
            <a:off x="4733730" y="1908881"/>
            <a:ext cx="0" cy="356400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0E231D11-077E-4866-8E6D-6574187C5101}"/>
              </a:ext>
            </a:extLst>
          </p:cNvPr>
          <p:cNvCxnSpPr/>
          <p:nvPr/>
        </p:nvCxnSpPr>
        <p:spPr>
          <a:xfrm>
            <a:off x="4889240" y="2620647"/>
            <a:ext cx="0" cy="285223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42AE88B1-2F98-4563-A269-6DD1248E1D59}"/>
              </a:ext>
            </a:extLst>
          </p:cNvPr>
          <p:cNvCxnSpPr/>
          <p:nvPr/>
        </p:nvCxnSpPr>
        <p:spPr>
          <a:xfrm flipV="1">
            <a:off x="5044750" y="5083310"/>
            <a:ext cx="0" cy="39600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56F8164-A9B7-49CA-A271-A84BA7A204FB}"/>
              </a:ext>
            </a:extLst>
          </p:cNvPr>
          <p:cNvSpPr txBox="1"/>
          <p:nvPr/>
        </p:nvSpPr>
        <p:spPr>
          <a:xfrm>
            <a:off x="2763320" y="3426485"/>
            <a:ext cx="151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ru-RU" sz="3600" b="1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FAC3F817-C946-4477-B336-35A6C976B726}"/>
              </a:ext>
            </a:extLst>
          </p:cNvPr>
          <p:cNvCxnSpPr/>
          <p:nvPr/>
        </p:nvCxnSpPr>
        <p:spPr>
          <a:xfrm>
            <a:off x="6345674" y="3038736"/>
            <a:ext cx="4789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2644F219-5B01-466C-B5A0-7CA19683D5C3}"/>
              </a:ext>
            </a:extLst>
          </p:cNvPr>
          <p:cNvCxnSpPr/>
          <p:nvPr/>
        </p:nvCxnSpPr>
        <p:spPr>
          <a:xfrm>
            <a:off x="6345673" y="3260999"/>
            <a:ext cx="4789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18E6020C-8550-4EDA-B364-F466A7546F5D}"/>
              </a:ext>
            </a:extLst>
          </p:cNvPr>
          <p:cNvCxnSpPr/>
          <p:nvPr/>
        </p:nvCxnSpPr>
        <p:spPr>
          <a:xfrm>
            <a:off x="6345673" y="3454505"/>
            <a:ext cx="4789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C1FA5A2C-5AF7-4EC1-B65F-B002609E5B31}"/>
              </a:ext>
            </a:extLst>
          </p:cNvPr>
          <p:cNvCxnSpPr/>
          <p:nvPr/>
        </p:nvCxnSpPr>
        <p:spPr>
          <a:xfrm>
            <a:off x="6345671" y="3662640"/>
            <a:ext cx="478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id="{6E27222D-8776-4AE0-9C5D-872881104A4B}"/>
              </a:ext>
            </a:extLst>
          </p:cNvPr>
          <p:cNvCxnSpPr/>
          <p:nvPr/>
        </p:nvCxnSpPr>
        <p:spPr>
          <a:xfrm>
            <a:off x="6345671" y="3879851"/>
            <a:ext cx="4789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38ABE0B-2466-40B3-BD50-84935F2CB835}"/>
              </a:ext>
            </a:extLst>
          </p:cNvPr>
          <p:cNvSpPr txBox="1"/>
          <p:nvPr/>
        </p:nvSpPr>
        <p:spPr>
          <a:xfrm>
            <a:off x="6917094" y="2602233"/>
            <a:ext cx="378441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перекачка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СВЧ перекачка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2" name="Google Shape;166;p23">
            <a:extLst>
              <a:ext uri="{FF2B5EF4-FFF2-40B4-BE49-F238E27FC236}">
                <a16:creationId xmlns:a16="http://schemas.microsoft.com/office/drawing/2014/main" id="{6D297ADD-D5CE-42CB-98CE-E84170ED1773}"/>
              </a:ext>
            </a:extLst>
          </p:cNvPr>
          <p:cNvSpPr/>
          <p:nvPr/>
        </p:nvSpPr>
        <p:spPr>
          <a:xfrm>
            <a:off x="2541453" y="22789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80;p23">
            <a:extLst>
              <a:ext uri="{FF2B5EF4-FFF2-40B4-BE49-F238E27FC236}">
                <a16:creationId xmlns:a16="http://schemas.microsoft.com/office/drawing/2014/main" id="{BD28C63D-AF41-4980-BBD0-F20A7714BD55}"/>
              </a:ext>
            </a:extLst>
          </p:cNvPr>
          <p:cNvSpPr txBox="1"/>
          <p:nvPr/>
        </p:nvSpPr>
        <p:spPr>
          <a:xfrm>
            <a:off x="2714634" y="580311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переходов, используемых в эксперименте.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240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A0E032A-E4F4-4CC1-9657-BB6FFE5A4A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sp>
        <p:nvSpPr>
          <p:cNvPr id="3" name="Google Shape;179;p23">
            <a:extLst>
              <a:ext uri="{FF2B5EF4-FFF2-40B4-BE49-F238E27FC236}">
                <a16:creationId xmlns:a16="http://schemas.microsoft.com/office/drawing/2014/main" id="{2E179253-D4AE-4831-935C-1868DD4633B1}"/>
              </a:ext>
            </a:extLst>
          </p:cNvPr>
          <p:cNvSpPr txBox="1"/>
          <p:nvPr/>
        </p:nvSpPr>
        <p:spPr>
          <a:xfrm>
            <a:off x="3386716" y="943692"/>
            <a:ext cx="4539639" cy="447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в состояние ∣F = 1⟩ использовался переход ∣F = 2⟩ → ∣F’ = 2⟩.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атомов в немагнитное состояние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∣F = 1⟩ → ∣F’ = 0⟩.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</a:t>
            </a:r>
            <a:r>
              <a:rPr lang="en-US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65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102854" y="5153958"/>
            <a:ext cx="11673864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Оптическая схема формирования лазерного излучения, используемого для лазерного охлаждения и пленения атомов рубидия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FFL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цикл с заблокированной частотой,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PD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быстрый фотодиод.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72B8D4-50E3-459F-AED6-EDF0CDE91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1101" y="833967"/>
            <a:ext cx="8168499" cy="4433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58897" y="712882"/>
            <a:ext cx="4913700" cy="354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формирования лазерного излучения, используемого для лазерного охлаждение и пленения атомов рубидия: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на основе лазерной системы Toptica DL pro с выходной мощность более 1 Вт и длиной излучения около 780.24 нм.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формирования охлаждающих пучков излучение на выходе из лазерной системы дважды проходит через АОМ для создания отстройки, контролируемой во времени.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Перекачивающее излучение формировалось с помощью ЭОМ. Импульсы этого излучения формировались с помощью АОМ.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Сдувающий» пучок формировался с помощью АОМ с частотой, равной частоте перехода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2⟩ → ∣F’ = 3⟩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050947" y="4137012"/>
            <a:ext cx="43296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данной схемы по сравнению с предыдущей установкой:</a:t>
            </a:r>
            <a:b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возможность независимого контроля частоты охлаждающего/перекачивающего и т.д. излучения;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АОМ в схеме стабилизации частоты: отсутствие паразитной частотной модуляции в излучении лазера, отсутствие паразитной амплитудной модуляции пробного пучка = улучшена эффективность стабилизации частоты.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Исключен волоконный смеситель, приводящий к паразитным флуктуациям в поляризации охлаждающих пучков.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7030619" y="-17106"/>
            <a:ext cx="5579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справа представлена схема формирования лазерного излучения, используемая для осуществления двухфотонных Рамановских переходов в атомном интерферометре.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65550" y="0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 разработана и реализована оптическая схема формирования лазерного излучения, используемого для лазерного охлаждения и пленения атомов рубидия, в чем я принимал свое непосредственное участие.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6926419" y="861282"/>
            <a:ext cx="450668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оптической схеме b излучение рамановского пучка I1 с частотой излучения ω1 генерировалось волоконной лазерной системой: лазер Precilasers с λ = 1560 нм; усилитель/удвоитель частоты EYLSA Keopsys).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Излучение пучка I2 с частотой ω2 формировалось спомощью фазового электрооптического модулятора (ЭОМ) - положительная полоса первого порядка. Отношение интенсивностей рамановских пучков I1/I2 и отстройка δω контролируется мощностью и частотой СВЧ-генератора соответственно.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Импульсы рамановского излучения формировались с помощью акустооптического модулятора (АОМ) и доставлялись к вакуумной камере через одномодовое волокно и колиматор с сохранением поляризации.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953208" y="5316316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пучки (фиолетовые), пробный пучок (жёлтый), оптика (коллиматоры,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зеркала,линзы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347656" y="1166400"/>
            <a:ext cx="5628000" cy="319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 состоит из: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Вакуумной камеры в форме октагон, с 10 окнами для ввода излучения.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Трёх пар взаимно ортогональных встречных пучков с круговой поляризацией, осуществляющих охлаждение и пленение атомов, а также вместе с охлаждающими пучками в вакуумную камеру попадает излучение накачки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 катушек в конфигурации анти-Гельмгольца, создающих квадрупольное магнитное поле для работы МОТ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Наружных катушек, компенсирующих остаточное магнитное поле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пучка, используемого для селекции атомов по состояниям, скоростям, и для интерферометрии.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Видеокамеры, используемой для регистрации излучения.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6836" y="1402318"/>
            <a:ext cx="3422469" cy="349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0FC236-512A-4E30-90F3-1F06253DE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280" y="1402318"/>
            <a:ext cx="5013556" cy="3674402"/>
          </a:xfrm>
          <a:prstGeom prst="rect">
            <a:avLst/>
          </a:prstGeom>
        </p:spPr>
      </p:pic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49327" y="4964297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Изображение с камеры.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97506" y="4966802"/>
            <a:ext cx="43295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Зависимость сигнала от частоты для одного из блоков пикселей видеокамеры.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5">
            <a:alphaModFix/>
          </a:blip>
          <a:srcRect l="42877" t="43810" r="37156" b="27255"/>
          <a:stretch/>
        </p:blipFill>
        <p:spPr>
          <a:xfrm>
            <a:off x="595344" y="1866563"/>
            <a:ext cx="245745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89649" y="2240109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933207" y="2835887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1153782" y="2699382"/>
            <a:ext cx="323714" cy="36377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8936421" y="4958488"/>
            <a:ext cx="23454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установки в 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897075" y="624565"/>
            <a:ext cx="230178" cy="4283235"/>
          </a:xfrm>
          <a:prstGeom prst="curvedConnector4">
            <a:avLst>
              <a:gd name="adj1" fmla="val -99314"/>
              <a:gd name="adj2" fmla="val 5144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739979" y="2199946"/>
            <a:ext cx="254703" cy="1156996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rot="10800000" flipH="1">
            <a:off x="2220686" y="2699382"/>
            <a:ext cx="1441200" cy="254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946919" y="136525"/>
            <a:ext cx="58867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 магнитного поля приводит к снижению эффективности лазерного охлаждения и уменьшение контраста сигнала атомного интерферометра.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градиент магнитного поля также оказывает сильной влияние близкое расположение ионного насоса к вакуумной камере.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 Видимое контролируемое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расщепление создавалось постоянным магнитным полем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резонансов происходила путём измерения оптической плотность атомов в ∣F = 2⟩ методом флуоресценции.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 постоянного магнитного поля, создаваемого компенсационными катушками, и диапазон СВЧ сканирования подбирались так, чтобы регистрировать только три линии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– основную немагнитную и две боковые.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значение частотного расщепления резонансов можно определить величину магнитного поля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пространственного измерения градиента магнитного поля использовался сигнал с каждого пикселя видеокамеры, и для увеличения точности пиксели объединялись в блоки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подсчёта величины магнитного поля и градиента магнитного поля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мной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 научным руководством была написана программа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48381" y="5398076"/>
            <a:ext cx="7632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неоднородности магнитного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поля.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охлаждения,</a:t>
            </a:r>
            <a:r>
              <a:rPr lang="en-US" sz="16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А также и на шум в атомном интерферометре, что планируется экспериментально проверить в дальнейшем.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492326" y="4043266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отсутствии ионного насоса и компенсации.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1119639" y="1018142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2.6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870869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2.4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410669" y="4042106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 и использование постоянного компенсационного магнита.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391" y="1323916"/>
            <a:ext cx="2918471" cy="27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18" y="1325661"/>
            <a:ext cx="2918471" cy="271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2939" y="1323916"/>
            <a:ext cx="3065214" cy="27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383037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1.3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7866935" y="4042106"/>
            <a:ext cx="319445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72C99A-3050-4DEF-BC91-EFF3798074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986"/>
          <a:stretch/>
        </p:blipFill>
        <p:spPr>
          <a:xfrm>
            <a:off x="11153305" y="838768"/>
            <a:ext cx="891765" cy="4822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измерения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температуры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корректировки градиента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239;p32">
            <a:extLst>
              <a:ext uri="{FF2B5EF4-FFF2-40B4-BE49-F238E27FC236}">
                <a16:creationId xmlns:a16="http://schemas.microsoft.com/office/drawing/2014/main" id="{F1B9D5E0-C8C1-45FF-ABEC-46AD5018AC39}"/>
              </a:ext>
            </a:extLst>
          </p:cNvPr>
          <p:cNvSpPr txBox="1"/>
          <p:nvPr/>
        </p:nvSpPr>
        <p:spPr>
          <a:xfrm>
            <a:off x="1704367" y="4490200"/>
            <a:ext cx="37260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Данные измерения температуры после субдоплеровского охлаждения.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F1C18-C1FC-4319-A5FF-2A4AD0BD76F5}"/>
              </a:ext>
            </a:extLst>
          </p:cNvPr>
          <p:cNvSpPr txBox="1"/>
          <p:nvPr/>
        </p:nvSpPr>
        <p:spPr>
          <a:xfrm>
            <a:off x="7043723" y="1373199"/>
            <a:ext cx="421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Time-of-flight: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0344F-92AE-4F6F-9CFA-75D6DE86BD31}"/>
              </a:ext>
            </a:extLst>
          </p:cNvPr>
          <p:cNvSpPr txBox="1"/>
          <p:nvPr/>
        </p:nvSpPr>
        <p:spPr>
          <a:xfrm>
            <a:off x="7043723" y="2550138"/>
            <a:ext cx="3282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стандартное отклонение пространственного распределения облака атомов.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FC1E35-C950-434F-BD76-4DEB320D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562" y="1399022"/>
            <a:ext cx="4111005" cy="30361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CE95E7-AB5F-4BEB-8EC1-E5C93FE915F7}"/>
                  </a:ext>
                </a:extLst>
              </p:cNvPr>
              <p:cNvSpPr txBox="1"/>
              <p:nvPr/>
            </p:nvSpPr>
            <p:spPr>
              <a:xfrm>
                <a:off x="7119034" y="1990901"/>
                <a:ext cx="1750672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6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600" i="1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CE95E7-AB5F-4BEB-8EC1-E5C93FE91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34" y="1990901"/>
                <a:ext cx="1750672" cy="467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>
          <a:xfrm>
            <a:off x="8549006" y="6336921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 dirty="0"/>
          </a:p>
        </p:txBody>
      </p:sp>
      <p:sp>
        <p:nvSpPr>
          <p:cNvPr id="3" name="Google Shape;153;p22"/>
          <p:cNvSpPr/>
          <p:nvPr/>
        </p:nvSpPr>
        <p:spPr>
          <a:xfrm>
            <a:off x="2477137" y="31169"/>
            <a:ext cx="6910755" cy="68456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01746" y="1383643"/>
            <a:ext cx="1934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2795" y="4380523"/>
            <a:ext cx="14118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6098357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60780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714007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7661546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817535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6607808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7140071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7657192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88608" y="1661936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88608" y="2275491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49671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466196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7590837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7049671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7590836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508506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8132001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977052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727112" y="884269"/>
            <a:ext cx="267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Перекачка в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2, m=0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СВЧ излучением</a:t>
            </a: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7305534" y="1930003"/>
            <a:ext cx="585" cy="4010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6173806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6690792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7741683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8258669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97" name="Прямая соединительная линия 96"/>
          <p:cNvCxnSpPr/>
          <p:nvPr/>
        </p:nvCxnSpPr>
        <p:spPr>
          <a:xfrm>
            <a:off x="9080229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/>
        </p:nvCxnSpPr>
        <p:spPr>
          <a:xfrm>
            <a:off x="9589680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/>
        </p:nvCxnSpPr>
        <p:spPr>
          <a:xfrm>
            <a:off x="1012194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>
            <a:off x="1064341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/>
          <p:nvPr/>
        </p:nvCxnSpPr>
        <p:spPr>
          <a:xfrm>
            <a:off x="1115722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/>
        </p:nvCxnSpPr>
        <p:spPr>
          <a:xfrm>
            <a:off x="9589680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/>
          <p:nvPr/>
        </p:nvCxnSpPr>
        <p:spPr>
          <a:xfrm>
            <a:off x="10121943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/>
        </p:nvCxnSpPr>
        <p:spPr>
          <a:xfrm>
            <a:off x="10639064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031543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08" name="TextBox 107"/>
          <p:cNvSpPr txBox="1"/>
          <p:nvPr/>
        </p:nvSpPr>
        <p:spPr>
          <a:xfrm>
            <a:off x="9448068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10572709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0" name="TextBox 109"/>
          <p:cNvSpPr txBox="1"/>
          <p:nvPr/>
        </p:nvSpPr>
        <p:spPr>
          <a:xfrm>
            <a:off x="10031543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11" name="TextBox 110"/>
          <p:cNvSpPr txBox="1"/>
          <p:nvPr/>
        </p:nvSpPr>
        <p:spPr>
          <a:xfrm>
            <a:off x="10572708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2" name="TextBox 111"/>
          <p:cNvSpPr txBox="1"/>
          <p:nvPr/>
        </p:nvSpPr>
        <p:spPr>
          <a:xfrm>
            <a:off x="9490378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11113873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14" name="TextBox 113"/>
          <p:cNvSpPr txBox="1"/>
          <p:nvPr/>
        </p:nvSpPr>
        <p:spPr>
          <a:xfrm>
            <a:off x="8958924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15" name="TextBox 114"/>
          <p:cNvSpPr txBox="1"/>
          <p:nvPr/>
        </p:nvSpPr>
        <p:spPr>
          <a:xfrm>
            <a:off x="8698219" y="882914"/>
            <a:ext cx="317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Удаление атомов в состоянии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F=2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оптическим излучением</a:t>
            </a:r>
          </a:p>
        </p:txBody>
      </p:sp>
      <p:sp>
        <p:nvSpPr>
          <p:cNvPr id="117" name="Овал 116"/>
          <p:cNvSpPr/>
          <p:nvPr/>
        </p:nvSpPr>
        <p:spPr>
          <a:xfrm>
            <a:off x="9155678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9672664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9" name="Овал 118"/>
          <p:cNvSpPr/>
          <p:nvPr/>
        </p:nvSpPr>
        <p:spPr>
          <a:xfrm>
            <a:off x="10723555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11240541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1" name="Овал 120"/>
          <p:cNvSpPr/>
          <p:nvPr/>
        </p:nvSpPr>
        <p:spPr>
          <a:xfrm>
            <a:off x="10205909" y="2342694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27" name="Прямая со стрелкой 126"/>
          <p:cNvCxnSpPr/>
          <p:nvPr/>
        </p:nvCxnSpPr>
        <p:spPr>
          <a:xfrm flipH="1" flipV="1">
            <a:off x="9146390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 flipH="1" flipV="1">
            <a:off x="9662836" y="164408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 flipH="1" flipV="1">
            <a:off x="10702531" y="165075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 flipH="1" flipV="1">
            <a:off x="11229533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>
            <a:extLst>
              <a:ext uri="{FF2B5EF4-FFF2-40B4-BE49-F238E27FC236}">
                <a16:creationId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6277081" y="4217766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5292040" y="4060864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7A2DEED-DC62-49B3-814C-74DA5E975204}"/>
              </a:ext>
            </a:extLst>
          </p:cNvPr>
          <p:cNvSpPr txBox="1"/>
          <p:nvPr/>
        </p:nvSpPr>
        <p:spPr>
          <a:xfrm>
            <a:off x="11146141" y="2508231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Прямая со стрелкой 156"/>
          <p:cNvCxnSpPr/>
          <p:nvPr/>
        </p:nvCxnSpPr>
        <p:spPr>
          <a:xfrm flipH="1" flipV="1">
            <a:off x="7217809" y="4279983"/>
            <a:ext cx="7639" cy="836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/>
          <p:nvPr/>
        </p:nvCxnSpPr>
        <p:spPr>
          <a:xfrm>
            <a:off x="7494268" y="4279983"/>
            <a:ext cx="0" cy="150671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Прямоугольник 159"/>
          <p:cNvSpPr/>
          <p:nvPr/>
        </p:nvSpPr>
        <p:spPr>
          <a:xfrm>
            <a:off x="5313547" y="3593031"/>
            <a:ext cx="3411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Прямая соединительная линия 160"/>
          <p:cNvCxnSpPr/>
          <p:nvPr/>
        </p:nvCxnSpPr>
        <p:spPr>
          <a:xfrm>
            <a:off x="6001789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Прямая соединительная линия 161"/>
          <p:cNvCxnSpPr/>
          <p:nvPr/>
        </p:nvCxnSpPr>
        <p:spPr>
          <a:xfrm>
            <a:off x="6511240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Прямая соединительная линия 162"/>
          <p:cNvCxnSpPr/>
          <p:nvPr/>
        </p:nvCxnSpPr>
        <p:spPr>
          <a:xfrm>
            <a:off x="704350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Прямая соединительная линия 163"/>
          <p:cNvCxnSpPr/>
          <p:nvPr/>
        </p:nvCxnSpPr>
        <p:spPr>
          <a:xfrm>
            <a:off x="7564978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Прямая соединительная линия 164"/>
          <p:cNvCxnSpPr/>
          <p:nvPr/>
        </p:nvCxnSpPr>
        <p:spPr>
          <a:xfrm>
            <a:off x="807878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Прямая соединительная линия 165"/>
          <p:cNvCxnSpPr/>
          <p:nvPr/>
        </p:nvCxnSpPr>
        <p:spPr>
          <a:xfrm>
            <a:off x="6511240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Прямая соединительная линия 166"/>
          <p:cNvCxnSpPr/>
          <p:nvPr/>
        </p:nvCxnSpPr>
        <p:spPr>
          <a:xfrm>
            <a:off x="7043503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Прямая соединительная линия 167"/>
          <p:cNvCxnSpPr/>
          <p:nvPr/>
        </p:nvCxnSpPr>
        <p:spPr>
          <a:xfrm>
            <a:off x="7560624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292040" y="5123519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5292040" y="5737074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6953103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2" name="TextBox 171"/>
          <p:cNvSpPr txBox="1"/>
          <p:nvPr/>
        </p:nvSpPr>
        <p:spPr>
          <a:xfrm>
            <a:off x="6369628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3" name="TextBox 172"/>
          <p:cNvSpPr txBox="1"/>
          <p:nvPr/>
        </p:nvSpPr>
        <p:spPr>
          <a:xfrm>
            <a:off x="7494269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6935445" y="527646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5" name="TextBox 174"/>
          <p:cNvSpPr txBox="1"/>
          <p:nvPr/>
        </p:nvSpPr>
        <p:spPr>
          <a:xfrm>
            <a:off x="7494268" y="485988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6" name="TextBox 175"/>
          <p:cNvSpPr txBox="1"/>
          <p:nvPr/>
        </p:nvSpPr>
        <p:spPr>
          <a:xfrm>
            <a:off x="6411938" y="485928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8035433" y="4859285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78" name="TextBox 177"/>
          <p:cNvSpPr txBox="1"/>
          <p:nvPr/>
        </p:nvSpPr>
        <p:spPr>
          <a:xfrm>
            <a:off x="5880484" y="485928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85" name="Овал 184"/>
          <p:cNvSpPr/>
          <p:nvPr/>
        </p:nvSpPr>
        <p:spPr>
          <a:xfrm>
            <a:off x="7224037" y="2345279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2" name="Овал 191"/>
          <p:cNvSpPr/>
          <p:nvPr/>
        </p:nvSpPr>
        <p:spPr>
          <a:xfrm>
            <a:off x="659020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3" name="Овал 192"/>
          <p:cNvSpPr/>
          <p:nvPr/>
        </p:nvSpPr>
        <p:spPr>
          <a:xfrm>
            <a:off x="7122467" y="582350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4" name="Овал 193"/>
          <p:cNvSpPr/>
          <p:nvPr/>
        </p:nvSpPr>
        <p:spPr>
          <a:xfrm>
            <a:off x="762827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10360208" y="4509831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8837055" y="4352070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Прямая соединительная линия 205"/>
          <p:cNvCxnSpPr/>
          <p:nvPr/>
        </p:nvCxnSpPr>
        <p:spPr>
          <a:xfrm>
            <a:off x="9831549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>
            <a:off x="10363812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Прямая соединительная линия 207"/>
          <p:cNvCxnSpPr/>
          <p:nvPr/>
        </p:nvCxnSpPr>
        <p:spPr>
          <a:xfrm>
            <a:off x="10880933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8857146" y="572978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0273412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12" name="TextBox 211"/>
          <p:cNvSpPr txBox="1"/>
          <p:nvPr/>
        </p:nvSpPr>
        <p:spPr>
          <a:xfrm>
            <a:off x="9689937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10814578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25" name="Овал 224"/>
          <p:cNvSpPr/>
          <p:nvPr/>
        </p:nvSpPr>
        <p:spPr>
          <a:xfrm>
            <a:off x="10442776" y="580757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228" name="Прямая со стрелкой 227"/>
          <p:cNvCxnSpPr/>
          <p:nvPr/>
        </p:nvCxnSpPr>
        <p:spPr>
          <a:xfrm flipV="1">
            <a:off x="10025920" y="4651209"/>
            <a:ext cx="391188" cy="10772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рямая со стрелкой 228"/>
          <p:cNvCxnSpPr/>
          <p:nvPr/>
        </p:nvCxnSpPr>
        <p:spPr>
          <a:xfrm flipH="1" flipV="1">
            <a:off x="10679254" y="4651208"/>
            <a:ext cx="322441" cy="10832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10538179" y="4651208"/>
            <a:ext cx="20004" cy="1077249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10766536" y="432546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247" name="Прямоугольник 246"/>
          <p:cNvSpPr/>
          <p:nvPr/>
        </p:nvSpPr>
        <p:spPr>
          <a:xfrm>
            <a:off x="9482289" y="3492204"/>
            <a:ext cx="2120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753617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>
            <a:extLst>
              <a:ext uri="{FF2B5EF4-FFF2-40B4-BE49-F238E27FC236}">
                <a16:creationId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9643493" y="4174961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7038310" y="4531459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5288723" y="4371663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Прямая соединительная линия 123"/>
          <p:cNvCxnSpPr/>
          <p:nvPr/>
        </p:nvCxnSpPr>
        <p:spPr>
          <a:xfrm>
            <a:off x="874708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>
            <a:off x="1384159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/>
          <p:cNvCxnSpPr/>
          <p:nvPr/>
        </p:nvCxnSpPr>
        <p:spPr>
          <a:xfrm>
            <a:off x="191642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Прямая соединительная линия 130"/>
          <p:cNvCxnSpPr/>
          <p:nvPr/>
        </p:nvCxnSpPr>
        <p:spPr>
          <a:xfrm>
            <a:off x="2437897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131"/>
          <p:cNvCxnSpPr/>
          <p:nvPr/>
        </p:nvCxnSpPr>
        <p:spPr>
          <a:xfrm>
            <a:off x="295170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единительная линия 132"/>
          <p:cNvCxnSpPr/>
          <p:nvPr/>
        </p:nvCxnSpPr>
        <p:spPr>
          <a:xfrm>
            <a:off x="1384159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Прямая соединительная линия 133"/>
          <p:cNvCxnSpPr/>
          <p:nvPr/>
        </p:nvCxnSpPr>
        <p:spPr>
          <a:xfrm>
            <a:off x="1916422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Прямая соединительная линия 134"/>
          <p:cNvCxnSpPr/>
          <p:nvPr/>
        </p:nvCxnSpPr>
        <p:spPr>
          <a:xfrm>
            <a:off x="2433543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64959" y="2549243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64959" y="3162798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826022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39" name="TextBox 138"/>
          <p:cNvSpPr txBox="1"/>
          <p:nvPr/>
        </p:nvSpPr>
        <p:spPr>
          <a:xfrm>
            <a:off x="1242547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2367188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1826022" y="23997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44" name="TextBox 143"/>
          <p:cNvSpPr txBox="1"/>
          <p:nvPr/>
        </p:nvSpPr>
        <p:spPr>
          <a:xfrm>
            <a:off x="2367187" y="239972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6" name="TextBox 145"/>
          <p:cNvSpPr txBox="1"/>
          <p:nvPr/>
        </p:nvSpPr>
        <p:spPr>
          <a:xfrm>
            <a:off x="1284857" y="23991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7" name="TextBox 146"/>
          <p:cNvSpPr txBox="1"/>
          <p:nvPr/>
        </p:nvSpPr>
        <p:spPr>
          <a:xfrm>
            <a:off x="2908352" y="2399121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48" name="TextBox 147"/>
          <p:cNvSpPr txBox="1"/>
          <p:nvPr/>
        </p:nvSpPr>
        <p:spPr>
          <a:xfrm>
            <a:off x="753403" y="239912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49" name="TextBox 148"/>
          <p:cNvSpPr txBox="1"/>
          <p:nvPr/>
        </p:nvSpPr>
        <p:spPr>
          <a:xfrm>
            <a:off x="197669" y="3860805"/>
            <a:ext cx="345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Начальное состояние системы после МОЛ и Охлаждения</a:t>
            </a:r>
          </a:p>
        </p:txBody>
      </p:sp>
      <p:sp>
        <p:nvSpPr>
          <p:cNvPr id="151" name="Овал 150"/>
          <p:cNvSpPr/>
          <p:nvPr/>
        </p:nvSpPr>
        <p:spPr>
          <a:xfrm>
            <a:off x="950157" y="273568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2" name="Овал 151"/>
          <p:cNvSpPr/>
          <p:nvPr/>
        </p:nvSpPr>
        <p:spPr>
          <a:xfrm>
            <a:off x="1467143" y="2741360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3" name="Овал 152"/>
          <p:cNvSpPr/>
          <p:nvPr/>
        </p:nvSpPr>
        <p:spPr>
          <a:xfrm>
            <a:off x="2518034" y="274310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4" name="Овал 153"/>
          <p:cNvSpPr/>
          <p:nvPr/>
        </p:nvSpPr>
        <p:spPr>
          <a:xfrm>
            <a:off x="3035020" y="273127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6" name="Овал 155"/>
          <p:cNvSpPr/>
          <p:nvPr/>
        </p:nvSpPr>
        <p:spPr>
          <a:xfrm>
            <a:off x="1973787" y="273022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86" name="Прямая соединительная линия 185"/>
          <p:cNvCxnSpPr/>
          <p:nvPr/>
        </p:nvCxnSpPr>
        <p:spPr>
          <a:xfrm>
            <a:off x="5179112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я соединительная линия 186"/>
          <p:cNvCxnSpPr/>
          <p:nvPr/>
        </p:nvCxnSpPr>
        <p:spPr>
          <a:xfrm flipV="1">
            <a:off x="4343760" y="3306568"/>
            <a:ext cx="7715008" cy="33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8822582" y="4021716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9" name="Прямая соединительная линия 188"/>
          <p:cNvCxnSpPr/>
          <p:nvPr/>
        </p:nvCxnSpPr>
        <p:spPr>
          <a:xfrm>
            <a:off x="9333378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Прямая соединительная линия 189"/>
          <p:cNvCxnSpPr/>
          <p:nvPr/>
        </p:nvCxnSpPr>
        <p:spPr>
          <a:xfrm>
            <a:off x="9842829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/>
          <p:nvPr/>
        </p:nvCxnSpPr>
        <p:spPr>
          <a:xfrm>
            <a:off x="1037509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Прямая соединительная линия 194"/>
          <p:cNvCxnSpPr/>
          <p:nvPr/>
        </p:nvCxnSpPr>
        <p:spPr>
          <a:xfrm>
            <a:off x="10896567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Прямая соединительная линия 197"/>
          <p:cNvCxnSpPr/>
          <p:nvPr/>
        </p:nvCxnSpPr>
        <p:spPr>
          <a:xfrm>
            <a:off x="1141037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0302350" y="486267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00" name="TextBox 199"/>
          <p:cNvSpPr txBox="1"/>
          <p:nvPr/>
        </p:nvSpPr>
        <p:spPr>
          <a:xfrm>
            <a:off x="10825857" y="4863279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9743527" y="486268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02" name="TextBox 201"/>
          <p:cNvSpPr txBox="1"/>
          <p:nvPr/>
        </p:nvSpPr>
        <p:spPr>
          <a:xfrm>
            <a:off x="11367022" y="4862679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203" name="TextBox 202"/>
          <p:cNvSpPr txBox="1"/>
          <p:nvPr/>
        </p:nvSpPr>
        <p:spPr>
          <a:xfrm>
            <a:off x="9212073" y="4862678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05E9B0E-A113-43D4-967F-63DA112AC302}"/>
              </a:ext>
            </a:extLst>
          </p:cNvPr>
          <p:cNvSpPr txBox="1"/>
          <p:nvPr/>
        </p:nvSpPr>
        <p:spPr>
          <a:xfrm>
            <a:off x="200527" y="6462173"/>
            <a:ext cx="4635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*A. Peters, K.Y. Chung, S. Chu,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Metrologia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38.1, 25 (2001).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50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 dirty="0"/>
          </a:p>
        </p:txBody>
      </p:sp>
      <p:sp>
        <p:nvSpPr>
          <p:cNvPr id="3" name="Google Shape;153;p22">
            <a:extLst>
              <a:ext uri="{FF2B5EF4-FFF2-40B4-BE49-F238E27FC236}">
                <a16:creationId xmlns:a16="http://schemas.microsoft.com/office/drawing/2014/main" id="{5C8D614A-9781-4EA2-8EF1-9A6EB749F649}"/>
              </a:ext>
            </a:extLst>
          </p:cNvPr>
          <p:cNvSpPr/>
          <p:nvPr/>
        </p:nvSpPr>
        <p:spPr>
          <a:xfrm>
            <a:off x="2640622" y="1365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660A8-1C73-4B54-BAD7-7297626326D5}"/>
              </a:ext>
            </a:extLst>
          </p:cNvPr>
          <p:cNvSpPr txBox="1"/>
          <p:nvPr/>
        </p:nvSpPr>
        <p:spPr>
          <a:xfrm>
            <a:off x="6352488" y="1403458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62941-6B49-4D25-9513-8AC8C02180AC}"/>
              </a:ext>
            </a:extLst>
          </p:cNvPr>
          <p:cNvSpPr txBox="1"/>
          <p:nvPr/>
        </p:nvSpPr>
        <p:spPr>
          <a:xfrm>
            <a:off x="6352488" y="2136905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E0AAB-A303-495E-9EDD-4E7144FA1C42}"/>
              </a:ext>
            </a:extLst>
          </p:cNvPr>
          <p:cNvSpPr txBox="1"/>
          <p:nvPr/>
        </p:nvSpPr>
        <p:spPr>
          <a:xfrm>
            <a:off x="6352488" y="2699359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8E7B88-E2FF-4655-B5D7-D0558B1BF06F}"/>
              </a:ext>
            </a:extLst>
          </p:cNvPr>
          <p:cNvSpPr txBox="1"/>
          <p:nvPr/>
        </p:nvSpPr>
        <p:spPr>
          <a:xfrm>
            <a:off x="1169001" y="3310013"/>
            <a:ext cx="57541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нижних уровней,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рассеяния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нижним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верхним уровнем,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относительная скорость перехода,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Γ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естественная ширина линии,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интенсивность насыщения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 </a:t>
            </a:r>
          </a:p>
          <a:p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Δ</a:t>
            </a:r>
            <a:r>
              <a:rPr lang="en-US" baseline="-25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отстройка от перехода.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174D6D-26D1-4FAE-AC4A-DBE0A0CD6B2D}"/>
              </a:ext>
            </a:extLst>
          </p:cNvPr>
          <p:cNvSpPr txBox="1"/>
          <p:nvPr/>
        </p:nvSpPr>
        <p:spPr>
          <a:xfrm>
            <a:off x="451075" y="6202461"/>
            <a:ext cx="6341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Atoneche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Kastberg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European Journal of Physics 38.4, 045703 (2017).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421659-E36C-406C-9A01-B8DC8FF723F7}"/>
                  </a:ext>
                </a:extLst>
              </p:cNvPr>
              <p:cNvSpPr txBox="1"/>
              <p:nvPr/>
            </p:nvSpPr>
            <p:spPr>
              <a:xfrm>
                <a:off x="1259409" y="1251558"/>
                <a:ext cx="4783104" cy="684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421659-E36C-406C-9A01-B8DC8FF72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09" y="1251558"/>
                <a:ext cx="4783104" cy="6847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20BCD-000A-4169-ADC5-A11663BA3047}"/>
                  </a:ext>
                </a:extLst>
              </p:cNvPr>
              <p:cNvSpPr txBox="1"/>
              <p:nvPr/>
            </p:nvSpPr>
            <p:spPr>
              <a:xfrm>
                <a:off x="1259409" y="2699359"/>
                <a:ext cx="1952073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𝑗𝑘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Г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baseline="-25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20BCD-000A-4169-ADC5-A11663BA3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09" y="2699359"/>
                <a:ext cx="1952073" cy="210507"/>
              </a:xfrm>
              <a:prstGeom prst="rect">
                <a:avLst/>
              </a:prstGeom>
              <a:blipFill>
                <a:blip r:embed="rId3"/>
                <a:stretch>
                  <a:fillRect l="-938" b="-38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2DDE01-D186-4BD1-98D1-E1FF8A0A6F08}"/>
                  </a:ext>
                </a:extLst>
              </p:cNvPr>
              <p:cNvSpPr txBox="1"/>
              <p:nvPr/>
            </p:nvSpPr>
            <p:spPr>
              <a:xfrm>
                <a:off x="1259409" y="2007715"/>
                <a:ext cx="3115084" cy="587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𝑗𝑘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𝑗𝑘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Г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𝐼𝑠𝑎𝑡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𝑠𝑎𝑡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+(2∆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Г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2DDE01-D186-4BD1-98D1-E1FF8A0A6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09" y="2007715"/>
                <a:ext cx="3115084" cy="587790"/>
              </a:xfrm>
              <a:prstGeom prst="rect">
                <a:avLst/>
              </a:prstGeom>
              <a:blipFill>
                <a:blip r:embed="rId4"/>
                <a:stretch>
                  <a:fillRect t="-2062" b="-113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41395B2-8D8F-44D5-8DBA-3D4EE986536D}"/>
              </a:ext>
            </a:extLst>
          </p:cNvPr>
          <p:cNvCxnSpPr>
            <a:cxnSpLocks/>
          </p:cNvCxnSpPr>
          <p:nvPr/>
        </p:nvCxnSpPr>
        <p:spPr>
          <a:xfrm>
            <a:off x="7675472" y="3309245"/>
            <a:ext cx="927946" cy="1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ABEF32-CCDD-4005-AA2F-0AA5D7FB1D40}"/>
              </a:ext>
            </a:extLst>
          </p:cNvPr>
          <p:cNvSpPr txBox="1"/>
          <p:nvPr/>
        </p:nvSpPr>
        <p:spPr>
          <a:xfrm>
            <a:off x="8061552" y="3417908"/>
            <a:ext cx="541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g1</a:t>
            </a:r>
            <a:endParaRPr lang="ru-RU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BE877E63-6CF4-428C-B5D9-CF466C6A9C10}"/>
              </a:ext>
            </a:extLst>
          </p:cNvPr>
          <p:cNvCxnSpPr>
            <a:cxnSpLocks/>
          </p:cNvCxnSpPr>
          <p:nvPr/>
        </p:nvCxnSpPr>
        <p:spPr>
          <a:xfrm>
            <a:off x="9243498" y="2821794"/>
            <a:ext cx="4944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B6166F5-920E-44F4-B858-BD1BE267CEBB}"/>
              </a:ext>
            </a:extLst>
          </p:cNvPr>
          <p:cNvSpPr txBox="1"/>
          <p:nvPr/>
        </p:nvSpPr>
        <p:spPr>
          <a:xfrm>
            <a:off x="9311232" y="2909866"/>
            <a:ext cx="622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g2</a:t>
            </a:r>
            <a:endParaRPr lang="ru-RU" dirty="0"/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A52F5078-EC77-4471-A2F4-A0A15AA11930}"/>
              </a:ext>
            </a:extLst>
          </p:cNvPr>
          <p:cNvCxnSpPr>
            <a:cxnSpLocks/>
          </p:cNvCxnSpPr>
          <p:nvPr/>
        </p:nvCxnSpPr>
        <p:spPr>
          <a:xfrm>
            <a:off x="8447631" y="1620378"/>
            <a:ext cx="4944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54C5138-A7CC-4D0B-938A-57FBD5D9AA12}"/>
              </a:ext>
            </a:extLst>
          </p:cNvPr>
          <p:cNvSpPr txBox="1"/>
          <p:nvPr/>
        </p:nvSpPr>
        <p:spPr>
          <a:xfrm>
            <a:off x="8478112" y="1317768"/>
            <a:ext cx="622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01585F4-0578-47BD-B30F-AE81C1A41381}"/>
              </a:ext>
            </a:extLst>
          </p:cNvPr>
          <p:cNvGrpSpPr/>
          <p:nvPr/>
        </p:nvGrpSpPr>
        <p:grpSpPr>
          <a:xfrm rot="1429140">
            <a:off x="7813803" y="1658872"/>
            <a:ext cx="695101" cy="1623907"/>
            <a:chOff x="9828421" y="3429000"/>
            <a:chExt cx="695101" cy="1623907"/>
          </a:xfrm>
        </p:grpSpPr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5F98E3B5-72BF-4253-ABD1-0DEDA4DBE52B}"/>
                </a:ext>
              </a:extLst>
            </p:cNvPr>
            <p:cNvCxnSpPr/>
            <p:nvPr/>
          </p:nvCxnSpPr>
          <p:spPr>
            <a:xfrm>
              <a:off x="10160000" y="4416213"/>
              <a:ext cx="0" cy="636694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551774E-ACBD-4010-B247-29D52F42B014}"/>
                    </a:ext>
                  </a:extLst>
                </p:cNvPr>
                <p:cNvSpPr txBox="1"/>
                <p:nvPr/>
              </p:nvSpPr>
              <p:spPr>
                <a:xfrm rot="20170860">
                  <a:off x="9828421" y="4065840"/>
                  <a:ext cx="69510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dirty="0">
                      <a:solidFill>
                        <a:srgbClr val="00B050"/>
                      </a:solidFill>
                    </a:rPr>
                    <a:t>Г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ru-RU" dirty="0">
                      <a:solidFill>
                        <a:srgbClr val="00B050"/>
                      </a:solidFill>
                    </a:rPr>
                    <a:t>11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551774E-ACBD-4010-B247-29D52F42B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70860">
                  <a:off x="9828421" y="4065840"/>
                  <a:ext cx="695101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632" t="-4000" b="-2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Прямая со стрелкой 49">
              <a:extLst>
                <a:ext uri="{FF2B5EF4-FFF2-40B4-BE49-F238E27FC236}">
                  <a16:creationId xmlns:a16="http://schemas.microsoft.com/office/drawing/2014/main" id="{98D7D6C3-84F5-4D85-91C5-8D11D31C65D4}"/>
                </a:ext>
              </a:extLst>
            </p:cNvPr>
            <p:cNvCxnSpPr/>
            <p:nvPr/>
          </p:nvCxnSpPr>
          <p:spPr>
            <a:xfrm>
              <a:off x="10160000" y="3429000"/>
              <a:ext cx="0" cy="636694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B41883CE-7274-4D06-8090-96A4F5B4BFC1}"/>
              </a:ext>
            </a:extLst>
          </p:cNvPr>
          <p:cNvGrpSpPr/>
          <p:nvPr/>
        </p:nvGrpSpPr>
        <p:grpSpPr>
          <a:xfrm rot="19720359">
            <a:off x="8954310" y="1619801"/>
            <a:ext cx="695101" cy="1192945"/>
            <a:chOff x="9873364" y="3429000"/>
            <a:chExt cx="695101" cy="1623907"/>
          </a:xfrm>
        </p:grpSpPr>
        <p:cxnSp>
          <p:nvCxnSpPr>
            <p:cNvPr id="53" name="Прямая со стрелкой 52">
              <a:extLst>
                <a:ext uri="{FF2B5EF4-FFF2-40B4-BE49-F238E27FC236}">
                  <a16:creationId xmlns:a16="http://schemas.microsoft.com/office/drawing/2014/main" id="{49A9ABDB-D633-4E25-8C12-D99A63A1FD3B}"/>
                </a:ext>
              </a:extLst>
            </p:cNvPr>
            <p:cNvCxnSpPr/>
            <p:nvPr/>
          </p:nvCxnSpPr>
          <p:spPr>
            <a:xfrm>
              <a:off x="10160000" y="4416213"/>
              <a:ext cx="0" cy="636694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B411CE1-5BDA-4AB3-9C11-B4DCAEDBB2F2}"/>
                    </a:ext>
                  </a:extLst>
                </p:cNvPr>
                <p:cNvSpPr txBox="1"/>
                <p:nvPr/>
              </p:nvSpPr>
              <p:spPr>
                <a:xfrm rot="1879641">
                  <a:off x="9873364" y="4025582"/>
                  <a:ext cx="695101" cy="4733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dirty="0">
                      <a:solidFill>
                        <a:srgbClr val="00B050"/>
                      </a:solidFill>
                    </a:rPr>
                    <a:t>Г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ru-RU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a14:m>
                  <a:r>
                    <a:rPr lang="ru-RU" dirty="0">
                      <a:solidFill>
                        <a:srgbClr val="00B050"/>
                      </a:solidFill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B411CE1-5BDA-4AB3-9C11-B4DCAEDBB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79641">
                  <a:off x="9873364" y="4025582"/>
                  <a:ext cx="695101" cy="473392"/>
                </a:xfrm>
                <a:prstGeom prst="rect">
                  <a:avLst/>
                </a:prstGeom>
                <a:blipFill>
                  <a:blip r:embed="rId6"/>
                  <a:stretch>
                    <a:fillRect l="-2632" t="-3509" b="-701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Прямая со стрелкой 55">
              <a:extLst>
                <a:ext uri="{FF2B5EF4-FFF2-40B4-BE49-F238E27FC236}">
                  <a16:creationId xmlns:a16="http://schemas.microsoft.com/office/drawing/2014/main" id="{4AEE34E7-50DF-4FE9-9DAB-BA965984D723}"/>
                </a:ext>
              </a:extLst>
            </p:cNvPr>
            <p:cNvCxnSpPr/>
            <p:nvPr/>
          </p:nvCxnSpPr>
          <p:spPr>
            <a:xfrm>
              <a:off x="10160000" y="3429000"/>
              <a:ext cx="0" cy="636694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7A341113-97A9-4AD7-B6EB-204C5FA0DEFF}"/>
              </a:ext>
            </a:extLst>
          </p:cNvPr>
          <p:cNvGrpSpPr/>
          <p:nvPr/>
        </p:nvGrpSpPr>
        <p:grpSpPr>
          <a:xfrm rot="11279419">
            <a:off x="8356430" y="1706482"/>
            <a:ext cx="695101" cy="1529262"/>
            <a:chOff x="9707278" y="3429000"/>
            <a:chExt cx="695101" cy="1623907"/>
          </a:xfrm>
        </p:grpSpPr>
        <p:cxnSp>
          <p:nvCxnSpPr>
            <p:cNvPr id="62" name="Прямая со стрелкой 61">
              <a:extLst>
                <a:ext uri="{FF2B5EF4-FFF2-40B4-BE49-F238E27FC236}">
                  <a16:creationId xmlns:a16="http://schemas.microsoft.com/office/drawing/2014/main" id="{CDD9F6EB-B5C5-4D4C-B0E1-FA02B19996A6}"/>
                </a:ext>
              </a:extLst>
            </p:cNvPr>
            <p:cNvCxnSpPr/>
            <p:nvPr/>
          </p:nvCxnSpPr>
          <p:spPr>
            <a:xfrm>
              <a:off x="10160000" y="4416213"/>
              <a:ext cx="0" cy="636694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A7A657C-A527-4B58-8AC7-34B017C145BA}"/>
                </a:ext>
              </a:extLst>
            </p:cNvPr>
            <p:cNvSpPr txBox="1"/>
            <p:nvPr/>
          </p:nvSpPr>
          <p:spPr>
            <a:xfrm rot="10320581">
              <a:off x="9707278" y="4135374"/>
              <a:ext cx="6951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</a:t>
              </a:r>
              <a:r>
                <a:rPr lang="ru-RU" dirty="0">
                  <a:solidFill>
                    <a:srgbClr val="FF0000"/>
                  </a:solidFill>
                </a:rPr>
                <a:t>11</a:t>
              </a:r>
            </a:p>
          </p:txBody>
        </p:sp>
        <p:cxnSp>
          <p:nvCxnSpPr>
            <p:cNvPr id="66" name="Прямая со стрелкой 65">
              <a:extLst>
                <a:ext uri="{FF2B5EF4-FFF2-40B4-BE49-F238E27FC236}">
                  <a16:creationId xmlns:a16="http://schemas.microsoft.com/office/drawing/2014/main" id="{E85ACD86-2581-4418-80D3-87A9DB3F927C}"/>
                </a:ext>
              </a:extLst>
            </p:cNvPr>
            <p:cNvCxnSpPr/>
            <p:nvPr/>
          </p:nvCxnSpPr>
          <p:spPr>
            <a:xfrm>
              <a:off x="10160000" y="3429000"/>
              <a:ext cx="0" cy="636694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olid"/>
              <a:headEnd type="stealth" w="lg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Google Shape;239;p32">
            <a:extLst>
              <a:ext uri="{FF2B5EF4-FFF2-40B4-BE49-F238E27FC236}">
                <a16:creationId xmlns:a16="http://schemas.microsoft.com/office/drawing/2014/main" id="{0B7D4B08-2F8A-43CF-A5A7-F0B45DBF91D0}"/>
              </a:ext>
            </a:extLst>
          </p:cNvPr>
          <p:cNvSpPr txBox="1"/>
          <p:nvPr/>
        </p:nvSpPr>
        <p:spPr>
          <a:xfrm>
            <a:off x="7076679" y="3752445"/>
            <a:ext cx="37260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Принципиальная схема оптической накачки в немагнитное состояние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03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3B7E6A7-7D69-4A45-8959-8F07AF9DE0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F243D-0F8A-4D9B-A106-386F0E470018}"/>
              </a:ext>
            </a:extLst>
          </p:cNvPr>
          <p:cNvSpPr txBox="1"/>
          <p:nvPr/>
        </p:nvSpPr>
        <p:spPr>
          <a:xfrm>
            <a:off x="1199296" y="801391"/>
            <a:ext cx="3569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(1) выполняется вдали от насыщения перехода, в таком случае распад сильно быстрее вынужденного поглощения и излучения, и поэтому два последних явления определяют динамику процесса накачки.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477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18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9"/>
            <a:ext cx="6910755" cy="451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Моделирования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BDE2DD-5A3D-45F3-9E8E-4EF530700877}"/>
              </a:ext>
            </a:extLst>
          </p:cNvPr>
          <p:cNvSpPr txBox="1"/>
          <p:nvPr/>
        </p:nvSpPr>
        <p:spPr>
          <a:xfrm>
            <a:off x="3382934" y="2484027"/>
            <a:ext cx="111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55E216-F34A-45B8-B6E8-AE2DBD4FC375}"/>
              </a:ext>
            </a:extLst>
          </p:cNvPr>
          <p:cNvSpPr txBox="1"/>
          <p:nvPr/>
        </p:nvSpPr>
        <p:spPr>
          <a:xfrm>
            <a:off x="8250522" y="2668693"/>
            <a:ext cx="111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7" name="Рисунок 486">
            <a:extLst>
              <a:ext uri="{FF2B5EF4-FFF2-40B4-BE49-F238E27FC236}">
                <a16:creationId xmlns:a16="http://schemas.microsoft.com/office/drawing/2014/main" id="{2B79D5ED-4871-482D-85F5-B48A721D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82" y="663623"/>
            <a:ext cx="4363235" cy="2005070"/>
          </a:xfrm>
          <a:prstGeom prst="rect">
            <a:avLst/>
          </a:prstGeom>
        </p:spPr>
      </p:pic>
      <p:pic>
        <p:nvPicPr>
          <p:cNvPr id="489" name="Рисунок 488">
            <a:extLst>
              <a:ext uri="{FF2B5EF4-FFF2-40B4-BE49-F238E27FC236}">
                <a16:creationId xmlns:a16="http://schemas.microsoft.com/office/drawing/2014/main" id="{83EA55AB-F60D-48F8-9FA2-9BA18842D0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44" t="12190"/>
          <a:stretch/>
        </p:blipFill>
        <p:spPr>
          <a:xfrm>
            <a:off x="2857804" y="872132"/>
            <a:ext cx="1800112" cy="1463204"/>
          </a:xfrm>
          <a:prstGeom prst="rect">
            <a:avLst/>
          </a:prstGeom>
        </p:spPr>
      </p:pic>
      <p:pic>
        <p:nvPicPr>
          <p:cNvPr id="491" name="Рисунок 490">
            <a:extLst>
              <a:ext uri="{FF2B5EF4-FFF2-40B4-BE49-F238E27FC236}">
                <a16:creationId xmlns:a16="http://schemas.microsoft.com/office/drawing/2014/main" id="{8484CAE8-6A90-440E-B1E2-A0F6665EE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770" y="2927543"/>
            <a:ext cx="3552214" cy="2403070"/>
          </a:xfrm>
          <a:prstGeom prst="rect">
            <a:avLst/>
          </a:prstGeom>
        </p:spPr>
      </p:pic>
      <p:pic>
        <p:nvPicPr>
          <p:cNvPr id="493" name="Рисунок 492">
            <a:extLst>
              <a:ext uri="{FF2B5EF4-FFF2-40B4-BE49-F238E27FC236}">
                <a16:creationId xmlns:a16="http://schemas.microsoft.com/office/drawing/2014/main" id="{B2CB972A-EB71-4534-BA81-09DA0FC42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505" y="2993741"/>
            <a:ext cx="3454362" cy="2336872"/>
          </a:xfrm>
          <a:prstGeom prst="rect">
            <a:avLst/>
          </a:prstGeom>
        </p:spPr>
      </p:pic>
      <p:sp>
        <p:nvSpPr>
          <p:cNvPr id="495" name="TextBox 494">
            <a:extLst>
              <a:ext uri="{FF2B5EF4-FFF2-40B4-BE49-F238E27FC236}">
                <a16:creationId xmlns:a16="http://schemas.microsoft.com/office/drawing/2014/main" id="{59D89966-52D3-48DF-A392-4672060C9AC6}"/>
              </a:ext>
            </a:extLst>
          </p:cNvPr>
          <p:cNvSpPr txBox="1"/>
          <p:nvPr/>
        </p:nvSpPr>
        <p:spPr>
          <a:xfrm>
            <a:off x="2973493" y="5413709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Рис. 1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Схема уровней и переходов в атоме </a:t>
            </a:r>
            <a:r>
              <a:rPr lang="ru-RU" sz="1400" b="0" i="0" u="none" strike="noStrike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Rb (D2 линия), используемых в процессе оптической накачки, (сверху) и соответствующие графики зависимости населенности атомов в немагнитных состояниях и температуры нагрева от длительности цикла оптической накачки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19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∣F = 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после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A2D9D1-C3B2-4FFB-BF6C-C46FCDD12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9"/>
          <a:stretch/>
        </p:blipFill>
        <p:spPr>
          <a:xfrm>
            <a:off x="3726238" y="1113452"/>
            <a:ext cx="4337813" cy="3141307"/>
          </a:xfrm>
          <a:prstGeom prst="rect">
            <a:avLst/>
          </a:prstGeom>
        </p:spPr>
      </p:pic>
      <p:sp>
        <p:nvSpPr>
          <p:cNvPr id="6" name="Google Shape;129;p4">
            <a:extLst>
              <a:ext uri="{FF2B5EF4-FFF2-40B4-BE49-F238E27FC236}">
                <a16:creationId xmlns:a16="http://schemas.microsoft.com/office/drawing/2014/main" id="{9F2F9449-A41F-4954-9C15-CD0224C4DE58}"/>
              </a:ext>
            </a:extLst>
          </p:cNvPr>
          <p:cNvSpPr txBox="1"/>
          <p:nvPr/>
        </p:nvSpPr>
        <p:spPr>
          <a:xfrm>
            <a:off x="3714513" y="4254759"/>
            <a:ext cx="476297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14. Зависимость населенности атомов до и после оптической накачки от отстройки относительно</a:t>
            </a:r>
          </a:p>
          <a:p>
            <a:pPr lvl="0" algn="ctr">
              <a:buSzPts val="1600"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часового перехода.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20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температуры до и после оптической накачки  в состояние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∣F = 1, m=0⟩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5A2298-D0D5-457A-ADD2-2EF4FEE9F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50"/>
          <a:stretch/>
        </p:blipFill>
        <p:spPr>
          <a:xfrm>
            <a:off x="2376667" y="1020147"/>
            <a:ext cx="6394108" cy="461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AE9D85-C58F-4E82-8CFA-F36F8F2CACC9}"/>
              </a:ext>
            </a:extLst>
          </p:cNvPr>
          <p:cNvSpPr txBox="1"/>
          <p:nvPr/>
        </p:nvSpPr>
        <p:spPr>
          <a:xfrm>
            <a:off x="2376667" y="5635475"/>
            <a:ext cx="697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15. Зависимости квадрата размера облака холодных атомов (1/e) от квадрата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свободного падения до и после оптической накачки в немагнитное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309388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58D0B99-2C89-44FF-AE45-915A5ABCA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21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id="{BAD9C47B-71AB-46CE-BFD8-D8D40FDA75A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влияния температуры на количество атомов после скоростной селекции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239;p32">
            <a:extLst>
              <a:ext uri="{FF2B5EF4-FFF2-40B4-BE49-F238E27FC236}">
                <a16:creationId xmlns:a16="http://schemas.microsoft.com/office/drawing/2014/main" id="{5778EE27-C06D-47AA-A5FB-C2CC5ECA2F11}"/>
              </a:ext>
            </a:extLst>
          </p:cNvPr>
          <p:cNvSpPr txBox="1"/>
          <p:nvPr/>
        </p:nvSpPr>
        <p:spPr>
          <a:xfrm>
            <a:off x="4159706" y="4427995"/>
            <a:ext cx="372605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Результат моделирования п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роцента оставшихся атомов после скоростной селекции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Рамановскими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 пучками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9230EC-A5E6-40F8-BCA8-26967B8D4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24" y="1407671"/>
            <a:ext cx="3850433" cy="286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24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Проведены измерения неоднородности магнитного поля и выполнено уменьшение градиента магнитного поля до величины ~1.3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мГс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/мм. Реализовано программное обеспечение для детектирования неоднородности магнитного поля.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Уменьшение неоднородности позволило уменьшить температуру облака после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сизифого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охлаждения с 6 до 2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</a:t>
            </a:r>
            <a:endParaRPr lang="ru-RU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Численное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оптической накачки в немагнитное квантовое состояния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показало эффективность, близкую к 100%, и нагрев около 1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реализация оптической накачки в немагнитное состояния продемонстрировало эффективность более 90 % и нагрев в 1 </a:t>
            </a:r>
            <a:r>
              <a:rPr lang="ru-RU" sz="1800" b="0" i="0" u="non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что близко к результатам моделирования. Расхождения объясняются несовершенством электро-оптической схемы.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потерь атомов и неоднородности магнитного поля на частоту измерений и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9520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2359</Words>
  <Application>Microsoft Office PowerPoint</Application>
  <PresentationFormat>Широкоэкранный</PresentationFormat>
  <Paragraphs>268</Paragraphs>
  <Slides>22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kilrealladam@gmail.com</cp:lastModifiedBy>
  <cp:revision>112</cp:revision>
  <dcterms:created xsi:type="dcterms:W3CDTF">2023-12-21T05:49:20Z</dcterms:created>
  <dcterms:modified xsi:type="dcterms:W3CDTF">2024-12-21T13:47:23Z</dcterms:modified>
</cp:coreProperties>
</file>