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87" r:id="rId6"/>
    <p:sldId id="290" r:id="rId7"/>
    <p:sldId id="291" r:id="rId8"/>
    <p:sldId id="266" r:id="rId9"/>
    <p:sldId id="267" r:id="rId10"/>
    <p:sldId id="268" r:id="rId11"/>
    <p:sldId id="269" r:id="rId12"/>
    <p:sldId id="264" r:id="rId13"/>
    <p:sldId id="265" r:id="rId14"/>
    <p:sldId id="283" r:id="rId15"/>
    <p:sldId id="284" r:id="rId16"/>
    <p:sldId id="285" r:id="rId17"/>
    <p:sldId id="286" r:id="rId18"/>
    <p:sldId id="288" r:id="rId19"/>
    <p:sldId id="270" r:id="rId20"/>
    <p:sldId id="271" r:id="rId21"/>
    <p:sldId id="272" r:id="rId22"/>
    <p:sldId id="282" r:id="rId23"/>
    <p:sldId id="28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06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1. Тут про Рамана нет</a:t>
            </a:r>
            <a:endParaRPr/>
          </a:p>
        </p:txBody>
      </p:sp>
      <p:sp>
        <p:nvSpPr>
          <p:cNvPr id="163" name="Google Shape;16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2475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0448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751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61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214081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634864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13CD34-9B2E-4915-B966-ECAAA8145C08}"/>
              </a:ext>
            </a:extLst>
          </p:cNvPr>
          <p:cNvSpPr txBox="1"/>
          <p:nvPr/>
        </p:nvSpPr>
        <p:spPr>
          <a:xfrm>
            <a:off x="14929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47D8F47-E0BB-4E7A-859C-9128519CAC65}"/>
              </a:ext>
            </a:extLst>
          </p:cNvPr>
          <p:cNvSpPr txBox="1"/>
          <p:nvPr/>
        </p:nvSpPr>
        <p:spPr>
          <a:xfrm>
            <a:off x="2662334" y="3331391"/>
            <a:ext cx="78501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Россия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127158" y="755157"/>
            <a:ext cx="9524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выступления: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гравиметра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Оптическая схема гравиметра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Экспериментальная установка гравиметра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Подготовка начального немагнитного состояния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Различные методики подготовки атомов в немагнитном квантовом состоянии</a:t>
            </a:r>
          </a:p>
          <a:p>
            <a:pPr marL="742950" lvl="1" indent="-285750">
              <a:spcBef>
                <a:spcPts val="3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Результаты компьютерного моделирования метода оптической накачки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экспериментальной реализация метода оптической накачки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95961" y="2817899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39427" y="2817899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93522" y="2283703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802293" y="752537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8420" y="1086437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7E3B1A-029A-4327-9EF0-D391A5F0BDEF}"/>
              </a:ext>
            </a:extLst>
          </p:cNvPr>
          <p:cNvSpPr txBox="1"/>
          <p:nvPr/>
        </p:nvSpPr>
        <p:spPr>
          <a:xfrm>
            <a:off x="2796073" y="4478433"/>
            <a:ext cx="637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квантовое состояние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4A0FFF-1164-43D7-A296-4897223993E0}"/>
              </a:ext>
            </a:extLst>
          </p:cNvPr>
          <p:cNvSpPr txBox="1"/>
          <p:nvPr/>
        </p:nvSpPr>
        <p:spPr>
          <a:xfrm>
            <a:off x="2856723" y="4960673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СВЧ и оптического излучения (потери более 80%)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оптической накачки (потери менее 10%)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Поиск скрытых объектов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чуствительность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квантового гравиметра влияют потери атомов в ходе измерительного цикла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 атомов,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xmlns="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xmlns="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xmlns="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xmlns="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xmlns="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xmlns="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xmlns="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xmlns="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xmlns="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:a16="http://schemas.microsoft.com/office/drawing/2014/main" xmlns="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xmlns="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:a16="http://schemas.microsoft.com/office/drawing/2014/main" xmlns="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:a16="http://schemas.microsoft.com/office/drawing/2014/main" xmlns="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xmlns="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xmlns="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:a16="http://schemas.microsoft.com/office/drawing/2014/main" xmlns="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:a16="http://schemas.microsoft.com/office/drawing/2014/main" xmlns="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xmlns="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xmlns="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xmlns="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xmlns="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xmlns="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перекачка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перекачка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:a16="http://schemas.microsoft.com/office/drawing/2014/main" xmlns="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:a16="http://schemas.microsoft.com/office/drawing/2014/main" xmlns="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A0E032A-E4F4-4CC1-9657-BB6FFE5A4A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3" name="Google Shape;179;p23">
            <a:extLst>
              <a:ext uri="{FF2B5EF4-FFF2-40B4-BE49-F238E27FC236}">
                <a16:creationId xmlns:a16="http://schemas.microsoft.com/office/drawing/2014/main" xmlns="" id="{2E179253-D4AE-4831-935C-1868DD4633B1}"/>
              </a:ext>
            </a:extLst>
          </p:cNvPr>
          <p:cNvSpPr txBox="1"/>
          <p:nvPr/>
        </p:nvSpPr>
        <p:spPr>
          <a:xfrm>
            <a:off x="3386716" y="943692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65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5676" y="932077"/>
            <a:ext cx="3987334" cy="49938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3"/>
          <p:cNvCxnSpPr/>
          <p:nvPr/>
        </p:nvCxnSpPr>
        <p:spPr>
          <a:xfrm rot="10800000">
            <a:off x="3204456" y="1237116"/>
            <a:ext cx="0" cy="2981301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862"/>
              </a:srgbClr>
            </a:outerShdw>
          </a:effectLst>
        </p:spPr>
      </p:cxnSp>
      <p:sp>
        <p:nvSpPr>
          <p:cNvPr id="169" name="Google Shape;169;p23"/>
          <p:cNvSpPr txBox="1"/>
          <p:nvPr/>
        </p:nvSpPr>
        <p:spPr>
          <a:xfrm>
            <a:off x="760957" y="3522107"/>
            <a:ext cx="154070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«охлаждающий»</a:t>
            </a:r>
            <a:endParaRPr sz="14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4444029" y="4659571"/>
            <a:ext cx="14051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Перекачка атомов с помощью СВЧ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23"/>
          <p:cNvCxnSpPr/>
          <p:nvPr/>
        </p:nvCxnSpPr>
        <p:spPr>
          <a:xfrm rot="10800000">
            <a:off x="2895945" y="1704692"/>
            <a:ext cx="0" cy="3896400"/>
          </a:xfrm>
          <a:prstGeom prst="straightConnector1">
            <a:avLst/>
          </a:prstGeom>
          <a:noFill/>
          <a:ln w="19050" cap="flat" cmpd="sng">
            <a:solidFill>
              <a:srgbClr val="17161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23"/>
          <p:cNvSpPr txBox="1"/>
          <p:nvPr/>
        </p:nvSpPr>
        <p:spPr>
          <a:xfrm>
            <a:off x="2185787" y="2730993"/>
            <a:ext cx="76584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 err="1">
                <a:solidFill>
                  <a:srgbClr val="1716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Repumper</a:t>
            </a:r>
            <a:endParaRPr sz="1100" b="0" i="0" u="none" strike="noStrike" cap="none" dirty="0">
              <a:solidFill>
                <a:srgbClr val="17161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>
            <a:off x="3032980" y="1704692"/>
            <a:ext cx="0" cy="2501100"/>
          </a:xfrm>
          <a:prstGeom prst="straightConnector1">
            <a:avLst/>
          </a:prstGeom>
          <a:noFill/>
          <a:ln w="19050" cap="flat" cmpd="sng">
            <a:solidFill>
              <a:srgbClr val="171616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4" name="Google Shape;174;p23"/>
          <p:cNvCxnSpPr/>
          <p:nvPr/>
        </p:nvCxnSpPr>
        <p:spPr>
          <a:xfrm>
            <a:off x="3626586" y="1242846"/>
            <a:ext cx="734008" cy="0"/>
          </a:xfrm>
          <a:prstGeom prst="straightConnector1">
            <a:avLst/>
          </a:prstGeom>
          <a:noFill/>
          <a:ln w="9525" cap="flat" cmpd="sng">
            <a:solidFill>
              <a:srgbClr val="A1A1A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3211620" y="1070401"/>
            <a:ext cx="0" cy="172445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176" name="Google Shape;176;p23"/>
          <p:cNvSpPr txBox="1"/>
          <p:nvPr/>
        </p:nvSpPr>
        <p:spPr>
          <a:xfrm>
            <a:off x="3192228" y="1018123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282874" y="2673374"/>
            <a:ext cx="12765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dirty="0">
                <a:solidFill>
                  <a:srgbClr val="1F3864"/>
                </a:solidFill>
                <a:latin typeface="Times New Roman"/>
                <a:cs typeface="Times New Roman"/>
                <a:sym typeface="Times New Roman"/>
              </a:rPr>
              <a:t>Накачка в состояние </a:t>
            </a:r>
            <a:r>
              <a:rPr lang="en-US" sz="1100" dirty="0">
                <a:solidFill>
                  <a:srgbClr val="1F3864"/>
                </a:solidFill>
                <a:latin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6814161" y="1117863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1462323" y="5886138"/>
            <a:ext cx="40381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уровней атома </a:t>
            </a:r>
            <a:r>
              <a:rPr lang="ru-RU" sz="1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 вместе с частотами излучений, используемых на экспериментальной установке.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4220567" y="1704692"/>
            <a:ext cx="0" cy="2501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293326" y="1704692"/>
            <a:ext cx="0" cy="389640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1939340" y="3245637"/>
            <a:ext cx="1187037" cy="407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2216" y="3896333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Накачка в немагнитное состояние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 flipV="1">
            <a:off x="3788229" y="2560320"/>
            <a:ext cx="17417" cy="3040774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2099853" y="3530683"/>
            <a:ext cx="1633295" cy="49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3344883" y="602022"/>
            <a:ext cx="4678800" cy="484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накачки,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600" b="0" i="1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</a:t>
            </a: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831757" y="4905634"/>
            <a:ext cx="79686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(a)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 (b).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TA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8977" y="1008375"/>
            <a:ext cx="7345909" cy="381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319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пучка, используемого для селекции атомов по состояниям, скоростям, и для интерферометрии.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099529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608980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14124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662718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17652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608980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141243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58364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9780" y="3438848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2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1389780" y="405240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1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3050843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2467368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592009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3050843" y="31752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592008" y="31752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2509678" y="31746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4133173" y="31746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1978224" y="317461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103059" y="3707216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Перекачивающее СВЧ излучение</a:t>
            </a:r>
          </a:p>
        </p:txBody>
      </p:sp>
      <p:cxnSp>
        <p:nvCxnSpPr>
          <p:cNvPr id="32" name="Прямая со стрелкой 31"/>
          <p:cNvCxnSpPr/>
          <p:nvPr/>
        </p:nvCxnSpPr>
        <p:spPr>
          <a:xfrm flipV="1">
            <a:off x="3823827" y="2191174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582849" y="2428457"/>
            <a:ext cx="13945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 smtClean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Сдувающее</a:t>
            </a:r>
            <a:r>
              <a:rPr lang="ru-RU" sz="1100" dirty="0" smtClean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оптическое излучение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983" y="1255997"/>
            <a:ext cx="416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</a:t>
            </a:r>
          </a:p>
        </p:txBody>
      </p:sp>
      <p:cxnSp>
        <p:nvCxnSpPr>
          <p:cNvPr id="39" name="Прямая соединительная линия 38"/>
          <p:cNvCxnSpPr>
            <a:cxnSpLocks/>
          </p:cNvCxnSpPr>
          <p:nvPr/>
        </p:nvCxnSpPr>
        <p:spPr>
          <a:xfrm>
            <a:off x="2101029" y="2064329"/>
            <a:ext cx="260047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591358" y="4864503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не менее 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9927" y="1240770"/>
            <a:ext cx="361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43" name="Прямая соединительная линия 42"/>
          <p:cNvCxnSpPr/>
          <p:nvPr/>
        </p:nvCxnSpPr>
        <p:spPr>
          <a:xfrm>
            <a:off x="8347021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8879284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9396405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10849" y="407000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8788884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8205409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9330050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cxnSp>
        <p:nvCxnSpPr>
          <p:cNvPr id="50" name="Прямая соединительная линия 49"/>
          <p:cNvCxnSpPr/>
          <p:nvPr/>
        </p:nvCxnSpPr>
        <p:spPr>
          <a:xfrm>
            <a:off x="8879284" y="231327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764415" y="193869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7410849" y="2159387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 = 0</a:t>
            </a:r>
            <a:endParaRPr lang="ru-RU" dirty="0"/>
          </a:p>
        </p:txBody>
      </p:sp>
      <p:cxnSp>
        <p:nvCxnSpPr>
          <p:cNvPr id="54" name="Прямая со стрелкой 53"/>
          <p:cNvCxnSpPr/>
          <p:nvPr/>
        </p:nvCxnSpPr>
        <p:spPr>
          <a:xfrm flipV="1">
            <a:off x="8512484" y="2395641"/>
            <a:ext cx="414698" cy="179485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flipH="1" flipV="1">
            <a:off x="9166863" y="2413479"/>
            <a:ext cx="395005" cy="17770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255038" y="2713103"/>
            <a:ext cx="2026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Накачивающее оптическое излучение с круговой поляризацией</a:t>
            </a:r>
          </a:p>
        </p:txBody>
      </p:sp>
      <p:cxnSp>
        <p:nvCxnSpPr>
          <p:cNvPr id="61" name="Прямая со стрелкой 60"/>
          <p:cNvCxnSpPr/>
          <p:nvPr/>
        </p:nvCxnSpPr>
        <p:spPr>
          <a:xfrm>
            <a:off x="9044747" y="2395641"/>
            <a:ext cx="0" cy="1794850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78389" y="4864503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менее 10%</a:t>
            </a:r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xmlns="" id="{093BFED4-00B0-4954-B0C0-BC8BFCB6A455}"/>
              </a:ext>
            </a:extLst>
          </p:cNvPr>
          <p:cNvCxnSpPr/>
          <p:nvPr/>
        </p:nvCxnSpPr>
        <p:spPr>
          <a:xfrm flipV="1">
            <a:off x="2774443" y="2191173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B3A64612-244A-4437-83D8-3281AD8C3838}"/>
              </a:ext>
            </a:extLst>
          </p:cNvPr>
          <p:cNvCxnSpPr/>
          <p:nvPr/>
        </p:nvCxnSpPr>
        <p:spPr>
          <a:xfrm flipV="1">
            <a:off x="2264992" y="2191172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xmlns="" id="{404D9E25-702F-4243-9D38-880DBFB63DC6}"/>
              </a:ext>
            </a:extLst>
          </p:cNvPr>
          <p:cNvCxnSpPr/>
          <p:nvPr/>
        </p:nvCxnSpPr>
        <p:spPr>
          <a:xfrm flipV="1">
            <a:off x="4341986" y="2198097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32648467-0236-4E54-ABB1-47187F23263E}"/>
              </a:ext>
            </a:extLst>
          </p:cNvPr>
          <p:cNvSpPr txBox="1"/>
          <p:nvPr/>
        </p:nvSpPr>
        <p:spPr>
          <a:xfrm>
            <a:off x="1389780" y="1901927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 = 3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xmlns="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3303037" y="3651380"/>
            <a:ext cx="0" cy="52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4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B87B3228-1A15-4F4D-8491-889889246140}"/>
              </a:ext>
            </a:extLst>
          </p:cNvPr>
          <p:cNvSpPr txBox="1"/>
          <p:nvPr/>
        </p:nvSpPr>
        <p:spPr>
          <a:xfrm>
            <a:off x="4337484" y="4453420"/>
            <a:ext cx="40381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населённостей магнитных состояний ∣F = 1⟩ при накачки в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m=0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129;p4">
            <a:extLst>
              <a:ext uri="{FF2B5EF4-FFF2-40B4-BE49-F238E27FC236}">
                <a16:creationId xmlns:a16="http://schemas.microsoft.com/office/drawing/2014/main" xmlns="" id="{D49EF95C-7447-4B7F-A7F6-20B1232C8268}"/>
              </a:ext>
            </a:extLst>
          </p:cNvPr>
          <p:cNvSpPr txBox="1"/>
          <p:nvPr/>
        </p:nvSpPr>
        <p:spPr>
          <a:xfrm>
            <a:off x="8153808" y="4407273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числа фотонов при накачки из ∣F = 1⟩ в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m=0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A4AFC3BB-0ED4-45C3-AC7C-81E27B26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15" y="1581846"/>
            <a:ext cx="3792928" cy="2871574"/>
          </a:xfrm>
          <a:prstGeom prst="rect">
            <a:avLst/>
          </a:prstGeom>
        </p:spPr>
      </p:pic>
      <p:sp>
        <p:nvSpPr>
          <p:cNvPr id="17" name="Google Shape;129;p4">
            <a:extLst>
              <a:ext uri="{FF2B5EF4-FFF2-40B4-BE49-F238E27FC236}">
                <a16:creationId xmlns:a16="http://schemas.microsoft.com/office/drawing/2014/main" xmlns="" id="{31190989-06CD-4F7E-B7C5-0B7398FC47FE}"/>
              </a:ext>
            </a:extLst>
          </p:cNvPr>
          <p:cNvSpPr txBox="1"/>
          <p:nvPr/>
        </p:nvSpPr>
        <p:spPr>
          <a:xfrm>
            <a:off x="275622" y="445342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числа поглощенных фотонов при накачки из ∣F = 2⟩ в ∣F = 1⟩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78CB6444-303E-4D2F-9C12-8A6E690E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440" y="1581846"/>
            <a:ext cx="3792928" cy="2871574"/>
          </a:xfrm>
          <a:prstGeom prst="rect">
            <a:avLst/>
          </a:prstGeom>
        </p:spPr>
      </p:pic>
      <p:sp>
        <p:nvSpPr>
          <p:cNvPr id="20" name="Google Shape;129;p4">
            <a:extLst>
              <a:ext uri="{FF2B5EF4-FFF2-40B4-BE49-F238E27FC236}">
                <a16:creationId xmlns:a16="http://schemas.microsoft.com/office/drawing/2014/main" xmlns="" id="{E7373528-195F-48BD-806F-0918AEB35682}"/>
              </a:ext>
            </a:extLst>
          </p:cNvPr>
          <p:cNvSpPr txBox="1"/>
          <p:nvPr/>
        </p:nvSpPr>
        <p:spPr>
          <a:xfrm>
            <a:off x="9107562" y="1911831"/>
            <a:ext cx="403819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62A2A34F-DBC6-4CD4-BAE4-372B6C648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880" y="1581846"/>
            <a:ext cx="3915539" cy="2868676"/>
          </a:xfrm>
          <a:prstGeom prst="rect">
            <a:avLst/>
          </a:prstGeom>
        </p:spPr>
      </p:pic>
      <p:sp>
        <p:nvSpPr>
          <p:cNvPr id="23" name="Google Shape;129;p4">
            <a:extLst>
              <a:ext uri="{FF2B5EF4-FFF2-40B4-BE49-F238E27FC236}">
                <a16:creationId xmlns:a16="http://schemas.microsoft.com/office/drawing/2014/main" xmlns="" id="{7C84FEDA-AB92-4188-B053-3FEE4232F9A2}"/>
              </a:ext>
            </a:extLst>
          </p:cNvPr>
          <p:cNvSpPr txBox="1"/>
          <p:nvPr/>
        </p:nvSpPr>
        <p:spPr>
          <a:xfrm>
            <a:off x="897932" y="1911831"/>
            <a:ext cx="403819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1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3210856" y="1113452"/>
            <a:ext cx="4853196" cy="3514531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9F2F9449-A41F-4954-9C15-CD0224C4DE58}"/>
              </a:ext>
            </a:extLst>
          </p:cNvPr>
          <p:cNvSpPr txBox="1"/>
          <p:nvPr/>
        </p:nvSpPr>
        <p:spPr>
          <a:xfrm>
            <a:off x="3301079" y="4627983"/>
            <a:ext cx="476297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Зависимость населенности атомов до и после оптической накачки от отстройки относительно</a:t>
            </a:r>
          </a:p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часового перехода.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= 1, m=0⟩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50"/>
          <a:stretch/>
        </p:blipFill>
        <p:spPr>
          <a:xfrm>
            <a:off x="2376667" y="1020147"/>
            <a:ext cx="6394108" cy="461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AE9D85-C58F-4E82-8CFA-F36F8F2CACC9}"/>
              </a:ext>
            </a:extLst>
          </p:cNvPr>
          <p:cNvSpPr txBox="1"/>
          <p:nvPr/>
        </p:nvSpPr>
        <p:spPr>
          <a:xfrm>
            <a:off x="2376667" y="5635475"/>
            <a:ext cx="697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9. Зависимости квадрата размера облака холодных атомов (1/e) от квадрата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  <a:endParaRPr sz="1800" b="0" i="0" u="non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потерь атомов на частоту измерений и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19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789649" y="4966802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Изображение с камеры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79455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Зависимость сигнала от частоты для одного из блоков пикселей видеокамеры.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9326" y="2013222"/>
            <a:ext cx="3007527" cy="252448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10476063" y="2752546"/>
            <a:ext cx="236400" cy="27057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9297204" y="4964297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675" y="1670630"/>
            <a:ext cx="4862690" cy="3209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444479" y="856248"/>
            <a:ext cx="236741" cy="3826426"/>
          </a:xfrm>
          <a:prstGeom prst="curvedConnector4">
            <a:avLst>
              <a:gd name="adj1" fmla="val -96561"/>
              <a:gd name="adj2" fmla="val 5198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491680" y="2242971"/>
            <a:ext cx="309653" cy="1125892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6499" y="5305074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неодородности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магнитного.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9915" y="4279035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9. Магнитное поле и линии уровня при отсутствии ионного насоса и компенсации.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373758" y="130951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2.6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2643674" y="4285060"/>
            <a:ext cx="29184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10. Магнитное поле и линии уровня при работе ионного насоса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3122667" y="130212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5700544" y="1288514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2.4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457151" y="4212448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11. Магнитное поле и линии уровня при работе ионного насоса и использование постоянного компенсационного магнита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5949" y="1609903"/>
            <a:ext cx="268233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0377" y="1617295"/>
            <a:ext cx="258454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636981"/>
            <a:ext cx="2584545" cy="258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9296" y="1658280"/>
            <a:ext cx="2747543" cy="2654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607748" y="129174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8372893" y="4366336"/>
            <a:ext cx="268233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12.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872C99A-3050-4DEF-BC91-EFF379807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3342" y="701919"/>
            <a:ext cx="1074233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22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xmlns="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0CA7B74-B17B-4554-8912-2A5FB512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04" y="3146978"/>
            <a:ext cx="2631129" cy="92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083A715-CC79-49A6-8295-22A6563FAE3D}"/>
              </a:ext>
            </a:extLst>
          </p:cNvPr>
          <p:cNvSpPr txBox="1"/>
          <p:nvPr/>
        </p:nvSpPr>
        <p:spPr>
          <a:xfrm>
            <a:off x="6981057" y="4325607"/>
            <a:ext cx="159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ru-RU" dirty="0"/>
              <a:t>=</a:t>
            </a:r>
            <a:r>
              <a:rPr lang="en-US" dirty="0"/>
              <a:t> 2 </a:t>
            </a:r>
            <a:r>
              <a:rPr lang="ru-RU" dirty="0" err="1"/>
              <a:t>мкК</a:t>
            </a:r>
            <a:r>
              <a:rPr lang="ru-RU" dirty="0"/>
              <a:t>, ранее было 6 </a:t>
            </a:r>
            <a:r>
              <a:rPr lang="ru-RU" dirty="0" err="1"/>
              <a:t>мкК</a:t>
            </a:r>
            <a:r>
              <a:rPr lang="ru-RU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119A464-DA1C-4EFB-956A-AB29ECEA0C31}"/>
              </a:ext>
            </a:extLst>
          </p:cNvPr>
          <p:cNvSpPr txBox="1"/>
          <p:nvPr/>
        </p:nvSpPr>
        <p:spPr>
          <a:xfrm rot="16200000">
            <a:off x="-37799" y="2993089"/>
            <a:ext cx="138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мс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8974B4BA-7E00-4D6B-BE14-A2510EC72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7" y="1291745"/>
            <a:ext cx="5287113" cy="40582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A348235-93F3-4B5F-93D2-5744992B336F}"/>
              </a:ext>
            </a:extLst>
          </p:cNvPr>
          <p:cNvSpPr txBox="1"/>
          <p:nvPr/>
        </p:nvSpPr>
        <p:spPr>
          <a:xfrm>
            <a:off x="2904531" y="5349961"/>
            <a:ext cx="200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облака, м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39846A2-34F8-4171-B8C8-09C31D9868E1}"/>
              </a:ext>
            </a:extLst>
          </p:cNvPr>
          <p:cNvSpPr txBox="1"/>
          <p:nvPr/>
        </p:nvSpPr>
        <p:spPr>
          <a:xfrm>
            <a:off x="6654437" y="2158319"/>
            <a:ext cx="3912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облака измеряется после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Сизифового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охлаждения, которое идёт сразу после выключения МОЛ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неоднородности магнитного поля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2294</Words>
  <Application>Microsoft Office PowerPoint</Application>
  <PresentationFormat>Широкоэкранный</PresentationFormat>
  <Paragraphs>243</Paragraphs>
  <Slides>23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57</cp:revision>
  <dcterms:created xsi:type="dcterms:W3CDTF">2023-12-21T05:49:20Z</dcterms:created>
  <dcterms:modified xsi:type="dcterms:W3CDTF">2024-12-18T07:16:53Z</dcterms:modified>
</cp:coreProperties>
</file>