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21" autoAdjust="0"/>
  </p:normalViewPr>
  <p:slideViewPr>
    <p:cSldViewPr snapToGrid="0" showGuides="1">
      <p:cViewPr>
        <p:scale>
          <a:sx n="40" d="100"/>
          <a:sy n="40" d="100"/>
        </p:scale>
        <p:origin x="1020" y="-3726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9FD9F-51DB-4DC6-B5F3-E1880E1E7B02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291B-AA9D-4282-BA1E-AB5F25AE0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4436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9FD9F-51DB-4DC6-B5F3-E1880E1E7B02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291B-AA9D-4282-BA1E-AB5F25AE0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0775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9FD9F-51DB-4DC6-B5F3-E1880E1E7B02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291B-AA9D-4282-BA1E-AB5F25AE0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911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9FD9F-51DB-4DC6-B5F3-E1880E1E7B02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291B-AA9D-4282-BA1E-AB5F25AE0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2907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9FD9F-51DB-4DC6-B5F3-E1880E1E7B02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291B-AA9D-4282-BA1E-AB5F25AE0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2215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9FD9F-51DB-4DC6-B5F3-E1880E1E7B02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291B-AA9D-4282-BA1E-AB5F25AE0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15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9FD9F-51DB-4DC6-B5F3-E1880E1E7B02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291B-AA9D-4282-BA1E-AB5F25AE0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023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9FD9F-51DB-4DC6-B5F3-E1880E1E7B02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291B-AA9D-4282-BA1E-AB5F25AE0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888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9FD9F-51DB-4DC6-B5F3-E1880E1E7B02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291B-AA9D-4282-BA1E-AB5F25AE0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025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9FD9F-51DB-4DC6-B5F3-E1880E1E7B02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291B-AA9D-4282-BA1E-AB5F25AE0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564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9FD9F-51DB-4DC6-B5F3-E1880E1E7B02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291B-AA9D-4282-BA1E-AB5F25AE0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182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9FD9F-51DB-4DC6-B5F3-E1880E1E7B02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5D291B-AA9D-4282-BA1E-AB5F25AE0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404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xmlns="" id="{CE81DE6F-55D6-4E34-9810-A90B4F227795}"/>
              </a:ext>
            </a:extLst>
          </p:cNvPr>
          <p:cNvSpPr/>
          <p:nvPr/>
        </p:nvSpPr>
        <p:spPr>
          <a:xfrm>
            <a:off x="15138399" y="8339551"/>
            <a:ext cx="15122801" cy="57557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Google Shape;104;p1">
                <a:extLst>
                  <a:ext uri="{FF2B5EF4-FFF2-40B4-BE49-F238E27FC236}">
                    <a16:creationId xmlns:a16="http://schemas.microsoft.com/office/drawing/2014/main" xmlns="" id="{93A43E26-3527-42FF-A12B-52A7953BC44C}"/>
                  </a:ext>
                </a:extLst>
              </p:cNvPr>
              <p:cNvSpPr/>
              <p:nvPr/>
            </p:nvSpPr>
            <p:spPr>
              <a:xfrm>
                <a:off x="15125865" y="14115264"/>
                <a:ext cx="15123596" cy="6054086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07053708-8867-4C88-976A-F31FDAB8B290}" type="mathplaceholder">
                        <a:rPr lang="ru-RU" sz="1800" b="0" i="1" u="none" strike="noStrike" cap="none" smtClean="0">
                          <a:solidFill>
                            <a:schemeClr val="lt1"/>
                          </a:solidFill>
                          <a:latin typeface="Cambria Math" panose="02040503050406030204" pitchFamily="18" charset="0"/>
                          <a:sym typeface="Calibri"/>
                        </a:rPr>
                        <a:t>Место для уравнения.</a:t>
                      </a:fld>
                    </m:oMath>
                  </m:oMathPara>
                </a14:m>
                <a:endParaRPr lang="ru-RU" sz="18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63" name="Google Shape;104;p1">
                <a:extLst>
                  <a:ext uri="{FF2B5EF4-FFF2-40B4-BE49-F238E27FC236}">
                    <a16:creationId xmlns:a16="http://schemas.microsoft.com/office/drawing/2014/main" id="{93A43E26-3527-42FF-A12B-52A7953BC4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5865" y="14115264"/>
                <a:ext cx="15123596" cy="60540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88;p1">
            <a:extLst>
              <a:ext uri="{FF2B5EF4-FFF2-40B4-BE49-F238E27FC236}">
                <a16:creationId xmlns:a16="http://schemas.microsoft.com/office/drawing/2014/main" xmlns="" id="{03E1D018-9886-478D-90E1-9FB126720990}"/>
              </a:ext>
            </a:extLst>
          </p:cNvPr>
          <p:cNvSpPr/>
          <p:nvPr/>
        </p:nvSpPr>
        <p:spPr>
          <a:xfrm>
            <a:off x="0" y="0"/>
            <a:ext cx="30275213" cy="8336683"/>
          </a:xfrm>
          <a:prstGeom prst="rect">
            <a:avLst/>
          </a:prstGeom>
          <a:solidFill>
            <a:srgbClr val="C4E0B2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89;p1">
            <a:extLst>
              <a:ext uri="{FF2B5EF4-FFF2-40B4-BE49-F238E27FC236}">
                <a16:creationId xmlns:a16="http://schemas.microsoft.com/office/drawing/2014/main" xmlns="" id="{B1478F43-41FF-48CC-A431-5BF1C6E5AA8F}"/>
              </a:ext>
            </a:extLst>
          </p:cNvPr>
          <p:cNvSpPr txBox="1"/>
          <p:nvPr/>
        </p:nvSpPr>
        <p:spPr>
          <a:xfrm>
            <a:off x="-1147258" y="-21354"/>
            <a:ext cx="32084458" cy="108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532284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начального волнового пакета для квантового интерферометра гравиметра</a:t>
            </a:r>
            <a:endParaRPr sz="6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0;p1">
            <a:extLst>
              <a:ext uri="{FF2B5EF4-FFF2-40B4-BE49-F238E27FC236}">
                <a16:creationId xmlns:a16="http://schemas.microsoft.com/office/drawing/2014/main" xmlns="" id="{233FE109-9B5B-42D3-AEFC-D4A8B4799F95}"/>
              </a:ext>
            </a:extLst>
          </p:cNvPr>
          <p:cNvSpPr txBox="1"/>
          <p:nvPr/>
        </p:nvSpPr>
        <p:spPr>
          <a:xfrm>
            <a:off x="6485354" y="1051285"/>
            <a:ext cx="16819234" cy="1277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532284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Капуста Д.Н </a:t>
            </a:r>
            <a:r>
              <a:rPr lang="ru-RU" sz="36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3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36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Бонерт</a:t>
            </a:r>
            <a:r>
              <a:rPr lang="ru-RU" sz="3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А.Э </a:t>
            </a:r>
            <a:r>
              <a:rPr lang="ru-RU" sz="36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3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Гончаров А.Н </a:t>
            </a:r>
            <a:r>
              <a:rPr lang="ru-RU" sz="36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1,2,3</a:t>
            </a:r>
            <a:r>
              <a:rPr lang="ru-RU" sz="3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3600" b="0" i="0" u="sng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Адамов К.Н</a:t>
            </a:r>
            <a:r>
              <a:rPr lang="ru-RU" sz="3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6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1,2,*</a:t>
            </a:r>
            <a:r>
              <a:rPr lang="ru-RU" sz="3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br>
              <a:rPr lang="ru-RU" sz="3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3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Прудников О.Н </a:t>
            </a:r>
            <a:r>
              <a:rPr lang="ru-RU" sz="36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</a:t>
            </a:r>
            <a:r>
              <a:rPr lang="ru-RU" sz="3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36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Тайченачев</a:t>
            </a:r>
            <a:r>
              <a:rPr lang="ru-RU" sz="3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А.В </a:t>
            </a:r>
            <a:r>
              <a:rPr lang="ru-RU" sz="36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</a:t>
            </a:r>
            <a:r>
              <a:rPr lang="ru-RU" sz="3600" b="0" i="0" u="sng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1;p1">
            <a:extLst>
              <a:ext uri="{FF2B5EF4-FFF2-40B4-BE49-F238E27FC236}">
                <a16:creationId xmlns:a16="http://schemas.microsoft.com/office/drawing/2014/main" xmlns="" id="{3D58AC4C-7CD3-4B27-9803-969CB99C81D3}"/>
              </a:ext>
            </a:extLst>
          </p:cNvPr>
          <p:cNvSpPr txBox="1"/>
          <p:nvPr/>
        </p:nvSpPr>
        <p:spPr>
          <a:xfrm>
            <a:off x="5979516" y="2115855"/>
            <a:ext cx="17106213" cy="2529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532284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729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2729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3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Новосибирский государственный университет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532284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3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Институт лазерной физики (ИЛФ) СО РАН, Новосибирск</a:t>
            </a:r>
            <a:endParaRPr sz="3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532284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ru-RU" sz="3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Новосибирский государственный технический университет</a:t>
            </a:r>
            <a:endParaRPr sz="1600" dirty="0"/>
          </a:p>
          <a:p>
            <a:pPr marL="0" marR="0" lvl="0" indent="532284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*: ofadamovkirill@gmail.com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2;p1">
            <a:extLst>
              <a:ext uri="{FF2B5EF4-FFF2-40B4-BE49-F238E27FC236}">
                <a16:creationId xmlns:a16="http://schemas.microsoft.com/office/drawing/2014/main" xmlns="" id="{D807C597-5284-48D5-97E4-AE28774714BD}"/>
              </a:ext>
            </a:extLst>
          </p:cNvPr>
          <p:cNvSpPr txBox="1"/>
          <p:nvPr/>
        </p:nvSpPr>
        <p:spPr>
          <a:xfrm>
            <a:off x="1184041" y="4441559"/>
            <a:ext cx="27879109" cy="3780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мире активно ведутся работы по созданию квантовых сенсоров, основанных на интерференции волн материи. Одним из них является квантовый гравиметр, разработка которого ведется в Институте лазерной физики СО РАН 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r>
              <a:rPr lang="ru-RU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Квантовые гравиметры обладают рядом преимуществ: высокая чувствительность и точность измерений, отсутствие дрейфа и подвижных механических элементов; </a:t>
            </a:r>
            <a:r>
              <a:rPr lang="ru-RU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частота повторения измерений достигает 1-2 Гц</a:t>
            </a:r>
            <a:r>
              <a:rPr lang="ru-RU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возможность совмещения функционала гравиметра, гироскопа и акселерометра в одном устройстве и т.д. Области применения квантовых гравиметров включают разведку полезных ископаемых, высокоточную навигацию, мониторинг вулканической активности, тестирование ОТО и СТО, измерение фундаментальных констант и др. В данной работе проведено исследование, направленное на увеличение эффективность подготовки начального атомного волнового пакета с целью увеличения точности и чувствительности измерений квантового гравиметра. </a:t>
            </a:r>
            <a:r>
              <a:rPr lang="ru-RU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Выполнено моделирование оптической накачки атомов </a:t>
            </a:r>
            <a:r>
              <a:rPr lang="ru-RU" sz="2800" b="0" i="0" u="none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 в состояние |F=1, m=0〉 через переход |F=1〉↔|F’=0〉 методом численного решения скоростных уравнений [2]. Результаты моделирования демонстрирует высокую эффективность (~100%) при минимальном нагреве атомов. В результате реализации данной оптической накачки достигнута эффективность более 90 % с незначительным нагревом ~ 1 мкК.</a:t>
            </a:r>
            <a:endParaRPr sz="1600" dirty="0"/>
          </a:p>
        </p:txBody>
      </p:sp>
      <p:sp>
        <p:nvSpPr>
          <p:cNvPr id="7" name="Google Shape;93;p1">
            <a:extLst>
              <a:ext uri="{FF2B5EF4-FFF2-40B4-BE49-F238E27FC236}">
                <a16:creationId xmlns:a16="http://schemas.microsoft.com/office/drawing/2014/main" xmlns="" id="{960ADF60-E4BF-4AAA-B94A-21DD262B3B75}"/>
              </a:ext>
            </a:extLst>
          </p:cNvPr>
          <p:cNvSpPr/>
          <p:nvPr/>
        </p:nvSpPr>
        <p:spPr>
          <a:xfrm>
            <a:off x="0" y="8336683"/>
            <a:ext cx="15138400" cy="1272230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94;p1">
            <a:extLst>
              <a:ext uri="{FF2B5EF4-FFF2-40B4-BE49-F238E27FC236}">
                <a16:creationId xmlns:a16="http://schemas.microsoft.com/office/drawing/2014/main" xmlns="" id="{14F6659C-50E1-493F-A0C7-4A5C744ECC56}"/>
              </a:ext>
            </a:extLst>
          </p:cNvPr>
          <p:cNvSpPr txBox="1"/>
          <p:nvPr/>
        </p:nvSpPr>
        <p:spPr>
          <a:xfrm>
            <a:off x="802369" y="8303380"/>
            <a:ext cx="1510151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Принцип работы квантового гравиметра</a:t>
            </a:r>
            <a:endParaRPr sz="1600" dirty="0"/>
          </a:p>
        </p:txBody>
      </p:sp>
      <p:sp>
        <p:nvSpPr>
          <p:cNvPr id="9" name="Google Shape;95;p1">
            <a:extLst>
              <a:ext uri="{FF2B5EF4-FFF2-40B4-BE49-F238E27FC236}">
                <a16:creationId xmlns:a16="http://schemas.microsoft.com/office/drawing/2014/main" xmlns="" id="{793686A1-3B65-4911-ABBD-62092BC2F64E}"/>
              </a:ext>
            </a:extLst>
          </p:cNvPr>
          <p:cNvSpPr txBox="1"/>
          <p:nvPr/>
        </p:nvSpPr>
        <p:spPr>
          <a:xfrm>
            <a:off x="298849" y="19130008"/>
            <a:ext cx="14483951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</a:t>
            </a:r>
            <a:r>
              <a:rPr lang="ru-RU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квантового гравиметра основан на использовании лазерно-контролируемой интерференции внутренних состояний атомов, находящихся в свободном падении. После этапа интерференции осуществляется измерение населённостей атомных состояний, что позволяет определить величину гравитационного ускорения.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29;p1">
            <a:extLst>
              <a:ext uri="{FF2B5EF4-FFF2-40B4-BE49-F238E27FC236}">
                <a16:creationId xmlns:a16="http://schemas.microsoft.com/office/drawing/2014/main" xmlns="" id="{9076587F-4845-4A07-8942-5B1A9FC26A1D}"/>
              </a:ext>
            </a:extLst>
          </p:cNvPr>
          <p:cNvSpPr txBox="1"/>
          <p:nvPr/>
        </p:nvSpPr>
        <p:spPr>
          <a:xfrm>
            <a:off x="7404272" y="10115783"/>
            <a:ext cx="7304824" cy="6863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гравиметра:</a:t>
            </a:r>
            <a:endParaRPr sz="3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3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Загрузка атомов в магнитооптическую ловушку (МОЛ) с целью их захвата и охлаждения до низких температур</a:t>
            </a:r>
            <a:endParaRPr sz="3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3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Высвобождение облака атомов из МОЛ</a:t>
            </a:r>
            <a:endParaRPr sz="3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3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атомов в немагнитное квантово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</a:t>
            </a:r>
            <a:r>
              <a:rPr lang="ru-RU" sz="3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состояние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3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Скоростная селекция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</a:t>
            </a:r>
            <a:r>
              <a:rPr lang="ru-RU" sz="3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томная интерференция</a:t>
            </a:r>
            <a:endParaRPr sz="3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3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Детектирование</a:t>
            </a:r>
            <a:endParaRPr sz="3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30;p1">
            <a:extLst>
              <a:ext uri="{FF2B5EF4-FFF2-40B4-BE49-F238E27FC236}">
                <a16:creationId xmlns:a16="http://schemas.microsoft.com/office/drawing/2014/main" xmlns="" id="{5D6AD58B-EE6A-40E5-BC1E-D4200DBAF24E}"/>
              </a:ext>
            </a:extLst>
          </p:cNvPr>
          <p:cNvSpPr txBox="1"/>
          <p:nvPr/>
        </p:nvSpPr>
        <p:spPr>
          <a:xfrm>
            <a:off x="298849" y="18272426"/>
            <a:ext cx="7240987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 . 1.</a:t>
            </a:r>
            <a:r>
              <a:rPr lang="ru-RU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Принципиальная схема работы абсолютного атомного гравиметра.</a:t>
            </a:r>
            <a:endParaRPr sz="2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7769B3FB-16A9-4073-A601-4C37785F0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619" y="9102985"/>
            <a:ext cx="6036581" cy="9287049"/>
          </a:xfrm>
          <a:prstGeom prst="rect">
            <a:avLst/>
          </a:prstGeom>
        </p:spPr>
      </p:pic>
      <p:sp>
        <p:nvSpPr>
          <p:cNvPr id="15" name="Google Shape;96;p1">
            <a:extLst>
              <a:ext uri="{FF2B5EF4-FFF2-40B4-BE49-F238E27FC236}">
                <a16:creationId xmlns:a16="http://schemas.microsoft.com/office/drawing/2014/main" xmlns="" id="{D1DA5E20-8FCE-4808-99D5-EA0619D49D77}"/>
              </a:ext>
            </a:extLst>
          </p:cNvPr>
          <p:cNvSpPr/>
          <p:nvPr/>
        </p:nvSpPr>
        <p:spPr>
          <a:xfrm>
            <a:off x="0" y="21058986"/>
            <a:ext cx="15138400" cy="5148503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97;p1">
            <a:extLst>
              <a:ext uri="{FF2B5EF4-FFF2-40B4-BE49-F238E27FC236}">
                <a16:creationId xmlns:a16="http://schemas.microsoft.com/office/drawing/2014/main" xmlns="" id="{B599A6BB-0D16-450E-AF6F-D89E6FD568E1}"/>
              </a:ext>
            </a:extLst>
          </p:cNvPr>
          <p:cNvSpPr txBox="1"/>
          <p:nvPr/>
        </p:nvSpPr>
        <p:spPr>
          <a:xfrm>
            <a:off x="1198678" y="20935431"/>
            <a:ext cx="1313604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Экспериментальная установка</a:t>
            </a:r>
            <a:endParaRPr sz="1600" dirty="0"/>
          </a:p>
        </p:txBody>
      </p:sp>
      <p:sp>
        <p:nvSpPr>
          <p:cNvPr id="17" name="Google Shape;98;p1">
            <a:extLst>
              <a:ext uri="{FF2B5EF4-FFF2-40B4-BE49-F238E27FC236}">
                <a16:creationId xmlns:a16="http://schemas.microsoft.com/office/drawing/2014/main" xmlns="" id="{1CE12761-04A4-4DDA-A5B7-942660E7A9B0}"/>
              </a:ext>
            </a:extLst>
          </p:cNvPr>
          <p:cNvSpPr txBox="1"/>
          <p:nvPr/>
        </p:nvSpPr>
        <p:spPr>
          <a:xfrm>
            <a:off x="3919342" y="25253422"/>
            <a:ext cx="6156127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2.</a:t>
            </a:r>
            <a:r>
              <a:rPr lang="ru-RU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Схема переходов, используемых в эксперименте.</a:t>
            </a:r>
            <a:endParaRPr sz="2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" name="Google Shape;125;p1">
            <a:extLst>
              <a:ext uri="{FF2B5EF4-FFF2-40B4-BE49-F238E27FC236}">
                <a16:creationId xmlns:a16="http://schemas.microsoft.com/office/drawing/2014/main" xmlns="" id="{CE946F3C-C92F-43F4-8F99-E13374A1179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073" b="4224"/>
          <a:stretch/>
        </p:blipFill>
        <p:spPr>
          <a:xfrm>
            <a:off x="3890142" y="21698673"/>
            <a:ext cx="8925963" cy="358887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99;p1">
            <a:extLst>
              <a:ext uri="{FF2B5EF4-FFF2-40B4-BE49-F238E27FC236}">
                <a16:creationId xmlns:a16="http://schemas.microsoft.com/office/drawing/2014/main" xmlns="" id="{5143A60E-97FB-45DC-B4F3-F0A50F121087}"/>
              </a:ext>
            </a:extLst>
          </p:cNvPr>
          <p:cNvSpPr/>
          <p:nvPr/>
        </p:nvSpPr>
        <p:spPr>
          <a:xfrm>
            <a:off x="0" y="26207489"/>
            <a:ext cx="15137606" cy="8402230"/>
          </a:xfrm>
          <a:prstGeom prst="rect">
            <a:avLst/>
          </a:prstGeom>
          <a:solidFill>
            <a:srgbClr val="D8D8D8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100;p1">
            <a:extLst>
              <a:ext uri="{FF2B5EF4-FFF2-40B4-BE49-F238E27FC236}">
                <a16:creationId xmlns:a16="http://schemas.microsoft.com/office/drawing/2014/main" xmlns="" id="{D73D9E23-2EFC-4639-9D1E-007EA796F1C8}"/>
              </a:ext>
            </a:extLst>
          </p:cNvPr>
          <p:cNvSpPr txBox="1"/>
          <p:nvPr/>
        </p:nvSpPr>
        <p:spPr>
          <a:xfrm>
            <a:off x="-323899" y="34086539"/>
            <a:ext cx="1521887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180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Рис.3. </a:t>
            </a:r>
            <a:r>
              <a:rPr lang="ru-RU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Оптическая схема лазерной установки.</a:t>
            </a:r>
            <a:endParaRPr sz="1600" dirty="0"/>
          </a:p>
        </p:txBody>
      </p:sp>
      <p:sp>
        <p:nvSpPr>
          <p:cNvPr id="44" name="Google Shape;102;p1">
            <a:extLst>
              <a:ext uri="{FF2B5EF4-FFF2-40B4-BE49-F238E27FC236}">
                <a16:creationId xmlns:a16="http://schemas.microsoft.com/office/drawing/2014/main" xmlns="" id="{F0A088AA-F576-425C-BA31-E6146AB4D864}"/>
              </a:ext>
            </a:extLst>
          </p:cNvPr>
          <p:cNvSpPr/>
          <p:nvPr/>
        </p:nvSpPr>
        <p:spPr>
          <a:xfrm>
            <a:off x="0" y="34593140"/>
            <a:ext cx="15123596" cy="8210623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103;p1">
            <a:extLst>
              <a:ext uri="{FF2B5EF4-FFF2-40B4-BE49-F238E27FC236}">
                <a16:creationId xmlns:a16="http://schemas.microsoft.com/office/drawing/2014/main" xmlns="" id="{A9CD7FB4-F0B3-481F-AAD1-0B1A1CF3D5D1}"/>
              </a:ext>
            </a:extLst>
          </p:cNvPr>
          <p:cNvSpPr txBox="1"/>
          <p:nvPr/>
        </p:nvSpPr>
        <p:spPr>
          <a:xfrm>
            <a:off x="2619031" y="42263160"/>
            <a:ext cx="1029533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4. </a:t>
            </a:r>
            <a:r>
              <a:rPr lang="ru-RU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Трехмерная модель экспериментальной установки.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126;p1">
            <a:extLst>
              <a:ext uri="{FF2B5EF4-FFF2-40B4-BE49-F238E27FC236}">
                <a16:creationId xmlns:a16="http://schemas.microsoft.com/office/drawing/2014/main" xmlns="" id="{0202A2C5-BC31-4A70-8EC7-0DC1ECB723F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455" y="34756776"/>
            <a:ext cx="14936696" cy="748896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2" name="Google Shape;106;p1">
            <a:extLst>
              <a:ext uri="{FF2B5EF4-FFF2-40B4-BE49-F238E27FC236}">
                <a16:creationId xmlns:a16="http://schemas.microsoft.com/office/drawing/2014/main" xmlns="" id="{A06B3948-A201-47E9-92D3-DD63E200F7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7379380"/>
              </p:ext>
            </p:extLst>
          </p:nvPr>
        </p:nvGraphicFramePr>
        <p:xfrm>
          <a:off x="15138401" y="8969191"/>
          <a:ext cx="15123596" cy="514607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0993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121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1214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5915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51082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32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Начальное состояние атомов к завершению охлаждения</a:t>
                      </a:r>
                      <a:endParaRPr lang="ru-RU" sz="4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Times New Roman"/>
                        <a:buNone/>
                      </a:pPr>
                      <a:r>
                        <a:rPr lang="ru-RU" sz="32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Оптическая накачка из</a:t>
                      </a:r>
                      <a:r>
                        <a:rPr lang="en-US" sz="32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ru-RU" sz="32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состояния ∣F= 2⟩ в состояние ∣F = 1⟩</a:t>
                      </a:r>
                      <a:endParaRPr lang="ru-RU" sz="4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8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Оптическая накачка в состояние ∣F= 1, m = 0⟩ из состояния ∣F = 1⟩</a:t>
                      </a:r>
                      <a:endParaRPr lang="ru-RU" sz="4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53" name="Google Shape;107;p1">
            <a:extLst>
              <a:ext uri="{FF2B5EF4-FFF2-40B4-BE49-F238E27FC236}">
                <a16:creationId xmlns:a16="http://schemas.microsoft.com/office/drawing/2014/main" xmlns="" id="{40B730E7-2951-4532-9119-793838C708E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493185" y="9038069"/>
            <a:ext cx="4427241" cy="342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108;p1">
            <a:extLst>
              <a:ext uri="{FF2B5EF4-FFF2-40B4-BE49-F238E27FC236}">
                <a16:creationId xmlns:a16="http://schemas.microsoft.com/office/drawing/2014/main" xmlns="" id="{06DC1719-7EDA-4929-9EDC-0C33C3EBB75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273380" y="9728394"/>
            <a:ext cx="4788673" cy="2305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109;p1">
            <a:extLst>
              <a:ext uri="{FF2B5EF4-FFF2-40B4-BE49-F238E27FC236}">
                <a16:creationId xmlns:a16="http://schemas.microsoft.com/office/drawing/2014/main" xmlns="" id="{D387B118-7D5D-45B0-9C41-32A4E795F83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6243725" y="9097544"/>
            <a:ext cx="3491092" cy="330916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110;p1">
            <a:extLst>
              <a:ext uri="{FF2B5EF4-FFF2-40B4-BE49-F238E27FC236}">
                <a16:creationId xmlns:a16="http://schemas.microsoft.com/office/drawing/2014/main" xmlns="" id="{F5E81B6C-4269-43F4-A828-43C9F77EE9A1}"/>
              </a:ext>
            </a:extLst>
          </p:cNvPr>
          <p:cNvSpPr txBox="1"/>
          <p:nvPr/>
        </p:nvSpPr>
        <p:spPr>
          <a:xfrm>
            <a:off x="16768636" y="14176215"/>
            <a:ext cx="1275416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ru-RU" sz="3600" b="1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Моделирование оптическо</a:t>
            </a:r>
            <a:r>
              <a:rPr lang="ru-RU" sz="36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й накачки</a:t>
            </a:r>
            <a:endParaRPr sz="1600" dirty="0"/>
          </a:p>
        </p:txBody>
      </p:sp>
      <p:sp>
        <p:nvSpPr>
          <p:cNvPr id="57" name="Google Shape;105;p1">
            <a:extLst>
              <a:ext uri="{FF2B5EF4-FFF2-40B4-BE49-F238E27FC236}">
                <a16:creationId xmlns:a16="http://schemas.microsoft.com/office/drawing/2014/main" xmlns="" id="{835E3A90-8EC2-48A8-8CFE-BBEC47140B19}"/>
              </a:ext>
            </a:extLst>
          </p:cNvPr>
          <p:cNvSpPr txBox="1"/>
          <p:nvPr/>
        </p:nvSpPr>
        <p:spPr>
          <a:xfrm>
            <a:off x="15213932" y="19067412"/>
            <a:ext cx="15137606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18000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Рис.5. </a:t>
            </a: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</a:t>
            </a:r>
            <a:r>
              <a:rPr lang="ru-RU" sz="28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хема моделирования оптической накачки (</a:t>
            </a:r>
            <a:r>
              <a:rPr lang="ru-RU" sz="2800" dirty="0">
                <a:latin typeface="Times New Roman"/>
                <a:ea typeface="Times New Roman"/>
                <a:cs typeface="Times New Roman"/>
                <a:sym typeface="Times New Roman"/>
              </a:rPr>
              <a:t>а</a:t>
            </a:r>
            <a:r>
              <a:rPr lang="ru-RU" sz="28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и графики </a:t>
            </a:r>
            <a:r>
              <a:rPr lang="ru-RU" sz="280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зависимост</a:t>
            </a:r>
            <a:r>
              <a:rPr lang="ru-RU" sz="2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ей</a:t>
            </a:r>
            <a:r>
              <a:rPr lang="ru-RU" sz="280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населенности атомов в состоянии ∣F = 1, m = 0⟩ и температуры нагрева от длительности оптической накачки (б).</a:t>
            </a:r>
            <a:endParaRPr sz="280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" name="Google Shape;132;p1">
            <a:extLst>
              <a:ext uri="{FF2B5EF4-FFF2-40B4-BE49-F238E27FC236}">
                <a16:creationId xmlns:a16="http://schemas.microsoft.com/office/drawing/2014/main" xmlns="" id="{353A6D0F-1F11-47C3-8A7D-18C0070DC061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t="1900" b="5866"/>
          <a:stretch/>
        </p:blipFill>
        <p:spPr>
          <a:xfrm>
            <a:off x="15190278" y="15227740"/>
            <a:ext cx="3184573" cy="331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Рисунок 70">
            <a:extLst>
              <a:ext uri="{FF2B5EF4-FFF2-40B4-BE49-F238E27FC236}">
                <a16:creationId xmlns:a16="http://schemas.microsoft.com/office/drawing/2014/main" xmlns="" id="{304ADDEB-6A47-4EB1-AFFD-B96BBD16097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6248" y="15264020"/>
            <a:ext cx="4605762" cy="3830832"/>
          </a:xfrm>
          <a:prstGeom prst="rect">
            <a:avLst/>
          </a:prstGeom>
        </p:spPr>
      </p:pic>
      <p:sp>
        <p:nvSpPr>
          <p:cNvPr id="72" name="Google Shape;135;p1">
            <a:extLst>
              <a:ext uri="{FF2B5EF4-FFF2-40B4-BE49-F238E27FC236}">
                <a16:creationId xmlns:a16="http://schemas.microsoft.com/office/drawing/2014/main" xmlns="" id="{CDE37C3F-27FA-4849-8920-9A2DAE05EA0D}"/>
              </a:ext>
            </a:extLst>
          </p:cNvPr>
          <p:cNvSpPr txBox="1"/>
          <p:nvPr/>
        </p:nvSpPr>
        <p:spPr>
          <a:xfrm>
            <a:off x="28653244" y="14695046"/>
            <a:ext cx="97416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(б) 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112;p1">
            <a:extLst>
              <a:ext uri="{FF2B5EF4-FFF2-40B4-BE49-F238E27FC236}">
                <a16:creationId xmlns:a16="http://schemas.microsoft.com/office/drawing/2014/main" xmlns="" id="{69A6D9AF-30F7-4B39-8659-E5AB58BFE012}"/>
              </a:ext>
            </a:extLst>
          </p:cNvPr>
          <p:cNvSpPr/>
          <p:nvPr/>
        </p:nvSpPr>
        <p:spPr>
          <a:xfrm>
            <a:off x="15144449" y="20152258"/>
            <a:ext cx="15123596" cy="2029182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113;p1">
            <a:extLst>
              <a:ext uri="{FF2B5EF4-FFF2-40B4-BE49-F238E27FC236}">
                <a16:creationId xmlns:a16="http://schemas.microsoft.com/office/drawing/2014/main" xmlns="" id="{40A66407-B567-4270-995B-D6B1A2A3EDC2}"/>
              </a:ext>
            </a:extLst>
          </p:cNvPr>
          <p:cNvSpPr txBox="1"/>
          <p:nvPr/>
        </p:nvSpPr>
        <p:spPr>
          <a:xfrm>
            <a:off x="16468836" y="20065072"/>
            <a:ext cx="11519105" cy="685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532284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u="sng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Экспериментальные результаты</a:t>
            </a:r>
            <a:endParaRPr dirty="0"/>
          </a:p>
        </p:txBody>
      </p:sp>
      <p:pic>
        <p:nvPicPr>
          <p:cNvPr id="75" name="Google Shape;114;p1">
            <a:extLst>
              <a:ext uri="{FF2B5EF4-FFF2-40B4-BE49-F238E27FC236}">
                <a16:creationId xmlns:a16="http://schemas.microsoft.com/office/drawing/2014/main" xmlns="" id="{D4FD603E-3954-4309-86E3-451D70A8311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 t="7648"/>
          <a:stretch/>
        </p:blipFill>
        <p:spPr>
          <a:xfrm>
            <a:off x="18507264" y="32532564"/>
            <a:ext cx="8077289" cy="663448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115;p1">
            <a:extLst>
              <a:ext uri="{FF2B5EF4-FFF2-40B4-BE49-F238E27FC236}">
                <a16:creationId xmlns:a16="http://schemas.microsoft.com/office/drawing/2014/main" xmlns="" id="{CEC2ED3C-8513-4352-B5F6-6CD0206DF02F}"/>
              </a:ext>
            </a:extLst>
          </p:cNvPr>
          <p:cNvSpPr txBox="1"/>
          <p:nvPr/>
        </p:nvSpPr>
        <p:spPr>
          <a:xfrm>
            <a:off x="16436012" y="26531798"/>
            <a:ext cx="12533625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ru-RU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6. </a:t>
            </a:r>
            <a:r>
              <a:rPr lang="ru-RU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з</a:t>
            </a:r>
            <a:r>
              <a:rPr lang="ru-RU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ависимость населенности атомов до и после оптической накачки от отстройки относительно часового перехода.</a:t>
            </a:r>
            <a:endParaRPr sz="1600" dirty="0"/>
          </a:p>
        </p:txBody>
      </p:sp>
      <p:sp>
        <p:nvSpPr>
          <p:cNvPr id="77" name="Google Shape;116;p1">
            <a:extLst>
              <a:ext uri="{FF2B5EF4-FFF2-40B4-BE49-F238E27FC236}">
                <a16:creationId xmlns:a16="http://schemas.microsoft.com/office/drawing/2014/main" xmlns="" id="{39D23453-D8EF-4152-8760-D676C67A2B56}"/>
              </a:ext>
            </a:extLst>
          </p:cNvPr>
          <p:cNvSpPr txBox="1"/>
          <p:nvPr/>
        </p:nvSpPr>
        <p:spPr>
          <a:xfrm>
            <a:off x="19708674" y="27367510"/>
            <a:ext cx="567446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imes New Roman"/>
              <a:buNone/>
            </a:pPr>
            <a:r>
              <a:rPr lang="ru-RU" sz="3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</a:t>
            </a:r>
            <a:r>
              <a:rPr lang="ru-RU" sz="36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ru-RU" sz="3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ru-RU" sz="36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flight</a:t>
            </a:r>
            <a:r>
              <a:rPr lang="ru-RU" sz="3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36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117;p1">
            <a:extLst>
              <a:ext uri="{FF2B5EF4-FFF2-40B4-BE49-F238E27FC236}">
                <a16:creationId xmlns:a16="http://schemas.microsoft.com/office/drawing/2014/main" xmlns="" id="{287C8F0F-34E7-49D4-BB5E-DA7DF580B891}"/>
              </a:ext>
            </a:extLst>
          </p:cNvPr>
          <p:cNvSpPr txBox="1"/>
          <p:nvPr/>
        </p:nvSpPr>
        <p:spPr>
          <a:xfrm>
            <a:off x="15654288" y="38989487"/>
            <a:ext cx="14215862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ru-RU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7</a:t>
            </a:r>
            <a:r>
              <a:rPr lang="ru-RU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-RU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Изображение временной эволюции облака атомов (a) и </a:t>
            </a:r>
            <a:r>
              <a:rPr lang="ru-RU" sz="28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экспериментальные з</a:t>
            </a:r>
            <a:r>
              <a:rPr lang="ru-RU" sz="28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ависимости </a:t>
            </a:r>
            <a:r>
              <a:rPr lang="ru-RU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квадрата размера облака холодных атомов (1/e) от квадрата времени свободного падения до и после оптической накачки в немагнитное состояние (b).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118;p1">
            <a:extLst>
              <a:ext uri="{FF2B5EF4-FFF2-40B4-BE49-F238E27FC236}">
                <a16:creationId xmlns:a16="http://schemas.microsoft.com/office/drawing/2014/main" xmlns="" id="{F082ACAC-698F-4F4D-9BB5-0FDD65954DB2}"/>
              </a:ext>
            </a:extLst>
          </p:cNvPr>
          <p:cNvSpPr txBox="1"/>
          <p:nvPr/>
        </p:nvSpPr>
        <p:spPr>
          <a:xfrm>
            <a:off x="27093360" y="27485865"/>
            <a:ext cx="90708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119;p1">
            <a:extLst>
              <a:ext uri="{FF2B5EF4-FFF2-40B4-BE49-F238E27FC236}">
                <a16:creationId xmlns:a16="http://schemas.microsoft.com/office/drawing/2014/main" xmlns="" id="{041B9CD7-90B6-410E-9110-9F7D8515BBA3}"/>
              </a:ext>
            </a:extLst>
          </p:cNvPr>
          <p:cNvSpPr txBox="1"/>
          <p:nvPr/>
        </p:nvSpPr>
        <p:spPr>
          <a:xfrm>
            <a:off x="26820664" y="32635685"/>
            <a:ext cx="90708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120;p1">
            <a:extLst>
              <a:ext uri="{FF2B5EF4-FFF2-40B4-BE49-F238E27FC236}">
                <a16:creationId xmlns:a16="http://schemas.microsoft.com/office/drawing/2014/main" xmlns="" id="{5F891CA6-245C-4B1C-85AB-9B72239DC123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 t="7072"/>
          <a:stretch/>
        </p:blipFill>
        <p:spPr>
          <a:xfrm>
            <a:off x="18408084" y="20708108"/>
            <a:ext cx="8183918" cy="594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127;p1" descr="https://lh7-rt.googleusercontent.com/slidesz/AGV_vUfQFYLtY2FjTQr7IFHzlkKBCHeyujkayVscmvM_ZtWrphAdXKCaLY60ZbpfLZg12jZAsRqQl4iqGW0lWkIEBozY5KtHbVxjFwlR49-6HQN-dGVIqjq8HAfU-aO2zNamebJymnukrX72YDnhLmvRxTU=s2048?key=P4lD9V1SCTzNB_8IaOOg0ZNi">
            <a:extLst>
              <a:ext uri="{FF2B5EF4-FFF2-40B4-BE49-F238E27FC236}">
                <a16:creationId xmlns:a16="http://schemas.microsoft.com/office/drawing/2014/main" xmlns="" id="{745DE9F5-4FD3-4BB5-B122-954556A1F529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r="21099" b="5356"/>
          <a:stretch/>
        </p:blipFill>
        <p:spPr>
          <a:xfrm>
            <a:off x="17878451" y="27919000"/>
            <a:ext cx="9260947" cy="458028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122;p1">
            <a:extLst>
              <a:ext uri="{FF2B5EF4-FFF2-40B4-BE49-F238E27FC236}">
                <a16:creationId xmlns:a16="http://schemas.microsoft.com/office/drawing/2014/main" xmlns="" id="{BCEFE340-26A9-4E9A-9290-416CB3A43CE1}"/>
              </a:ext>
            </a:extLst>
          </p:cNvPr>
          <p:cNvSpPr/>
          <p:nvPr/>
        </p:nvSpPr>
        <p:spPr>
          <a:xfrm>
            <a:off x="15144449" y="40401381"/>
            <a:ext cx="15116752" cy="2395290"/>
          </a:xfrm>
          <a:prstGeom prst="rect">
            <a:avLst/>
          </a:prstGeom>
          <a:solidFill>
            <a:srgbClr val="FBE4D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123;p1">
            <a:extLst>
              <a:ext uri="{FF2B5EF4-FFF2-40B4-BE49-F238E27FC236}">
                <a16:creationId xmlns:a16="http://schemas.microsoft.com/office/drawing/2014/main" xmlns="" id="{B7945CFF-8E6F-41C9-A5D1-BA12DBC08562}"/>
              </a:ext>
            </a:extLst>
          </p:cNvPr>
          <p:cNvSpPr txBox="1"/>
          <p:nvPr/>
        </p:nvSpPr>
        <p:spPr>
          <a:xfrm>
            <a:off x="15168821" y="40918514"/>
            <a:ext cx="14950920" cy="1936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AutoNum type="arabicPeriod"/>
            </a:pP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Geiger</a:t>
            </a: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R. </a:t>
            </a:r>
            <a:r>
              <a:rPr lang="ru-RU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</a:t>
            </a: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</a:t>
            </a: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High-</a:t>
            </a:r>
            <a:r>
              <a:rPr lang="ru-RU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inertial</a:t>
            </a: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measurements</a:t>
            </a: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</a:t>
            </a: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cold-atom</a:t>
            </a: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sensors</a:t>
            </a: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//AVS Quantum Science. – 2020. – Т. 2. – №. 2.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AutoNum type="arabicPeriod"/>
            </a:pP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Atoneche</a:t>
            </a: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F., </a:t>
            </a:r>
            <a:r>
              <a:rPr lang="ru-RU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Kastberg</a:t>
            </a: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A. </a:t>
            </a:r>
            <a:r>
              <a:rPr lang="ru-RU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Simplified</a:t>
            </a: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approach</a:t>
            </a: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quantitative</a:t>
            </a: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calculations</a:t>
            </a: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optical</a:t>
            </a: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pumping</a:t>
            </a: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// European Journal </a:t>
            </a:r>
            <a:r>
              <a:rPr lang="ru-RU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Physics</a:t>
            </a:r>
            <a:r>
              <a:rPr lang="ru-RU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2017. Т. 38. №. 4. С. 045703.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124;p1">
            <a:extLst>
              <a:ext uri="{FF2B5EF4-FFF2-40B4-BE49-F238E27FC236}">
                <a16:creationId xmlns:a16="http://schemas.microsoft.com/office/drawing/2014/main" xmlns="" id="{0144FF94-4F54-49DF-A055-7A0561898DFD}"/>
              </a:ext>
            </a:extLst>
          </p:cNvPr>
          <p:cNvSpPr txBox="1"/>
          <p:nvPr/>
        </p:nvSpPr>
        <p:spPr>
          <a:xfrm>
            <a:off x="17034722" y="40317406"/>
            <a:ext cx="10965727" cy="685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532284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Литература</a:t>
            </a:r>
            <a:endParaRPr dirty="0"/>
          </a:p>
        </p:txBody>
      </p:sp>
      <p:cxnSp>
        <p:nvCxnSpPr>
          <p:cNvPr id="90" name="Прямая соединительная линия 89">
            <a:extLst>
              <a:ext uri="{FF2B5EF4-FFF2-40B4-BE49-F238E27FC236}">
                <a16:creationId xmlns:a16="http://schemas.microsoft.com/office/drawing/2014/main" xmlns="" id="{2A6DFCA8-9807-47D3-BC91-4EAF557D3C19}"/>
              </a:ext>
            </a:extLst>
          </p:cNvPr>
          <p:cNvCxnSpPr>
            <a:cxnSpLocks/>
          </p:cNvCxnSpPr>
          <p:nvPr/>
        </p:nvCxnSpPr>
        <p:spPr>
          <a:xfrm>
            <a:off x="22955135" y="21235691"/>
            <a:ext cx="1965291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2" name="Google Shape;115;p1">
            <a:extLst>
              <a:ext uri="{FF2B5EF4-FFF2-40B4-BE49-F238E27FC236}">
                <a16:creationId xmlns:a16="http://schemas.microsoft.com/office/drawing/2014/main" xmlns="" id="{37D2EB87-E6D4-4E03-9A38-6966DBC62914}"/>
              </a:ext>
            </a:extLst>
          </p:cNvPr>
          <p:cNvSpPr txBox="1"/>
          <p:nvPr/>
        </p:nvSpPr>
        <p:spPr>
          <a:xfrm>
            <a:off x="17670967" y="20784844"/>
            <a:ext cx="12533625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ru-RU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Более 90 %</a:t>
            </a:r>
            <a:endParaRPr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xmlns="" id="{FE2B49D8-DCEB-4659-9092-B765CDEFB45E}"/>
                  </a:ext>
                </a:extLst>
              </p:cNvPr>
              <p:cNvSpPr txBox="1"/>
              <p:nvPr/>
            </p:nvSpPr>
            <p:spPr>
              <a:xfrm>
                <a:off x="22958627" y="36231744"/>
                <a:ext cx="5694617" cy="620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ru-RU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ru-RU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ru-RU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u-RU" sz="28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ru-RU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ru-RU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E2B49D8-DCEB-4659-9092-B765CDEFB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8627" y="36231744"/>
                <a:ext cx="5694617" cy="620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Полилиния: фигура 96">
            <a:extLst>
              <a:ext uri="{FF2B5EF4-FFF2-40B4-BE49-F238E27FC236}">
                <a16:creationId xmlns:a16="http://schemas.microsoft.com/office/drawing/2014/main" xmlns="" id="{777EE48F-D26F-4D6B-AEE9-DB519353E54F}"/>
              </a:ext>
            </a:extLst>
          </p:cNvPr>
          <p:cNvSpPr/>
          <p:nvPr/>
        </p:nvSpPr>
        <p:spPr>
          <a:xfrm>
            <a:off x="1814286" y="29661012"/>
            <a:ext cx="2452914" cy="731902"/>
          </a:xfrm>
          <a:custGeom>
            <a:avLst/>
            <a:gdLst>
              <a:gd name="connsiteX0" fmla="*/ 0 w 2452914"/>
              <a:gd name="connsiteY0" fmla="*/ 64245 h 731902"/>
              <a:gd name="connsiteX1" fmla="*/ 1640114 w 2452914"/>
              <a:gd name="connsiteY1" fmla="*/ 64245 h 731902"/>
              <a:gd name="connsiteX2" fmla="*/ 2452914 w 2452914"/>
              <a:gd name="connsiteY2" fmla="*/ 731902 h 731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2914" h="731902">
                <a:moveTo>
                  <a:pt x="0" y="64245"/>
                </a:moveTo>
                <a:cubicBezTo>
                  <a:pt x="615647" y="8607"/>
                  <a:pt x="1231295" y="-47031"/>
                  <a:pt x="1640114" y="64245"/>
                </a:cubicBezTo>
                <a:cubicBezTo>
                  <a:pt x="2048933" y="175521"/>
                  <a:pt x="2312609" y="601273"/>
                  <a:pt x="2452914" y="731902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8" name="Полилиния: фигура 97">
            <a:extLst>
              <a:ext uri="{FF2B5EF4-FFF2-40B4-BE49-F238E27FC236}">
                <a16:creationId xmlns:a16="http://schemas.microsoft.com/office/drawing/2014/main" xmlns="" id="{DA753CCF-1583-4B13-9461-89472B0AC73A}"/>
              </a:ext>
            </a:extLst>
          </p:cNvPr>
          <p:cNvSpPr/>
          <p:nvPr/>
        </p:nvSpPr>
        <p:spPr>
          <a:xfrm>
            <a:off x="5514975" y="28070640"/>
            <a:ext cx="2505075" cy="3647610"/>
          </a:xfrm>
          <a:custGeom>
            <a:avLst/>
            <a:gdLst>
              <a:gd name="connsiteX0" fmla="*/ 0 w 2505075"/>
              <a:gd name="connsiteY0" fmla="*/ 437685 h 3647610"/>
              <a:gd name="connsiteX1" fmla="*/ 2047875 w 2505075"/>
              <a:gd name="connsiteY1" fmla="*/ 275760 h 3647610"/>
              <a:gd name="connsiteX2" fmla="*/ 2505075 w 2505075"/>
              <a:gd name="connsiteY2" fmla="*/ 3647610 h 364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5075" h="3647610">
                <a:moveTo>
                  <a:pt x="0" y="437685"/>
                </a:moveTo>
                <a:cubicBezTo>
                  <a:pt x="815181" y="89229"/>
                  <a:pt x="1630363" y="-259227"/>
                  <a:pt x="2047875" y="275760"/>
                </a:cubicBezTo>
                <a:cubicBezTo>
                  <a:pt x="2465387" y="810747"/>
                  <a:pt x="2427288" y="3072935"/>
                  <a:pt x="2505075" y="364761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BC955342-D6CF-48F3-8482-FE5DB55D71E8}"/>
                  </a:ext>
                </a:extLst>
              </p:cNvPr>
              <p:cNvSpPr txBox="1"/>
              <p:nvPr/>
            </p:nvSpPr>
            <p:spPr>
              <a:xfrm>
                <a:off x="18705165" y="15106562"/>
                <a:ext cx="6128794" cy="8345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𝑛𝑘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𝑛𝑘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𝑛𝑘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C955342-D6CF-48F3-8482-FE5DB55D7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5165" y="15106562"/>
                <a:ext cx="6128794" cy="83458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37778EB9-615F-4359-8658-BDEC8283EDE6}"/>
                  </a:ext>
                </a:extLst>
              </p:cNvPr>
              <p:cNvSpPr txBox="1"/>
              <p:nvPr/>
            </p:nvSpPr>
            <p:spPr>
              <a:xfrm>
                <a:off x="18705165" y="16265155"/>
                <a:ext cx="4060022" cy="8009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Г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𝑠𝑎𝑡</m:t>
                              </m:r>
                            </m:sub>
                          </m:s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𝑠𝑎𝑡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+(2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Г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7778EB9-615F-4359-8658-BDEC8283E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5165" y="16265155"/>
                <a:ext cx="4060022" cy="800925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01B3D8B3-B2E9-4FDA-91EC-CD6D931314EF}"/>
                  </a:ext>
                </a:extLst>
              </p:cNvPr>
              <p:cNvSpPr txBox="1"/>
              <p:nvPr/>
            </p:nvSpPr>
            <p:spPr>
              <a:xfrm>
                <a:off x="18715690" y="17361582"/>
                <a:ext cx="2328010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,∆</m:t>
                        </m:r>
                      </m:e>
                    </m:d>
                  </m:oMath>
                </a14:m>
                <a:r>
                  <a:rPr lang="en-US" dirty="0"/>
                  <a:t>=</a:t>
                </a:r>
                <a:r>
                  <a:rPr lang="ru-RU" dirty="0"/>
                  <a:t> </a:t>
                </a:r>
                <a:r>
                  <a:rPr lang="en-US" dirty="0"/>
                  <a:t>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∆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Г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1B3D8B3-B2E9-4FDA-91EC-CD6D93131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5690" y="17361582"/>
                <a:ext cx="2328010" cy="299313"/>
              </a:xfrm>
              <a:prstGeom prst="rect">
                <a:avLst/>
              </a:prstGeom>
              <a:blipFill rotWithShape="0">
                <a:blip r:embed="rId17"/>
                <a:stretch>
                  <a:fillRect l="-3403" t="-24490" r="-1047" b="-428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2D86AFA0-0C2F-4609-86C1-153CA9F4009A}"/>
                  </a:ext>
                </a:extLst>
              </p:cNvPr>
              <p:cNvSpPr txBox="1"/>
              <p:nvPr/>
            </p:nvSpPr>
            <p:spPr>
              <a:xfrm>
                <a:off x="18715690" y="17952512"/>
                <a:ext cx="1139479" cy="8343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sSub>
                            <m:sSub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D86AFA0-0C2F-4609-86C1-153CA9F40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5690" y="17952512"/>
                <a:ext cx="1139479" cy="834331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Google Shape;110;p1">
            <a:extLst>
              <a:ext uri="{FF2B5EF4-FFF2-40B4-BE49-F238E27FC236}">
                <a16:creationId xmlns:a16="http://schemas.microsoft.com/office/drawing/2014/main" xmlns="" id="{8893F151-E63F-4B06-96DC-670EB2B651C2}"/>
              </a:ext>
            </a:extLst>
          </p:cNvPr>
          <p:cNvSpPr txBox="1"/>
          <p:nvPr/>
        </p:nvSpPr>
        <p:spPr>
          <a:xfrm>
            <a:off x="16578054" y="8320032"/>
            <a:ext cx="1275416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Подготовка атомов в немагнитном квантовом состоянии</a:t>
            </a:r>
            <a:r>
              <a:rPr lang="en-US" sz="3600" b="1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xmlns="" id="{2ADEAE28-A05B-44C2-BA9D-FA7C318A8A9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2"/>
              </a:ext>
            </a:extLst>
          </a:blip>
          <a:stretch>
            <a:fillRect/>
          </a:stretch>
        </p:blipFill>
        <p:spPr>
          <a:xfrm>
            <a:off x="448920" y="26403588"/>
            <a:ext cx="14659256" cy="7978651"/>
          </a:xfrm>
          <a:prstGeom prst="rect">
            <a:avLst/>
          </a:prstGeom>
        </p:spPr>
      </p:pic>
      <p:sp>
        <p:nvSpPr>
          <p:cNvPr id="59" name="Google Shape;135;p1">
            <a:extLst>
              <a:ext uri="{FF2B5EF4-FFF2-40B4-BE49-F238E27FC236}">
                <a16:creationId xmlns:a16="http://schemas.microsoft.com/office/drawing/2014/main" xmlns="" id="{17283262-D916-4480-AD1A-738465B72999}"/>
              </a:ext>
            </a:extLst>
          </p:cNvPr>
          <p:cNvSpPr txBox="1"/>
          <p:nvPr/>
        </p:nvSpPr>
        <p:spPr>
          <a:xfrm>
            <a:off x="17391368" y="14688982"/>
            <a:ext cx="97416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(а) 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90462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236</TotalTime>
  <Words>596</Words>
  <Application>Microsoft Office PowerPoint</Application>
  <PresentationFormat>Произвольный</PresentationFormat>
  <Paragraphs>45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kilrealladam@gmail.com</dc:creator>
  <cp:lastModifiedBy>Макаров Антон Олегович</cp:lastModifiedBy>
  <cp:revision>16</cp:revision>
  <dcterms:created xsi:type="dcterms:W3CDTF">2025-04-16T07:01:05Z</dcterms:created>
  <dcterms:modified xsi:type="dcterms:W3CDTF">2025-04-17T09:23:34Z</dcterms:modified>
</cp:coreProperties>
</file>