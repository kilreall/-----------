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5999725" cx="27000200"/>
  <p:notesSz cx="6858000" cy="9144000"/>
  <p:embeddedFontLst>
    <p:embeddedFont>
      <p:font typeface="Cambria Math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U8Zg85+2Ar70ytq12KJwDd1yF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CambriaMath-regular.fntdata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2025015" y="5891626"/>
            <a:ext cx="22950170" cy="12533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717"/>
              <a:buFont typeface="Calibri"/>
              <a:buNone/>
              <a:defRPr sz="1771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375025" y="18908198"/>
            <a:ext cx="20250150" cy="8691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7087"/>
              <a:buNone/>
              <a:defRPr sz="7087"/>
            </a:lvl1pPr>
            <a:lvl2pPr lvl="1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None/>
              <a:defRPr sz="5906"/>
            </a:lvl2pPr>
            <a:lvl3pPr lvl="2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5315"/>
            </a:lvl3pPr>
            <a:lvl4pPr lvl="3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4pPr>
            <a:lvl5pPr lvl="4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5pPr>
            <a:lvl6pPr lvl="5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6pPr>
            <a:lvl7pPr lvl="6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7pPr>
            <a:lvl8pPr lvl="7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8pPr>
            <a:lvl9pPr lvl="8" algn="ctr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856264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856264" y="9583264"/>
            <a:ext cx="23287673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842202" y="8974945"/>
            <a:ext cx="23287673" cy="1497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717"/>
              <a:buFont typeface="Calibri"/>
              <a:buNone/>
              <a:defRPr sz="1771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842202" y="24091502"/>
            <a:ext cx="23287673" cy="787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7087"/>
              <a:buNone/>
              <a:defRPr sz="7087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5906"/>
              <a:buNone/>
              <a:defRPr sz="590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5315"/>
              <a:buNone/>
              <a:defRPr sz="531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472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1856264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856264" y="9583264"/>
            <a:ext cx="11475085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13668851" y="9583264"/>
            <a:ext cx="11475085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859780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1859784" y="8824938"/>
            <a:ext cx="11422348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7087"/>
              <a:buNone/>
              <a:defRPr b="1" sz="7087"/>
            </a:lvl1pPr>
            <a:lvl2pPr indent="-2286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None/>
              <a:defRPr b="1" sz="5906"/>
            </a:lvl2pPr>
            <a:lvl3pPr indent="-2286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b="1" sz="5315"/>
            </a:lvl3pPr>
            <a:lvl4pPr indent="-2286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4pPr>
            <a:lvl5pPr indent="-2286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5pPr>
            <a:lvl6pPr indent="-2286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6pPr>
            <a:lvl7pPr indent="-2286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7pPr>
            <a:lvl8pPr indent="-2286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8pPr>
            <a:lvl9pPr indent="-2286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1859784" y="13149904"/>
            <a:ext cx="11422348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13668853" y="8824938"/>
            <a:ext cx="11478602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7087"/>
              <a:buNone/>
              <a:defRPr b="1" sz="7087"/>
            </a:lvl1pPr>
            <a:lvl2pPr indent="-2286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None/>
              <a:defRPr b="1" sz="5906"/>
            </a:lvl2pPr>
            <a:lvl3pPr indent="-2286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b="1" sz="5315"/>
            </a:lvl3pPr>
            <a:lvl4pPr indent="-2286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4pPr>
            <a:lvl5pPr indent="-2286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5pPr>
            <a:lvl6pPr indent="-2286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6pPr>
            <a:lvl7pPr indent="-2286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7pPr>
            <a:lvl8pPr indent="-2286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8pPr>
            <a:lvl9pPr indent="-2286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b="1" sz="4724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13668853" y="13149904"/>
            <a:ext cx="11478602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1856264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859781" y="2399982"/>
            <a:ext cx="8708267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Calibri"/>
              <a:buNone/>
              <a:defRPr sz="944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1478602" y="5183304"/>
            <a:ext cx="13668851" cy="25583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28611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9449"/>
              <a:buChar char="•"/>
              <a:defRPr sz="9449"/>
            </a:lvl1pPr>
            <a:lvl2pPr indent="-753618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8268"/>
              <a:buChar char="•"/>
              <a:defRPr sz="8268"/>
            </a:lvl2pPr>
            <a:lvl3pPr indent="-678624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7087"/>
              <a:buChar char="•"/>
              <a:defRPr sz="7087"/>
            </a:lvl3pPr>
            <a:lvl4pPr indent="-603631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4pPr>
            <a:lvl5pPr indent="-603631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5pPr>
            <a:lvl6pPr indent="-603631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6pPr>
            <a:lvl7pPr indent="-603631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7pPr>
            <a:lvl8pPr indent="-603631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8pPr>
            <a:lvl9pPr indent="-603631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Char char="•"/>
              <a:defRPr sz="5906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859781" y="10799922"/>
            <a:ext cx="8708267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1pPr>
            <a:lvl2pPr indent="-2286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4134"/>
            </a:lvl2pPr>
            <a:lvl3pPr indent="-2286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3pPr>
            <a:lvl4pPr indent="-2286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4pPr>
            <a:lvl5pPr indent="-2286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5pPr>
            <a:lvl6pPr indent="-2286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6pPr>
            <a:lvl7pPr indent="-2286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7pPr>
            <a:lvl8pPr indent="-2286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8pPr>
            <a:lvl9pPr indent="-2286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859781" y="2399982"/>
            <a:ext cx="8708267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Calibri"/>
              <a:buNone/>
              <a:defRPr sz="944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1478602" y="5183304"/>
            <a:ext cx="13668851" cy="2558314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859781" y="10799922"/>
            <a:ext cx="8708267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1pPr>
            <a:lvl2pPr indent="-2286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4134"/>
            </a:lvl2pPr>
            <a:lvl3pPr indent="-2286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3pPr>
            <a:lvl4pPr indent="-2286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4pPr>
            <a:lvl5pPr indent="-2286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5pPr>
            <a:lvl6pPr indent="-2286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6pPr>
            <a:lvl7pPr indent="-2286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7pPr>
            <a:lvl8pPr indent="-2286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8pPr>
            <a:lvl9pPr indent="-2286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953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856264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079349" y="9360179"/>
            <a:ext cx="22841503" cy="2328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6978922" y="14259751"/>
            <a:ext cx="30508114" cy="5821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4833666" y="8606584"/>
            <a:ext cx="30508114" cy="17128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856264" y="1916661"/>
            <a:ext cx="23287673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2"/>
              <a:buFont typeface="Calibri"/>
              <a:buNone/>
              <a:defRPr b="0" i="0" sz="129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856264" y="9583264"/>
            <a:ext cx="23287673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53618" lvl="0" marL="457200" marR="0" rtl="0" algn="l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8268"/>
              <a:buFont typeface="Arial"/>
              <a:buChar char="•"/>
              <a:defRPr b="0" i="0" sz="826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78624" lvl="1" marL="9144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7087"/>
              <a:buFont typeface="Arial"/>
              <a:buChar char="•"/>
              <a:defRPr b="0" i="0" sz="70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03631" lvl="2" marL="13716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6"/>
              <a:buFont typeface="Arial"/>
              <a:buChar char="•"/>
              <a:defRPr b="0" i="0" sz="59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66102" lvl="3" marL="18288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66102" lvl="4" marL="22860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66102" lvl="5" marL="27432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66102" lvl="6" marL="32004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66102" lvl="7" marL="36576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66102" lvl="8" marL="4114800" marR="0" rtl="0" algn="l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b="0" i="0" sz="5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856264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8943816" y="33366432"/>
            <a:ext cx="9112568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9068891" y="33366432"/>
            <a:ext cx="6075045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54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10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-411604" y="-19050"/>
            <a:ext cx="28459554" cy="221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532307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квантового-интерферометра гравиметра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339567" y="2212272"/>
            <a:ext cx="18000133" cy="718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532307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Адамов К.Н</a:t>
            </a:r>
            <a:r>
              <a:rPr b="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1,2,*</a:t>
            </a:r>
            <a:r>
              <a:rPr b="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Капуста Д.Н </a:t>
            </a:r>
            <a:r>
              <a:rPr b="0" baseline="3000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39566" y="2984926"/>
            <a:ext cx="18000133" cy="2039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532307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ru-RU" sz="27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ru-RU" sz="27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университет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532307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ru-RU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Институт лазерной физики СО РАН, Новосибирск</a:t>
            </a:r>
            <a:endParaRPr/>
          </a:p>
          <a:p>
            <a:pPr indent="532307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*: ofadamovkirill@gmail.com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7025" y="5290646"/>
            <a:ext cx="26346150" cy="7546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8034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измерения ускорения свободного падения используются гравиметры, которые подразделяются на абсолютные и относительные. Среди них особое место занимают абсолютные квантовые гравиметры [1], обладающие рядом преимуществ, включая отсутствие дрейфа, отсутствие подвижных механических элементов, обеспечивают высокую скорость проведения измерений, а также возможность совмещения функционала гравиметра, гироскопа и акселерометра в одном приборе. Квантовый гравиметр на основе атомных интерферометров имеет широкий спектр применений: разведка полезных ископаемых, высокоточная навигация, исследование вулканической активности, тестирования эффектов специальной и общей теории относительности, измерение постоянной тонкой структуры и т.д. Точность и чувствительность квантового гравиметра определяются параметрами источника ультрахолодных атомов </a:t>
            </a:r>
            <a:r>
              <a:rPr b="0" baseline="3000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Rb, включая число атомов в облаке, их температура, эффективность подготовки начального атомного волнового пакета и др.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8034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работе проведено исследование по подготовке ультрахолодных атомов </a:t>
            </a:r>
            <a:r>
              <a:rPr b="0" baseline="3000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 в магнито-нечувствительное квантовое состояние для атомного интерферометра-гравиметра. В ходе исследования выполнено численное моделирование оптической накачки атомов рубидия на уровень |F=1, m=0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〉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использованием перехода |F=1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〉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↔|F’=0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〉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путем численного решения скоростных уравнений для населенностей магнитных подуровней основного состояния [2]. Моделирование показало, что данный метод накачки имеет высокую эффективность (~100%) и не приводит к существенному нагреву атомов. Благодаря его применению нами проведена подготовка атомов </a:t>
            </a:r>
            <a:r>
              <a:rPr b="0" baseline="3000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 в немагнитное квантовое состояние |F=1, F=0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〉</a:t>
            </a:r>
            <a:r>
              <a:rPr b="0" i="0" lang="ru-RU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эффективностью более 90 %, сопровождающейся незначительным нагревом атомного облака (~1 мкК).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67" y="15934175"/>
            <a:ext cx="8833583" cy="583478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121973" y="13908371"/>
            <a:ext cx="789882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Принцип работы атомного интерферометра-гравиметра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867900" y="16303430"/>
            <a:ext cx="5319918" cy="10450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1" name="Google Shape;91;p1"/>
          <p:cNvCxnSpPr/>
          <p:nvPr/>
        </p:nvCxnSpPr>
        <p:spPr>
          <a:xfrm>
            <a:off x="10489509" y="18173700"/>
            <a:ext cx="4533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"/>
          <p:cNvCxnSpPr/>
          <p:nvPr/>
        </p:nvCxnSpPr>
        <p:spPr>
          <a:xfrm>
            <a:off x="10425318" y="20593050"/>
            <a:ext cx="4533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1"/>
          <p:cNvCxnSpPr/>
          <p:nvPr/>
        </p:nvCxnSpPr>
        <p:spPr>
          <a:xfrm>
            <a:off x="10489509" y="18832518"/>
            <a:ext cx="4533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1"/>
          <p:cNvSpPr txBox="1"/>
          <p:nvPr/>
        </p:nvSpPr>
        <p:spPr>
          <a:xfrm>
            <a:off x="9010651" y="20190147"/>
            <a:ext cx="14146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2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9010651" y="17769215"/>
            <a:ext cx="61771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1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1"/>
          <p:cNvCxnSpPr/>
          <p:nvPr/>
        </p:nvCxnSpPr>
        <p:spPr>
          <a:xfrm>
            <a:off x="14420850" y="18173700"/>
            <a:ext cx="0" cy="65881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" name="Google Shape;97;p1"/>
          <p:cNvSpPr txBox="1"/>
          <p:nvPr/>
        </p:nvSpPr>
        <p:spPr>
          <a:xfrm>
            <a:off x="15299142" y="18200102"/>
            <a:ext cx="1922001" cy="5539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9010650" y="21142596"/>
            <a:ext cx="14146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"/>
          <p:cNvCxnSpPr/>
          <p:nvPr/>
        </p:nvCxnSpPr>
        <p:spPr>
          <a:xfrm>
            <a:off x="10425317" y="21507450"/>
            <a:ext cx="4533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1"/>
          <p:cNvCxnSpPr/>
          <p:nvPr/>
        </p:nvCxnSpPr>
        <p:spPr>
          <a:xfrm rot="10800000">
            <a:off x="12553950" y="18832518"/>
            <a:ext cx="0" cy="267493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" name="Google Shape;101;p1"/>
          <p:cNvCxnSpPr/>
          <p:nvPr/>
        </p:nvCxnSpPr>
        <p:spPr>
          <a:xfrm>
            <a:off x="13658793" y="18832518"/>
            <a:ext cx="0" cy="102410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" name="Google Shape;102;p1"/>
          <p:cNvSpPr txBox="1"/>
          <p:nvPr/>
        </p:nvSpPr>
        <p:spPr>
          <a:xfrm>
            <a:off x="11578860" y="19856625"/>
            <a:ext cx="1269348" cy="55399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3386126" y="19080367"/>
            <a:ext cx="1269348" cy="55399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4" name="Google Shape;104;p1"/>
          <p:cNvCxnSpPr/>
          <p:nvPr/>
        </p:nvCxnSpPr>
        <p:spPr>
          <a:xfrm>
            <a:off x="14731617" y="20606317"/>
            <a:ext cx="0" cy="90348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5" name="Google Shape;105;p1"/>
          <p:cNvSpPr txBox="1"/>
          <p:nvPr/>
        </p:nvSpPr>
        <p:spPr>
          <a:xfrm>
            <a:off x="15187818" y="20737507"/>
            <a:ext cx="2444515" cy="55399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6" name="Google Shape;106;p1"/>
          <p:cNvCxnSpPr/>
          <p:nvPr/>
        </p:nvCxnSpPr>
        <p:spPr>
          <a:xfrm>
            <a:off x="13658793" y="19856625"/>
            <a:ext cx="0" cy="16399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7" name="Google Shape;107;p1"/>
          <p:cNvSpPr txBox="1"/>
          <p:nvPr/>
        </p:nvSpPr>
        <p:spPr>
          <a:xfrm>
            <a:off x="12848208" y="20718955"/>
            <a:ext cx="1269348" cy="55399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10">
            <a:alphaModFix/>
          </a:blip>
          <a:srcRect b="0" l="9375" r="0" t="0"/>
          <a:stretch/>
        </p:blipFill>
        <p:spPr>
          <a:xfrm>
            <a:off x="2270070" y="22084979"/>
            <a:ext cx="12791439" cy="705734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1052717" y="29142322"/>
            <a:ext cx="173305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квантового гравиметра основан на использовании лазерно-контролируемой интерференции внутренних состояний атомов, находящихся в условиях свободного падения в сверхвысоком вакууме. После завершения интерференционного процесса осуществляется измерение населённостей атомных состояний, что позволяет определить величину гравитационного ускорения.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2025-04-04T05:24:09Z</dcterms:created>
  <dc:creator>kilrealladam@gmail.com</dc:creator>
</cp:coreProperties>
</file>