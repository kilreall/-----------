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45" r:id="rId2"/>
    <p:sldId id="307" r:id="rId3"/>
    <p:sldId id="258" r:id="rId4"/>
    <p:sldId id="308" r:id="rId5"/>
    <p:sldId id="312" r:id="rId6"/>
    <p:sldId id="261" r:id="rId7"/>
    <p:sldId id="318" r:id="rId8"/>
    <p:sldId id="314" r:id="rId9"/>
    <p:sldId id="343" r:id="rId10"/>
    <p:sldId id="344" r:id="rId11"/>
    <p:sldId id="341" r:id="rId12"/>
    <p:sldId id="338" r:id="rId13"/>
    <p:sldId id="336" r:id="rId14"/>
    <p:sldId id="340" r:id="rId15"/>
    <p:sldId id="334" r:id="rId16"/>
    <p:sldId id="296" r:id="rId17"/>
    <p:sldId id="309" r:id="rId18"/>
    <p:sldId id="33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BqtUg9D33KGP93h8hXToFf3vrq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F9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131" autoAdjust="0"/>
  </p:normalViewPr>
  <p:slideViewPr>
    <p:cSldViewPr snapToGrid="0">
      <p:cViewPr varScale="1">
        <p:scale>
          <a:sx n="109" d="100"/>
          <a:sy n="109" d="100"/>
        </p:scale>
        <p:origin x="828" y="1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53C5C78D-3493-4AB6-B6C4-71977B81EE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349AD0A-FD81-4209-B751-6B835D3BD5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7F42C-05F7-408C-B103-96C0C10292EF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C77F5D0C-A26F-41B4-A78D-D513AA88C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7CC604D-54B8-4AC3-A942-D3AE589051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1B033-AC90-43D5-B19D-E9E156403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02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492247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8073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91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63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84" name="Google Shape;1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7583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8829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4297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xmlns="" id="{9E080679-B901-3206-F122-6DCA7B65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:notes">
            <a:extLst>
              <a:ext uri="{FF2B5EF4-FFF2-40B4-BE49-F238E27FC236}">
                <a16:creationId xmlns:a16="http://schemas.microsoft.com/office/drawing/2014/main" xmlns="" id="{4F66D097-9293-AE91-865E-9D10F5823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43:notes">
            <a:extLst>
              <a:ext uri="{FF2B5EF4-FFF2-40B4-BE49-F238E27FC236}">
                <a16:creationId xmlns:a16="http://schemas.microsoft.com/office/drawing/2014/main" xmlns="" id="{A8AA3B59-9A9D-62AD-DBA4-729F5ACF9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8703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798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39.png"/><Relationship Id="rId7" Type="http://schemas.openxmlformats.org/officeDocument/2006/relationships/image" Target="../media/image41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4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-111370" y="1790319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859281" y="2582614"/>
            <a:ext cx="10362068" cy="243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Адамов Кирилл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курс Аспирантуры 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ФФ НГУ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Научные руководители: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к.ф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.-м.н., зав. лаб. 1.12 Гончаров Андрей </a:t>
            </a: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Николаевич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lang="ru-RU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с.н.с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Капуста Дмитрий Николаевич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111370" y="427345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</a:t>
            </a:r>
            <a:r>
              <a:rPr lang="ru-RU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Интерференция ультрахолодных атомов рубидия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140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;p16">
            <a:extLst>
              <a:ext uri="{FF2B5EF4-FFF2-40B4-BE49-F238E27FC236}">
                <a16:creationId xmlns:a16="http://schemas.microsoft.com/office/drawing/2014/main" xmlns="" id="{C5767328-1785-46B5-813F-A312F3382CC4}"/>
              </a:ext>
            </a:extLst>
          </p:cNvPr>
          <p:cNvSpPr/>
          <p:nvPr/>
        </p:nvSpPr>
        <p:spPr>
          <a:xfrm>
            <a:off x="2486631" y="124030"/>
            <a:ext cx="6910755" cy="43867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3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93EC11A-A157-487D-ADF7-8A978D0305FA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0262367" y="44900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ru-RU" sz="18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Гал</a:t>
            </a:r>
            <a:r>
              <a:rPr lang="ru-RU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см</a:t>
            </a:r>
            <a:r>
              <a:rPr lang="en-US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lang="en-US" sz="1800" baseline="30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ru-RU" sz="1800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xmlns="" id="{7088C13C-1B02-440F-93B7-1757D6862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288903"/>
              </p:ext>
            </p:extLst>
          </p:nvPr>
        </p:nvGraphicFramePr>
        <p:xfrm>
          <a:off x="309068" y="2795739"/>
          <a:ext cx="11263144" cy="3790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4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0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18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645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2593">
                <a:tc>
                  <a:txBody>
                    <a:bodyPr/>
                    <a:lstStyle/>
                    <a:p>
                      <a:pPr algn="ctr"/>
                      <a:r>
                        <a:rPr lang="ru-RU" sz="1800" b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Типы гравиметров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Относительные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Абсолютные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609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гравиметров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Сверхпроводниковые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(GWR)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Баллистические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(FG5)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Квантовые(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Tao Zhang, Wuhan</a:t>
                      </a:r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Чувствительность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Стабильность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0599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0096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0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Необходимость калибровки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7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 опроса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7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Подвижные элементы в конструкции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Присутствуют, не являются проблемой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Присутствуют, ограничивают частоту опроса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Отсутствуют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42304434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61242"/>
              </p:ext>
            </p:extLst>
          </p:nvPr>
        </p:nvGraphicFramePr>
        <p:xfrm>
          <a:off x="771063" y="698581"/>
          <a:ext cx="10649874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9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6570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Факторы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Локальные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аномалии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Давление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воздуха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Приливы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отливы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Сезонные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изменения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мкГал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торр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250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 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мкГал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Google Shape;96;p16">
            <a:extLst>
              <a:ext uri="{FF2B5EF4-FFF2-40B4-BE49-F238E27FC236}">
                <a16:creationId xmlns:a16="http://schemas.microsoft.com/office/drawing/2014/main" xmlns="" id="{423EA0ED-41B0-045E-C05E-55922F62F740}"/>
              </a:ext>
            </a:extLst>
          </p:cNvPr>
          <p:cNvSpPr txBox="1"/>
          <p:nvPr/>
        </p:nvSpPr>
        <p:spPr>
          <a:xfrm>
            <a:off x="2051409" y="2056399"/>
            <a:ext cx="453090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Геофизика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98;p16">
            <a:extLst>
              <a:ext uri="{FF2B5EF4-FFF2-40B4-BE49-F238E27FC236}">
                <a16:creationId xmlns:a16="http://schemas.microsoft.com/office/drawing/2014/main" xmlns="" id="{E4243556-E438-CFBC-29D6-4D8BF0F905CD}"/>
              </a:ext>
            </a:extLst>
          </p:cNvPr>
          <p:cNvSpPr txBox="1"/>
          <p:nvPr/>
        </p:nvSpPr>
        <p:spPr>
          <a:xfrm>
            <a:off x="2301505" y="1717885"/>
            <a:ext cx="78883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Сферы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деятельности, требующие прецизионных измерений гравитации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4F37B3D-67F2-43BC-66AA-BE525757435E}"/>
              </a:ext>
            </a:extLst>
          </p:cNvPr>
          <p:cNvSpPr txBox="1"/>
          <p:nvPr/>
        </p:nvSpPr>
        <p:spPr>
          <a:xfrm>
            <a:off x="6683302" y="2056399"/>
            <a:ext cx="370901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lang="ru-RU"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261017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187629" y="5980125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1. Принципиальная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230942" y="32593"/>
            <a:ext cx="7730115" cy="59543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квантового гравиметра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096000" y="1658031"/>
            <a:ext cx="580151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</a:t>
            </a:r>
            <a:r>
              <a:rPr lang="ru-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оследовательность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Магнито-оптическая ловушка (МОЛ)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Субдоплеровское охлаждение</a:t>
            </a:r>
            <a:endParaRPr lang="ru-RU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Подготовка начального атомного волнового пакета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томная интерференция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2768A1C-0EF5-462D-9F3E-871D6D7DCD89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0104CFAB-661A-70B1-D4BF-84D4505FC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5" t="3324" r="2549" b="371"/>
          <a:stretch/>
        </p:blipFill>
        <p:spPr>
          <a:xfrm>
            <a:off x="1500895" y="690154"/>
            <a:ext cx="4353963" cy="5165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517E7CE-C80C-57B9-6CD2-509946F4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9" t="3914" r="2226" b="2619"/>
          <a:stretch/>
        </p:blipFill>
        <p:spPr>
          <a:xfrm>
            <a:off x="3758669" y="776576"/>
            <a:ext cx="4178620" cy="2931639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3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интерферометра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3263753" y="3692162"/>
            <a:ext cx="586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472" y="776576"/>
            <a:ext cx="3545100" cy="30137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B363D8B-4970-43DE-BCF6-8B91DEC4358D}"/>
              </a:ext>
            </a:extLst>
          </p:cNvPr>
          <p:cNvSpPr txBox="1"/>
          <p:nvPr/>
        </p:nvSpPr>
        <p:spPr>
          <a:xfrm>
            <a:off x="522248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3209143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8178782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blipFill rotWithShape="0">
                <a:blip r:embed="rId5"/>
                <a:stretch>
                  <a:fillRect b="-422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178555" y="4742630"/>
            <a:ext cx="448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волновое число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8258681" y="3692162"/>
            <a:ext cx="3619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атомных состояний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8574804" y="4151302"/>
                <a:ext cx="3181768" cy="118000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804" y="4151302"/>
                <a:ext cx="3181768" cy="11800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139;p21">
            <a:extLst>
              <a:ext uri="{FF2B5EF4-FFF2-40B4-BE49-F238E27FC236}">
                <a16:creationId xmlns:a16="http://schemas.microsoft.com/office/drawing/2014/main" xmlns="" id="{B7A8C424-1497-4145-B7C5-C8EA445193E9}"/>
              </a:ext>
            </a:extLst>
          </p:cNvPr>
          <p:cNvSpPr txBox="1"/>
          <p:nvPr/>
        </p:nvSpPr>
        <p:spPr>
          <a:xfrm>
            <a:off x="608506" y="5888947"/>
            <a:ext cx="1079090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Схема переходов в </a:t>
            </a:r>
            <a:r>
              <a:rPr lang="en-US" sz="16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Rb,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используемых для атомной интерференции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иллюстрация 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зависимость величины интерференционного сигнала от скорости чирпирования </a:t>
            </a:r>
            <a:r>
              <a:rPr lang="el-GR" sz="1600" dirty="0"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82296" y="3692162"/>
            <a:ext cx="2675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 частоты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723472" y="4162817"/>
                <a:ext cx="179119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dirty="0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sym typeface="Symbol"/>
                            </a:rPr>
                            <m:t>𝑅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0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+2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𝜋𝛼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𝑡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72" y="4162817"/>
                <a:ext cx="179119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6405" y="4742630"/>
            <a:ext cx="304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7C7F885-9814-4E89-91F6-B6347CA79E74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428" y="1431362"/>
            <a:ext cx="2981325" cy="1914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970D59FF-3EFC-AE6F-C462-671EC06C19B7}"/>
                  </a:ext>
                </a:extLst>
              </p:cNvPr>
              <p:cNvSpPr txBox="1"/>
              <p:nvPr/>
            </p:nvSpPr>
            <p:spPr>
              <a:xfrm>
                <a:off x="5198036" y="5243717"/>
                <a:ext cx="1044004" cy="549381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sz="18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</m:den>
                    </m:f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0D59FF-3EFC-AE6F-C462-671EC06C1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036" y="5243717"/>
                <a:ext cx="1044004" cy="549381"/>
              </a:xfrm>
              <a:prstGeom prst="rect">
                <a:avLst/>
              </a:prstGeom>
              <a:blipFill>
                <a:blip r:embed="rId9"/>
                <a:stretch>
                  <a:fillRect b="-1053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75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DC97405-FC6B-4DED-9A25-2DB377181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9" y="1179408"/>
            <a:ext cx="5615229" cy="347457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B5E0CD9E-6E28-AA2D-6EAD-7D917ADD4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9" t="3793" r="231"/>
          <a:stretch/>
        </p:blipFill>
        <p:spPr>
          <a:xfrm>
            <a:off x="5910608" y="1687201"/>
            <a:ext cx="6226111" cy="2458992"/>
          </a:xfrm>
          <a:prstGeom prst="rect">
            <a:avLst/>
          </a:prstGeom>
        </p:spPr>
      </p:pic>
      <p:sp>
        <p:nvSpPr>
          <p:cNvPr id="4" name="Google Shape;178;p5">
            <a:extLst>
              <a:ext uri="{FF2B5EF4-FFF2-40B4-BE49-F238E27FC236}">
                <a16:creationId xmlns:a16="http://schemas.microsoft.com/office/drawing/2014/main" xmlns="" id="{0C300431-2A84-42F9-AC7F-37BC35CDB8A9}"/>
              </a:ext>
            </a:extLst>
          </p:cNvPr>
          <p:cNvSpPr/>
          <p:nvPr/>
        </p:nvSpPr>
        <p:spPr>
          <a:xfrm>
            <a:off x="2272032" y="15210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D2686F3-13E8-45ED-A8AD-5CE2C3BD8A29}"/>
              </a:ext>
            </a:extLst>
          </p:cNvPr>
          <p:cNvSpPr txBox="1"/>
          <p:nvPr/>
        </p:nvSpPr>
        <p:spPr>
          <a:xfrm>
            <a:off x="684775" y="5010629"/>
            <a:ext cx="105871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Рис. 3. С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хема уровней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sz="14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линии атома </a:t>
            </a:r>
            <a:r>
              <a:rPr lang="ru-RU" sz="14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87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Rb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используемые частоты лазерного излучения (слева)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птическая схема формирования лазерного излучения, используемого для лазерного охлаждения и пленения атомов рубидия, оптической накачки и осуществления двухфотонных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рамановских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переходов в атомном интерферометре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справа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AF96418-F43F-49D3-8F8E-E2651F57759E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878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1824587" y="5021396"/>
            <a:ext cx="819227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рамановские пучки (фиолетовые), пробный пучок (жёлтый), оптика (коллиматоры, зеркала, линзы) и видеокамера. На рисунке не показаны четвертьволновые пластинки и катушка анти-Гельмгольца(фронтальная сторона)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2465349" y="1001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8DBF2D1-7100-5EC3-B82B-FE54E463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480" y="1184995"/>
            <a:ext cx="7401958" cy="3715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7293648" y="4457301"/>
            <a:ext cx="2126372" cy="173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10579453" y="4129970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10270032" y="2105263"/>
            <a:ext cx="21259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9233029" y="4122702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8125093" y="4126685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7291205" y="412683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5520028" y="3426494"/>
            <a:ext cx="328768" cy="198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358427" y="3794876"/>
            <a:ext cx="4382559" cy="167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5039772" y="3079237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3981508" y="2125399"/>
            <a:ext cx="1001779" cy="1753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3981509" y="1818671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2670350" y="1808076"/>
            <a:ext cx="1187327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660002" y="1498979"/>
            <a:ext cx="119901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670350" y="2106695"/>
            <a:ext cx="118873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188;p22"/>
          <p:cNvSpPr/>
          <p:nvPr/>
        </p:nvSpPr>
        <p:spPr>
          <a:xfrm>
            <a:off x="2465349" y="100125"/>
            <a:ext cx="6910755" cy="48334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</a:t>
            </a:r>
            <a:r>
              <a:rPr lang="ru-RU" sz="2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последовательность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7016" y="138259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Маг. поле МОЛ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424751" y="1599156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716" y="1706864"/>
            <a:ext cx="2586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Охлаждающее излучение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16568" y="1912594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40467" y="200491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Перекачка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416568" y="221243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48696" y="235315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2545" y="266817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6197" y="301220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416568" y="3203007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05295" y="368981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2416568" y="3531123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64650" y="333627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80683" y="402924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12287" y="435135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</a:t>
            </a:r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>
            <a:off x="2421069" y="455346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2657749" y="1261745"/>
            <a:ext cx="20647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3851039" y="1267762"/>
            <a:ext cx="16090" cy="365628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2510135" y="4875571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3606920" y="4873816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919577" y="92119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4680190" y="486946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07851" y="90687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Субдоплер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87811" y="868192"/>
            <a:ext cx="221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немаг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состояние</a:t>
            </a: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>
            <a:off x="7094658" y="1261745"/>
            <a:ext cx="21816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6844877" y="4864030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9723937" y="1261745"/>
            <a:ext cx="17049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9482662" y="486119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187;p22"/>
          <p:cNvSpPr txBox="1"/>
          <p:nvPr/>
        </p:nvSpPr>
        <p:spPr>
          <a:xfrm>
            <a:off x="2805834" y="5572585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5. 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Временная последовательность работы гравиметра.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11092199" y="1261745"/>
            <a:ext cx="5591" cy="36432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D264B975-A8B3-4554-9188-E48F759EEE32}"/>
              </a:ext>
            </a:extLst>
          </p:cNvPr>
          <p:cNvSpPr txBox="1"/>
          <p:nvPr/>
        </p:nvSpPr>
        <p:spPr>
          <a:xfrm>
            <a:off x="10932024" y="4871253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49919" y="92411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59969" y="92411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</a:p>
        </p:txBody>
      </p:sp>
      <p:sp>
        <p:nvSpPr>
          <p:cNvPr id="63" name="Google Shape;187;p22">
            <a:extLst>
              <a:ext uri="{FF2B5EF4-FFF2-40B4-BE49-F238E27FC236}">
                <a16:creationId xmlns:a16="http://schemas.microsoft.com/office/drawing/2014/main" xmlns="" id="{752E87BA-AE03-4575-BC6E-FFA836941546}"/>
              </a:ext>
            </a:extLst>
          </p:cNvPr>
          <p:cNvSpPr txBox="1"/>
          <p:nvPr/>
        </p:nvSpPr>
        <p:spPr>
          <a:xfrm>
            <a:off x="2980435" y="5203294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dirty="0">
                <a:latin typeface="Times New Roman"/>
                <a:cs typeface="Times New Roman"/>
                <a:sym typeface="Times New Roman"/>
              </a:rPr>
              <a:t>Время, 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[</a:t>
            </a:r>
            <a:r>
              <a:rPr lang="ru-RU" sz="1800" dirty="0" err="1">
                <a:latin typeface="Times New Roman"/>
                <a:cs typeface="Times New Roman"/>
                <a:sym typeface="Times New Roman"/>
              </a:rPr>
              <a:t>мс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Прямая соединительная линия 150">
            <a:extLst>
              <a:ext uri="{FF2B5EF4-FFF2-40B4-BE49-F238E27FC236}">
                <a16:creationId xmlns:a16="http://schemas.microsoft.com/office/drawing/2014/main" xmlns="" id="{248B8D68-1797-4905-AC45-2C0793BDA79A}"/>
              </a:ext>
            </a:extLst>
          </p:cNvPr>
          <p:cNvCxnSpPr/>
          <p:nvPr/>
        </p:nvCxnSpPr>
        <p:spPr>
          <a:xfrm flipH="1">
            <a:off x="3041397" y="4410725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единительная линия 153">
            <a:extLst>
              <a:ext uri="{FF2B5EF4-FFF2-40B4-BE49-F238E27FC236}">
                <a16:creationId xmlns:a16="http://schemas.microsoft.com/office/drawing/2014/main" xmlns="" id="{E08F3811-E9DD-466E-B562-EDC2724496C2}"/>
              </a:ext>
            </a:extLst>
          </p:cNvPr>
          <p:cNvCxnSpPr/>
          <p:nvPr/>
        </p:nvCxnSpPr>
        <p:spPr>
          <a:xfrm flipH="1">
            <a:off x="3343492" y="4408042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xmlns="" id="{D95B086B-20F1-4FB8-973C-18B9F97E541F}"/>
              </a:ext>
            </a:extLst>
          </p:cNvPr>
          <p:cNvSpPr/>
          <p:nvPr/>
        </p:nvSpPr>
        <p:spPr>
          <a:xfrm rot="1536041">
            <a:off x="3143797" y="4384282"/>
            <a:ext cx="241841" cy="341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xmlns="" id="{EE466986-E0AF-4394-9D4C-BEFEDC65AD31}"/>
              </a:ext>
            </a:extLst>
          </p:cNvPr>
          <p:cNvSpPr/>
          <p:nvPr/>
        </p:nvSpPr>
        <p:spPr>
          <a:xfrm>
            <a:off x="9840902" y="413683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xmlns="" id="{883A6D51-BD10-4CB1-9C2A-1746D6D82718}"/>
              </a:ext>
            </a:extLst>
          </p:cNvPr>
          <p:cNvSpPr/>
          <p:nvPr/>
        </p:nvSpPr>
        <p:spPr>
          <a:xfrm>
            <a:off x="9840903" y="244654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xmlns="" id="{71D83A6E-C16E-4F2B-83C6-29C70DD39534}"/>
              </a:ext>
            </a:extLst>
          </p:cNvPr>
          <p:cNvSpPr/>
          <p:nvPr/>
        </p:nvSpPr>
        <p:spPr>
          <a:xfrm>
            <a:off x="10579453" y="2764203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416568" y="254231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2416568" y="3881241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2416568" y="423135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2416568" y="285796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  <p:cxnSp>
        <p:nvCxnSpPr>
          <p:cNvPr id="117" name="Прямая соединительная линия 116"/>
          <p:cNvCxnSpPr/>
          <p:nvPr/>
        </p:nvCxnSpPr>
        <p:spPr>
          <a:xfrm>
            <a:off x="4974321" y="1267762"/>
            <a:ext cx="16090" cy="365628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7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xmlns="" id="{B517E7CE-C80C-57B9-6CD2-509946F4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9" t="3914" r="2226" b="2619"/>
          <a:stretch/>
        </p:blipFill>
        <p:spPr>
          <a:xfrm>
            <a:off x="4225236" y="1040363"/>
            <a:ext cx="3727344" cy="26150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t="4191"/>
          <a:stretch/>
        </p:blipFill>
        <p:spPr>
          <a:xfrm>
            <a:off x="2313708" y="915605"/>
            <a:ext cx="911540" cy="2203764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xmlns="" id="{D6D133B6-FCC8-4C58-A203-3759379D37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63" t="10044" r="6469" b="9599"/>
          <a:stretch/>
        </p:blipFill>
        <p:spPr>
          <a:xfrm>
            <a:off x="8205080" y="1170886"/>
            <a:ext cx="3603233" cy="2600707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3200" b="1" i="0" u="none" strike="noStrike" cap="none" dirty="0">
                <a:solidFill>
                  <a:schemeClr val="lt1"/>
                </a:solidFill>
                <a:latin typeface="Times New Roman"/>
                <a:ea typeface="Arial"/>
                <a:cs typeface="Times New Roman"/>
                <a:sym typeface="Times New Roman"/>
              </a:rPr>
              <a:t>Влияние вибрационных возмущений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1639817" y="5000545"/>
            <a:ext cx="492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7971039" y="75798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2367955" y="5420807"/>
                <a:ext cx="3198953" cy="36324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ru-RU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Ф</m:t>
                          </m:r>
                        </m:e>
                        <m:sub>
                          <m:r>
                            <a:rPr lang="ru-RU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виб</m:t>
                          </m:r>
                        </m:sub>
                      </m:sSub>
                      <m:r>
                        <a:rPr lang="ru-RU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55" y="5420807"/>
                <a:ext cx="3198953" cy="363241"/>
              </a:xfrm>
              <a:prstGeom prst="rect">
                <a:avLst/>
              </a:prstGeom>
              <a:blipFill rotWithShape="0">
                <a:blip r:embed="rId6"/>
                <a:stretch>
                  <a:fillRect b="-500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239246" y="5837018"/>
            <a:ext cx="41853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волновое число,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вибрационная фаза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39;p21">
            <a:extLst>
              <a:ext uri="{FF2B5EF4-FFF2-40B4-BE49-F238E27FC236}">
                <a16:creationId xmlns:a16="http://schemas.microsoft.com/office/drawing/2014/main" xmlns="" id="{B7A8C424-1497-4145-B7C5-C8EA445193E9}"/>
              </a:ext>
            </a:extLst>
          </p:cNvPr>
          <p:cNvSpPr txBox="1"/>
          <p:nvPr/>
        </p:nvSpPr>
        <p:spPr>
          <a:xfrm>
            <a:off x="908268" y="4389140"/>
            <a:ext cx="107909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Демонстрация влияни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я вибраций зеркала на фазу лазерного излучения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иллюстрация 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демонстрация смешения интерференционной картины из-за вибрация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7C7F885-9814-4E89-91F6-B6347CA79E74}"/>
              </a:ext>
            </a:extLst>
          </p:cNvPr>
          <p:cNvSpPr txBox="1"/>
          <p:nvPr/>
        </p:nvSpPr>
        <p:spPr>
          <a:xfrm>
            <a:off x="11571298" y="6440400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C228A56-F53C-4040-AA74-A750668FC7D9}"/>
              </a:ext>
            </a:extLst>
          </p:cNvPr>
          <p:cNvSpPr txBox="1"/>
          <p:nvPr/>
        </p:nvSpPr>
        <p:spPr>
          <a:xfrm>
            <a:off x="1392699" y="768545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1F084374-756E-4C7D-93D4-4F9875A29030}"/>
                  </a:ext>
                </a:extLst>
              </p:cNvPr>
              <p:cNvSpPr txBox="1"/>
              <p:nvPr/>
            </p:nvSpPr>
            <p:spPr>
              <a:xfrm>
                <a:off x="2421985" y="2540296"/>
                <a:ext cx="27122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F084374-756E-4C7D-93D4-4F9875A29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85" y="2540296"/>
                <a:ext cx="271228" cy="246221"/>
              </a:xfrm>
              <a:prstGeom prst="rect">
                <a:avLst/>
              </a:prstGeom>
              <a:blipFill rotWithShape="0">
                <a:blip r:embed="rId7"/>
                <a:stretch>
                  <a:fillRect l="-15556" r="-6667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75AB15FA-B823-45BE-9719-060BB92C4C75}"/>
                  </a:ext>
                </a:extLst>
              </p:cNvPr>
              <p:cNvSpPr txBox="1"/>
              <p:nvPr/>
            </p:nvSpPr>
            <p:spPr>
              <a:xfrm>
                <a:off x="2156394" y="3445722"/>
                <a:ext cx="1226168" cy="2659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AB15FA-B823-45BE-9719-060BB92C4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394" y="3445722"/>
                <a:ext cx="1226168" cy="265970"/>
              </a:xfrm>
              <a:prstGeom prst="rect">
                <a:avLst/>
              </a:prstGeom>
              <a:blipFill rotWithShape="0">
                <a:blip r:embed="rId8"/>
                <a:stretch>
                  <a:fillRect l="-2985" r="-995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DE66B3E-91DE-4731-B98D-DD8CA74B0925}"/>
              </a:ext>
            </a:extLst>
          </p:cNvPr>
          <p:cNvSpPr txBox="1"/>
          <p:nvPr/>
        </p:nvSpPr>
        <p:spPr>
          <a:xfrm>
            <a:off x="1920629" y="3097228"/>
            <a:ext cx="16976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Набег фазы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05B47A22-8C1F-491D-8F65-97B9F142E382}"/>
              </a:ext>
            </a:extLst>
          </p:cNvPr>
          <p:cNvSpPr txBox="1"/>
          <p:nvPr/>
        </p:nvSpPr>
        <p:spPr>
          <a:xfrm>
            <a:off x="3990271" y="768545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8981319" y="3824494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319" y="3824494"/>
                <a:ext cx="2050754" cy="62632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3A8042C-E52E-4288-B49A-5DABBD83A1A0}"/>
              </a:ext>
            </a:extLst>
          </p:cNvPr>
          <p:cNvSpPr txBox="1"/>
          <p:nvPr/>
        </p:nvSpPr>
        <p:spPr>
          <a:xfrm>
            <a:off x="8205080" y="5000545"/>
            <a:ext cx="270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656B4533-F1DA-4E4E-8C53-BCC6CEFB8E14}"/>
                  </a:ext>
                </a:extLst>
              </p:cNvPr>
              <p:cNvSpPr txBox="1"/>
              <p:nvPr/>
            </p:nvSpPr>
            <p:spPr>
              <a:xfrm>
                <a:off x="8097449" y="5365769"/>
                <a:ext cx="3269005" cy="3345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инт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6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56B4533-F1DA-4E4E-8C53-BCC6CEFB8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449" y="5365769"/>
                <a:ext cx="3269005" cy="334515"/>
              </a:xfrm>
              <a:prstGeom prst="rect">
                <a:avLst/>
              </a:prstGeom>
              <a:blipFill rotWithShape="0">
                <a:blip r:embed="rId10"/>
                <a:stretch>
                  <a:fillRect l="-2235" t="-140000" b="-220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E0F4C38C-6509-4CBE-B2EB-9C3DBDE6CBCF}"/>
              </a:ext>
            </a:extLst>
          </p:cNvPr>
          <p:cNvSpPr txBox="1"/>
          <p:nvPr/>
        </p:nvSpPr>
        <p:spPr>
          <a:xfrm>
            <a:off x="7382529" y="5837018"/>
            <a:ext cx="4698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время атомной интерференции,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гравиметра. </a:t>
            </a:r>
          </a:p>
        </p:txBody>
      </p:sp>
    </p:spTree>
    <p:extLst>
      <p:ext uri="{BB962C8B-B14F-4D97-AF65-F5344CB8AC3E}">
        <p14:creationId xmlns:p14="http://schemas.microsoft.com/office/powerpoint/2010/main" val="366027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535A5357-A41F-4385-8B97-66DA938677B8}"/>
              </a:ext>
            </a:extLst>
          </p:cNvPr>
          <p:cNvSpPr/>
          <p:nvPr/>
        </p:nvSpPr>
        <p:spPr>
          <a:xfrm>
            <a:off x="202224" y="118356"/>
            <a:ext cx="11843238" cy="4839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Экспериментальная </a:t>
            </a:r>
            <a:r>
              <a:rPr lang="ru-RU" sz="28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система для</a:t>
            </a:r>
            <a:r>
              <a:rPr lang="ru-RU" sz="2800" b="1" i="0" u="none" strike="noStrike" cap="none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800" b="1" i="0" u="none" strike="noStrike" cap="none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компенсации вибрационных шумов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8" y="1006252"/>
            <a:ext cx="4210071" cy="35705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ADBD3C2-D191-4F54-98DB-3146E94F5266}"/>
              </a:ext>
            </a:extLst>
          </p:cNvPr>
          <p:cNvSpPr txBox="1"/>
          <p:nvPr/>
        </p:nvSpPr>
        <p:spPr>
          <a:xfrm>
            <a:off x="1661078" y="821586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39;p21">
            <a:extLst>
              <a:ext uri="{FF2B5EF4-FFF2-40B4-BE49-F238E27FC236}">
                <a16:creationId xmlns:a16="http://schemas.microsoft.com/office/drawing/2014/main" xmlns="" id="{DB31045B-64E8-4C95-921F-4E6125B3101B}"/>
              </a:ext>
            </a:extLst>
          </p:cNvPr>
          <p:cNvSpPr txBox="1"/>
          <p:nvPr/>
        </p:nvSpPr>
        <p:spPr>
          <a:xfrm>
            <a:off x="554991" y="4980768"/>
            <a:ext cx="111377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Экспериментальная установка для измерения ускорения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 зеркала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(а)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Окно программы для управления сбора данных с акселерометра с помощью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Red pitaya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):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сигнал акселерометра – синий, триггерный сигнал– красный</a:t>
            </a: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1B86CB88-0BFE-4864-B2EE-834FABF0D6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7" t="2852" r="3812" b="3862"/>
          <a:stretch/>
        </p:blipFill>
        <p:spPr>
          <a:xfrm>
            <a:off x="6572131" y="1123553"/>
            <a:ext cx="4903103" cy="3453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7485A22-BF4D-48AC-895F-DF74FD27014A}"/>
              </a:ext>
            </a:extLst>
          </p:cNvPr>
          <p:cNvSpPr txBox="1"/>
          <p:nvPr/>
        </p:nvSpPr>
        <p:spPr>
          <a:xfrm>
            <a:off x="6064330" y="821586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7C7F885-9814-4E89-91F6-B6347CA79E74}"/>
              </a:ext>
            </a:extLst>
          </p:cNvPr>
          <p:cNvSpPr txBox="1"/>
          <p:nvPr/>
        </p:nvSpPr>
        <p:spPr>
          <a:xfrm>
            <a:off x="11571298" y="6440400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</a:t>
            </a:r>
            <a:r>
              <a:rPr lang="ru-RU" dirty="0" smtClean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625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21">
            <a:extLst>
              <a:ext uri="{FF2B5EF4-FFF2-40B4-BE49-F238E27FC236}">
                <a16:creationId xmlns:a16="http://schemas.microsoft.com/office/drawing/2014/main" xmlns="" id="{535A5357-A41F-4385-8B97-66DA938677B8}"/>
              </a:ext>
            </a:extLst>
          </p:cNvPr>
          <p:cNvSpPr/>
          <p:nvPr/>
        </p:nvSpPr>
        <p:spPr>
          <a:xfrm>
            <a:off x="1336430" y="65602"/>
            <a:ext cx="9460524" cy="47072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32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Пост-коррекция вибрационных шумов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03EAB47F-A127-4F36-9FC1-BDC6A329A7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7" t="5015" r="1585" b="4990"/>
          <a:stretch/>
        </p:blipFill>
        <p:spPr>
          <a:xfrm>
            <a:off x="1787296" y="1178288"/>
            <a:ext cx="8673010" cy="2606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9144724-DE99-40F5-98CF-EB3900FD24E4}"/>
              </a:ext>
            </a:extLst>
          </p:cNvPr>
          <p:cNvSpPr txBox="1"/>
          <p:nvPr/>
        </p:nvSpPr>
        <p:spPr>
          <a:xfrm>
            <a:off x="3381709" y="592122"/>
            <a:ext cx="6574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подбора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 </a:t>
            </a:r>
            <a:r>
              <a:rPr lang="el-G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пост-коррекции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123148B-D47B-4EE9-816D-57391A88CB09}"/>
              </a:ext>
            </a:extLst>
          </p:cNvPr>
          <p:cNvSpPr txBox="1"/>
          <p:nvPr/>
        </p:nvSpPr>
        <p:spPr>
          <a:xfrm>
            <a:off x="2647894" y="4624403"/>
            <a:ext cx="344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Передаточная функция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54F217A7-8A53-4051-B61A-46EE6B6E7593}"/>
                  </a:ext>
                </a:extLst>
              </p:cNvPr>
              <p:cNvSpPr txBox="1"/>
              <p:nvPr/>
            </p:nvSpPr>
            <p:spPr>
              <a:xfrm>
                <a:off x="3054731" y="5105062"/>
                <a:ext cx="19251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4F217A7-8A53-4051-B61A-46EE6B6E7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731" y="5105062"/>
                <a:ext cx="1925142" cy="246221"/>
              </a:xfrm>
              <a:prstGeom prst="rect">
                <a:avLst/>
              </a:prstGeom>
              <a:blipFill rotWithShape="0">
                <a:blip r:embed="rId3"/>
                <a:stretch>
                  <a:fillRect l="-633" b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4EEC305-5116-49C6-A223-32088B9EBA3B}"/>
              </a:ext>
            </a:extLst>
          </p:cNvPr>
          <p:cNvSpPr txBox="1"/>
          <p:nvPr/>
        </p:nvSpPr>
        <p:spPr>
          <a:xfrm>
            <a:off x="2957325" y="5544407"/>
            <a:ext cx="45519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зеркала, 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акселерометра, 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задержка сигнала, 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амплитудный коэффициент.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C747BF1-D877-C44D-1A3D-9144D24233F7}"/>
              </a:ext>
            </a:extLst>
          </p:cNvPr>
          <p:cNvSpPr txBox="1"/>
          <p:nvPr/>
        </p:nvSpPr>
        <p:spPr>
          <a:xfrm>
            <a:off x="7509239" y="4624403"/>
            <a:ext cx="270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B47BEAB4-D999-D846-EE9C-F090FA6F536A}"/>
                  </a:ext>
                </a:extLst>
              </p:cNvPr>
              <p:cNvSpPr txBox="1"/>
              <p:nvPr/>
            </p:nvSpPr>
            <p:spPr>
              <a:xfrm>
                <a:off x="7595039" y="5082589"/>
                <a:ext cx="3269005" cy="3345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инт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6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47BEAB4-D999-D846-EE9C-F090FA6F5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039" y="5082589"/>
                <a:ext cx="3269005" cy="334515"/>
              </a:xfrm>
              <a:prstGeom prst="rect">
                <a:avLst/>
              </a:prstGeom>
              <a:blipFill rotWithShape="0">
                <a:blip r:embed="rId4"/>
                <a:stretch>
                  <a:fillRect l="-2239" t="-141818" b="-21818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EDDC6D4-77F4-B572-AD4A-BE90EC1E8615}"/>
              </a:ext>
            </a:extLst>
          </p:cNvPr>
          <p:cNvSpPr txBox="1"/>
          <p:nvPr/>
        </p:nvSpPr>
        <p:spPr>
          <a:xfrm>
            <a:off x="7595039" y="5544407"/>
            <a:ext cx="4698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ускорение зеркала, 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время атомной интерференции, 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гравиметра. 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xmlns="" id="{95661207-FD7C-4B8C-81F6-BA9919077A58}"/>
              </a:ext>
            </a:extLst>
          </p:cNvPr>
          <p:cNvCxnSpPr>
            <a:cxnSpLocks/>
          </p:cNvCxnSpPr>
          <p:nvPr/>
        </p:nvCxnSpPr>
        <p:spPr>
          <a:xfrm>
            <a:off x="4397073" y="1072781"/>
            <a:ext cx="3564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39;p21">
            <a:extLst>
              <a:ext uri="{FF2B5EF4-FFF2-40B4-BE49-F238E27FC236}">
                <a16:creationId xmlns:a16="http://schemas.microsoft.com/office/drawing/2014/main" xmlns="" id="{DB31045B-64E8-4C95-921F-4E6125B3101B}"/>
              </a:ext>
            </a:extLst>
          </p:cNvPr>
          <p:cNvSpPr txBox="1"/>
          <p:nvPr/>
        </p:nvSpPr>
        <p:spPr>
          <a:xfrm>
            <a:off x="2436879" y="3912365"/>
            <a:ext cx="72262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Демонстрация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подбора коэффициентов передаточной функции и демонстрация пост-коррекции интерференционного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сигнала.</a:t>
            </a: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7C7F885-9814-4E89-91F6-B6347CA79E74}"/>
              </a:ext>
            </a:extLst>
          </p:cNvPr>
          <p:cNvSpPr txBox="1"/>
          <p:nvPr/>
        </p:nvSpPr>
        <p:spPr>
          <a:xfrm>
            <a:off x="11571298" y="6440400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</a:t>
            </a:r>
            <a:r>
              <a:rPr lang="ru-RU" dirty="0" smtClean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35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FD46C5F4-A971-4CA4-8EA1-62B295AC1E02}"/>
              </a:ext>
            </a:extLst>
          </p:cNvPr>
          <p:cNvSpPr/>
          <p:nvPr/>
        </p:nvSpPr>
        <p:spPr>
          <a:xfrm>
            <a:off x="1403493" y="157271"/>
            <a:ext cx="9847608" cy="5581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компенсации вибрационных шумов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CFBBB85-1DFE-4038-BF35-8451EAA57176}"/>
              </a:ext>
            </a:extLst>
          </p:cNvPr>
          <p:cNvSpPr txBox="1"/>
          <p:nvPr/>
        </p:nvSpPr>
        <p:spPr>
          <a:xfrm>
            <a:off x="595025" y="6273225"/>
            <a:ext cx="10996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Интерференционная картина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остатки до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после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компенсации вибрационных шумов.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04A0537-671D-4211-BE82-4434C00B09D1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</a:t>
            </a:r>
            <a:r>
              <a:rPr lang="ru-RU" dirty="0" smtClean="0"/>
              <a:t>10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7163820" y="1055756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820" y="1055756"/>
                <a:ext cx="2050754" cy="6263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65E1332E-B1D6-4008-82C1-20AC426FB8D6}"/>
                  </a:ext>
                </a:extLst>
              </p:cNvPr>
              <p:cNvSpPr txBox="1"/>
              <p:nvPr/>
            </p:nvSpPr>
            <p:spPr>
              <a:xfrm>
                <a:off x="2547878" y="1170370"/>
                <a:ext cx="377941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  <a:sym typeface="Symbol"/>
                      </a:rPr>
                      <m:t></m:t>
                    </m:r>
                    <m:r>
                      <a:rPr lang="ru-RU" sz="1800" i="1" dirty="0" smtClean="0">
                        <a:latin typeface="Cambria Math" panose="02040503050406030204" pitchFamily="18" charset="0"/>
                      </a:rPr>
                      <m:t>Ф=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5E1332E-B1D6-4008-82C1-20AC426F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878" y="1170370"/>
                <a:ext cx="3779419" cy="397096"/>
              </a:xfrm>
              <a:prstGeom prst="rect">
                <a:avLst/>
              </a:prstGeom>
              <a:blipFill rotWithShape="0">
                <a:blip r:embed="rId3"/>
                <a:stretch>
                  <a:fillRect t="-4286" b="-1285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 descr="Изображение выглядит как текст, Шрифт, рукописный текс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xmlns="" id="{2253CE9C-952D-EE63-5BB3-82D275A2B2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0" t="3563" r="874" b="3285"/>
          <a:stretch/>
        </p:blipFill>
        <p:spPr>
          <a:xfrm>
            <a:off x="1696763" y="2022398"/>
            <a:ext cx="8587524" cy="394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19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92" y="1243748"/>
            <a:ext cx="3762715" cy="3576134"/>
          </a:xfrm>
          <a:prstGeom prst="rect">
            <a:avLst/>
          </a:prstGeom>
        </p:spPr>
      </p:pic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FD46C5F4-A971-4CA4-8EA1-62B295AC1E02}"/>
              </a:ext>
            </a:extLst>
          </p:cNvPr>
          <p:cNvSpPr/>
          <p:nvPr/>
        </p:nvSpPr>
        <p:spPr>
          <a:xfrm>
            <a:off x="3285832" y="140868"/>
            <a:ext cx="5620336" cy="46262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Контраст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04A0537-671D-4211-BE82-4434C00B09D1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11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748873" y="1376348"/>
                <a:ext cx="4343204" cy="4056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Погрешность измерений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16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873" y="1376348"/>
                <a:ext cx="4343204" cy="405688"/>
              </a:xfrm>
              <a:prstGeom prst="rect">
                <a:avLst/>
              </a:prstGeom>
              <a:blipFill rotWithShape="0">
                <a:blip r:embed="rId3"/>
                <a:stretch>
                  <a:fillRect l="-2805" t="-4545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 стрелкой 6"/>
          <p:cNvCxnSpPr/>
          <p:nvPr/>
        </p:nvCxnSpPr>
        <p:spPr>
          <a:xfrm flipH="1">
            <a:off x="3499315" y="1413025"/>
            <a:ext cx="204421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>
            <a:off x="4068663" y="4316699"/>
            <a:ext cx="1444414" cy="29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4790870" y="1037794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4807701" y="3941467"/>
            <a:ext cx="619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81407" y="2666308"/>
                <a:ext cx="1511632" cy="50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С=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07" y="2666308"/>
                <a:ext cx="1511632" cy="5025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CFBBB85-1DFE-4038-BF35-8451EAA57176}"/>
              </a:ext>
            </a:extLst>
          </p:cNvPr>
          <p:cNvSpPr txBox="1"/>
          <p:nvPr/>
        </p:nvSpPr>
        <p:spPr>
          <a:xfrm>
            <a:off x="780215" y="4819882"/>
            <a:ext cx="3916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Типичная интерференционная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картина.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74551" y="2704111"/>
                <a:ext cx="95910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С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ru-RU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551" y="2704111"/>
                <a:ext cx="959109" cy="246221"/>
              </a:xfrm>
              <a:prstGeom prst="rect">
                <a:avLst/>
              </a:prstGeom>
              <a:blipFill rotWithShape="0">
                <a:blip r:embed="rId5"/>
                <a:stretch>
                  <a:fillRect l="-3822" r="-3822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6974551" y="3695245"/>
                <a:ext cx="442534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частота раби двух-фотонного перехода</a:t>
                </a:r>
                <a:r>
                  <a:rPr lang="ru-RU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– </a:t>
                </a:r>
                <a:r>
                  <a:rPr lang="ru-RU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интенсивности рамановских пучков,</a:t>
                </a:r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длительность 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/2-импульса.</a:t>
                </a:r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551" y="3695245"/>
                <a:ext cx="4425349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689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866078B1-4A6F-400F-8FDB-55ED181E0378}"/>
                  </a:ext>
                </a:extLst>
              </p:cNvPr>
              <p:cNvSpPr txBox="1"/>
              <p:nvPr/>
            </p:nvSpPr>
            <p:spPr>
              <a:xfrm>
                <a:off x="6974550" y="2116709"/>
                <a:ext cx="2521141" cy="5153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66078B1-4A6F-400F-8FDB-55ED181E0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550" y="2116709"/>
                <a:ext cx="2521141" cy="515334"/>
              </a:xfrm>
              <a:prstGeom prst="rect">
                <a:avLst/>
              </a:prstGeom>
              <a:blipFill rotWithShape="0">
                <a:blip r:embed="rId7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74551" y="3157605"/>
                <a:ext cx="535916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551" y="3157605"/>
                <a:ext cx="535916" cy="46262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31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157" y="1022672"/>
            <a:ext cx="3883938" cy="3696179"/>
          </a:xfrm>
          <a:prstGeom prst="rect">
            <a:avLst/>
          </a:prstGeom>
        </p:spPr>
      </p:pic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FD46C5F4-A971-4CA4-8EA1-62B295AC1E02}"/>
              </a:ext>
            </a:extLst>
          </p:cNvPr>
          <p:cNvSpPr/>
          <p:nvPr/>
        </p:nvSpPr>
        <p:spPr>
          <a:xfrm>
            <a:off x="2579638" y="109228"/>
            <a:ext cx="6674663" cy="7018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Исследование контраста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CFBBB85-1DFE-4038-BF35-8451EAA57176}"/>
              </a:ext>
            </a:extLst>
          </p:cNvPr>
          <p:cNvSpPr txBox="1"/>
          <p:nvPr/>
        </p:nvSpPr>
        <p:spPr>
          <a:xfrm>
            <a:off x="2307517" y="4702215"/>
            <a:ext cx="7576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Модельные и экспериментальные значения контраста в зависимости от времени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 для различных времён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импульсами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6564316" y="2541881"/>
                <a:ext cx="1313180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= 7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мм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5,5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мкК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316" y="2541881"/>
                <a:ext cx="1313180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2791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04A0537-671D-4211-BE82-4434C00B09D1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C1FB3F0-41E9-4CCA-B1F8-0B62A5A00C1F}"/>
              </a:ext>
            </a:extLst>
          </p:cNvPr>
          <p:cNvSpPr txBox="1"/>
          <p:nvPr/>
        </p:nvSpPr>
        <p:spPr>
          <a:xfrm>
            <a:off x="6549527" y="2119323"/>
            <a:ext cx="1189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модели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63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983" y="1127077"/>
            <a:ext cx="4761446" cy="4631883"/>
          </a:xfrm>
          <a:prstGeom prst="rect">
            <a:avLst/>
          </a:prstGeom>
        </p:spPr>
      </p:pic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DACF6021-8B76-1A62-9943-EA6EFAB79205}"/>
              </a:ext>
            </a:extLst>
          </p:cNvPr>
          <p:cNvSpPr/>
          <p:nvPr/>
        </p:nvSpPr>
        <p:spPr>
          <a:xfrm>
            <a:off x="2582334" y="83828"/>
            <a:ext cx="7445130" cy="88137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Зависимость чувствительности гравиметра от времени цикла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FE1B03F-2317-3058-A476-82E1BC7681C9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848FF9D8-F1B7-5D99-7BC0-8106CAA55261}"/>
                  </a:ext>
                </a:extLst>
              </p:cNvPr>
              <p:cNvSpPr txBox="1"/>
              <p:nvPr/>
            </p:nvSpPr>
            <p:spPr>
              <a:xfrm>
                <a:off x="4790266" y="2154976"/>
                <a:ext cx="3433363" cy="608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Стабильность квантового гравиметра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48FF9D8-F1B7-5D99-7BC0-8106CAA55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266" y="2154976"/>
                <a:ext cx="3433363" cy="608115"/>
              </a:xfrm>
              <a:prstGeom prst="rect">
                <a:avLst/>
              </a:prstGeom>
              <a:blipFill rotWithShape="0">
                <a:blip r:embed="rId3"/>
                <a:stretch>
                  <a:fillRect t="-3030"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5C0D6F46-EFEF-26BA-3832-B263B5D0EBE8}"/>
                  </a:ext>
                </a:extLst>
              </p:cNvPr>
              <p:cNvSpPr txBox="1"/>
              <p:nvPr/>
            </p:nvSpPr>
            <p:spPr>
              <a:xfrm>
                <a:off x="6029540" y="2714675"/>
                <a:ext cx="954813" cy="28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C0D6F46-EFEF-26BA-3832-B263B5D0E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540" y="2714675"/>
                <a:ext cx="954813" cy="286169"/>
              </a:xfrm>
              <a:prstGeom prst="rect">
                <a:avLst/>
              </a:prstGeom>
              <a:blipFill rotWithShape="0">
                <a:blip r:embed="rId4"/>
                <a:stretch>
                  <a:fillRect l="-1911" r="-2548" b="-234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xmlns="" id="{DB8C89C8-52E5-49B6-B5EF-F7C46CF45BD8}"/>
                  </a:ext>
                </a:extLst>
              </p:cNvPr>
              <p:cNvSpPr/>
              <p:nvPr/>
            </p:nvSpPr>
            <p:spPr>
              <a:xfrm>
                <a:off x="5574860" y="3037323"/>
                <a:ext cx="21346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чувствительность квантового гравиметра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B8C89C8-52E5-49B6-B5EF-F7C46CF45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860" y="3037323"/>
                <a:ext cx="2134656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857" t="-2326" b="-116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/>
          <p:cNvSpPr/>
          <p:nvPr/>
        </p:nvSpPr>
        <p:spPr>
          <a:xfrm>
            <a:off x="2981540" y="5758960"/>
            <a:ext cx="62855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Зависимости стабильности гравиметра от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усреднения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различных частот опроса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гравиметра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= 5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851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xmlns="" id="{2A8D5B80-DE45-CA24-8AEC-F7F4E8AB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>
            <a:extLst>
              <a:ext uri="{FF2B5EF4-FFF2-40B4-BE49-F238E27FC236}">
                <a16:creationId xmlns:a16="http://schemas.microsoft.com/office/drawing/2014/main" xmlns="" id="{B766B388-3BEE-43F4-D3FB-320633F3096C}"/>
              </a:ext>
            </a:extLst>
          </p:cNvPr>
          <p:cNvSpPr/>
          <p:nvPr/>
        </p:nvSpPr>
        <p:spPr>
          <a:xfrm>
            <a:off x="2440631" y="32966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40;p8">
                <a:extLst>
                  <a:ext uri="{FF2B5EF4-FFF2-40B4-BE49-F238E27FC236}">
                    <a16:creationId xmlns:a16="http://schemas.microsoft.com/office/drawing/2014/main" xmlns="" id="{137E8DA9-8746-00A9-621F-685812E3E204}"/>
                  </a:ext>
                </a:extLst>
              </p:cNvPr>
              <p:cNvSpPr txBox="1"/>
              <p:nvPr/>
            </p:nvSpPr>
            <p:spPr>
              <a:xfrm>
                <a:off x="1065331" y="928766"/>
                <a:ext cx="9239321" cy="5222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R="0" lvl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dk1"/>
                  </a:buClr>
                  <a:buSzPts val="2400"/>
                </a:pPr>
                <a:endParaRPr lang="ru-RU" sz="1800" dirty="0" smtClean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Реализована система пост-коррекции вибрационного шума для сигнала атомного интерферометра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. </a:t>
                </a:r>
                <a:r>
                  <a:rPr lang="ru-RU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В результате использования системы</a:t>
                </a:r>
                <a:r>
                  <a:rPr lang="ru-RU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чувствительность гравиметра увеличилась 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в два раза в условиях повышенных вибрационных возмущений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.</a:t>
                </a:r>
                <a:endParaRPr lang="ru-RU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Выполнено экспериментальное исследование зависимости контраста атомного интерферометра от длительности </a:t>
                </a:r>
                <a:r>
                  <a:rPr lang="el-GR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π</a:t>
                </a:r>
                <a:r>
                  <a:rPr lang="en-US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/2-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импульса. В результате оптимизации мощности и длительности рамановских импульсов достигнут максимальный контраст 22 </a:t>
                </a:r>
                <a:r>
                  <a:rPr lang="en-US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%. </a:t>
                </a: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Проведено экспериментальное исследование чувствительности квантового гравиметра в зависимости от частоты опросы. По итогу наилучшая чувствительность 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2,8 </a:t>
                </a:r>
                <a:r>
                  <a:rPr lang="ru-RU" sz="1800" dirty="0" err="1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мГал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/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m:t>√</m:t>
                    </m:r>
                  </m:oMath>
                </a14:m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Гц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была достигнута при частоте опроса 10 Гц. </a:t>
                </a: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endParaRPr lang="ru-RU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endParaRPr lang="ru-RU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endParaRPr lang="en-US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endParaRPr lang="ru-RU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</p:txBody>
          </p:sp>
        </mc:Choice>
        <mc:Fallback xmlns="">
          <p:sp>
            <p:nvSpPr>
              <p:cNvPr id="5" name="Google Shape;340;p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37E8DA9-8746-00A9-621F-685812E3E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31" y="928766"/>
                <a:ext cx="9239321" cy="5222030"/>
              </a:xfrm>
              <a:prstGeom prst="rect">
                <a:avLst/>
              </a:prstGeom>
              <a:blipFill rotWithShape="0">
                <a:blip r:embed="rId3"/>
                <a:stretch>
                  <a:fillRect l="-924" r="-5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6574AE1-2241-61BD-B020-065272383BFF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6478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0;p8">
            <a:extLst>
              <a:ext uri="{FF2B5EF4-FFF2-40B4-BE49-F238E27FC236}">
                <a16:creationId xmlns:a16="http://schemas.microsoft.com/office/drawing/2014/main" xmlns="" id="{29231A27-E450-41D8-A924-F74AF49F383D}"/>
              </a:ext>
            </a:extLst>
          </p:cNvPr>
          <p:cNvSpPr txBox="1"/>
          <p:nvPr/>
        </p:nvSpPr>
        <p:spPr>
          <a:xfrm>
            <a:off x="2108129" y="874495"/>
            <a:ext cx="841032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Статьи: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Интерференция ультрахолодных атомов 87 Rb в квантовом гравиметре / Д. Н. Капуста, А. 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 Н. Гончаров [и др.]. — Текст : непосредственный // ЖЭТФ. — 2025. — № 1. — С. 47-54.</a:t>
            </a:r>
          </a:p>
        </p:txBody>
      </p:sp>
      <p:sp>
        <p:nvSpPr>
          <p:cNvPr id="4" name="Google Shape;340;p8">
            <a:extLst>
              <a:ext uri="{FF2B5EF4-FFF2-40B4-BE49-F238E27FC236}">
                <a16:creationId xmlns:a16="http://schemas.microsoft.com/office/drawing/2014/main" xmlns="" id="{29231A27-E450-41D8-A924-F74AF49F383D}"/>
              </a:ext>
            </a:extLst>
          </p:cNvPr>
          <p:cNvSpPr txBox="1"/>
          <p:nvPr/>
        </p:nvSpPr>
        <p:spPr>
          <a:xfrm>
            <a:off x="3781678" y="147329"/>
            <a:ext cx="8410322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Апробация результатов</a:t>
            </a:r>
          </a:p>
        </p:txBody>
      </p:sp>
      <p:sp>
        <p:nvSpPr>
          <p:cNvPr id="5" name="Google Shape;340;p8">
            <a:extLst>
              <a:ext uri="{FF2B5EF4-FFF2-40B4-BE49-F238E27FC236}">
                <a16:creationId xmlns:a16="http://schemas.microsoft.com/office/drawing/2014/main" xmlns="" id="{29231A27-E450-41D8-A924-F74AF49F383D}"/>
              </a:ext>
            </a:extLst>
          </p:cNvPr>
          <p:cNvSpPr txBox="1"/>
          <p:nvPr/>
        </p:nvSpPr>
        <p:spPr>
          <a:xfrm>
            <a:off x="2108129" y="1982450"/>
            <a:ext cx="8410322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Конференции</a:t>
            </a:r>
          </a:p>
          <a:p>
            <a:pPr marL="285750" lvl="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ФУХА-2024 (Новосибирск). – 2024 декабрь. – с. 29.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КВНО-2025 (Санкт-Петербург). – 2025 апрель.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Подготовка начального волнового пакета для квантового интерферометра-гравиметра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МНСК-2025 (Новосибирск). – 2025 апрель.</a:t>
            </a:r>
          </a:p>
          <a:p>
            <a:pPr marL="285750" lvl="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Адамов/ Подготовка начального волнового пакета для квантового интерферометра-гравиметра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LaserPhys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-202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(Новосибирск). – 202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ноябрь.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ru-RU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836EB2D-2CF5-452C-9CE6-0A5E961FBED9}"/>
              </a:ext>
            </a:extLst>
          </p:cNvPr>
          <p:cNvSpPr txBox="1"/>
          <p:nvPr/>
        </p:nvSpPr>
        <p:spPr>
          <a:xfrm>
            <a:off x="11681925" y="6408575"/>
            <a:ext cx="553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905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52BC617F-5E2D-4580-9506-94A652B0244A}"/>
              </a:ext>
            </a:extLst>
          </p:cNvPr>
          <p:cNvSpPr/>
          <p:nvPr/>
        </p:nvSpPr>
        <p:spPr>
          <a:xfrm>
            <a:off x="2456856" y="56641"/>
            <a:ext cx="6910755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Функция чувствительности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45930" y="928144"/>
                <a:ext cx="3087897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b>
                          <m:sSubPr>
                            <m:ctrlPr>
                              <a:rPr lang="ru-RU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930" y="928144"/>
                <a:ext cx="3087897" cy="376321"/>
              </a:xfrm>
              <a:prstGeom prst="rect">
                <a:avLst/>
              </a:prstGeom>
              <a:blipFill>
                <a:blip r:embed="rId2"/>
                <a:stretch>
                  <a:fillRect l="-2767" t="-141935" b="-2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815591" y="1279536"/>
            <a:ext cx="44065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между рамановскими импульсами,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длительность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 для ускорения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20395" y="2664744"/>
                <a:ext cx="6055889" cy="2943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&lt;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m:rPr>
                                  <m:nor/>
                                </m:rPr>
                                <a:rPr lang="ru-RU" sz="1800" dirty="0"/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≤4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95" y="2664744"/>
                <a:ext cx="6055889" cy="2943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912398" y="5725619"/>
            <a:ext cx="4406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302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:a16="http://schemas.microsoft.com/office/drawing/2014/main" xmlns="" id="{FD46C5F4-A971-4CA4-8EA1-62B295AC1E02}"/>
              </a:ext>
            </a:extLst>
          </p:cNvPr>
          <p:cNvSpPr/>
          <p:nvPr/>
        </p:nvSpPr>
        <p:spPr>
          <a:xfrm>
            <a:off x="2567353" y="100435"/>
            <a:ext cx="6621194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1" y="1241363"/>
                <a:ext cx="10018429" cy="1007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𝛺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𝛺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𝛺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</m:den>
                                    </m:f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𝛺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</m:den>
                                    </m:f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d>
                                      <m:d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𝜋𝛼</m:t>
                                        </m:r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d>
                                      <m:d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𝜋𝛼</m:t>
                                        </m:r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𝛺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</m:den>
                                    </m:f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𝛺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</m:den>
                                    </m:f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sub>
                                        </m:s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41363"/>
                <a:ext cx="10018429" cy="1007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137EB49-2938-48C8-976D-CD72A01DB3CB}"/>
              </a:ext>
            </a:extLst>
          </p:cNvPr>
          <p:cNvSpPr txBox="1"/>
          <p:nvPr/>
        </p:nvSpPr>
        <p:spPr>
          <a:xfrm>
            <a:off x="489141" y="584642"/>
            <a:ext cx="8978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Выражения, используемые для расчёта двух-фотонных рамановских переходов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078" y="923196"/>
            <a:ext cx="1838561" cy="27389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0" y="2442393"/>
                <a:ext cx="10018428" cy="1674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время подачи рамановского импульса,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длительность рамановского импульса,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частоты раби однофотонных переходов,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2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/∆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частота раби двух-фотонного перехода,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начальная отстройка частоты рамановского излучения от частоты двух-фотонного перехода, α – скорость чирпирования рамановского излучения,</a:t>
                </a:r>
                <a:r>
                  <a:rPr lang="ru-RU" dirty="0"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𝜋𝛼</m:t>
                    </m:r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𝑒𝑓𝑓</m:t>
                        </m:r>
                      </m:sub>
                    </m:sSub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ru-RU" dirty="0"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 отстройка частоты рамановского излучения от частоты двух-фотонного рамановского перехода в момент подачи рамановского импульса,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z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-проекция скорости атома,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</m:den>
                            </m:f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</m:den>
                            </m:f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𝛿</m:t>
                            </m:r>
                          </m:e>
                        </m:d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 обобщенная частота двух-фотонного рамановского перехода.</a:t>
                </a:r>
                <a:endParaRPr lang="ru-RU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42393"/>
                <a:ext cx="10018428" cy="1674048"/>
              </a:xfrm>
              <a:prstGeom prst="rect">
                <a:avLst/>
              </a:prstGeom>
              <a:blipFill>
                <a:blip r:embed="rId4"/>
                <a:stretch>
                  <a:fillRect l="-183" t="-730" r="-183" b="-2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137EB49-2938-48C8-976D-CD72A01DB3CB}"/>
              </a:ext>
            </a:extLst>
          </p:cNvPr>
          <p:cNvSpPr txBox="1"/>
          <p:nvPr/>
        </p:nvSpPr>
        <p:spPr>
          <a:xfrm>
            <a:off x="817685" y="3947491"/>
            <a:ext cx="8978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Выражения, используемые для учёта формы пучка и разлёта атомов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182410" y="4434047"/>
                <a:ext cx="1764970" cy="468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410" y="4434047"/>
                <a:ext cx="1764970" cy="46878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2410" y="5004100"/>
                <a:ext cx="1681551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410" y="5004100"/>
                <a:ext cx="1681551" cy="224870"/>
              </a:xfrm>
              <a:prstGeom prst="rect">
                <a:avLst/>
              </a:prstGeom>
              <a:blipFill rotWithShape="0">
                <a:blip r:embed="rId6"/>
                <a:stretch>
                  <a:fillRect l="-1812" r="-2899" b="-270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82410" y="5443401"/>
                <a:ext cx="1617173" cy="2353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410" y="5443401"/>
                <a:ext cx="1617173" cy="235385"/>
              </a:xfrm>
              <a:prstGeom prst="rect">
                <a:avLst/>
              </a:prstGeom>
              <a:blipFill rotWithShape="0">
                <a:blip r:embed="rId7"/>
                <a:stretch>
                  <a:fillRect l="-1887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5216033" y="4747203"/>
                <a:ext cx="263763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расстояние от центра пучка до положения атома,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 –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ширина пучка.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033" y="4747203"/>
                <a:ext cx="2637637" cy="738664"/>
              </a:xfrm>
              <a:prstGeom prst="rect">
                <a:avLst/>
              </a:prstGeom>
              <a:blipFill>
                <a:blip r:embed="rId8"/>
                <a:stretch>
                  <a:fillRect l="-694" t="-1653" b="-74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CFBBB85-1DFE-4038-BF35-8451EAA57176}"/>
              </a:ext>
            </a:extLst>
          </p:cNvPr>
          <p:cNvSpPr txBox="1"/>
          <p:nvPr/>
        </p:nvSpPr>
        <p:spPr>
          <a:xfrm>
            <a:off x="9872067" y="3701269"/>
            <a:ext cx="2336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Схема двух-фотонных рамановских переходов.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03444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7953</TotalTime>
  <Words>1324</Words>
  <Application>Microsoft Office PowerPoint</Application>
  <PresentationFormat>Широкоэкранный</PresentationFormat>
  <Paragraphs>220</Paragraphs>
  <Slides>18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386</cp:revision>
  <dcterms:created xsi:type="dcterms:W3CDTF">2023-12-21T05:49:20Z</dcterms:created>
  <dcterms:modified xsi:type="dcterms:W3CDTF">2026-01-27T07:52:44Z</dcterms:modified>
</cp:coreProperties>
</file>