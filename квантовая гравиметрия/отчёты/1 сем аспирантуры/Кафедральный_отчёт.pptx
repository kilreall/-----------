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9"/>
  </p:notesMasterIdLst>
  <p:handoutMasterIdLst>
    <p:handoutMasterId r:id="rId30"/>
  </p:handoutMasterIdLst>
  <p:sldIdLst>
    <p:sldId id="345" r:id="rId2"/>
    <p:sldId id="307" r:id="rId3"/>
    <p:sldId id="319" r:id="rId4"/>
    <p:sldId id="258" r:id="rId5"/>
    <p:sldId id="320" r:id="rId6"/>
    <p:sldId id="308" r:id="rId7"/>
    <p:sldId id="321" r:id="rId8"/>
    <p:sldId id="312" r:id="rId9"/>
    <p:sldId id="322" r:id="rId10"/>
    <p:sldId id="261" r:id="rId11"/>
    <p:sldId id="323" r:id="rId12"/>
    <p:sldId id="318" r:id="rId13"/>
    <p:sldId id="324" r:id="rId14"/>
    <p:sldId id="314" r:id="rId15"/>
    <p:sldId id="330" r:id="rId16"/>
    <p:sldId id="343" r:id="rId17"/>
    <p:sldId id="344" r:id="rId18"/>
    <p:sldId id="332" r:id="rId19"/>
    <p:sldId id="341" r:id="rId20"/>
    <p:sldId id="333" r:id="rId21"/>
    <p:sldId id="338" r:id="rId22"/>
    <p:sldId id="336" r:id="rId23"/>
    <p:sldId id="340" r:id="rId24"/>
    <p:sldId id="334" r:id="rId25"/>
    <p:sldId id="296" r:id="rId26"/>
    <p:sldId id="309" r:id="rId27"/>
    <p:sldId id="339"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 roundtripDataSignature="AMtx7mhBqtUg9D33KGP93h8hXToFf3vrq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realladam@gmail.com" initials="k" lastIdx="1" clrIdx="0">
    <p:extLst>
      <p:ext uri="{19B8F6BF-5375-455C-9EA6-DF929625EA0E}">
        <p15:presenceInfo xmlns:p15="http://schemas.microsoft.com/office/powerpoint/2012/main" userId="06abd9abe9dc439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F9F"/>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55" autoAdjust="0"/>
    <p:restoredTop sz="94131" autoAdjust="0"/>
  </p:normalViewPr>
  <p:slideViewPr>
    <p:cSldViewPr snapToGrid="0">
      <p:cViewPr varScale="1">
        <p:scale>
          <a:sx n="109" d="100"/>
          <a:sy n="109" d="100"/>
        </p:scale>
        <p:origin x="828" y="114"/>
      </p:cViewPr>
      <p:guideLst>
        <p:guide orient="horz" pos="218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4"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48"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 xmlns:a16="http://schemas.microsoft.com/office/drawing/2014/main" id="{53C5C78D-3493-4AB6-B6C4-71977B81E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 xmlns:a16="http://schemas.microsoft.com/office/drawing/2014/main" id="{3349AD0A-FD81-4209-B751-6B835D3BD58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97F42C-05F7-408C-B103-96C0C10292EF}" type="datetimeFigureOut">
              <a:rPr lang="ru-RU" smtClean="0"/>
              <a:t>27.01.2026</a:t>
            </a:fld>
            <a:endParaRPr lang="ru-RU"/>
          </a:p>
        </p:txBody>
      </p:sp>
      <p:sp>
        <p:nvSpPr>
          <p:cNvPr id="4" name="Нижний колонтитул 3">
            <a:extLst>
              <a:ext uri="{FF2B5EF4-FFF2-40B4-BE49-F238E27FC236}">
                <a16:creationId xmlns="" xmlns:a16="http://schemas.microsoft.com/office/drawing/2014/main" id="{C77F5D0C-A26F-41B4-A78D-D513AA88C0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 xmlns:a16="http://schemas.microsoft.com/office/drawing/2014/main" id="{77CC604D-54B8-4AC3-A942-D3AE5890514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61B033-AC90-43D5-B19D-E9E156403019}" type="slidenum">
              <a:rPr lang="ru-RU" smtClean="0"/>
              <a:t>‹#›</a:t>
            </a:fld>
            <a:endParaRPr lang="ru-RU"/>
          </a:p>
        </p:txBody>
      </p:sp>
    </p:spTree>
    <p:extLst>
      <p:ext uri="{BB962C8B-B14F-4D97-AF65-F5344CB8AC3E}">
        <p14:creationId xmlns:p14="http://schemas.microsoft.com/office/powerpoint/2010/main" val="25324020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ru-R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68492247"/>
      </p:ext>
    </p:extLst>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 name="Google Shape;8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18073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2636911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0632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ru-RU"/>
              <a:t>Корректировки:</a:t>
            </a:r>
            <a:br>
              <a:rPr lang="ru-RU"/>
            </a:br>
            <a:r>
              <a:rPr lang="ru-RU"/>
              <a:t>1. Много текста</a:t>
            </a:r>
            <a:endParaRPr/>
          </a:p>
        </p:txBody>
      </p:sp>
      <p:sp>
        <p:nvSpPr>
          <p:cNvPr id="184" name="Google Shape;184;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07583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12388292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1124297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a:extLst>
            <a:ext uri="{FF2B5EF4-FFF2-40B4-BE49-F238E27FC236}">
              <a16:creationId xmlns="" xmlns:a16="http://schemas.microsoft.com/office/drawing/2014/main" id="{9E080679-B901-3206-F122-6DCA7B65A275}"/>
            </a:ext>
          </a:extLst>
        </p:cNvPr>
        <p:cNvGrpSpPr/>
        <p:nvPr/>
      </p:nvGrpSpPr>
      <p:grpSpPr>
        <a:xfrm>
          <a:off x="0" y="0"/>
          <a:ext cx="0" cy="0"/>
          <a:chOff x="0" y="0"/>
          <a:chExt cx="0" cy="0"/>
        </a:xfrm>
      </p:grpSpPr>
      <p:sp>
        <p:nvSpPr>
          <p:cNvPr id="453" name="Google Shape;453;p43:notes">
            <a:extLst>
              <a:ext uri="{FF2B5EF4-FFF2-40B4-BE49-F238E27FC236}">
                <a16:creationId xmlns="" xmlns:a16="http://schemas.microsoft.com/office/drawing/2014/main" id="{4F66D097-9293-AE91-865E-9D10F58235C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4" name="Google Shape;454;p43:notes">
            <a:extLst>
              <a:ext uri="{FF2B5EF4-FFF2-40B4-BE49-F238E27FC236}">
                <a16:creationId xmlns="" xmlns:a16="http://schemas.microsoft.com/office/drawing/2014/main" id="{A8AA3B59-9A9D-62AD-DBA4-729F5ACF96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68703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Пустой слайд" type="blank">
  <p:cSld name="BLANK">
    <p:spTree>
      <p:nvGrpSpPr>
        <p:cNvPr id="1" name="Shape 21"/>
        <p:cNvGrpSpPr/>
        <p:nvPr/>
      </p:nvGrpSpPr>
      <p:grpSpPr>
        <a:xfrm>
          <a:off x="0" y="0"/>
          <a:ext cx="0" cy="0"/>
          <a:chOff x="0" y="0"/>
          <a:chExt cx="0" cy="0"/>
        </a:xfrm>
      </p:grpSpPr>
      <p:sp>
        <p:nvSpPr>
          <p:cNvPr id="22" name="Google Shape;2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Заголовок и объект" type="obj">
  <p:cSld name="OBJECT">
    <p:spTree>
      <p:nvGrpSpPr>
        <p:cNvPr id="1" name="Shape 25"/>
        <p:cNvGrpSpPr/>
        <p:nvPr/>
      </p:nvGrpSpPr>
      <p:grpSpPr>
        <a:xfrm>
          <a:off x="0" y="0"/>
          <a:ext cx="0" cy="0"/>
          <a:chOff x="0" y="0"/>
          <a:chExt cx="0" cy="0"/>
        </a:xfrm>
      </p:grpSpPr>
      <p:sp>
        <p:nvSpPr>
          <p:cNvPr id="26" name="Google Shape;2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Заголовок раздела" type="secHead">
  <p:cSld name="SECTION_HEADER">
    <p:spTree>
      <p:nvGrpSpPr>
        <p:cNvPr id="1" name="Shape 31"/>
        <p:cNvGrpSpPr/>
        <p:nvPr/>
      </p:nvGrpSpPr>
      <p:grpSpPr>
        <a:xfrm>
          <a:off x="0" y="0"/>
          <a:ext cx="0" cy="0"/>
          <a:chOff x="0" y="0"/>
          <a:chExt cx="0" cy="0"/>
        </a:xfrm>
      </p:grpSpPr>
      <p:sp>
        <p:nvSpPr>
          <p:cNvPr id="32" name="Google Shape;32;p1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Два объекта" type="twoObj">
  <p:cSld name="TWO_OBJECTS">
    <p:spTree>
      <p:nvGrpSpPr>
        <p:cNvPr id="1" name="Shape 37"/>
        <p:cNvGrpSpPr/>
        <p:nvPr/>
      </p:nvGrpSpPr>
      <p:grpSpPr>
        <a:xfrm>
          <a:off x="0" y="0"/>
          <a:ext cx="0" cy="0"/>
          <a:chOff x="0" y="0"/>
          <a:chExt cx="0" cy="0"/>
        </a:xfrm>
      </p:grpSpPr>
      <p:sp>
        <p:nvSpPr>
          <p:cNvPr id="38" name="Google Shape;38;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Сравнение" type="twoTxTwoObj">
  <p:cSld name="TWO_OBJECTS_WITH_TEXT">
    <p:spTree>
      <p:nvGrpSpPr>
        <p:cNvPr id="1" name="Shape 44"/>
        <p:cNvGrpSpPr/>
        <p:nvPr/>
      </p:nvGrpSpPr>
      <p:grpSpPr>
        <a:xfrm>
          <a:off x="0" y="0"/>
          <a:ext cx="0" cy="0"/>
          <a:chOff x="0" y="0"/>
          <a:chExt cx="0" cy="0"/>
        </a:xfrm>
      </p:grpSpPr>
      <p:sp>
        <p:nvSpPr>
          <p:cNvPr id="45" name="Google Shape;45;p1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1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1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Объект с подписью" type="objTx">
  <p:cSld name="OBJECT_WITH_CAPTION_TEXT">
    <p:spTree>
      <p:nvGrpSpPr>
        <p:cNvPr id="1" name="Shape 53"/>
        <p:cNvGrpSpPr/>
        <p:nvPr/>
      </p:nvGrpSpPr>
      <p:grpSpPr>
        <a:xfrm>
          <a:off x="0" y="0"/>
          <a:ext cx="0" cy="0"/>
          <a:chOff x="0" y="0"/>
          <a:chExt cx="0" cy="0"/>
        </a:xfrm>
      </p:grpSpPr>
      <p:sp>
        <p:nvSpPr>
          <p:cNvPr id="54" name="Google Shape;54;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6" name="Google Shape;56;p1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7" name="Google Shape;5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Заголовок и вертикальный текст" type="vertTx">
  <p:cSld name="VERTICAL_TEXT">
    <p:spTree>
      <p:nvGrpSpPr>
        <p:cNvPr id="1" name="Shape 67"/>
        <p:cNvGrpSpPr/>
        <p:nvPr/>
      </p:nvGrpSpPr>
      <p:grpSpPr>
        <a:xfrm>
          <a:off x="0" y="0"/>
          <a:ext cx="0" cy="0"/>
          <a:chOff x="0" y="0"/>
          <a:chExt cx="0" cy="0"/>
        </a:xfrm>
      </p:grpSpPr>
      <p:sp>
        <p:nvSpPr>
          <p:cNvPr id="68" name="Google Shape;68;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Вертикальный заголовок и текст" type="vertTitleAndTx">
  <p:cSld name="VERTICAL_TITLE_AND_VERTICAL_TEXT">
    <p:spTree>
      <p:nvGrpSpPr>
        <p:cNvPr id="1" name="Shape 73"/>
        <p:cNvGrpSpPr/>
        <p:nvPr/>
      </p:nvGrpSpPr>
      <p:grpSpPr>
        <a:xfrm>
          <a:off x="0" y="0"/>
          <a:ext cx="0" cy="0"/>
          <a:chOff x="0" y="0"/>
          <a:chExt cx="0" cy="0"/>
        </a:xfrm>
      </p:grpSpPr>
      <p:sp>
        <p:nvSpPr>
          <p:cNvPr id="74" name="Google Shape;74;p2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Титульный слайд" type="title">
  <p:cSld name="Титульный слайд">
    <p:spTree>
      <p:nvGrpSpPr>
        <p:cNvPr id="1" name="Shape 15"/>
        <p:cNvGrpSpPr/>
        <p:nvPr/>
      </p:nvGrpSpPr>
      <p:grpSpPr>
        <a:xfrm>
          <a:off x="0" y="0"/>
          <a:ext cx="0" cy="0"/>
          <a:chOff x="0" y="0"/>
          <a:chExt cx="0" cy="0"/>
        </a:xfrm>
      </p:grpSpPr>
      <p:sp>
        <p:nvSpPr>
          <p:cNvPr id="16" name="Google Shape;16;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extLst>
      <p:ext uri="{BB962C8B-B14F-4D97-AF65-F5344CB8AC3E}">
        <p14:creationId xmlns:p14="http://schemas.microsoft.com/office/powerpoint/2010/main" val="4137987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7"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6.png"/><Relationship Id="rId4" Type="http://schemas.openxmlformats.org/officeDocument/2006/relationships/image" Target="../media/image12.png"/><Relationship Id="rId9"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0.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image" Target="../media/image36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421.png"/><Relationship Id="rId3" Type="http://schemas.openxmlformats.org/officeDocument/2006/relationships/image" Target="../media/image39.png"/><Relationship Id="rId7" Type="http://schemas.openxmlformats.org/officeDocument/2006/relationships/image" Target="../media/image410.png"/><Relationship Id="rId2" Type="http://schemas.openxmlformats.org/officeDocument/2006/relationships/image" Target="../media/image380.png"/><Relationship Id="rId1" Type="http://schemas.openxmlformats.org/officeDocument/2006/relationships/slideLayout" Target="../slideLayouts/slideLayout1.xml"/><Relationship Id="rId6" Type="http://schemas.openxmlformats.org/officeDocument/2006/relationships/image" Target="../media/image400.png"/><Relationship Id="rId5" Type="http://schemas.openxmlformats.org/officeDocument/2006/relationships/image" Target="../media/image390.png"/><Relationship Id="rId4" Type="http://schemas.openxmlformats.org/officeDocument/2006/relationships/image" Target="../media/image40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
          <p:cNvSpPr txBox="1"/>
          <p:nvPr/>
        </p:nvSpPr>
        <p:spPr>
          <a:xfrm>
            <a:off x="-111370" y="1790319"/>
            <a:ext cx="12303370" cy="1325563"/>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dk1"/>
              </a:buClr>
              <a:buSzPts val="3200"/>
              <a:buFont typeface="Times New Roman"/>
              <a:buNone/>
            </a:pPr>
            <a:endParaRPr sz="3200" b="1" i="0" u="none" strike="noStrike" cap="none" dirty="0">
              <a:solidFill>
                <a:schemeClr val="dk1"/>
              </a:solidFill>
              <a:latin typeface="Times New Roman"/>
              <a:ea typeface="Times New Roman"/>
              <a:cs typeface="Times New Roman"/>
              <a:sym typeface="Times New Roman"/>
            </a:endParaRPr>
          </a:p>
        </p:txBody>
      </p:sp>
      <p:sp>
        <p:nvSpPr>
          <p:cNvPr id="84" name="Google Shape;84;p1"/>
          <p:cNvSpPr txBox="1"/>
          <p:nvPr/>
        </p:nvSpPr>
        <p:spPr>
          <a:xfrm>
            <a:off x="859281" y="2582614"/>
            <a:ext cx="10362068" cy="243139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ru-RU" sz="3200" b="0" i="0" u="none" strike="noStrike" cap="none" dirty="0">
                <a:solidFill>
                  <a:schemeClr val="dk1"/>
                </a:solidFill>
                <a:latin typeface="Times New Roman"/>
                <a:ea typeface="Times New Roman"/>
                <a:cs typeface="Times New Roman"/>
                <a:sym typeface="Times New Roman"/>
              </a:rPr>
              <a:t>Адамов Кирилл</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ru-RU" sz="2400" b="0" i="0" u="none" strike="noStrike" cap="none" dirty="0" smtClean="0">
                <a:solidFill>
                  <a:schemeClr val="dk1"/>
                </a:solidFill>
                <a:latin typeface="Times New Roman"/>
                <a:ea typeface="Times New Roman"/>
                <a:cs typeface="Times New Roman"/>
                <a:sym typeface="Times New Roman"/>
              </a:rPr>
              <a:t>1 курс Аспирантуры </a:t>
            </a:r>
            <a:r>
              <a:rPr lang="ru-RU" sz="2400" b="0" i="0" u="none" strike="noStrike" cap="none" dirty="0">
                <a:solidFill>
                  <a:schemeClr val="dk1"/>
                </a:solidFill>
                <a:latin typeface="Times New Roman"/>
                <a:ea typeface="Times New Roman"/>
                <a:cs typeface="Times New Roman"/>
                <a:sym typeface="Times New Roman"/>
              </a:rPr>
              <a:t>ФФ НГУ</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400"/>
              <a:buFont typeface="Arial"/>
              <a:buNone/>
            </a:pPr>
            <a:r>
              <a:rPr lang="ru-RU" sz="2400" b="0" i="0" u="none" strike="noStrike" cap="none" dirty="0" smtClean="0">
                <a:solidFill>
                  <a:schemeClr val="dk1"/>
                </a:solidFill>
                <a:latin typeface="Times New Roman"/>
                <a:ea typeface="Times New Roman"/>
                <a:cs typeface="Times New Roman"/>
                <a:sym typeface="Times New Roman"/>
              </a:rPr>
              <a:t>Научные руководители: </a:t>
            </a:r>
          </a:p>
          <a:p>
            <a:pPr marL="0" marR="0" lvl="0" indent="0" algn="ctr" rtl="0">
              <a:lnSpc>
                <a:spcPct val="100000"/>
              </a:lnSpc>
              <a:spcBef>
                <a:spcPts val="0"/>
              </a:spcBef>
              <a:spcAft>
                <a:spcPts val="0"/>
              </a:spcAft>
              <a:buClr>
                <a:srgbClr val="000000"/>
              </a:buClr>
              <a:buSzPts val="2400"/>
              <a:buFont typeface="Arial"/>
              <a:buNone/>
            </a:pPr>
            <a:r>
              <a:rPr lang="ru-RU" sz="2400" b="0" i="0" u="none" strike="noStrike" cap="none" dirty="0" smtClean="0">
                <a:solidFill>
                  <a:schemeClr val="dk1"/>
                </a:solidFill>
                <a:latin typeface="Times New Roman"/>
                <a:ea typeface="Times New Roman"/>
                <a:cs typeface="Times New Roman"/>
                <a:sym typeface="Times New Roman"/>
              </a:rPr>
              <a:t>к.ф</a:t>
            </a:r>
            <a:r>
              <a:rPr lang="ru-RU" sz="2400" b="0" i="0" u="none" strike="noStrike" cap="none" dirty="0">
                <a:solidFill>
                  <a:schemeClr val="dk1"/>
                </a:solidFill>
                <a:latin typeface="Times New Roman"/>
                <a:ea typeface="Times New Roman"/>
                <a:cs typeface="Times New Roman"/>
                <a:sym typeface="Times New Roman"/>
              </a:rPr>
              <a:t>.-м.н., зав. лаб. 1.12 Гончаров Андрей </a:t>
            </a:r>
            <a:r>
              <a:rPr lang="ru-RU" sz="2400" b="0" i="0" u="none" strike="noStrike" cap="none" dirty="0" smtClean="0">
                <a:solidFill>
                  <a:schemeClr val="dk1"/>
                </a:solidFill>
                <a:latin typeface="Times New Roman"/>
                <a:ea typeface="Times New Roman"/>
                <a:cs typeface="Times New Roman"/>
                <a:sym typeface="Times New Roman"/>
              </a:rPr>
              <a:t>Николаевич</a:t>
            </a:r>
            <a:r>
              <a:rPr lang="en-US" sz="2400" dirty="0" smtClean="0">
                <a:solidFill>
                  <a:schemeClr val="dk1"/>
                </a:solidFill>
                <a:latin typeface="Times New Roman"/>
                <a:ea typeface="Times New Roman"/>
                <a:cs typeface="Times New Roman"/>
                <a:sym typeface="Times New Roman"/>
              </a:rPr>
              <a:t>, </a:t>
            </a:r>
            <a:endParaRPr lang="ru-RU" sz="2400" dirty="0" smtClean="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400"/>
              <a:buFont typeface="Arial"/>
              <a:buNone/>
            </a:pPr>
            <a:r>
              <a:rPr lang="ru-RU" sz="2400" dirty="0" err="1" smtClean="0">
                <a:solidFill>
                  <a:schemeClr val="dk1"/>
                </a:solidFill>
                <a:latin typeface="Times New Roman"/>
                <a:ea typeface="Times New Roman"/>
                <a:cs typeface="Times New Roman"/>
                <a:sym typeface="Times New Roman"/>
              </a:rPr>
              <a:t>с.н.с</a:t>
            </a:r>
            <a:r>
              <a:rPr lang="ru-RU" sz="2400" dirty="0" smtClean="0">
                <a:solidFill>
                  <a:schemeClr val="dk1"/>
                </a:solidFill>
                <a:latin typeface="Times New Roman"/>
                <a:ea typeface="Times New Roman"/>
                <a:cs typeface="Times New Roman"/>
                <a:sym typeface="Times New Roman"/>
              </a:rPr>
              <a:t>. Капуста Дмитрий Николаевич</a:t>
            </a:r>
            <a:endParaRPr sz="1400" b="0" i="0" u="none" strike="noStrike" cap="none" dirty="0">
              <a:solidFill>
                <a:srgbClr val="000000"/>
              </a:solidFill>
              <a:latin typeface="Arial"/>
              <a:ea typeface="Arial"/>
              <a:cs typeface="Arial"/>
              <a:sym typeface="Arial"/>
            </a:endParaRPr>
          </a:p>
        </p:txBody>
      </p:sp>
      <p:sp>
        <p:nvSpPr>
          <p:cNvPr id="85" name="Google Shape;85;p1"/>
          <p:cNvSpPr txBox="1"/>
          <p:nvPr/>
        </p:nvSpPr>
        <p:spPr>
          <a:xfrm>
            <a:off x="-111370" y="427345"/>
            <a:ext cx="12303370" cy="132556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200"/>
              <a:buFont typeface="Times New Roman"/>
              <a:buNone/>
            </a:pPr>
            <a:r>
              <a:rPr lang="ru-RU" sz="2800" b="1" i="0" u="none" strike="noStrike" cap="none" dirty="0">
                <a:solidFill>
                  <a:schemeClr val="dk1"/>
                </a:solidFill>
                <a:latin typeface="Times New Roman"/>
                <a:ea typeface="Times New Roman"/>
                <a:cs typeface="Times New Roman"/>
                <a:sym typeface="Times New Roman"/>
              </a:rPr>
              <a:t>Тема: </a:t>
            </a:r>
            <a:r>
              <a:rPr lang="ru-RU" sz="2800" b="1" i="0" u="none" strike="noStrike" cap="none" dirty="0" smtClean="0">
                <a:solidFill>
                  <a:schemeClr val="dk1"/>
                </a:solidFill>
                <a:latin typeface="Times New Roman"/>
                <a:ea typeface="Times New Roman"/>
                <a:cs typeface="Times New Roman"/>
                <a:sym typeface="Times New Roman"/>
              </a:rPr>
              <a:t>Интерференция ультрахолодных атомов рубидия</a:t>
            </a:r>
            <a:endParaRPr sz="2800" b="1"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8514002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4;p16">
            <a:extLst>
              <a:ext uri="{FF2B5EF4-FFF2-40B4-BE49-F238E27FC236}">
                <a16:creationId xmlns="" xmlns:a16="http://schemas.microsoft.com/office/drawing/2014/main" id="{C5767328-1785-46B5-813F-A312F3382CC4}"/>
              </a:ext>
            </a:extLst>
          </p:cNvPr>
          <p:cNvSpPr/>
          <p:nvPr/>
        </p:nvSpPr>
        <p:spPr>
          <a:xfrm>
            <a:off x="2486631" y="124030"/>
            <a:ext cx="6910755" cy="438677"/>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3200" b="1" i="0" u="none" strike="noStrike" cap="none" dirty="0">
                <a:solidFill>
                  <a:schemeClr val="lt1"/>
                </a:solidFill>
                <a:latin typeface="Times New Roman"/>
                <a:ea typeface="Times New Roman"/>
                <a:cs typeface="Times New Roman"/>
                <a:sym typeface="Times New Roman"/>
              </a:rPr>
              <a:t>Введение</a:t>
            </a:r>
            <a:endParaRPr sz="1800" b="0" i="0" u="none" strike="noStrike" cap="none" dirty="0">
              <a:solidFill>
                <a:srgbClr val="000000"/>
              </a:solidFill>
              <a:latin typeface="Arial"/>
              <a:ea typeface="Arial"/>
              <a:cs typeface="Arial"/>
              <a:sym typeface="Arial"/>
            </a:endParaRPr>
          </a:p>
        </p:txBody>
      </p:sp>
      <p:sp>
        <p:nvSpPr>
          <p:cNvPr id="13" name="TextBox 12">
            <a:extLst>
              <a:ext uri="{FF2B5EF4-FFF2-40B4-BE49-F238E27FC236}">
                <a16:creationId xmlns="" xmlns:a16="http://schemas.microsoft.com/office/drawing/2014/main" id="{593EC11A-A157-487D-ADF7-8A978D0305FA}"/>
              </a:ext>
            </a:extLst>
          </p:cNvPr>
          <p:cNvSpPr txBox="1"/>
          <p:nvPr/>
        </p:nvSpPr>
        <p:spPr>
          <a:xfrm>
            <a:off x="11681926" y="6408575"/>
            <a:ext cx="360784" cy="312570"/>
          </a:xfrm>
          <a:prstGeom prst="rect">
            <a:avLst/>
          </a:prstGeom>
          <a:noFill/>
        </p:spPr>
        <p:txBody>
          <a:bodyPr wrap="square" rtlCol="0">
            <a:spAutoFit/>
          </a:bodyPr>
          <a:lstStyle/>
          <a:p>
            <a:r>
              <a:rPr lang="ru-RU" dirty="0"/>
              <a:t>1</a:t>
            </a:r>
          </a:p>
        </p:txBody>
      </p:sp>
      <p:sp>
        <p:nvSpPr>
          <p:cNvPr id="14" name="Прямоугольник 13"/>
          <p:cNvSpPr/>
          <p:nvPr/>
        </p:nvSpPr>
        <p:spPr>
          <a:xfrm>
            <a:off x="10262367" y="44900"/>
            <a:ext cx="1619354" cy="369332"/>
          </a:xfrm>
          <a:prstGeom prst="rect">
            <a:avLst/>
          </a:prstGeom>
        </p:spPr>
        <p:txBody>
          <a:bodyPr wrap="none">
            <a:spAutoFit/>
          </a:bodyPr>
          <a:lstStyle/>
          <a:p>
            <a:r>
              <a:rPr lang="ru-RU" sz="1800" dirty="0">
                <a:solidFill>
                  <a:srgbClr val="FF0000"/>
                </a:solidFill>
                <a:latin typeface="Times New Roman"/>
                <a:ea typeface="Times New Roman"/>
                <a:cs typeface="Times New Roman"/>
                <a:sym typeface="Times New Roman"/>
              </a:rPr>
              <a:t>1 </a:t>
            </a:r>
            <a:r>
              <a:rPr lang="ru-RU" sz="1800" dirty="0" err="1">
                <a:solidFill>
                  <a:srgbClr val="FF0000"/>
                </a:solidFill>
                <a:latin typeface="Times New Roman"/>
                <a:ea typeface="Times New Roman"/>
                <a:cs typeface="Times New Roman"/>
                <a:sym typeface="Times New Roman"/>
              </a:rPr>
              <a:t>Гал</a:t>
            </a:r>
            <a:r>
              <a:rPr lang="ru-RU" sz="1800" dirty="0">
                <a:solidFill>
                  <a:srgbClr val="FF0000"/>
                </a:solidFill>
                <a:latin typeface="Times New Roman"/>
                <a:ea typeface="Times New Roman"/>
                <a:cs typeface="Times New Roman"/>
                <a:sym typeface="Times New Roman"/>
              </a:rPr>
              <a:t> = 1 см</a:t>
            </a:r>
            <a:r>
              <a:rPr lang="en-US" sz="1800" dirty="0">
                <a:solidFill>
                  <a:srgbClr val="FF0000"/>
                </a:solidFill>
                <a:latin typeface="Times New Roman"/>
                <a:ea typeface="Times New Roman"/>
                <a:cs typeface="Times New Roman"/>
                <a:sym typeface="Times New Roman"/>
              </a:rPr>
              <a:t>/c</a:t>
            </a:r>
            <a:r>
              <a:rPr lang="en-US" sz="1800" baseline="30000" dirty="0">
                <a:solidFill>
                  <a:srgbClr val="FF0000"/>
                </a:solidFill>
                <a:latin typeface="Times New Roman"/>
                <a:ea typeface="Times New Roman"/>
                <a:cs typeface="Times New Roman"/>
                <a:sym typeface="Times New Roman"/>
              </a:rPr>
              <a:t>2</a:t>
            </a:r>
            <a:endParaRPr lang="ru-RU" sz="1800" baseline="30000" dirty="0">
              <a:solidFill>
                <a:srgbClr val="FF0000"/>
              </a:solidFill>
            </a:endParaRPr>
          </a:p>
        </p:txBody>
      </p:sp>
      <p:graphicFrame>
        <p:nvGraphicFramePr>
          <p:cNvPr id="15" name="Таблица 14">
            <a:extLst>
              <a:ext uri="{FF2B5EF4-FFF2-40B4-BE49-F238E27FC236}">
                <a16:creationId xmlns="" xmlns:a16="http://schemas.microsoft.com/office/drawing/2014/main" id="{7088C13C-1B02-440F-93B7-1757D68623CE}"/>
              </a:ext>
            </a:extLst>
          </p:cNvPr>
          <p:cNvGraphicFramePr>
            <a:graphicFrameLocks noGrp="1"/>
          </p:cNvGraphicFramePr>
          <p:nvPr>
            <p:extLst>
              <p:ext uri="{D42A27DB-BD31-4B8C-83A1-F6EECF244321}">
                <p14:modId xmlns:p14="http://schemas.microsoft.com/office/powerpoint/2010/main" val="2354288903"/>
              </p:ext>
            </p:extLst>
          </p:nvPr>
        </p:nvGraphicFramePr>
        <p:xfrm>
          <a:off x="309068" y="2795739"/>
          <a:ext cx="11263144" cy="3790745"/>
        </p:xfrm>
        <a:graphic>
          <a:graphicData uri="http://schemas.openxmlformats.org/drawingml/2006/table">
            <a:tbl>
              <a:tblPr firstRow="1" bandRow="1">
                <a:tableStyleId>{5C22544A-7EE6-4342-B048-85BDC9FD1C3A}</a:tableStyleId>
              </a:tblPr>
              <a:tblGrid>
                <a:gridCol w="2769412">
                  <a:extLst>
                    <a:ext uri="{9D8B030D-6E8A-4147-A177-3AD203B41FA5}">
                      <a16:colId xmlns="" xmlns:a16="http://schemas.microsoft.com/office/drawing/2014/main" val="20000"/>
                    </a:ext>
                  </a:extLst>
                </a:gridCol>
                <a:gridCol w="3007360">
                  <a:extLst>
                    <a:ext uri="{9D8B030D-6E8A-4147-A177-3AD203B41FA5}">
                      <a16:colId xmlns="" xmlns:a16="http://schemas.microsoft.com/office/drawing/2014/main" val="20001"/>
                    </a:ext>
                  </a:extLst>
                </a:gridCol>
                <a:gridCol w="2221805">
                  <a:extLst>
                    <a:ext uri="{9D8B030D-6E8A-4147-A177-3AD203B41FA5}">
                      <a16:colId xmlns="" xmlns:a16="http://schemas.microsoft.com/office/drawing/2014/main" val="20002"/>
                    </a:ext>
                  </a:extLst>
                </a:gridCol>
                <a:gridCol w="3264567">
                  <a:extLst>
                    <a:ext uri="{9D8B030D-6E8A-4147-A177-3AD203B41FA5}">
                      <a16:colId xmlns="" xmlns:a16="http://schemas.microsoft.com/office/drawing/2014/main" val="20003"/>
                    </a:ext>
                  </a:extLst>
                </a:gridCol>
              </a:tblGrid>
              <a:tr h="412593">
                <a:tc>
                  <a:txBody>
                    <a:bodyPr/>
                    <a:lstStyle/>
                    <a:p>
                      <a:pPr algn="ctr"/>
                      <a:r>
                        <a:rPr lang="ru-RU" sz="1800" b="1" u="sng" dirty="0">
                          <a:solidFill>
                            <a:schemeClr val="tx1"/>
                          </a:solidFill>
                          <a:latin typeface="Times New Roman" panose="02020603050405020304" pitchFamily="18" charset="0"/>
                          <a:cs typeface="Times New Roman" panose="02020603050405020304" pitchFamily="18" charset="0"/>
                        </a:rPr>
                        <a:t>Типы гравиметров</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1" dirty="0">
                          <a:solidFill>
                            <a:schemeClr val="tx1"/>
                          </a:solidFill>
                          <a:latin typeface="Times New Roman" panose="02020603050405020304" pitchFamily="18" charset="0"/>
                          <a:cs typeface="Times New Roman" panose="02020603050405020304" pitchFamily="18" charset="0"/>
                        </a:rPr>
                        <a:t>Относительные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1" dirty="0">
                          <a:solidFill>
                            <a:schemeClr val="tx1"/>
                          </a:solidFill>
                          <a:latin typeface="Times New Roman" panose="02020603050405020304" pitchFamily="18" charset="0"/>
                          <a:cs typeface="Times New Roman" panose="02020603050405020304" pitchFamily="18" charset="0"/>
                        </a:rPr>
                        <a:t>Абсолютные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402609">
                <a:tc>
                  <a:txBody>
                    <a:bodyPr/>
                    <a:lstStyle/>
                    <a:p>
                      <a:pPr algn="ctr"/>
                      <a:r>
                        <a:rPr lang="ru-RU" sz="1600" b="1" i="1" u="sng" dirty="0">
                          <a:solidFill>
                            <a:schemeClr val="tx1"/>
                          </a:solidFill>
                          <a:latin typeface="Times New Roman" panose="02020603050405020304" pitchFamily="18" charset="0"/>
                          <a:cs typeface="Times New Roman" panose="02020603050405020304" pitchFamily="18" charset="0"/>
                        </a:rPr>
                        <a:t>Виды гравиметров</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1" i="1" dirty="0">
                          <a:solidFill>
                            <a:schemeClr val="tx1"/>
                          </a:solidFill>
                          <a:latin typeface="Times New Roman" panose="02020603050405020304" pitchFamily="18" charset="0"/>
                          <a:cs typeface="Times New Roman" panose="02020603050405020304" pitchFamily="18" charset="0"/>
                        </a:rPr>
                        <a:t>Сверхпроводниковые</a:t>
                      </a:r>
                      <a:r>
                        <a:rPr lang="en-US" sz="1600" b="1" i="1" dirty="0">
                          <a:solidFill>
                            <a:schemeClr val="tx1"/>
                          </a:solidFill>
                          <a:latin typeface="Times New Roman" panose="02020603050405020304" pitchFamily="18" charset="0"/>
                          <a:cs typeface="Times New Roman" panose="02020603050405020304" pitchFamily="18" charset="0"/>
                        </a:rPr>
                        <a:t>(GWR)</a:t>
                      </a:r>
                      <a:endParaRPr lang="ru-RU" sz="16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1" i="1" dirty="0">
                          <a:solidFill>
                            <a:schemeClr val="tx1"/>
                          </a:solidFill>
                          <a:latin typeface="Times New Roman" panose="02020603050405020304" pitchFamily="18" charset="0"/>
                          <a:cs typeface="Times New Roman" panose="02020603050405020304" pitchFamily="18" charset="0"/>
                        </a:rPr>
                        <a:t>Баллистические</a:t>
                      </a:r>
                      <a:r>
                        <a:rPr lang="en-US" sz="1600" b="1" i="1" dirty="0">
                          <a:solidFill>
                            <a:schemeClr val="tx1"/>
                          </a:solidFill>
                          <a:latin typeface="Times New Roman" panose="02020603050405020304" pitchFamily="18" charset="0"/>
                          <a:cs typeface="Times New Roman" panose="02020603050405020304" pitchFamily="18" charset="0"/>
                        </a:rPr>
                        <a:t>(FG5)</a:t>
                      </a:r>
                      <a:endParaRPr lang="ru-RU" sz="16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1" i="1" dirty="0">
                          <a:solidFill>
                            <a:schemeClr val="tx1"/>
                          </a:solidFill>
                          <a:latin typeface="Times New Roman" panose="02020603050405020304" pitchFamily="18" charset="0"/>
                          <a:cs typeface="Times New Roman" panose="02020603050405020304" pitchFamily="18" charset="0"/>
                        </a:rPr>
                        <a:t>Квантовые(</a:t>
                      </a:r>
                      <a:r>
                        <a:rPr lang="en-US" sz="1600" b="1" i="1" dirty="0">
                          <a:solidFill>
                            <a:schemeClr val="tx1"/>
                          </a:solidFill>
                          <a:latin typeface="Times New Roman" panose="02020603050405020304" pitchFamily="18" charset="0"/>
                          <a:cs typeface="Times New Roman" panose="02020603050405020304" pitchFamily="18" charset="0"/>
                        </a:rPr>
                        <a:t>Tao Zhang, Wuhan</a:t>
                      </a:r>
                      <a:r>
                        <a:rPr lang="ru-RU" sz="1600" b="1" i="1" dirty="0">
                          <a:solidFill>
                            <a:schemeClr val="tx1"/>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400178">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Чувствительность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b="0" dirty="0">
                          <a:solidFill>
                            <a:schemeClr val="tx1"/>
                          </a:solidFill>
                          <a:latin typeface="Times New Roman" panose="02020603050405020304" pitchFamily="18" charset="0"/>
                          <a:cs typeface="Times New Roman" panose="02020603050405020304" pitchFamily="18" charset="0"/>
                        </a:rPr>
                        <a:t>1</a:t>
                      </a:r>
                      <a:r>
                        <a:rPr lang="en-US" b="0" dirty="0">
                          <a:solidFill>
                            <a:schemeClr val="tx1"/>
                          </a:solidFill>
                          <a:latin typeface="Times New Roman" panose="02020603050405020304" pitchFamily="18" charset="0"/>
                          <a:cs typeface="Times New Roman" panose="02020603050405020304" pitchFamily="18" charset="0"/>
                        </a:rPr>
                        <a:t>0</a:t>
                      </a:r>
                      <a:r>
                        <a:rPr lang="ru-RU" b="0" dirty="0">
                          <a:solidFill>
                            <a:schemeClr val="tx1"/>
                          </a:solidFill>
                          <a:latin typeface="Times New Roman" panose="02020603050405020304" pitchFamily="18" charset="0"/>
                          <a:cs typeface="Times New Roman" panose="02020603050405020304" pitchFamily="18" charset="0"/>
                        </a:rPr>
                        <a:t> </a:t>
                      </a:r>
                      <a:r>
                        <a:rPr lang="ru-RU" b="0" dirty="0" err="1">
                          <a:solidFill>
                            <a:schemeClr val="tx1"/>
                          </a:solidFill>
                          <a:latin typeface="Times New Roman" panose="02020603050405020304" pitchFamily="18" charset="0"/>
                          <a:cs typeface="Times New Roman" panose="02020603050405020304" pitchFamily="18" charset="0"/>
                        </a:rPr>
                        <a:t>нГал</a:t>
                      </a:r>
                      <a:r>
                        <a:rPr lang="en-US" b="0" dirty="0">
                          <a:solidFill>
                            <a:schemeClr val="tx1"/>
                          </a:solidFill>
                          <a:latin typeface="Times New Roman" panose="02020603050405020304" pitchFamily="18" charset="0"/>
                          <a:cs typeface="Times New Roman" panose="02020603050405020304" pitchFamily="18" charset="0"/>
                        </a:rPr>
                        <a:t>/</a:t>
                      </a:r>
                      <a:r>
                        <a:rPr lang="ru-RU"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t>
                      </a:r>
                      <a:r>
                        <a:rPr lang="ru-RU"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Гц</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15</a:t>
                      </a:r>
                      <a:r>
                        <a:rPr lang="ru-RU" b="0" dirty="0">
                          <a:solidFill>
                            <a:schemeClr val="tx1"/>
                          </a:solidFill>
                          <a:latin typeface="Times New Roman" panose="02020603050405020304" pitchFamily="18" charset="0"/>
                          <a:cs typeface="Times New Roman" panose="02020603050405020304" pitchFamily="18" charset="0"/>
                        </a:rPr>
                        <a:t> мкГал</a:t>
                      </a:r>
                      <a:r>
                        <a:rPr lang="en-US" b="0" dirty="0">
                          <a:solidFill>
                            <a:schemeClr val="tx1"/>
                          </a:solidFill>
                          <a:latin typeface="Times New Roman" panose="02020603050405020304" pitchFamily="18" charset="0"/>
                          <a:cs typeface="Times New Roman" panose="02020603050405020304" pitchFamily="18" charset="0"/>
                        </a:rPr>
                        <a:t>/</a:t>
                      </a:r>
                      <a:r>
                        <a:rPr lang="ru-RU"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t>
                      </a:r>
                      <a:r>
                        <a:rPr lang="ru-RU"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Гц</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2 мкГал</a:t>
                      </a:r>
                      <a:r>
                        <a:rPr lang="en-US" b="0" dirty="0">
                          <a:solidFill>
                            <a:schemeClr val="tx1"/>
                          </a:solidFill>
                          <a:latin typeface="Times New Roman" panose="02020603050405020304" pitchFamily="18" charset="0"/>
                          <a:cs typeface="Times New Roman" panose="02020603050405020304" pitchFamily="18" charset="0"/>
                        </a:rPr>
                        <a:t>/</a:t>
                      </a:r>
                      <a:r>
                        <a:rPr lang="ru-RU"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t>
                      </a:r>
                      <a:r>
                        <a:rPr lang="ru-RU"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Гц</a:t>
                      </a:r>
                      <a:r>
                        <a:rPr lang="ru-RU" b="0" baseline="0" dirty="0">
                          <a:solidFill>
                            <a:schemeClr val="tx1"/>
                          </a:solidFill>
                          <a:latin typeface="Times New Roman" panose="02020603050405020304" pitchFamily="18" charset="0"/>
                          <a:cs typeface="Times New Roman" panose="02020603050405020304" pitchFamily="18" charset="0"/>
                        </a:rPr>
                        <a:t> </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r h="400178">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Стабильность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0.05</a:t>
                      </a:r>
                      <a:r>
                        <a:rPr lang="ru-RU" b="0" dirty="0">
                          <a:solidFill>
                            <a:schemeClr val="tx1"/>
                          </a:solidFill>
                          <a:latin typeface="Times New Roman" panose="02020603050405020304" pitchFamily="18" charset="0"/>
                          <a:cs typeface="Times New Roman" panose="02020603050405020304" pitchFamily="18" charset="0"/>
                        </a:rPr>
                        <a:t> </a:t>
                      </a:r>
                      <a:r>
                        <a:rPr lang="ru-RU" b="0" dirty="0" err="1">
                          <a:solidFill>
                            <a:schemeClr val="tx1"/>
                          </a:solidFill>
                          <a:latin typeface="Times New Roman" panose="02020603050405020304" pitchFamily="18" charset="0"/>
                          <a:cs typeface="Times New Roman" panose="02020603050405020304" pitchFamily="18" charset="0"/>
                        </a:rPr>
                        <a:t>мкГал</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a:t>
                      </a:r>
                      <a:r>
                        <a:rPr lang="ru-RU" b="0" dirty="0">
                          <a:solidFill>
                            <a:schemeClr val="tx1"/>
                          </a:solidFill>
                          <a:latin typeface="Times New Roman" panose="02020603050405020304" pitchFamily="18" charset="0"/>
                          <a:cs typeface="Times New Roman" panose="02020603050405020304" pitchFamily="18" charset="0"/>
                        </a:rPr>
                        <a:t>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a:t>
                      </a:r>
                      <a:r>
                        <a:rPr lang="ru-RU" b="0" dirty="0">
                          <a:solidFill>
                            <a:schemeClr val="tx1"/>
                          </a:solidFill>
                          <a:latin typeface="Times New Roman" panose="02020603050405020304" pitchFamily="18" charset="0"/>
                          <a:cs typeface="Times New Roman" panose="02020603050405020304" pitchFamily="18" charset="0"/>
                        </a:rPr>
                        <a:t>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3"/>
                  </a:ext>
                </a:extLst>
              </a:tr>
              <a:tr h="380599">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Точность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1 </a:t>
                      </a:r>
                      <a:r>
                        <a:rPr lang="ru-RU" b="0" dirty="0" err="1">
                          <a:solidFill>
                            <a:schemeClr val="tx1"/>
                          </a:solidFill>
                          <a:latin typeface="Times New Roman" panose="02020603050405020304" pitchFamily="18" charset="0"/>
                          <a:cs typeface="Times New Roman" panose="02020603050405020304" pitchFamily="18" charset="0"/>
                        </a:rPr>
                        <a:t>мкГал</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2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solidFill>
                            <a:schemeClr val="tx1"/>
                          </a:solidFill>
                          <a:latin typeface="Times New Roman" panose="02020603050405020304" pitchFamily="18" charset="0"/>
                          <a:cs typeface="Times New Roman" panose="02020603050405020304" pitchFamily="18" charset="0"/>
                        </a:rPr>
                        <a:t>0.5</a:t>
                      </a:r>
                      <a:r>
                        <a:rPr lang="ru-RU" b="0" dirty="0">
                          <a:solidFill>
                            <a:schemeClr val="tx1"/>
                          </a:solidFill>
                          <a:latin typeface="Times New Roman" panose="02020603050405020304" pitchFamily="18" charset="0"/>
                          <a:cs typeface="Times New Roman" panose="02020603050405020304" pitchFamily="18" charset="0"/>
                        </a:rPr>
                        <a:t> </a:t>
                      </a:r>
                      <a:r>
                        <a:rPr lang="ru-RU" b="0" dirty="0" err="1">
                          <a:solidFill>
                            <a:schemeClr val="tx1"/>
                          </a:solidFill>
                          <a:latin typeface="Times New Roman" panose="02020603050405020304" pitchFamily="18" charset="0"/>
                          <a:cs typeface="Times New Roman" panose="02020603050405020304" pitchFamily="18" charset="0"/>
                        </a:rPr>
                        <a:t>мкГал</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4"/>
                  </a:ext>
                </a:extLst>
              </a:tr>
              <a:tr h="310096">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Дрейф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 </a:t>
                      </a:r>
                      <a:r>
                        <a:rPr lang="ru-RU" b="0" dirty="0" err="1">
                          <a:solidFill>
                            <a:schemeClr val="tx1"/>
                          </a:solidFill>
                          <a:latin typeface="Times New Roman" panose="02020603050405020304" pitchFamily="18" charset="0"/>
                          <a:cs typeface="Times New Roman" panose="02020603050405020304" pitchFamily="18" charset="0"/>
                        </a:rPr>
                        <a:t>мкГал</a:t>
                      </a:r>
                      <a:r>
                        <a:rPr lang="en-US" b="0" dirty="0">
                          <a:solidFill>
                            <a:schemeClr val="tx1"/>
                          </a:solidFill>
                          <a:latin typeface="Times New Roman" panose="02020603050405020304" pitchFamily="18" charset="0"/>
                          <a:cs typeface="Times New Roman" panose="02020603050405020304" pitchFamily="18" charset="0"/>
                        </a:rPr>
                        <a:t>/</a:t>
                      </a:r>
                      <a:r>
                        <a:rPr lang="ru-RU" b="0" dirty="0">
                          <a:solidFill>
                            <a:schemeClr val="tx1"/>
                          </a:solidFill>
                          <a:latin typeface="Times New Roman" panose="02020603050405020304" pitchFamily="18" charset="0"/>
                          <a:cs typeface="Times New Roman" panose="02020603050405020304" pitchFamily="18" charset="0"/>
                        </a:rPr>
                        <a:t>год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отсутствует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b="0" dirty="0">
                          <a:solidFill>
                            <a:schemeClr val="tx1"/>
                          </a:solidFill>
                          <a:latin typeface="Times New Roman" panose="02020603050405020304" pitchFamily="18" charset="0"/>
                          <a:cs typeface="Times New Roman" panose="02020603050405020304" pitchFamily="18" charset="0"/>
                        </a:rPr>
                        <a:t>отсутствует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5"/>
                  </a:ext>
                </a:extLst>
              </a:tr>
              <a:tr h="38059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0" u="sng" dirty="0">
                          <a:solidFill>
                            <a:schemeClr val="tx1"/>
                          </a:solidFill>
                          <a:latin typeface="Times New Roman" panose="02020603050405020304" pitchFamily="18" charset="0"/>
                          <a:cs typeface="Times New Roman" panose="02020603050405020304" pitchFamily="18" charset="0"/>
                        </a:rPr>
                        <a:t>Необходимость калибровки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Есть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Нет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b="0" dirty="0">
                          <a:solidFill>
                            <a:schemeClr val="tx1"/>
                          </a:solidFill>
                          <a:latin typeface="Times New Roman" panose="02020603050405020304" pitchFamily="18" charset="0"/>
                          <a:cs typeface="Times New Roman" panose="02020603050405020304" pitchFamily="18" charset="0"/>
                        </a:rPr>
                        <a:t>нет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6"/>
                  </a:ext>
                </a:extLst>
              </a:tr>
              <a:tr h="34718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0" u="sng" dirty="0">
                          <a:solidFill>
                            <a:schemeClr val="tx1"/>
                          </a:solidFill>
                          <a:latin typeface="Times New Roman" panose="02020603050405020304" pitchFamily="18" charset="0"/>
                          <a:cs typeface="Times New Roman" panose="02020603050405020304" pitchFamily="18" charset="0"/>
                        </a:rPr>
                        <a:t>Частота опроса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0.1 Гц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0.</a:t>
                      </a:r>
                      <a:r>
                        <a:rPr lang="en-US" b="0" dirty="0">
                          <a:solidFill>
                            <a:schemeClr val="tx1"/>
                          </a:solidFill>
                          <a:latin typeface="Times New Roman" panose="02020603050405020304" pitchFamily="18" charset="0"/>
                          <a:cs typeface="Times New Roman" panose="02020603050405020304" pitchFamily="18" charset="0"/>
                        </a:rPr>
                        <a:t>1</a:t>
                      </a:r>
                      <a:r>
                        <a:rPr lang="ru-RU" b="0" dirty="0">
                          <a:solidFill>
                            <a:schemeClr val="tx1"/>
                          </a:solidFill>
                          <a:latin typeface="Times New Roman" panose="02020603050405020304" pitchFamily="18" charset="0"/>
                          <a:cs typeface="Times New Roman" panose="02020603050405020304" pitchFamily="18" charset="0"/>
                        </a:rPr>
                        <a:t> Гц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Times New Roman" panose="02020603050405020304" pitchFamily="18" charset="0"/>
                          <a:ea typeface="Times New Roman"/>
                          <a:cs typeface="Times New Roman" panose="02020603050405020304" pitchFamily="18" charset="0"/>
                          <a:sym typeface="Times New Roman"/>
                        </a:rPr>
                        <a:t>2</a:t>
                      </a:r>
                      <a:r>
                        <a:rPr lang="ru-RU" sz="1400" dirty="0">
                          <a:latin typeface="Times New Roman" panose="02020603050405020304" pitchFamily="18" charset="0"/>
                          <a:ea typeface="Times New Roman"/>
                          <a:cs typeface="Times New Roman" panose="02020603050405020304" pitchFamily="18" charset="0"/>
                          <a:sym typeface="Times New Roman"/>
                        </a:rPr>
                        <a:t> Гц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7"/>
                  </a:ext>
                </a:extLst>
              </a:tr>
              <a:tr h="34718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0" u="sng" dirty="0">
                          <a:solidFill>
                            <a:schemeClr val="tx1"/>
                          </a:solidFill>
                          <a:latin typeface="Times New Roman" panose="02020603050405020304" pitchFamily="18" charset="0"/>
                          <a:cs typeface="Times New Roman" panose="02020603050405020304" pitchFamily="18" charset="0"/>
                        </a:rPr>
                        <a:t>Подвижные элементы в конструкции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Присутствуют, не являются проблемой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Присутствуют, ограничивают частоту опроса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dirty="0">
                          <a:latin typeface="Times New Roman" panose="02020603050405020304" pitchFamily="18" charset="0"/>
                          <a:ea typeface="Times New Roman"/>
                          <a:cs typeface="Times New Roman" panose="02020603050405020304" pitchFamily="18" charset="0"/>
                          <a:sym typeface="Times New Roman"/>
                        </a:rPr>
                        <a:t>Отсутствуют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142304434"/>
                  </a:ext>
                </a:extLst>
              </a:tr>
            </a:tbl>
          </a:graphicData>
        </a:graphic>
      </p:graphicFrame>
      <p:graphicFrame>
        <p:nvGraphicFramePr>
          <p:cNvPr id="2" name="Таблица 1"/>
          <p:cNvGraphicFramePr>
            <a:graphicFrameLocks noGrp="1"/>
          </p:cNvGraphicFramePr>
          <p:nvPr>
            <p:extLst>
              <p:ext uri="{D42A27DB-BD31-4B8C-83A1-F6EECF244321}">
                <p14:modId xmlns:p14="http://schemas.microsoft.com/office/powerpoint/2010/main" val="884261242"/>
              </p:ext>
            </p:extLst>
          </p:nvPr>
        </p:nvGraphicFramePr>
        <p:xfrm>
          <a:off x="771063" y="698581"/>
          <a:ext cx="10649874" cy="949960"/>
        </p:xfrm>
        <a:graphic>
          <a:graphicData uri="http://schemas.openxmlformats.org/drawingml/2006/table">
            <a:tbl>
              <a:tblPr firstRow="1" bandRow="1">
                <a:tableStyleId>{5C22544A-7EE6-4342-B048-85BDC9FD1C3A}</a:tableStyleId>
              </a:tblPr>
              <a:tblGrid>
                <a:gridCol w="1774979">
                  <a:extLst>
                    <a:ext uri="{9D8B030D-6E8A-4147-A177-3AD203B41FA5}">
                      <a16:colId xmlns="" xmlns:a16="http://schemas.microsoft.com/office/drawing/2014/main" val="20000"/>
                    </a:ext>
                  </a:extLst>
                </a:gridCol>
                <a:gridCol w="1774979">
                  <a:extLst>
                    <a:ext uri="{9D8B030D-6E8A-4147-A177-3AD203B41FA5}">
                      <a16:colId xmlns="" xmlns:a16="http://schemas.microsoft.com/office/drawing/2014/main" val="20001"/>
                    </a:ext>
                  </a:extLst>
                </a:gridCol>
                <a:gridCol w="1774979">
                  <a:extLst>
                    <a:ext uri="{9D8B030D-6E8A-4147-A177-3AD203B41FA5}">
                      <a16:colId xmlns="" xmlns:a16="http://schemas.microsoft.com/office/drawing/2014/main" val="20002"/>
                    </a:ext>
                  </a:extLst>
                </a:gridCol>
                <a:gridCol w="1774979">
                  <a:extLst>
                    <a:ext uri="{9D8B030D-6E8A-4147-A177-3AD203B41FA5}">
                      <a16:colId xmlns="" xmlns:a16="http://schemas.microsoft.com/office/drawing/2014/main" val="20003"/>
                    </a:ext>
                  </a:extLst>
                </a:gridCol>
                <a:gridCol w="1774979">
                  <a:extLst>
                    <a:ext uri="{9D8B030D-6E8A-4147-A177-3AD203B41FA5}">
                      <a16:colId xmlns="" xmlns:a16="http://schemas.microsoft.com/office/drawing/2014/main" val="20004"/>
                    </a:ext>
                  </a:extLst>
                </a:gridCol>
                <a:gridCol w="1774979">
                  <a:extLst>
                    <a:ext uri="{9D8B030D-6E8A-4147-A177-3AD203B41FA5}">
                      <a16:colId xmlns="" xmlns:a16="http://schemas.microsoft.com/office/drawing/2014/main" val="20005"/>
                    </a:ext>
                  </a:extLst>
                </a:gridCol>
              </a:tblGrid>
              <a:tr h="565703">
                <a:tc>
                  <a:txBody>
                    <a:bodyPr/>
                    <a:lstStyle/>
                    <a:p>
                      <a:pPr algn="ctr"/>
                      <a:r>
                        <a:rPr lang="ru-RU" sz="1600" dirty="0">
                          <a:solidFill>
                            <a:schemeClr val="tx1"/>
                          </a:solidFill>
                          <a:latin typeface="Times New Roman" panose="02020603050405020304" pitchFamily="18" charset="0"/>
                          <a:cs typeface="Times New Roman" panose="02020603050405020304" pitchFamily="18" charset="0"/>
                        </a:rPr>
                        <a:t>Факторы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Локальные</a:t>
                      </a:r>
                      <a:r>
                        <a:rPr lang="ru-RU" sz="1600" b="0" baseline="0" dirty="0">
                          <a:solidFill>
                            <a:schemeClr val="tx1"/>
                          </a:solidFill>
                          <a:latin typeface="Times New Roman" panose="02020603050405020304" pitchFamily="18" charset="0"/>
                          <a:cs typeface="Times New Roman" panose="02020603050405020304" pitchFamily="18" charset="0"/>
                        </a:rPr>
                        <a:t> аномалии</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Давление</a:t>
                      </a:r>
                      <a:r>
                        <a:rPr lang="ru-RU" sz="1600" b="0" baseline="0" dirty="0">
                          <a:solidFill>
                            <a:schemeClr val="tx1"/>
                          </a:solidFill>
                          <a:latin typeface="Times New Roman" panose="02020603050405020304" pitchFamily="18" charset="0"/>
                          <a:cs typeface="Times New Roman" panose="02020603050405020304" pitchFamily="18" charset="0"/>
                        </a:rPr>
                        <a:t> воздуха</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Приливы</a:t>
                      </a:r>
                      <a:r>
                        <a:rPr lang="ru-RU" sz="1600" b="0" baseline="0" dirty="0">
                          <a:solidFill>
                            <a:schemeClr val="tx1"/>
                          </a:solidFill>
                          <a:latin typeface="Times New Roman" panose="02020603050405020304" pitchFamily="18" charset="0"/>
                          <a:cs typeface="Times New Roman" panose="02020603050405020304" pitchFamily="18" charset="0"/>
                        </a:rPr>
                        <a:t> и отливы</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Сезонные</a:t>
                      </a:r>
                      <a:r>
                        <a:rPr lang="ru-RU" sz="1600" b="0" baseline="0" dirty="0">
                          <a:solidFill>
                            <a:schemeClr val="tx1"/>
                          </a:solidFill>
                          <a:latin typeface="Times New Roman" panose="02020603050405020304" pitchFamily="18" charset="0"/>
                          <a:cs typeface="Times New Roman" panose="02020603050405020304" pitchFamily="18" charset="0"/>
                        </a:rPr>
                        <a:t> изменения</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Дрейф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370840">
                <a:tc>
                  <a:txBody>
                    <a:bodyPr/>
                    <a:lstStyle/>
                    <a:p>
                      <a:pPr algn="ctr"/>
                      <a:r>
                        <a:rPr lang="ru-RU" sz="1600" b="1" dirty="0">
                          <a:solidFill>
                            <a:schemeClr val="tx1"/>
                          </a:solidFill>
                          <a:latin typeface="Times New Roman" panose="02020603050405020304" pitchFamily="18" charset="0"/>
                          <a:cs typeface="Times New Roman" panose="02020603050405020304" pitchFamily="18" charset="0"/>
                        </a:rPr>
                        <a:t>Влияние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100 мГал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0</a:t>
                      </a:r>
                      <a:r>
                        <a:rPr lang="en-US" sz="1600" dirty="0">
                          <a:solidFill>
                            <a:schemeClr val="tx1"/>
                          </a:solidFill>
                          <a:latin typeface="Times New Roman" panose="02020603050405020304" pitchFamily="18" charset="0"/>
                          <a:cs typeface="Times New Roman" panose="02020603050405020304" pitchFamily="18" charset="0"/>
                        </a:rPr>
                        <a:t>.</a:t>
                      </a:r>
                      <a:r>
                        <a:rPr lang="ru-RU" sz="1600" dirty="0">
                          <a:solidFill>
                            <a:schemeClr val="tx1"/>
                          </a:solidFill>
                          <a:latin typeface="Times New Roman" panose="02020603050405020304" pitchFamily="18" charset="0"/>
                          <a:cs typeface="Times New Roman" panose="02020603050405020304" pitchFamily="18" charset="0"/>
                        </a:rPr>
                        <a:t>3 мкГал</a:t>
                      </a:r>
                      <a:r>
                        <a:rPr lang="en-US" sz="1600" dirty="0">
                          <a:solidFill>
                            <a:schemeClr val="tx1"/>
                          </a:solidFill>
                          <a:latin typeface="Times New Roman" panose="02020603050405020304" pitchFamily="18" charset="0"/>
                          <a:cs typeface="Times New Roman" panose="02020603050405020304" pitchFamily="18" charset="0"/>
                        </a:rPr>
                        <a:t>/</a:t>
                      </a:r>
                      <a:r>
                        <a:rPr lang="ru-RU" sz="1600" dirty="0">
                          <a:solidFill>
                            <a:schemeClr val="tx1"/>
                          </a:solidFill>
                          <a:latin typeface="Times New Roman" panose="02020603050405020304" pitchFamily="18" charset="0"/>
                          <a:cs typeface="Times New Roman" panose="02020603050405020304" pitchFamily="18" charset="0"/>
                        </a:rPr>
                        <a:t>торр</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a:t>
                      </a:r>
                      <a:r>
                        <a:rPr lang="en-US" sz="1600" baseline="0" dirty="0">
                          <a:solidFill>
                            <a:schemeClr val="tx1"/>
                          </a:solidFill>
                          <a:latin typeface="Times New Roman" panose="02020603050405020304" pitchFamily="18" charset="0"/>
                          <a:cs typeface="Times New Roman" panose="02020603050405020304" pitchFamily="18" charset="0"/>
                        </a:rPr>
                        <a:t> 250</a:t>
                      </a:r>
                      <a:r>
                        <a:rPr lang="ru-RU" sz="1600" baseline="0" dirty="0">
                          <a:solidFill>
                            <a:schemeClr val="tx1"/>
                          </a:solidFill>
                          <a:latin typeface="Times New Roman" panose="02020603050405020304" pitchFamily="18" charset="0"/>
                          <a:cs typeface="Times New Roman" panose="02020603050405020304" pitchFamily="18" charset="0"/>
                        </a:rPr>
                        <a:t> </a:t>
                      </a:r>
                      <a:r>
                        <a:rPr lang="en-US" sz="1600" baseline="0" dirty="0">
                          <a:solidFill>
                            <a:schemeClr val="tx1"/>
                          </a:solidFill>
                          <a:latin typeface="Times New Roman" panose="02020603050405020304" pitchFamily="18" charset="0"/>
                          <a:cs typeface="Times New Roman" panose="02020603050405020304" pitchFamily="18" charset="0"/>
                        </a:rPr>
                        <a:t>-</a:t>
                      </a:r>
                      <a:r>
                        <a:rPr lang="ru-RU" sz="1600" baseline="0" dirty="0">
                          <a:solidFill>
                            <a:schemeClr val="tx1"/>
                          </a:solidFill>
                          <a:latin typeface="Times New Roman" panose="02020603050405020304" pitchFamily="18" charset="0"/>
                          <a:cs typeface="Times New Roman" panose="02020603050405020304" pitchFamily="18" charset="0"/>
                        </a:rPr>
                        <a:t> </a:t>
                      </a:r>
                      <a:r>
                        <a:rPr lang="en-US" sz="1600" baseline="0" dirty="0">
                          <a:solidFill>
                            <a:schemeClr val="tx1"/>
                          </a:solidFill>
                          <a:latin typeface="Times New Roman" panose="02020603050405020304" pitchFamily="18" charset="0"/>
                          <a:cs typeface="Times New Roman" panose="02020603050405020304" pitchFamily="18" charset="0"/>
                        </a:rPr>
                        <a:t>300 </a:t>
                      </a:r>
                      <a:r>
                        <a:rPr lang="ru-RU" sz="1600" baseline="0" dirty="0">
                          <a:solidFill>
                            <a:schemeClr val="tx1"/>
                          </a:solidFill>
                          <a:latin typeface="Times New Roman" panose="02020603050405020304" pitchFamily="18" charset="0"/>
                          <a:cs typeface="Times New Roman" panose="02020603050405020304" pitchFamily="18" charset="0"/>
                        </a:rPr>
                        <a:t>мкГал</a:t>
                      </a:r>
                      <a:endParaRPr lang="ru-RU"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aseline="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30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40 мкГал</a:t>
                      </a:r>
                      <a:r>
                        <a:rPr lang="en-US" sz="1600" dirty="0">
                          <a:solidFill>
                            <a:schemeClr val="tx1"/>
                          </a:solidFill>
                          <a:latin typeface="Times New Roman" panose="02020603050405020304" pitchFamily="18" charset="0"/>
                          <a:cs typeface="Times New Roman" panose="02020603050405020304" pitchFamily="18" charset="0"/>
                        </a:rPr>
                        <a:t>/</a:t>
                      </a:r>
                      <a:r>
                        <a:rPr lang="ru-RU" sz="1600" dirty="0">
                          <a:solidFill>
                            <a:schemeClr val="tx1"/>
                          </a:solidFill>
                          <a:latin typeface="Times New Roman" panose="02020603050405020304" pitchFamily="18" charset="0"/>
                          <a:cs typeface="Times New Roman" panose="02020603050405020304" pitchFamily="18" charset="0"/>
                        </a:rPr>
                        <a:t>год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bl>
          </a:graphicData>
        </a:graphic>
      </p:graphicFrame>
      <p:sp>
        <p:nvSpPr>
          <p:cNvPr id="5" name="Google Shape;96;p16">
            <a:extLst>
              <a:ext uri="{FF2B5EF4-FFF2-40B4-BE49-F238E27FC236}">
                <a16:creationId xmlns="" xmlns:a16="http://schemas.microsoft.com/office/drawing/2014/main" id="{423EA0ED-41B0-045E-C05E-55922F62F740}"/>
              </a:ext>
            </a:extLst>
          </p:cNvPr>
          <p:cNvSpPr txBox="1"/>
          <p:nvPr/>
        </p:nvSpPr>
        <p:spPr>
          <a:xfrm>
            <a:off x="2051409" y="2056399"/>
            <a:ext cx="4530904" cy="661679"/>
          </a:xfrm>
          <a:prstGeom prst="rect">
            <a:avLst/>
          </a:prstGeom>
          <a:noFill/>
          <a:ln>
            <a:noFill/>
          </a:ln>
        </p:spPr>
        <p:txBody>
          <a:bodyPr spcFirstLastPara="1" wrap="square" lIns="91425" tIns="45700" rIns="91425" bIns="45700" anchor="t" anchorCtr="0">
            <a:spAutoFit/>
          </a:bodyPr>
          <a:lstStyle/>
          <a:p>
            <a:pPr marL="285750" lvl="0" indent="-285750">
              <a:spcBef>
                <a:spcPts val="300"/>
              </a:spcBef>
              <a:buSzPts val="1600"/>
              <a:buFont typeface="Arial"/>
              <a:buChar char="•"/>
            </a:pPr>
            <a:r>
              <a:rPr lang="ru-RU" sz="1600" dirty="0">
                <a:latin typeface="Times New Roman"/>
                <a:ea typeface="Times New Roman"/>
                <a:cs typeface="Times New Roman"/>
                <a:sym typeface="Times New Roman"/>
              </a:rPr>
              <a:t>Фундаментальные физические исследования</a:t>
            </a:r>
          </a:p>
          <a:p>
            <a:pPr marL="285750" marR="0" lvl="0" indent="-285750" algn="l" rtl="0">
              <a:lnSpc>
                <a:spcPct val="100000"/>
              </a:lnSpc>
              <a:spcBef>
                <a:spcPts val="300"/>
              </a:spcBef>
              <a:spcAft>
                <a:spcPts val="0"/>
              </a:spcAft>
              <a:buClr>
                <a:srgbClr val="000000"/>
              </a:buClr>
              <a:buSzPts val="1600"/>
              <a:buFont typeface="Arial"/>
              <a:buChar char="•"/>
            </a:pPr>
            <a:r>
              <a:rPr lang="ru-RU" sz="1600" dirty="0">
                <a:latin typeface="Times New Roman"/>
                <a:ea typeface="Times New Roman"/>
                <a:cs typeface="Times New Roman"/>
                <a:sym typeface="Times New Roman"/>
              </a:rPr>
              <a:t>Геофизика</a:t>
            </a:r>
            <a:endParaRPr sz="1600" b="0" i="0" u="none" strike="noStrike" cap="none" dirty="0">
              <a:solidFill>
                <a:srgbClr val="000000"/>
              </a:solidFill>
              <a:latin typeface="Times New Roman"/>
              <a:ea typeface="Times New Roman"/>
              <a:cs typeface="Times New Roman"/>
              <a:sym typeface="Times New Roman"/>
            </a:endParaRPr>
          </a:p>
        </p:txBody>
      </p:sp>
      <p:sp>
        <p:nvSpPr>
          <p:cNvPr id="6" name="Google Shape;98;p16">
            <a:extLst>
              <a:ext uri="{FF2B5EF4-FFF2-40B4-BE49-F238E27FC236}">
                <a16:creationId xmlns="" xmlns:a16="http://schemas.microsoft.com/office/drawing/2014/main" id="{E4243556-E438-CFBC-29D6-4D8BF0F905CD}"/>
              </a:ext>
            </a:extLst>
          </p:cNvPr>
          <p:cNvSpPr txBox="1"/>
          <p:nvPr/>
        </p:nvSpPr>
        <p:spPr>
          <a:xfrm>
            <a:off x="2301505" y="1717885"/>
            <a:ext cx="7888374"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ru-RU" sz="1600" b="1" i="0" u="none" strike="noStrike" cap="none" dirty="0">
                <a:solidFill>
                  <a:srgbClr val="000000"/>
                </a:solidFill>
                <a:latin typeface="Times New Roman"/>
                <a:ea typeface="Times New Roman"/>
                <a:cs typeface="Times New Roman"/>
                <a:sym typeface="Times New Roman"/>
              </a:rPr>
              <a:t>Сферы</a:t>
            </a:r>
            <a:r>
              <a:rPr lang="en-US" sz="1600" b="1" i="0" u="none" strike="noStrike" cap="none" dirty="0">
                <a:solidFill>
                  <a:srgbClr val="000000"/>
                </a:solidFill>
                <a:latin typeface="Times New Roman"/>
                <a:ea typeface="Times New Roman"/>
                <a:cs typeface="Times New Roman"/>
                <a:sym typeface="Times New Roman"/>
              </a:rPr>
              <a:t> </a:t>
            </a:r>
            <a:r>
              <a:rPr lang="ru-RU" sz="1600" b="1" i="0" u="none" strike="noStrike" cap="none" dirty="0">
                <a:solidFill>
                  <a:srgbClr val="000000"/>
                </a:solidFill>
                <a:latin typeface="Times New Roman"/>
                <a:ea typeface="Times New Roman"/>
                <a:cs typeface="Times New Roman"/>
                <a:sym typeface="Times New Roman"/>
              </a:rPr>
              <a:t>деятельности, требующие прецизионных измерений гравитации</a:t>
            </a:r>
          </a:p>
        </p:txBody>
      </p:sp>
      <p:sp>
        <p:nvSpPr>
          <p:cNvPr id="10" name="TextBox 9">
            <a:extLst>
              <a:ext uri="{FF2B5EF4-FFF2-40B4-BE49-F238E27FC236}">
                <a16:creationId xmlns="" xmlns:a16="http://schemas.microsoft.com/office/drawing/2014/main" id="{D4F37B3D-67F2-43BC-66AA-BE525757435E}"/>
              </a:ext>
            </a:extLst>
          </p:cNvPr>
          <p:cNvSpPr txBox="1"/>
          <p:nvPr/>
        </p:nvSpPr>
        <p:spPr>
          <a:xfrm>
            <a:off x="6683302" y="2056399"/>
            <a:ext cx="3709010" cy="623248"/>
          </a:xfrm>
          <a:prstGeom prst="rect">
            <a:avLst/>
          </a:prstGeom>
          <a:noFill/>
        </p:spPr>
        <p:txBody>
          <a:bodyPr wrap="square">
            <a:spAutoFit/>
          </a:bodyPr>
          <a:lstStyle/>
          <a:p>
            <a:pPr marL="285750" marR="0" lvl="0" indent="-285750" algn="l" rtl="0">
              <a:lnSpc>
                <a:spcPct val="100000"/>
              </a:lnSpc>
              <a:spcBef>
                <a:spcPts val="300"/>
              </a:spcBef>
              <a:spcAft>
                <a:spcPts val="0"/>
              </a:spcAft>
              <a:buClr>
                <a:srgbClr val="000000"/>
              </a:buClr>
              <a:buSzPts val="1600"/>
              <a:buFont typeface="Arial"/>
              <a:buChar char="•"/>
            </a:pPr>
            <a:r>
              <a:rPr lang="ru-RU" sz="1600" dirty="0">
                <a:latin typeface="Times New Roman"/>
                <a:ea typeface="Times New Roman"/>
                <a:cs typeface="Times New Roman"/>
                <a:sym typeface="Times New Roman"/>
              </a:rPr>
              <a:t>Навигация</a:t>
            </a:r>
            <a:endParaRPr lang="ru-RU" sz="1600" b="0" i="0" u="none" strike="noStrike" cap="none" dirty="0">
              <a:solidFill>
                <a:srgbClr val="000000"/>
              </a:solidFill>
              <a:latin typeface="Times New Roman"/>
              <a:ea typeface="Times New Roman"/>
              <a:cs typeface="Times New Roman"/>
              <a:sym typeface="Times New Roman"/>
            </a:endParaRPr>
          </a:p>
          <a:p>
            <a:pPr marL="285750" marR="0" lvl="0" indent="-285750" algn="l" rtl="0">
              <a:lnSpc>
                <a:spcPct val="100000"/>
              </a:lnSpc>
              <a:spcBef>
                <a:spcPts val="300"/>
              </a:spcBef>
              <a:spcAft>
                <a:spcPts val="0"/>
              </a:spcAft>
              <a:buClr>
                <a:srgbClr val="000000"/>
              </a:buClr>
              <a:buSzPts val="1600"/>
              <a:buFont typeface="Arial"/>
              <a:buChar char="•"/>
            </a:pPr>
            <a:r>
              <a:rPr lang="ru-RU" sz="1600" b="0" i="0" u="none" strike="noStrike" cap="none" dirty="0">
                <a:solidFill>
                  <a:srgbClr val="000000"/>
                </a:solidFill>
                <a:latin typeface="Times New Roman"/>
                <a:ea typeface="Times New Roman"/>
                <a:cs typeface="Times New Roman"/>
                <a:sym typeface="Times New Roman"/>
              </a:rPr>
              <a:t>Оценка подземной инфраструктуры</a:t>
            </a:r>
          </a:p>
        </p:txBody>
      </p:sp>
    </p:spTree>
    <p:extLst>
      <p:ext uri="{BB962C8B-B14F-4D97-AF65-F5344CB8AC3E}">
        <p14:creationId xmlns:p14="http://schemas.microsoft.com/office/powerpoint/2010/main" val="26101771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198FEF79-600B-4971-DE56-02B116CFFC07}"/>
              </a:ext>
            </a:extLst>
          </p:cNvPr>
          <p:cNvSpPr txBox="1"/>
          <p:nvPr/>
        </p:nvSpPr>
        <p:spPr>
          <a:xfrm>
            <a:off x="2103966" y="889000"/>
            <a:ext cx="7984067" cy="4401205"/>
          </a:xfrm>
          <a:prstGeom prst="rect">
            <a:avLst/>
          </a:prstGeom>
          <a:noFill/>
        </p:spPr>
        <p:txBody>
          <a:bodyPr wrap="square" rtlCol="0">
            <a:spAutoFit/>
          </a:bodyPr>
          <a:lstStyle/>
          <a:p>
            <a:r>
              <a:rPr lang="ru-RU" dirty="0"/>
              <a:t>На гравитационное ускорение влияют различные факторы, среди них …., они могут приводить к изменению </a:t>
            </a:r>
            <a:r>
              <a:rPr lang="en-US" dirty="0"/>
              <a:t>g </a:t>
            </a:r>
            <a:r>
              <a:rPr lang="ru-RU" dirty="0"/>
              <a:t>от десятых </a:t>
            </a:r>
            <a:r>
              <a:rPr lang="ru-RU" dirty="0" err="1"/>
              <a:t>мкГал</a:t>
            </a:r>
            <a:r>
              <a:rPr lang="ru-RU" dirty="0"/>
              <a:t> до сотен </a:t>
            </a:r>
            <a:r>
              <a:rPr lang="ru-RU" dirty="0" err="1"/>
              <a:t>мГал</a:t>
            </a:r>
            <a:r>
              <a:rPr lang="ru-RU" dirty="0"/>
              <a:t>.</a:t>
            </a:r>
          </a:p>
          <a:p>
            <a:endParaRPr lang="ru-RU" dirty="0"/>
          </a:p>
          <a:p>
            <a:r>
              <a:rPr lang="ru-RU" dirty="0"/>
              <a:t>Существует множество областей, требующих точного измерения гравитационного ускорения …. и т.д.</a:t>
            </a:r>
          </a:p>
          <a:p>
            <a:endParaRPr lang="ru-RU" dirty="0"/>
          </a:p>
          <a:p>
            <a:r>
              <a:rPr lang="ru-RU" dirty="0"/>
              <a:t>Для измерения </a:t>
            </a:r>
            <a:r>
              <a:rPr lang="en-US" dirty="0"/>
              <a:t>g </a:t>
            </a:r>
            <a:r>
              <a:rPr lang="ru-RU" dirty="0"/>
              <a:t>используются гравиметры, которые подразделяются на абсолютные, измеряющие гравитационное ускорение напрямую, и относительные, измеряющие изменение гравитационного поля, и поэтому требуют калибровки по абсолютным, а также относительные гравиметры испытывают дрейф, и поэтому их снова нужно калибровать. Несмотря на приведённый недостаток, данный тип гравиметров обладает отличными метрологическими характеристиками. Среди же абсолютных гравиметров наиболее распространены баллистические классические, конкуренцию которым начинают составлять квантовые атомные гравиметры. Существующие коммерческие квантовые гравиметры обладают метрологическими характеристиками сходными с классическими, а лабораторные образцы обладают превосходящими показателями, что говорит о больших перспективах квантовых гравиметров. </a:t>
            </a:r>
          </a:p>
          <a:p>
            <a:endParaRPr lang="ru-RU" dirty="0"/>
          </a:p>
          <a:p>
            <a:r>
              <a:rPr lang="ru-RU" dirty="0"/>
              <a:t>Данная работа направлена на улучшение метрологических характеристик разрабатываемого в ИЛФ СО РАН квантового атомного интерферометра-гравиметра.</a:t>
            </a:r>
          </a:p>
        </p:txBody>
      </p:sp>
    </p:spTree>
    <p:extLst>
      <p:ext uri="{BB962C8B-B14F-4D97-AF65-F5344CB8AC3E}">
        <p14:creationId xmlns:p14="http://schemas.microsoft.com/office/powerpoint/2010/main" val="20774334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34" name="Google Shape;134;p3"/>
          <p:cNvSpPr txBox="1"/>
          <p:nvPr/>
        </p:nvSpPr>
        <p:spPr>
          <a:xfrm>
            <a:off x="1187629" y="5980125"/>
            <a:ext cx="4038192"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dirty="0">
                <a:solidFill>
                  <a:srgbClr val="000000"/>
                </a:solidFill>
                <a:latin typeface="Times New Roman"/>
                <a:ea typeface="Times New Roman"/>
                <a:cs typeface="Times New Roman"/>
                <a:sym typeface="Times New Roman"/>
              </a:rPr>
              <a:t>Рис. 1. Принципиальная схема работы абсолютного атомного гравиметра.</a:t>
            </a:r>
            <a:endParaRPr sz="1600" b="0" i="0" u="none" strike="noStrike" cap="none" dirty="0">
              <a:solidFill>
                <a:srgbClr val="000000"/>
              </a:solidFill>
              <a:latin typeface="Times New Roman"/>
              <a:ea typeface="Times New Roman"/>
              <a:cs typeface="Times New Roman"/>
              <a:sym typeface="Times New Roman"/>
            </a:endParaRPr>
          </a:p>
        </p:txBody>
      </p:sp>
      <p:sp>
        <p:nvSpPr>
          <p:cNvPr id="135" name="Google Shape;135;p3"/>
          <p:cNvSpPr/>
          <p:nvPr/>
        </p:nvSpPr>
        <p:spPr>
          <a:xfrm>
            <a:off x="2230942" y="32593"/>
            <a:ext cx="7730115" cy="595436"/>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800" b="1" i="0" u="none" strike="noStrike" cap="none" dirty="0">
                <a:solidFill>
                  <a:schemeClr val="lt1"/>
                </a:solidFill>
                <a:latin typeface="Times New Roman"/>
                <a:ea typeface="Times New Roman"/>
                <a:cs typeface="Times New Roman"/>
                <a:sym typeface="Times New Roman"/>
              </a:rPr>
              <a:t>Принцип работы квантового гравиметра</a:t>
            </a:r>
            <a:endParaRPr sz="1600" b="0" i="0" u="none" strike="noStrike" cap="none" dirty="0">
              <a:solidFill>
                <a:srgbClr val="000000"/>
              </a:solidFill>
              <a:latin typeface="Arial"/>
              <a:ea typeface="Arial"/>
              <a:cs typeface="Arial"/>
              <a:sym typeface="Arial"/>
            </a:endParaRPr>
          </a:p>
        </p:txBody>
      </p:sp>
      <p:sp>
        <p:nvSpPr>
          <p:cNvPr id="136" name="Google Shape;136;p3"/>
          <p:cNvSpPr txBox="1"/>
          <p:nvPr/>
        </p:nvSpPr>
        <p:spPr>
          <a:xfrm>
            <a:off x="6096000" y="1658031"/>
            <a:ext cx="5801519" cy="25545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000" b="1" i="0" u="none" strike="noStrike" cap="none" dirty="0">
                <a:solidFill>
                  <a:schemeClr val="dk1"/>
                </a:solidFill>
                <a:latin typeface="Times New Roman"/>
                <a:ea typeface="Times New Roman"/>
                <a:cs typeface="Times New Roman"/>
                <a:sym typeface="Times New Roman"/>
              </a:rPr>
              <a:t>П</a:t>
            </a:r>
            <a:r>
              <a:rPr lang="ru-RU" sz="2000" b="1" dirty="0">
                <a:solidFill>
                  <a:schemeClr val="dk1"/>
                </a:solidFill>
                <a:latin typeface="Times New Roman"/>
                <a:ea typeface="Times New Roman"/>
                <a:cs typeface="Times New Roman"/>
                <a:sym typeface="Times New Roman"/>
              </a:rPr>
              <a:t>оследовательность</a:t>
            </a:r>
            <a:r>
              <a:rPr lang="ru-RU" sz="2000" b="1" i="0" u="none" strike="noStrike" cap="none" dirty="0">
                <a:solidFill>
                  <a:schemeClr val="dk1"/>
                </a:solidFill>
                <a:latin typeface="Times New Roman"/>
                <a:ea typeface="Times New Roman"/>
                <a:cs typeface="Times New Roman"/>
                <a:sym typeface="Times New Roman"/>
              </a:rPr>
              <a:t> работы гравиметра:</a:t>
            </a:r>
            <a:endParaRPr sz="2000" b="0" i="0" u="none" strike="noStrike" cap="none" dirty="0">
              <a:solidFill>
                <a:schemeClr val="dk1"/>
              </a:solidFill>
              <a:latin typeface="Times New Roman"/>
              <a:ea typeface="Times New Roman"/>
              <a:cs typeface="Times New Roman"/>
              <a:sym typeface="Times New Roman"/>
            </a:endParaRPr>
          </a:p>
          <a:p>
            <a:pPr marL="285750" marR="0" lvl="0" indent="-285750" algn="l" rtl="0">
              <a:lnSpc>
                <a:spcPct val="100000"/>
              </a:lnSpc>
              <a:spcBef>
                <a:spcPts val="1200"/>
              </a:spcBef>
              <a:spcAft>
                <a:spcPts val="0"/>
              </a:spcAft>
              <a:buClr>
                <a:schemeClr val="dk1"/>
              </a:buClr>
              <a:buSzPts val="1800"/>
              <a:buFont typeface="Times New Roman"/>
              <a:buChar char="-"/>
            </a:pPr>
            <a:r>
              <a:rPr lang="ru-RU" sz="1800" b="0" i="0" u="none" strike="noStrike" cap="none" dirty="0">
                <a:solidFill>
                  <a:schemeClr val="dk1"/>
                </a:solidFill>
                <a:latin typeface="Times New Roman"/>
                <a:ea typeface="Times New Roman"/>
                <a:cs typeface="Times New Roman"/>
                <a:sym typeface="Times New Roman"/>
              </a:rPr>
              <a:t>Магнито-оптическая ловушка (МОЛ)</a:t>
            </a:r>
          </a:p>
          <a:p>
            <a:pPr marL="285750" marR="0" lvl="0" indent="-285750" algn="l" rtl="0">
              <a:lnSpc>
                <a:spcPct val="100000"/>
              </a:lnSpc>
              <a:spcBef>
                <a:spcPts val="1200"/>
              </a:spcBef>
              <a:spcAft>
                <a:spcPts val="0"/>
              </a:spcAft>
              <a:buClr>
                <a:schemeClr val="dk1"/>
              </a:buClr>
              <a:buSzPts val="1800"/>
              <a:buFont typeface="Times New Roman"/>
              <a:buChar char="-"/>
            </a:pPr>
            <a:r>
              <a:rPr lang="ru-RU" sz="1800" dirty="0">
                <a:solidFill>
                  <a:schemeClr val="dk1"/>
                </a:solidFill>
                <a:latin typeface="Times New Roman"/>
                <a:ea typeface="Times New Roman"/>
                <a:cs typeface="Times New Roman"/>
                <a:sym typeface="Times New Roman"/>
              </a:rPr>
              <a:t>Субдоплеровское охлаждение</a:t>
            </a:r>
            <a:endParaRPr lang="ru-RU" sz="1800" b="0" i="0" u="none" strike="noStrike" cap="none" dirty="0">
              <a:solidFill>
                <a:schemeClr val="dk1"/>
              </a:solidFill>
              <a:latin typeface="Times New Roman"/>
              <a:ea typeface="Times New Roman"/>
              <a:cs typeface="Times New Roman"/>
              <a:sym typeface="Times New Roman"/>
            </a:endParaRPr>
          </a:p>
          <a:p>
            <a:pPr marL="285750" marR="0" lvl="0" indent="-285750" algn="l" rtl="0">
              <a:lnSpc>
                <a:spcPct val="100000"/>
              </a:lnSpc>
              <a:spcBef>
                <a:spcPts val="1200"/>
              </a:spcBef>
              <a:spcAft>
                <a:spcPts val="0"/>
              </a:spcAft>
              <a:buClr>
                <a:schemeClr val="dk1"/>
              </a:buClr>
              <a:buSzPts val="1800"/>
              <a:buFont typeface="Times New Roman"/>
              <a:buChar char="-"/>
            </a:pPr>
            <a:r>
              <a:rPr lang="ru-RU" sz="1800" dirty="0">
                <a:solidFill>
                  <a:srgbClr val="000000"/>
                </a:solidFill>
                <a:effectLst/>
                <a:latin typeface="Times New Roman" panose="02020603050405020304" pitchFamily="18" charset="0"/>
                <a:ea typeface="Times New Roman" panose="02020603050405020304" pitchFamily="18" charset="0"/>
              </a:rPr>
              <a:t>Подготовка начального атомного волнового пакета</a:t>
            </a:r>
          </a:p>
          <a:p>
            <a:pPr marL="285750" marR="0" lvl="0" indent="-285750" algn="l" rtl="0">
              <a:lnSpc>
                <a:spcPct val="100000"/>
              </a:lnSpc>
              <a:spcBef>
                <a:spcPts val="1200"/>
              </a:spcBef>
              <a:spcAft>
                <a:spcPts val="0"/>
              </a:spcAft>
              <a:buClr>
                <a:schemeClr val="dk1"/>
              </a:buClr>
              <a:buSzPts val="1800"/>
              <a:buFont typeface="Times New Roman"/>
              <a:buChar char="-"/>
            </a:pPr>
            <a:r>
              <a:rPr lang="ru-RU" sz="1800" dirty="0">
                <a:solidFill>
                  <a:schemeClr val="dk1"/>
                </a:solidFill>
                <a:latin typeface="Times New Roman"/>
                <a:ea typeface="Times New Roman"/>
                <a:cs typeface="Times New Roman"/>
                <a:sym typeface="Times New Roman"/>
              </a:rPr>
              <a:t>А</a:t>
            </a:r>
            <a:r>
              <a:rPr lang="ru-RU" sz="1800" b="0" i="0" u="none" strike="noStrike" cap="none" dirty="0">
                <a:solidFill>
                  <a:schemeClr val="dk1"/>
                </a:solidFill>
                <a:latin typeface="Times New Roman"/>
                <a:ea typeface="Times New Roman"/>
                <a:cs typeface="Times New Roman"/>
                <a:sym typeface="Times New Roman"/>
              </a:rPr>
              <a:t>томная интерференция</a:t>
            </a:r>
            <a:endParaRPr sz="1800" b="0" i="0" u="none" strike="noStrike" cap="none" dirty="0">
              <a:solidFill>
                <a:srgbClr val="000000"/>
              </a:solidFill>
              <a:latin typeface="Times New Roman"/>
              <a:ea typeface="Times New Roman"/>
              <a:cs typeface="Times New Roman"/>
              <a:sym typeface="Times New Roman"/>
            </a:endParaRPr>
          </a:p>
          <a:p>
            <a:pPr marL="285750" marR="0" lvl="0" indent="-285750" algn="l" rtl="0">
              <a:lnSpc>
                <a:spcPct val="100000"/>
              </a:lnSpc>
              <a:spcBef>
                <a:spcPts val="1200"/>
              </a:spcBef>
              <a:spcAft>
                <a:spcPts val="0"/>
              </a:spcAft>
              <a:buClr>
                <a:schemeClr val="dk1"/>
              </a:buClr>
              <a:buSzPts val="1800"/>
              <a:buFont typeface="Times New Roman"/>
              <a:buChar char="-"/>
            </a:pPr>
            <a:r>
              <a:rPr lang="ru-RU" sz="1800" b="0" i="0" u="none" strike="noStrike" cap="none" dirty="0">
                <a:solidFill>
                  <a:schemeClr val="dk1"/>
                </a:solidFill>
                <a:latin typeface="Times New Roman"/>
                <a:ea typeface="Times New Roman"/>
                <a:cs typeface="Times New Roman"/>
                <a:sym typeface="Times New Roman"/>
              </a:rPr>
              <a:t>Детектирование</a:t>
            </a:r>
            <a:endParaRPr sz="1800" b="0" i="0" u="none" strike="noStrike" cap="none" dirty="0">
              <a:solidFill>
                <a:srgbClr val="000000"/>
              </a:solidFill>
              <a:latin typeface="Times New Roman"/>
              <a:ea typeface="Times New Roman"/>
              <a:cs typeface="Times New Roman"/>
              <a:sym typeface="Times New Roman"/>
            </a:endParaRPr>
          </a:p>
        </p:txBody>
      </p:sp>
      <p:sp>
        <p:nvSpPr>
          <p:cNvPr id="13" name="TextBox 12">
            <a:extLst>
              <a:ext uri="{FF2B5EF4-FFF2-40B4-BE49-F238E27FC236}">
                <a16:creationId xmlns="" xmlns:a16="http://schemas.microsoft.com/office/drawing/2014/main" id="{12768A1C-0EF5-462D-9F3E-871D6D7DCD89}"/>
              </a:ext>
            </a:extLst>
          </p:cNvPr>
          <p:cNvSpPr txBox="1"/>
          <p:nvPr/>
        </p:nvSpPr>
        <p:spPr>
          <a:xfrm>
            <a:off x="11681926" y="6408575"/>
            <a:ext cx="360784" cy="312570"/>
          </a:xfrm>
          <a:prstGeom prst="rect">
            <a:avLst/>
          </a:prstGeom>
          <a:noFill/>
        </p:spPr>
        <p:txBody>
          <a:bodyPr wrap="square" rtlCol="0">
            <a:spAutoFit/>
          </a:bodyPr>
          <a:lstStyle/>
          <a:p>
            <a:r>
              <a:rPr lang="en-US" dirty="0"/>
              <a:t>2</a:t>
            </a:r>
            <a:endParaRPr lang="ru-RU" dirty="0"/>
          </a:p>
        </p:txBody>
      </p:sp>
      <p:pic>
        <p:nvPicPr>
          <p:cNvPr id="4" name="Рисунок 3">
            <a:extLst>
              <a:ext uri="{FF2B5EF4-FFF2-40B4-BE49-F238E27FC236}">
                <a16:creationId xmlns="" xmlns:a16="http://schemas.microsoft.com/office/drawing/2014/main" id="{0104CFAB-661A-70B1-D4BF-84D4505FC109}"/>
              </a:ext>
            </a:extLst>
          </p:cNvPr>
          <p:cNvPicPr>
            <a:picLocks noChangeAspect="1"/>
          </p:cNvPicPr>
          <p:nvPr/>
        </p:nvPicPr>
        <p:blipFill>
          <a:blip r:embed="rId3"/>
          <a:srcRect l="2435" t="3324" r="2549" b="371"/>
          <a:stretch/>
        </p:blipFill>
        <p:spPr>
          <a:xfrm>
            <a:off x="1500895" y="690154"/>
            <a:ext cx="4353963" cy="51657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BDB3CA08-AA9B-07D1-D95A-50CB5F4B13AC}"/>
              </a:ext>
            </a:extLst>
          </p:cNvPr>
          <p:cNvSpPr txBox="1"/>
          <p:nvPr/>
        </p:nvSpPr>
        <p:spPr>
          <a:xfrm>
            <a:off x="3031067" y="905933"/>
            <a:ext cx="4555066" cy="3539430"/>
          </a:xfrm>
          <a:prstGeom prst="rect">
            <a:avLst/>
          </a:prstGeom>
          <a:noFill/>
        </p:spPr>
        <p:txBody>
          <a:bodyPr wrap="square" rtlCol="0">
            <a:spAutoFit/>
          </a:bodyPr>
          <a:lstStyle/>
          <a:p>
            <a:r>
              <a:rPr lang="ru-RU" dirty="0"/>
              <a:t>Сперва об общих принципах работы квантового гравиметра.</a:t>
            </a:r>
          </a:p>
          <a:p>
            <a:endParaRPr lang="ru-RU" dirty="0"/>
          </a:p>
          <a:p>
            <a:r>
              <a:rPr lang="ru-RU" dirty="0"/>
              <a:t>Первый этап – лазерное охлаждение и пленение атомов, позволяет накопить порядка </a:t>
            </a:r>
            <a:r>
              <a:rPr lang="en-US" dirty="0"/>
              <a:t>10</a:t>
            </a:r>
            <a:r>
              <a:rPr lang="en-US" baseline="30000" dirty="0"/>
              <a:t>7</a:t>
            </a:r>
            <a:r>
              <a:rPr lang="en-US" dirty="0"/>
              <a:t>-10</a:t>
            </a:r>
            <a:r>
              <a:rPr lang="en-US" baseline="30000" dirty="0"/>
              <a:t>8</a:t>
            </a:r>
            <a:r>
              <a:rPr lang="en-US" dirty="0"/>
              <a:t> </a:t>
            </a:r>
            <a:r>
              <a:rPr lang="ru-RU" dirty="0"/>
              <a:t>атомов и охладить их до температуры нескольких </a:t>
            </a:r>
            <a:r>
              <a:rPr lang="ru-RU" dirty="0" err="1"/>
              <a:t>мкК</a:t>
            </a:r>
            <a:r>
              <a:rPr lang="ru-RU" dirty="0"/>
              <a:t>.</a:t>
            </a:r>
          </a:p>
          <a:p>
            <a:endParaRPr lang="ru-RU" dirty="0"/>
          </a:p>
          <a:p>
            <a:r>
              <a:rPr lang="ru-RU" dirty="0"/>
              <a:t>Далее идёт подготовка начального атомного волнового пакета в немагнитном квантовом состоянии для минимизация влияния магнитного поля на результаты измерения </a:t>
            </a:r>
            <a:r>
              <a:rPr lang="en-US" dirty="0"/>
              <a:t>g.</a:t>
            </a:r>
            <a:endParaRPr lang="ru-RU" dirty="0"/>
          </a:p>
          <a:p>
            <a:endParaRPr lang="en-US" dirty="0"/>
          </a:p>
          <a:p>
            <a:r>
              <a:rPr lang="ru-RU" dirty="0"/>
              <a:t>После следует завершающий этап – атомная интерференция и детектирование населённостей атомных состояний. Данные процедуры</a:t>
            </a:r>
            <a:r>
              <a:rPr lang="en-US" dirty="0"/>
              <a:t> </a:t>
            </a:r>
            <a:r>
              <a:rPr lang="ru-RU" dirty="0"/>
              <a:t>и позволяют измерить </a:t>
            </a:r>
            <a:r>
              <a:rPr lang="en-US" dirty="0"/>
              <a:t>g.</a:t>
            </a:r>
            <a:endParaRPr lang="ru-RU" dirty="0"/>
          </a:p>
        </p:txBody>
      </p:sp>
    </p:spTree>
    <p:extLst>
      <p:ext uri="{BB962C8B-B14F-4D97-AF65-F5344CB8AC3E}">
        <p14:creationId xmlns:p14="http://schemas.microsoft.com/office/powerpoint/2010/main" val="1310113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a:extLst>
              <a:ext uri="{FF2B5EF4-FFF2-40B4-BE49-F238E27FC236}">
                <a16:creationId xmlns="" xmlns:a16="http://schemas.microsoft.com/office/drawing/2014/main" id="{B517E7CE-C80C-57B9-6CD2-509946F43843}"/>
              </a:ext>
            </a:extLst>
          </p:cNvPr>
          <p:cNvPicPr>
            <a:picLocks noChangeAspect="1"/>
          </p:cNvPicPr>
          <p:nvPr/>
        </p:nvPicPr>
        <p:blipFill>
          <a:blip r:embed="rId2"/>
          <a:srcRect l="3329" t="3914" r="2226" b="2619"/>
          <a:stretch/>
        </p:blipFill>
        <p:spPr>
          <a:xfrm>
            <a:off x="3758669" y="776576"/>
            <a:ext cx="4178620" cy="2931639"/>
          </a:xfrm>
          <a:prstGeom prst="rect">
            <a:avLst/>
          </a:prstGeom>
        </p:spPr>
      </p:pic>
      <p:sp>
        <p:nvSpPr>
          <p:cNvPr id="2" name="Google Shape;136;p21">
            <a:extLst>
              <a:ext uri="{FF2B5EF4-FFF2-40B4-BE49-F238E27FC236}">
                <a16:creationId xmlns="" xmlns:a16="http://schemas.microsoft.com/office/drawing/2014/main" id="{1E7CF083-A787-4F48-A93A-E44DFC78373A}"/>
              </a:ext>
            </a:extLst>
          </p:cNvPr>
          <p:cNvSpPr/>
          <p:nvPr/>
        </p:nvSpPr>
        <p:spPr>
          <a:xfrm>
            <a:off x="1619070" y="32347"/>
            <a:ext cx="8953860" cy="62364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3200" b="1" i="0" u="none" strike="noStrike" cap="none" dirty="0">
                <a:solidFill>
                  <a:schemeClr val="lt1"/>
                </a:solidFill>
                <a:latin typeface="Times New Roman"/>
                <a:ea typeface="Times New Roman"/>
                <a:cs typeface="Times New Roman"/>
                <a:sym typeface="Times New Roman"/>
              </a:rPr>
              <a:t>Принцип работы атомного интерферометра</a:t>
            </a:r>
            <a:endParaRPr sz="1800" b="0" i="0" u="none" strike="noStrike" cap="none" dirty="0">
              <a:solidFill>
                <a:srgbClr val="000000"/>
              </a:solidFill>
              <a:latin typeface="Arial"/>
              <a:ea typeface="Arial"/>
              <a:cs typeface="Arial"/>
              <a:sym typeface="Arial"/>
            </a:endParaRPr>
          </a:p>
        </p:txBody>
      </p:sp>
      <p:sp>
        <p:nvSpPr>
          <p:cNvPr id="9" name="TextBox 8">
            <a:extLst>
              <a:ext uri="{FF2B5EF4-FFF2-40B4-BE49-F238E27FC236}">
                <a16:creationId xmlns="" xmlns:a16="http://schemas.microsoft.com/office/drawing/2014/main" id="{53A8042C-E52E-4288-B49A-5DABBD83A1A0}"/>
              </a:ext>
            </a:extLst>
          </p:cNvPr>
          <p:cNvSpPr txBox="1"/>
          <p:nvPr/>
        </p:nvSpPr>
        <p:spPr>
          <a:xfrm>
            <a:off x="3263753" y="3692162"/>
            <a:ext cx="5862830"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Разность фаз между плечами интерферометра</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p:pic>
        <p:nvPicPr>
          <p:cNvPr id="11" name="Рисунок 10"/>
          <p:cNvPicPr>
            <a:picLocks noChangeAspect="1"/>
          </p:cNvPicPr>
          <p:nvPr/>
        </p:nvPicPr>
        <p:blipFill>
          <a:blip r:embed="rId3"/>
          <a:stretch>
            <a:fillRect/>
          </a:stretch>
        </p:blipFill>
        <p:spPr>
          <a:xfrm>
            <a:off x="8364472" y="776576"/>
            <a:ext cx="3545100" cy="3013772"/>
          </a:xfrm>
          <a:prstGeom prst="rect">
            <a:avLst/>
          </a:prstGeom>
        </p:spPr>
      </p:pic>
      <p:sp>
        <p:nvSpPr>
          <p:cNvPr id="12" name="TextBox 11">
            <a:extLst>
              <a:ext uri="{FF2B5EF4-FFF2-40B4-BE49-F238E27FC236}">
                <a16:creationId xmlns="" xmlns:a16="http://schemas.microsoft.com/office/drawing/2014/main" id="{5B363D8B-4970-43DE-BCF6-8B91DEC4358D}"/>
              </a:ext>
            </a:extLst>
          </p:cNvPr>
          <p:cNvSpPr txBox="1"/>
          <p:nvPr/>
        </p:nvSpPr>
        <p:spPr>
          <a:xfrm>
            <a:off x="522248" y="65599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 xmlns:a16="http://schemas.microsoft.com/office/drawing/2014/main" id="{FC228A56-F53C-4040-AA74-A750668FC7D9}"/>
              </a:ext>
            </a:extLst>
          </p:cNvPr>
          <p:cNvSpPr txBox="1"/>
          <p:nvPr/>
        </p:nvSpPr>
        <p:spPr>
          <a:xfrm>
            <a:off x="3209143" y="65599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 xmlns:a16="http://schemas.microsoft.com/office/drawing/2014/main" id="{FC228A56-F53C-4040-AA74-A750668FC7D9}"/>
              </a:ext>
            </a:extLst>
          </p:cNvPr>
          <p:cNvSpPr txBox="1"/>
          <p:nvPr/>
        </p:nvSpPr>
        <p:spPr>
          <a:xfrm>
            <a:off x="8178782" y="65599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в</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 xmlns:a16="http://schemas.microsoft.com/office/drawing/2014/main" id="{A5F76187-A348-4512-AFBD-6EA014B794F8}"/>
                  </a:ext>
                </a:extLst>
              </p:cNvPr>
              <p:cNvSpPr txBox="1"/>
              <p:nvPr/>
            </p:nvSpPr>
            <p:spPr>
              <a:xfrm>
                <a:off x="4290609" y="4239173"/>
                <a:ext cx="2647969" cy="397096"/>
              </a:xfrm>
              <a:prstGeom prst="rect">
                <a:avLst/>
              </a:prstGeom>
              <a:noFill/>
              <a:ln w="28575">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ru-RU" sz="1800" i="1" dirty="0" smtClean="0">
                          <a:latin typeface="Cambria Math" panose="02040503050406030204" pitchFamily="18" charset="0"/>
                          <a:sym typeface="Symbol"/>
                        </a:rPr>
                        <m:t></m:t>
                      </m:r>
                      <m:r>
                        <a:rPr lang="ru-RU" sz="1800" i="1" dirty="0" smtClean="0">
                          <a:latin typeface="Cambria Math" panose="02040503050406030204" pitchFamily="18" charset="0"/>
                        </a:rPr>
                        <m:t>Ф=</m:t>
                      </m:r>
                      <m:sSub>
                        <m:sSubPr>
                          <m:ctrlPr>
                            <a:rPr lang="en-US" sz="1800" b="0" i="1" dirty="0" smtClean="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dirty="0" smtClean="0">
                              <a:latin typeface="Cambria Math" panose="02040503050406030204" pitchFamily="18" charset="0"/>
                            </a:rPr>
                            <m:t>−</m:t>
                          </m:r>
                          <m:r>
                            <a:rPr lang="en-US" sz="1800" b="0" i="1" dirty="0" smtClean="0">
                              <a:latin typeface="Cambria Math" panose="02040503050406030204" pitchFamily="18" charset="0"/>
                            </a:rPr>
                            <m:t>𝑘</m:t>
                          </m:r>
                        </m:e>
                        <m:sub>
                          <m:r>
                            <a:rPr lang="en-US" sz="1800" b="0" i="1" dirty="0" smtClean="0">
                              <a:latin typeface="Cambria Math" panose="02040503050406030204" pitchFamily="18" charset="0"/>
                            </a:rPr>
                            <m:t>𝑒𝑓𝑓</m:t>
                          </m:r>
                        </m:sub>
                      </m:sSub>
                      <m:r>
                        <a:rPr lang="en-US" sz="1800" i="1" dirty="0" smtClean="0">
                          <a:latin typeface="Cambria Math" panose="02040503050406030204" pitchFamily="18" charset="0"/>
                        </a:rPr>
                        <m:t>𝑔</m:t>
                      </m:r>
                      <m:sSup>
                        <m:sSupPr>
                          <m:ctrlPr>
                            <a:rPr lang="en-US" sz="1800" b="0" i="1" dirty="0" smtClean="0">
                              <a:latin typeface="Cambria Math" panose="02040503050406030204" pitchFamily="18" charset="0"/>
                            </a:rPr>
                          </m:ctrlPr>
                        </m:sSupPr>
                        <m:e>
                          <m:r>
                            <a:rPr lang="en-US" sz="1800" i="1" dirty="0" smtClean="0">
                              <a:latin typeface="Cambria Math" panose="02040503050406030204" pitchFamily="18" charset="0"/>
                            </a:rPr>
                            <m:t>𝑇</m:t>
                          </m:r>
                        </m:e>
                        <m:sup>
                          <m:r>
                            <a:rPr lang="en-US" sz="1800" b="0" i="1" dirty="0" smtClean="0">
                              <a:latin typeface="Cambria Math" panose="02040503050406030204" pitchFamily="18" charset="0"/>
                            </a:rPr>
                            <m:t>2</m:t>
                          </m:r>
                        </m:sup>
                      </m:sSup>
                    </m:oMath>
                  </m:oMathPara>
                </a14:m>
                <a:endParaRPr lang="ru-RU" sz="1800" dirty="0"/>
              </a:p>
            </p:txBody>
          </p:sp>
        </mc:Choice>
        <mc:Fallback xmlns="">
          <p:sp>
            <p:nvSpPr>
              <p:cNvPr id="15" name="TextBox 14">
                <a:extLst>
                  <a:ext uri="{FF2B5EF4-FFF2-40B4-BE49-F238E27FC236}">
                    <a16:creationId xmlns="" xmlns:a16="http://schemas.microsoft.com/office/drawing/2014/main" xmlns:a14="http://schemas.microsoft.com/office/drawing/2010/main" id="{A5F76187-A348-4512-AFBD-6EA014B794F8}"/>
                  </a:ext>
                </a:extLst>
              </p:cNvPr>
              <p:cNvSpPr txBox="1">
                <a:spLocks noRot="1" noChangeAspect="1" noMove="1" noResize="1" noEditPoints="1" noAdjustHandles="1" noChangeArrowheads="1" noChangeShapeType="1" noTextEdit="1"/>
              </p:cNvSpPr>
              <p:nvPr/>
            </p:nvSpPr>
            <p:spPr>
              <a:xfrm>
                <a:off x="4290609" y="4239173"/>
                <a:ext cx="2647969" cy="397096"/>
              </a:xfrm>
              <a:prstGeom prst="rect">
                <a:avLst/>
              </a:prstGeom>
              <a:blipFill rotWithShape="0">
                <a:blip r:embed="rId5"/>
                <a:stretch>
                  <a:fillRect b="-4225"/>
                </a:stretch>
              </a:blipFill>
              <a:ln w="28575">
                <a:solidFill>
                  <a:srgbClr val="FF0000"/>
                </a:solidFill>
              </a:ln>
            </p:spPr>
            <p:txBody>
              <a:bodyPr/>
              <a:lstStyle/>
              <a:p>
                <a:r>
                  <a:rPr lang="ru-RU">
                    <a:noFill/>
                  </a:rPr>
                  <a:t> </a:t>
                </a:r>
              </a:p>
            </p:txBody>
          </p:sp>
        </mc:Fallback>
      </mc:AlternateContent>
      <p:sp>
        <p:nvSpPr>
          <p:cNvPr id="16" name="TextBox 15"/>
          <p:cNvSpPr txBox="1"/>
          <p:nvPr/>
        </p:nvSpPr>
        <p:spPr>
          <a:xfrm>
            <a:off x="4178555" y="4742630"/>
            <a:ext cx="4481868" cy="338554"/>
          </a:xfrm>
          <a:prstGeom prst="rect">
            <a:avLst/>
          </a:prstGeom>
          <a:noFill/>
        </p:spPr>
        <p:txBody>
          <a:bodyPr wrap="square" rtlCol="0">
            <a:spAutoFit/>
          </a:bodyPr>
          <a:lstStyle/>
          <a:p>
            <a:r>
              <a:rPr lang="en-US" sz="1600" dirty="0" err="1">
                <a:latin typeface="Times New Roman" panose="02020603050405020304" pitchFamily="18" charset="0"/>
                <a:cs typeface="Times New Roman" panose="02020603050405020304" pitchFamily="18" charset="0"/>
              </a:rPr>
              <a:t>k</a:t>
            </a:r>
            <a:r>
              <a:rPr lang="en-US" sz="1600" baseline="-25000" dirty="0" err="1">
                <a:latin typeface="Times New Roman" panose="02020603050405020304" pitchFamily="18" charset="0"/>
                <a:cs typeface="Times New Roman" panose="02020603050405020304" pitchFamily="18" charset="0"/>
              </a:rPr>
              <a:t>eff</a:t>
            </a:r>
            <a:r>
              <a:rPr lang="en-US" sz="1600" b="1" dirty="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1</a:t>
            </a:r>
            <a:r>
              <a:rPr lang="en-US" sz="1600" b="1" dirty="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2</a:t>
            </a:r>
            <a:r>
              <a:rPr lang="en-US" sz="1600" b="1"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эффективное волновое число</a:t>
            </a:r>
            <a:r>
              <a:rPr lang="en-US" sz="1600" dirty="0">
                <a:latin typeface="Times New Roman" panose="02020603050405020304" pitchFamily="18" charset="0"/>
                <a:cs typeface="Times New Roman" panose="02020603050405020304" pitchFamily="18" charset="0"/>
              </a:rPr>
              <a:t>;</a:t>
            </a:r>
            <a:r>
              <a:rPr lang="en-US" sz="1600" b="1" dirty="0">
                <a:latin typeface="Times New Roman" panose="02020603050405020304" pitchFamily="18" charset="0"/>
                <a:cs typeface="Times New Roman" panose="02020603050405020304" pitchFamily="18" charset="0"/>
              </a:rPr>
              <a:t>  </a:t>
            </a:r>
            <a:endParaRPr lang="ru-RU" sz="16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 xmlns:a16="http://schemas.microsoft.com/office/drawing/2014/main" id="{53A8042C-E52E-4288-B49A-5DABBD83A1A0}"/>
              </a:ext>
            </a:extLst>
          </p:cNvPr>
          <p:cNvSpPr txBox="1"/>
          <p:nvPr/>
        </p:nvSpPr>
        <p:spPr>
          <a:xfrm>
            <a:off x="8258681" y="3692162"/>
            <a:ext cx="3619727"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Населённость атомных состояний</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 xmlns:a16="http://schemas.microsoft.com/office/drawing/2014/main" id="{A5F76187-A348-4512-AFBD-6EA014B794F8}"/>
                  </a:ext>
                </a:extLst>
              </p:cNvPr>
              <p:cNvSpPr txBox="1"/>
              <p:nvPr/>
            </p:nvSpPr>
            <p:spPr>
              <a:xfrm>
                <a:off x="8574804" y="4151302"/>
                <a:ext cx="3181768" cy="1180003"/>
              </a:xfrm>
              <a:prstGeom prst="rect">
                <a:avLst/>
              </a:prstGeom>
              <a:noFill/>
              <a:ln w="28575">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a:rPr lang="en-US" sz="1800" b="0" i="1" smtClean="0">
                              <a:latin typeface="Cambria Math" panose="02040503050406030204" pitchFamily="18" charset="0"/>
                              <a:ea typeface="Cambria Math" panose="02040503050406030204" pitchFamily="18" charset="0"/>
                            </a:rPr>
                            <m:t>±</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r>
                        <a:rPr lang="ru-RU" sz="1800" b="0" i="1" smtClean="0">
                          <a:latin typeface="Cambria Math" panose="02040503050406030204" pitchFamily="18" charset="0"/>
                        </a:rPr>
                        <m:t>=</m:t>
                      </m:r>
                    </m:oMath>
                  </m:oMathPara>
                </a14:m>
                <a:endParaRPr lang="ru-RU" sz="1800" b="0" dirty="0"/>
              </a:p>
              <a:p>
                <a:pPr/>
                <a14:m>
                  <m:oMathPara xmlns:m="http://schemas.openxmlformats.org/officeDocument/2006/math">
                    <m:oMathParaPr>
                      <m:jc m:val="centerGroup"/>
                    </m:oMathParaPr>
                    <m:oMath xmlns:m="http://schemas.openxmlformats.org/officeDocument/2006/math">
                      <m:r>
                        <a:rPr lang="ru-RU"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a:rPr lang="en-US" sz="1800" b="0" i="1" smtClean="0">
                              <a:latin typeface="Cambria Math" panose="02040503050406030204" pitchFamily="18" charset="0"/>
                              <a:ea typeface="Cambria Math" panose="02040503050406030204" pitchFamily="18" charset="0"/>
                            </a:rPr>
                            <m:t>±</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i="1" dirty="0">
                                  <a:latin typeface="Cambria Math" panose="02040503050406030204" pitchFamily="18" charset="0"/>
                                </a:rPr>
                                <m:t>−</m:t>
                              </m:r>
                              <m:r>
                                <a:rPr lang="en-US" sz="1800" i="1" dirty="0">
                                  <a:latin typeface="Cambria Math" panose="02040503050406030204" pitchFamily="18" charset="0"/>
                                </a:rPr>
                                <m:t>𝑘</m:t>
                              </m:r>
                            </m:e>
                            <m:sub>
                              <m:r>
                                <a:rPr lang="en-US" sz="1800" i="1" dirty="0">
                                  <a:latin typeface="Cambria Math" panose="02040503050406030204" pitchFamily="18" charset="0"/>
                                </a:rPr>
                                <m:t>𝑒𝑓𝑓</m:t>
                              </m:r>
                            </m:sub>
                          </m:sSub>
                          <m:r>
                            <a:rPr lang="en-US" sz="1800" i="1" dirty="0">
                              <a:latin typeface="Cambria Math" panose="02040503050406030204" pitchFamily="18" charset="0"/>
                            </a:rPr>
                            <m:t>𝑔</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xmlns="">
          <p:sp>
            <p:nvSpPr>
              <p:cNvPr id="19" name="TextBox 18">
                <a:extLst>
                  <a:ext uri="{FF2B5EF4-FFF2-40B4-BE49-F238E27FC236}">
                    <a16:creationId xmlns:a16="http://schemas.microsoft.com/office/drawing/2014/main" id="{A5F76187-A348-4512-AFBD-6EA014B794F8}"/>
                  </a:ext>
                </a:extLst>
              </p:cNvPr>
              <p:cNvSpPr txBox="1">
                <a:spLocks noRot="1" noChangeAspect="1" noMove="1" noResize="1" noEditPoints="1" noAdjustHandles="1" noChangeArrowheads="1" noChangeShapeType="1" noTextEdit="1"/>
              </p:cNvSpPr>
              <p:nvPr/>
            </p:nvSpPr>
            <p:spPr>
              <a:xfrm>
                <a:off x="8574804" y="4151302"/>
                <a:ext cx="3181768" cy="1180003"/>
              </a:xfrm>
              <a:prstGeom prst="rect">
                <a:avLst/>
              </a:prstGeom>
              <a:blipFill>
                <a:blip r:embed="rId6"/>
                <a:stretch>
                  <a:fillRect/>
                </a:stretch>
              </a:blipFill>
              <a:ln w="28575">
                <a:solidFill>
                  <a:srgbClr val="FF0000"/>
                </a:solidFill>
              </a:ln>
            </p:spPr>
            <p:txBody>
              <a:bodyPr/>
              <a:lstStyle/>
              <a:p>
                <a:r>
                  <a:rPr lang="ru-RU">
                    <a:noFill/>
                  </a:rPr>
                  <a:t> </a:t>
                </a:r>
              </a:p>
            </p:txBody>
          </p:sp>
        </mc:Fallback>
      </mc:AlternateContent>
      <p:sp>
        <p:nvSpPr>
          <p:cNvPr id="20" name="Google Shape;139;p21">
            <a:extLst>
              <a:ext uri="{FF2B5EF4-FFF2-40B4-BE49-F238E27FC236}">
                <a16:creationId xmlns="" xmlns:a16="http://schemas.microsoft.com/office/drawing/2014/main" id="{B7A8C424-1497-4145-B7C5-C8EA445193E9}"/>
              </a:ext>
            </a:extLst>
          </p:cNvPr>
          <p:cNvSpPr txBox="1"/>
          <p:nvPr/>
        </p:nvSpPr>
        <p:spPr>
          <a:xfrm>
            <a:off x="608506" y="5888947"/>
            <a:ext cx="10790908" cy="830956"/>
          </a:xfrm>
          <a:prstGeom prst="rect">
            <a:avLst/>
          </a:prstGeom>
          <a:noFill/>
          <a:ln>
            <a:noFill/>
          </a:ln>
        </p:spPr>
        <p:txBody>
          <a:bodyPr spcFirstLastPara="1" wrap="square" lIns="91425" tIns="45700" rIns="91425" bIns="45700" anchor="t" anchorCtr="0">
            <a:spAutoFit/>
          </a:bodyPr>
          <a:lstStyle/>
          <a:p>
            <a:pPr lvl="0" algn="ctr">
              <a:buSzPts val="1600"/>
            </a:pPr>
            <a:r>
              <a:rPr lang="ru-RU" sz="1600" b="0" i="0" u="none" strike="noStrike" cap="none" dirty="0">
                <a:solidFill>
                  <a:srgbClr val="000000"/>
                </a:solidFill>
                <a:latin typeface="Times New Roman"/>
                <a:ea typeface="Times New Roman"/>
                <a:cs typeface="Times New Roman"/>
                <a:sym typeface="Times New Roman"/>
              </a:rPr>
              <a:t>Рис. 2. </a:t>
            </a:r>
            <a:r>
              <a:rPr lang="ru-RU" sz="1600" dirty="0">
                <a:latin typeface="Times New Roman"/>
                <a:ea typeface="Times New Roman"/>
                <a:cs typeface="Times New Roman"/>
                <a:sym typeface="Times New Roman"/>
              </a:rPr>
              <a:t>Схема переходов в </a:t>
            </a:r>
            <a:r>
              <a:rPr lang="en-US" sz="1600" baseline="30000" dirty="0">
                <a:latin typeface="Times New Roman"/>
                <a:ea typeface="Times New Roman"/>
                <a:cs typeface="Times New Roman"/>
                <a:sym typeface="Times New Roman"/>
              </a:rPr>
              <a:t>87</a:t>
            </a:r>
            <a:r>
              <a:rPr lang="en-US" sz="1600" dirty="0">
                <a:latin typeface="Times New Roman"/>
                <a:ea typeface="Times New Roman"/>
                <a:cs typeface="Times New Roman"/>
                <a:sym typeface="Times New Roman"/>
              </a:rPr>
              <a:t>Rb, </a:t>
            </a:r>
            <a:r>
              <a:rPr lang="ru-RU" sz="1600" dirty="0">
                <a:latin typeface="Times New Roman"/>
                <a:ea typeface="Times New Roman"/>
                <a:cs typeface="Times New Roman"/>
                <a:sym typeface="Times New Roman"/>
              </a:rPr>
              <a:t>используемых для атомной интерференции </a:t>
            </a:r>
            <a:r>
              <a:rPr lang="en-US" sz="1600" b="0" i="0" u="none" strike="noStrike" cap="none" dirty="0">
                <a:solidFill>
                  <a:srgbClr val="000000"/>
                </a:solidFill>
                <a:latin typeface="Times New Roman"/>
                <a:ea typeface="Times New Roman"/>
                <a:cs typeface="Times New Roman"/>
                <a:sym typeface="Times New Roman"/>
              </a:rPr>
              <a:t>(</a:t>
            </a:r>
            <a:r>
              <a:rPr lang="ru-RU" sz="1600" b="0" i="0" u="none" strike="noStrike" cap="none" dirty="0">
                <a:solidFill>
                  <a:srgbClr val="000000"/>
                </a:solidFill>
                <a:latin typeface="Times New Roman"/>
                <a:ea typeface="Times New Roman"/>
                <a:cs typeface="Times New Roman"/>
                <a:sym typeface="Times New Roman"/>
              </a:rPr>
              <a:t>а</a:t>
            </a:r>
            <a:r>
              <a:rPr lang="en-US" sz="1600" b="0" i="0" u="none" strike="noStrike" cap="none" dirty="0">
                <a:solidFill>
                  <a:srgbClr val="000000"/>
                </a:solidFill>
                <a:latin typeface="Times New Roman"/>
                <a:ea typeface="Times New Roman"/>
                <a:cs typeface="Times New Roman"/>
                <a:sym typeface="Times New Roman"/>
              </a:rPr>
              <a:t>)</a:t>
            </a:r>
            <a:r>
              <a:rPr lang="ru-RU" sz="1600" dirty="0">
                <a:latin typeface="Times New Roman"/>
                <a:ea typeface="Times New Roman"/>
                <a:cs typeface="Times New Roman"/>
                <a:sym typeface="Times New Roman"/>
              </a:rPr>
              <a:t>,</a:t>
            </a:r>
            <a:r>
              <a:rPr lang="ru-RU" sz="1600" b="0" i="0" u="none" strike="noStrike" cap="none" dirty="0">
                <a:solidFill>
                  <a:srgbClr val="000000"/>
                </a:solidFill>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иллюстрация принципа работы атомного интерферометра в гравитационном поле</a:t>
            </a:r>
            <a:r>
              <a:rPr lang="en-US" sz="1600" dirty="0">
                <a:latin typeface="Times New Roman"/>
                <a:ea typeface="Times New Roman"/>
                <a:cs typeface="Times New Roman"/>
                <a:sym typeface="Times New Roman"/>
              </a:rPr>
              <a:t> </a:t>
            </a:r>
            <a:r>
              <a:rPr lang="ru-RU" sz="1600" b="0" i="0" u="none" strike="noStrike" cap="none" dirty="0">
                <a:solidFill>
                  <a:srgbClr val="000000"/>
                </a:solidFill>
                <a:latin typeface="Times New Roman"/>
                <a:ea typeface="Times New Roman"/>
                <a:cs typeface="Times New Roman"/>
                <a:sym typeface="Times New Roman"/>
              </a:rPr>
              <a:t>(б), </a:t>
            </a:r>
            <a:r>
              <a:rPr lang="ru-RU" sz="1600" dirty="0">
                <a:latin typeface="Times New Roman"/>
                <a:ea typeface="Times New Roman"/>
                <a:cs typeface="Times New Roman"/>
                <a:sym typeface="Times New Roman"/>
              </a:rPr>
              <a:t>зависимость величины интерференционного сигнала от скорости чирпирования </a:t>
            </a:r>
            <a:r>
              <a:rPr lang="el-GR" sz="1600" dirty="0">
                <a:latin typeface="Times New Roman"/>
                <a:ea typeface="Times New Roman"/>
                <a:cs typeface="Times New Roman"/>
                <a:sym typeface="Times New Roman"/>
              </a:rPr>
              <a:t>α</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в</a:t>
            </a:r>
            <a:r>
              <a:rPr lang="en-US" sz="1600" dirty="0">
                <a:latin typeface="Times New Roman"/>
                <a:ea typeface="Times New Roman"/>
                <a:cs typeface="Times New Roman"/>
                <a:sym typeface="Times New Roman"/>
              </a:rPr>
              <a:t>)</a:t>
            </a:r>
            <a:r>
              <a:rPr lang="ru-RU" sz="1600" dirty="0">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p:txBody>
      </p:sp>
      <p:sp>
        <p:nvSpPr>
          <p:cNvPr id="21" name="Прямоугольник 20"/>
          <p:cNvSpPr/>
          <p:nvPr/>
        </p:nvSpPr>
        <p:spPr>
          <a:xfrm>
            <a:off x="182296" y="3692162"/>
            <a:ext cx="2675732" cy="338554"/>
          </a:xfrm>
          <a:prstGeom prst="rect">
            <a:avLst/>
          </a:prstGeom>
        </p:spPr>
        <p:txBody>
          <a:bodyPr wrap="none">
            <a:spAutoFit/>
          </a:bodyPr>
          <a:lstStyle/>
          <a:p>
            <a:pPr indent="216000"/>
            <a:r>
              <a:rPr lang="ru-RU" sz="1600" b="1" dirty="0">
                <a:latin typeface="Times New Roman" panose="02020603050405020304" pitchFamily="18" charset="0"/>
                <a:cs typeface="Times New Roman" panose="02020603050405020304" pitchFamily="18" charset="0"/>
              </a:rPr>
              <a:t>Чирпирование частоты</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 xmlns:a16="http://schemas.microsoft.com/office/drawing/2014/main" id="{A5F76187-A348-4512-AFBD-6EA014B794F8}"/>
                  </a:ext>
                </a:extLst>
              </p:cNvPr>
              <p:cNvSpPr txBox="1"/>
              <p:nvPr/>
            </p:nvSpPr>
            <p:spPr>
              <a:xfrm>
                <a:off x="723472" y="4162817"/>
                <a:ext cx="1791196" cy="369332"/>
              </a:xfrm>
              <a:prstGeom prst="rect">
                <a:avLst/>
              </a:prstGeom>
              <a:noFill/>
              <a:ln w="28575">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ru-RU" sz="1800" i="1" dirty="0" smtClean="0">
                              <a:latin typeface="Cambria Math" panose="02040503050406030204" pitchFamily="18" charset="0"/>
                              <a:sym typeface="Symbol"/>
                            </a:rPr>
                          </m:ctrlPr>
                        </m:sSubPr>
                        <m:e>
                          <m:r>
                            <a:rPr lang="ru-RU" sz="1800" i="1" dirty="0" smtClean="0">
                              <a:latin typeface="Cambria Math" panose="02040503050406030204" pitchFamily="18" charset="0"/>
                              <a:ea typeface="Cambria Math" panose="02040503050406030204" pitchFamily="18" charset="0"/>
                              <a:sym typeface="Symbol"/>
                            </a:rPr>
                            <m:t>𝛿</m:t>
                          </m:r>
                        </m:e>
                        <m:sub>
                          <m:r>
                            <a:rPr lang="en-US" sz="1800" b="0" i="1" dirty="0" smtClean="0">
                              <a:latin typeface="Cambria Math" panose="02040503050406030204" pitchFamily="18" charset="0"/>
                              <a:sym typeface="Symbol"/>
                            </a:rPr>
                            <m:t>𝑅</m:t>
                          </m:r>
                        </m:sub>
                      </m:sSub>
                      <m:r>
                        <a:rPr lang="en-US" sz="1800" b="0" i="1" dirty="0" smtClean="0">
                          <a:latin typeface="Cambria Math" panose="02040503050406030204" pitchFamily="18" charset="0"/>
                          <a:sym typeface="Symbol"/>
                        </a:rPr>
                        <m:t>=</m:t>
                      </m:r>
                      <m:sSub>
                        <m:sSubPr>
                          <m:ctrlPr>
                            <a:rPr lang="ru-RU" sz="1800" i="1" dirty="0">
                              <a:latin typeface="Cambria Math" panose="02040503050406030204" pitchFamily="18" charset="0"/>
                              <a:sym typeface="Symbol"/>
                            </a:rPr>
                          </m:ctrlPr>
                        </m:sSubPr>
                        <m:e>
                          <m:r>
                            <a:rPr lang="ru-RU" sz="1800" i="1" dirty="0">
                              <a:latin typeface="Cambria Math" panose="02040503050406030204" pitchFamily="18" charset="0"/>
                              <a:ea typeface="Cambria Math" panose="02040503050406030204" pitchFamily="18" charset="0"/>
                              <a:sym typeface="Symbol"/>
                            </a:rPr>
                            <m:t>𝛿</m:t>
                          </m:r>
                        </m:e>
                        <m:sub>
                          <m:r>
                            <a:rPr lang="en-US" sz="1800" b="0" i="1" dirty="0" smtClean="0">
                              <a:latin typeface="Cambria Math" panose="02040503050406030204" pitchFamily="18" charset="0"/>
                              <a:ea typeface="Cambria Math" panose="02040503050406030204" pitchFamily="18" charset="0"/>
                              <a:sym typeface="Symbol"/>
                            </a:rPr>
                            <m:t>0</m:t>
                          </m:r>
                        </m:sub>
                      </m:sSub>
                      <m:r>
                        <a:rPr lang="en-US" sz="1800" b="0" i="1" dirty="0" smtClean="0">
                          <a:latin typeface="Cambria Math" panose="02040503050406030204" pitchFamily="18" charset="0"/>
                          <a:sym typeface="Symbol"/>
                        </a:rPr>
                        <m:t>+2</m:t>
                      </m:r>
                      <m:r>
                        <a:rPr lang="en-US" sz="1800" b="0" i="1" dirty="0" smtClean="0">
                          <a:latin typeface="Cambria Math" panose="02040503050406030204" pitchFamily="18" charset="0"/>
                          <a:ea typeface="Cambria Math" panose="02040503050406030204" pitchFamily="18" charset="0"/>
                          <a:sym typeface="Symbol"/>
                        </a:rPr>
                        <m:t>𝜋𝛼</m:t>
                      </m:r>
                      <m:r>
                        <a:rPr lang="en-US" sz="1800" b="0" i="1" dirty="0" smtClean="0">
                          <a:latin typeface="Cambria Math" panose="02040503050406030204" pitchFamily="18" charset="0"/>
                          <a:ea typeface="Cambria Math" panose="02040503050406030204" pitchFamily="18" charset="0"/>
                          <a:sym typeface="Symbol"/>
                        </a:rPr>
                        <m:t>𝑡</m:t>
                      </m:r>
                    </m:oMath>
                  </m:oMathPara>
                </a14:m>
                <a:endParaRPr lang="ru-RU" sz="1800" dirty="0"/>
              </a:p>
            </p:txBody>
          </p:sp>
        </mc:Choice>
        <mc:Fallback xmlns="">
          <p:sp>
            <p:nvSpPr>
              <p:cNvPr id="23" name="TextBox 22">
                <a:extLst>
                  <a:ext uri="{FF2B5EF4-FFF2-40B4-BE49-F238E27FC236}">
                    <a16:creationId xmlns:a16="http://schemas.microsoft.com/office/drawing/2014/main" xmlns:a14="http://schemas.microsoft.com/office/drawing/2010/main" xmlns="" id="{A5F76187-A348-4512-AFBD-6EA014B794F8}"/>
                  </a:ext>
                </a:extLst>
              </p:cNvPr>
              <p:cNvSpPr txBox="1">
                <a:spLocks noRot="1" noChangeAspect="1" noMove="1" noResize="1" noEditPoints="1" noAdjustHandles="1" noChangeArrowheads="1" noChangeShapeType="1" noTextEdit="1"/>
              </p:cNvSpPr>
              <p:nvPr/>
            </p:nvSpPr>
            <p:spPr>
              <a:xfrm>
                <a:off x="723472" y="4162817"/>
                <a:ext cx="1791196" cy="369332"/>
              </a:xfrm>
              <a:prstGeom prst="rect">
                <a:avLst/>
              </a:prstGeom>
              <a:blipFill rotWithShape="0">
                <a:blip r:embed="rId7"/>
                <a:stretch>
                  <a:fillRect/>
                </a:stretch>
              </a:blipFill>
              <a:ln w="28575">
                <a:solidFill>
                  <a:srgbClr val="FF0000"/>
                </a:solidFill>
              </a:ln>
            </p:spPr>
            <p:txBody>
              <a:bodyPr/>
              <a:lstStyle/>
              <a:p>
                <a:r>
                  <a:rPr lang="ru-RU">
                    <a:noFill/>
                  </a:rPr>
                  <a:t> </a:t>
                </a:r>
              </a:p>
            </p:txBody>
          </p:sp>
        </mc:Fallback>
      </mc:AlternateContent>
      <p:sp>
        <p:nvSpPr>
          <p:cNvPr id="24" name="TextBox 23"/>
          <p:cNvSpPr txBox="1"/>
          <p:nvPr/>
        </p:nvSpPr>
        <p:spPr>
          <a:xfrm>
            <a:off x="466405" y="4742630"/>
            <a:ext cx="3047387" cy="338554"/>
          </a:xfrm>
          <a:prstGeom prst="rect">
            <a:avLst/>
          </a:prstGeom>
          <a:noFill/>
        </p:spPr>
        <p:txBody>
          <a:bodyPr wrap="square" rtlCol="0">
            <a:spAutoFit/>
          </a:bodyPr>
          <a:lstStyle/>
          <a:p>
            <a:r>
              <a:rPr lang="el-GR" sz="1600" dirty="0">
                <a:latin typeface="Times New Roman" panose="02020603050405020304" pitchFamily="18" charset="0"/>
                <a:cs typeface="Times New Roman" panose="02020603050405020304" pitchFamily="18" charset="0"/>
              </a:rPr>
              <a:t>α</a:t>
            </a:r>
            <a:r>
              <a:rPr lang="ru-RU" sz="1600" dirty="0">
                <a:latin typeface="Times New Roman" panose="02020603050405020304" pitchFamily="18" charset="0"/>
                <a:cs typeface="Times New Roman" panose="02020603050405020304" pitchFamily="18" charset="0"/>
              </a:rPr>
              <a:t> – скорость чирпирования</a:t>
            </a:r>
            <a:r>
              <a:rPr lang="en-US" sz="1600" dirty="0">
                <a:latin typeface="Times New Roman" panose="02020603050405020304" pitchFamily="18" charset="0"/>
                <a:cs typeface="Times New Roman" panose="02020603050405020304" pitchFamily="18" charset="0"/>
              </a:rPr>
              <a:t>;</a:t>
            </a:r>
            <a:endParaRPr lang="ru-RU" sz="16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 xmlns:a16="http://schemas.microsoft.com/office/drawing/2014/main" id="{C7C7F885-9814-4E89-91F6-B6347CA79E74}"/>
              </a:ext>
            </a:extLst>
          </p:cNvPr>
          <p:cNvSpPr txBox="1"/>
          <p:nvPr/>
        </p:nvSpPr>
        <p:spPr>
          <a:xfrm>
            <a:off x="11681926" y="6408575"/>
            <a:ext cx="360784" cy="312570"/>
          </a:xfrm>
          <a:prstGeom prst="rect">
            <a:avLst/>
          </a:prstGeom>
          <a:noFill/>
        </p:spPr>
        <p:txBody>
          <a:bodyPr wrap="square" rtlCol="0">
            <a:spAutoFit/>
          </a:bodyPr>
          <a:lstStyle/>
          <a:p>
            <a:r>
              <a:rPr lang="en-US" dirty="0"/>
              <a:t>3</a:t>
            </a:r>
            <a:endParaRPr lang="ru-RU" dirty="0"/>
          </a:p>
        </p:txBody>
      </p:sp>
      <p:pic>
        <p:nvPicPr>
          <p:cNvPr id="4" name="Рисунок 3"/>
          <p:cNvPicPr>
            <a:picLocks noChangeAspect="1"/>
          </p:cNvPicPr>
          <p:nvPr/>
        </p:nvPicPr>
        <p:blipFill>
          <a:blip r:embed="rId8"/>
          <a:stretch>
            <a:fillRect/>
          </a:stretch>
        </p:blipFill>
        <p:spPr>
          <a:xfrm>
            <a:off x="282428" y="1431362"/>
            <a:ext cx="2981325" cy="1914525"/>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 xmlns:a16="http://schemas.microsoft.com/office/drawing/2014/main" id="{970D59FF-3EFC-AE6F-C462-671EC06C19B7}"/>
                  </a:ext>
                </a:extLst>
              </p:cNvPr>
              <p:cNvSpPr txBox="1"/>
              <p:nvPr/>
            </p:nvSpPr>
            <p:spPr>
              <a:xfrm>
                <a:off x="5198036" y="5243717"/>
                <a:ext cx="1044004" cy="549381"/>
              </a:xfrm>
              <a:prstGeom prst="rect">
                <a:avLst/>
              </a:prstGeom>
              <a:noFill/>
              <a:ln w="28575">
                <a:solidFill>
                  <a:srgbClr val="FF0000"/>
                </a:solidFill>
              </a:ln>
            </p:spPr>
            <p:txBody>
              <a:bodyPr wrap="none" rtlCol="0">
                <a:spAutoFit/>
              </a:bodyPr>
              <a:lstStyle/>
              <a:p>
                <a14:m>
                  <m:oMath xmlns:m="http://schemas.openxmlformats.org/officeDocument/2006/math">
                    <m:r>
                      <a:rPr lang="en-US" sz="1800" i="1" dirty="0" smtClean="0">
                        <a:latin typeface="Cambria Math" panose="02040503050406030204" pitchFamily="18" charset="0"/>
                      </a:rPr>
                      <m:t>𝑔</m:t>
                    </m:r>
                    <m:r>
                      <a:rPr lang="en-US" sz="1800" b="0" i="1" dirty="0" smtClean="0">
                        <a:latin typeface="Cambria Math" panose="02040503050406030204" pitchFamily="18" charset="0"/>
                      </a:rPr>
                      <m:t>=</m:t>
                    </m:r>
                  </m:oMath>
                </a14:m>
                <a:r>
                  <a:rPr lang="en-US" sz="1800" dirty="0"/>
                  <a:t> </a:t>
                </a:r>
                <a14:m>
                  <m:oMath xmlns:m="http://schemas.openxmlformats.org/officeDocument/2006/math">
                    <m:f>
                      <m:fPr>
                        <m:ctrlPr>
                          <a:rPr lang="en-US" sz="1800" i="1" dirty="0" smtClean="0">
                            <a:latin typeface="Cambria Math" panose="02040503050406030204" pitchFamily="18" charset="0"/>
                          </a:rPr>
                        </m:ctrlPr>
                      </m:fPr>
                      <m:num>
                        <m:r>
                          <a:rPr lang="en-US" sz="1800" i="1" dirty="0">
                            <a:latin typeface="Cambria Math" panose="02040503050406030204" pitchFamily="18" charset="0"/>
                          </a:rPr>
                          <m:t>2</m:t>
                        </m:r>
                        <m:r>
                          <a:rPr lang="en-US" sz="1800" i="1" dirty="0">
                            <a:latin typeface="Cambria Math" panose="02040503050406030204" pitchFamily="18" charset="0"/>
                          </a:rPr>
                          <m:t>𝜋</m:t>
                        </m:r>
                        <m:sSub>
                          <m:sSubPr>
                            <m:ctrlPr>
                              <a:rPr lang="en-US" sz="1800" i="1" dirty="0" smtClean="0">
                                <a:latin typeface="Cambria Math" panose="02040503050406030204" pitchFamily="18" charset="0"/>
                              </a:rPr>
                            </m:ctrlPr>
                          </m:sSubPr>
                          <m:e>
                            <m:r>
                              <a:rPr lang="en-US" sz="1800" i="1" dirty="0">
                                <a:latin typeface="Cambria Math" panose="02040503050406030204" pitchFamily="18" charset="0"/>
                              </a:rPr>
                              <m:t>𝛼</m:t>
                            </m:r>
                          </m:e>
                          <m:sub>
                            <m:r>
                              <a:rPr lang="ru-RU" sz="1800" b="0" i="1" dirty="0" smtClean="0">
                                <a:latin typeface="Cambria Math" panose="02040503050406030204" pitchFamily="18" charset="0"/>
                              </a:rPr>
                              <m:t>0</m:t>
                            </m:r>
                          </m:sub>
                        </m:sSub>
                      </m:num>
                      <m:den>
                        <m:sSub>
                          <m:sSubPr>
                            <m:ctrlPr>
                              <a:rPr lang="en-US" sz="1800" i="1" dirty="0">
                                <a:latin typeface="Cambria Math" panose="02040503050406030204" pitchFamily="18" charset="0"/>
                              </a:rPr>
                            </m:ctrlPr>
                          </m:sSubPr>
                          <m:e>
                            <m:r>
                              <a:rPr lang="en-US" sz="1800" i="1" dirty="0">
                                <a:latin typeface="Cambria Math" panose="02040503050406030204" pitchFamily="18" charset="0"/>
                              </a:rPr>
                              <m:t>𝑘</m:t>
                            </m:r>
                          </m:e>
                          <m:sub>
                            <m:r>
                              <a:rPr lang="en-US" sz="1800" i="1" dirty="0">
                                <a:latin typeface="Cambria Math" panose="02040503050406030204" pitchFamily="18" charset="0"/>
                              </a:rPr>
                              <m:t>𝑒𝑓𝑓</m:t>
                            </m:r>
                          </m:sub>
                        </m:sSub>
                      </m:den>
                    </m:f>
                  </m:oMath>
                </a14:m>
                <a:endParaRPr lang="ru-RU" sz="1800" dirty="0"/>
              </a:p>
            </p:txBody>
          </p:sp>
        </mc:Choice>
        <mc:Fallback xmlns="">
          <p:sp>
            <p:nvSpPr>
              <p:cNvPr id="3" name="TextBox 2">
                <a:extLst>
                  <a:ext uri="{FF2B5EF4-FFF2-40B4-BE49-F238E27FC236}">
                    <a16:creationId xmlns:a16="http://schemas.microsoft.com/office/drawing/2014/main" id="{970D59FF-3EFC-AE6F-C462-671EC06C19B7}"/>
                  </a:ext>
                </a:extLst>
              </p:cNvPr>
              <p:cNvSpPr txBox="1">
                <a:spLocks noRot="1" noChangeAspect="1" noMove="1" noResize="1" noEditPoints="1" noAdjustHandles="1" noChangeArrowheads="1" noChangeShapeType="1" noTextEdit="1"/>
              </p:cNvSpPr>
              <p:nvPr/>
            </p:nvSpPr>
            <p:spPr>
              <a:xfrm>
                <a:off x="5198036" y="5243717"/>
                <a:ext cx="1044004" cy="549381"/>
              </a:xfrm>
              <a:prstGeom prst="rect">
                <a:avLst/>
              </a:prstGeom>
              <a:blipFill>
                <a:blip r:embed="rId9"/>
                <a:stretch>
                  <a:fillRect b="-1053"/>
                </a:stretch>
              </a:blipFill>
              <a:ln w="28575">
                <a:solidFill>
                  <a:srgbClr val="FF0000"/>
                </a:solidFill>
              </a:ln>
            </p:spPr>
            <p:txBody>
              <a:bodyPr/>
              <a:lstStyle/>
              <a:p>
                <a:r>
                  <a:rPr lang="ru-RU">
                    <a:noFill/>
                  </a:rPr>
                  <a:t> </a:t>
                </a:r>
              </a:p>
            </p:txBody>
          </p:sp>
        </mc:Fallback>
      </mc:AlternateContent>
    </p:spTree>
    <p:extLst>
      <p:ext uri="{BB962C8B-B14F-4D97-AF65-F5344CB8AC3E}">
        <p14:creationId xmlns:p14="http://schemas.microsoft.com/office/powerpoint/2010/main" val="1618975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8CCD42D4-EA53-4BF0-8F05-F9A6E85BE531}"/>
              </a:ext>
            </a:extLst>
          </p:cNvPr>
          <p:cNvSpPr txBox="1"/>
          <p:nvPr/>
        </p:nvSpPr>
        <p:spPr>
          <a:xfrm>
            <a:off x="479018" y="219156"/>
            <a:ext cx="11712982" cy="5693866"/>
          </a:xfrm>
          <a:prstGeom prst="rect">
            <a:avLst/>
          </a:prstGeom>
          <a:noFill/>
        </p:spPr>
        <p:txBody>
          <a:bodyPr wrap="square" rtlCol="0">
            <a:spAutoFit/>
          </a:bodyPr>
          <a:lstStyle/>
          <a:p>
            <a:r>
              <a:rPr lang="ru-RU" dirty="0"/>
              <a:t>На данном слайде описана атомная интерференция.</a:t>
            </a:r>
          </a:p>
          <a:p>
            <a:endParaRPr lang="ru-RU" dirty="0"/>
          </a:p>
          <a:p>
            <a:r>
              <a:rPr lang="ru-RU" dirty="0"/>
              <a:t>Для атомной интерференции используются </a:t>
            </a:r>
            <a:r>
              <a:rPr lang="en-US" dirty="0"/>
              <a:t>F = 1 F = 2 </a:t>
            </a:r>
            <a:r>
              <a:rPr lang="ru-RU" dirty="0"/>
              <a:t>компоненты основного состояния 87</a:t>
            </a:r>
            <a:r>
              <a:rPr lang="en-US" dirty="0"/>
              <a:t>Rb</a:t>
            </a:r>
            <a:r>
              <a:rPr lang="ru-RU" dirty="0"/>
              <a:t> (а). Переходы между данными состояниями осуществляются с помощью</a:t>
            </a:r>
            <a:r>
              <a:rPr lang="en-US" dirty="0"/>
              <a:t> </a:t>
            </a:r>
            <a:r>
              <a:rPr lang="ru-RU" dirty="0"/>
              <a:t>встречных </a:t>
            </a:r>
            <a:r>
              <a:rPr lang="ru-RU" dirty="0" err="1"/>
              <a:t>рамановских</a:t>
            </a:r>
            <a:r>
              <a:rPr lang="ru-RU" dirty="0"/>
              <a:t> пучков, поскольку это позволяет передать атомам значительно больший импульс, чем микроволновое излучение.</a:t>
            </a:r>
          </a:p>
          <a:p>
            <a:endParaRPr lang="ru-RU" dirty="0"/>
          </a:p>
          <a:p>
            <a:r>
              <a:rPr lang="ru-RU" dirty="0"/>
              <a:t>На рис(б) показана схема атомной интерференции, Пусть изначально атомы находятся в состоянии </a:t>
            </a:r>
            <a:r>
              <a:rPr lang="en-US" dirty="0"/>
              <a:t>F =</a:t>
            </a:r>
            <a:r>
              <a:rPr lang="ru-RU" dirty="0"/>
              <a:t> </a:t>
            </a:r>
            <a:r>
              <a:rPr lang="en-US" dirty="0"/>
              <a:t>1:</a:t>
            </a:r>
            <a:endParaRPr lang="ru-RU" dirty="0"/>
          </a:p>
          <a:p>
            <a:endParaRPr lang="en-US" dirty="0"/>
          </a:p>
          <a:p>
            <a:pPr marL="342900" indent="-342900">
              <a:buAutoNum type="arabicPeriod"/>
            </a:pPr>
            <a:r>
              <a:rPr lang="ru-RU" dirty="0"/>
              <a:t>Первый импульс </a:t>
            </a:r>
            <a:r>
              <a:rPr lang="ru-RU" dirty="0" err="1"/>
              <a:t>рамановских</a:t>
            </a:r>
            <a:r>
              <a:rPr lang="ru-RU" dirty="0"/>
              <a:t> пучков – пи</a:t>
            </a:r>
            <a:r>
              <a:rPr lang="en-US" dirty="0"/>
              <a:t>/</a:t>
            </a:r>
            <a:r>
              <a:rPr lang="ru-RU" dirty="0"/>
              <a:t>2, переводит атомы в суперпозицию состояний </a:t>
            </a:r>
            <a:r>
              <a:rPr lang="en-US" dirty="0"/>
              <a:t>1 </a:t>
            </a:r>
            <a:r>
              <a:rPr lang="ru-RU" dirty="0"/>
              <a:t>и 2, также эти два состояния имеют отличный импульс, и поэтому получившиеся волновые пакеты эволюционируют по различным пространственно- временным траекториям</a:t>
            </a:r>
            <a:r>
              <a:rPr lang="en-US" dirty="0"/>
              <a:t> </a:t>
            </a:r>
            <a:r>
              <a:rPr lang="ru-RU" dirty="0"/>
              <a:t>в поле </a:t>
            </a:r>
            <a:r>
              <a:rPr lang="en-US" dirty="0"/>
              <a:t>g</a:t>
            </a:r>
            <a:r>
              <a:rPr lang="ru-RU" dirty="0"/>
              <a:t>.</a:t>
            </a:r>
            <a:r>
              <a:rPr lang="en-US" dirty="0"/>
              <a:t> </a:t>
            </a:r>
            <a:endParaRPr lang="ru-RU" dirty="0"/>
          </a:p>
          <a:p>
            <a:pPr marL="342900" indent="-342900">
              <a:buAutoNum type="arabicPeriod"/>
            </a:pPr>
            <a:r>
              <a:rPr lang="ru-RU" dirty="0"/>
              <a:t>В состоянии </a:t>
            </a:r>
            <a:r>
              <a:rPr lang="ru-RU" dirty="0" err="1"/>
              <a:t>свобдного</a:t>
            </a:r>
            <a:r>
              <a:rPr lang="ru-RU" dirty="0"/>
              <a:t> падения атомы находятся время </a:t>
            </a:r>
            <a:r>
              <a:rPr lang="en-US" dirty="0"/>
              <a:t>T, </a:t>
            </a:r>
            <a:r>
              <a:rPr lang="ru-RU" dirty="0"/>
              <a:t>после чего подаётся второй пи импульс, меняющий состояние 1 на 2, а 2 на 1.</a:t>
            </a:r>
          </a:p>
          <a:p>
            <a:pPr marL="342900" indent="-342900">
              <a:buAutoNum type="arabicPeriod"/>
            </a:pPr>
            <a:r>
              <a:rPr lang="ru-RU" dirty="0"/>
              <a:t>И далее снова после свободного падения на протяжении времени </a:t>
            </a:r>
            <a:r>
              <a:rPr lang="en-US" dirty="0"/>
              <a:t>T </a:t>
            </a:r>
            <a:r>
              <a:rPr lang="ru-RU" dirty="0"/>
              <a:t>подаётся третий пи</a:t>
            </a:r>
            <a:r>
              <a:rPr lang="en-US" dirty="0"/>
              <a:t>/2 </a:t>
            </a:r>
            <a:r>
              <a:rPr lang="ru-RU" dirty="0"/>
              <a:t>импульс,</a:t>
            </a:r>
            <a:r>
              <a:rPr lang="en-US" dirty="0"/>
              <a:t> </a:t>
            </a:r>
            <a:r>
              <a:rPr lang="ru-RU" dirty="0"/>
              <a:t>переводящий состояния волновых пакетов в суперпозицию состояний 1 и 2.</a:t>
            </a:r>
          </a:p>
          <a:p>
            <a:endParaRPr lang="ru-RU" dirty="0"/>
          </a:p>
          <a:p>
            <a:r>
              <a:rPr lang="ru-RU" dirty="0"/>
              <a:t>Поскольку атомы находятся в состоянии свободного падения, для компенсации доплеровского сдвига необходимо </a:t>
            </a:r>
            <a:r>
              <a:rPr lang="ru-RU" dirty="0" err="1"/>
              <a:t>чирпировать</a:t>
            </a:r>
            <a:r>
              <a:rPr lang="ru-RU" dirty="0"/>
              <a:t> отстройку частоты </a:t>
            </a:r>
            <a:r>
              <a:rPr lang="ru-RU" dirty="0" err="1"/>
              <a:t>рамановского</a:t>
            </a:r>
            <a:r>
              <a:rPr lang="ru-RU" dirty="0"/>
              <a:t> излучения от частоты перехода, как написано снизу под (а), скорость </a:t>
            </a:r>
            <a:r>
              <a:rPr lang="ru-RU" dirty="0" err="1"/>
              <a:t>чирпирования</a:t>
            </a:r>
            <a:r>
              <a:rPr lang="ru-RU" dirty="0"/>
              <a:t> –</a:t>
            </a:r>
            <a:r>
              <a:rPr lang="en-US" dirty="0"/>
              <a:t> </a:t>
            </a:r>
            <a:r>
              <a:rPr lang="ru-RU" dirty="0"/>
              <a:t>альфа. </a:t>
            </a:r>
          </a:p>
          <a:p>
            <a:r>
              <a:rPr lang="ru-RU" dirty="0"/>
              <a:t>Населённость состояний на выходе атомного интерферометра зависит от разности фаз между двумя имеющимися пространственно-временными </a:t>
            </a:r>
            <a:r>
              <a:rPr lang="ru-RU" dirty="0" smtClean="0"/>
              <a:t>траекториями. </a:t>
            </a:r>
            <a:r>
              <a:rPr lang="ru-RU" dirty="0"/>
              <a:t>Данная разность фаз определяется следующим выражением</a:t>
            </a:r>
            <a:r>
              <a:rPr lang="en-US" dirty="0"/>
              <a:t>: </a:t>
            </a:r>
            <a:r>
              <a:rPr lang="ru-RU" dirty="0"/>
              <a:t>она зависит от скорости </a:t>
            </a:r>
            <a:r>
              <a:rPr lang="ru-RU" dirty="0" err="1"/>
              <a:t>чирпирования</a:t>
            </a:r>
            <a:r>
              <a:rPr lang="ru-RU" dirty="0"/>
              <a:t> альфа, времени между импульсами </a:t>
            </a:r>
            <a:r>
              <a:rPr lang="en-US" dirty="0"/>
              <a:t>T, </a:t>
            </a:r>
            <a:r>
              <a:rPr lang="ru-RU" dirty="0"/>
              <a:t>эффективного волнового вектора и искомого гравитационного ускорения.</a:t>
            </a:r>
          </a:p>
          <a:p>
            <a:endParaRPr lang="en-US" dirty="0"/>
          </a:p>
          <a:p>
            <a:r>
              <a:rPr lang="ru-RU" dirty="0"/>
              <a:t>Для того, чтобы определить </a:t>
            </a:r>
            <a:r>
              <a:rPr lang="en-US" dirty="0"/>
              <a:t>g</a:t>
            </a:r>
            <a:r>
              <a:rPr lang="ru-RU" dirty="0"/>
              <a:t>, посмотрим на выражением для населённости состояний после интерференции, она зависит от дельта Ф, и если подставить дельта Ф получится следующее выражение. Данное выражение позволяет построить зависимость населённости от альфа для разных </a:t>
            </a:r>
            <a:r>
              <a:rPr lang="en-US" dirty="0"/>
              <a:t>T</a:t>
            </a:r>
            <a:r>
              <a:rPr lang="ru-RU" dirty="0"/>
              <a:t> времён между импульсами (в), получатся синусоиды. В точке с нулевой разностью фаз </a:t>
            </a:r>
            <a:r>
              <a:rPr lang="ru-RU" dirty="0" err="1"/>
              <a:t>чирпирование</a:t>
            </a:r>
            <a:r>
              <a:rPr lang="ru-RU" dirty="0"/>
              <a:t> полностью скомпенсирует доплеровский сдвиг, это точка экстремума для всех </a:t>
            </a:r>
            <a:r>
              <a:rPr lang="en-US" dirty="0"/>
              <a:t>T </a:t>
            </a:r>
            <a:r>
              <a:rPr lang="ru-RU" dirty="0"/>
              <a:t>будет одинакова.  По данной точке легко найти </a:t>
            </a:r>
            <a:r>
              <a:rPr lang="en-US" dirty="0"/>
              <a:t>g.</a:t>
            </a:r>
            <a:endParaRPr lang="ru-RU" dirty="0"/>
          </a:p>
        </p:txBody>
      </p:sp>
    </p:spTree>
    <p:extLst>
      <p:ext uri="{BB962C8B-B14F-4D97-AF65-F5344CB8AC3E}">
        <p14:creationId xmlns:p14="http://schemas.microsoft.com/office/powerpoint/2010/main" val="1286801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 xmlns:a16="http://schemas.microsoft.com/office/drawing/2014/main" id="{1DC97405-FC6B-4DED-9A25-2DB3771810FF}"/>
              </a:ext>
            </a:extLst>
          </p:cNvPr>
          <p:cNvPicPr>
            <a:picLocks noChangeAspect="1"/>
          </p:cNvPicPr>
          <p:nvPr/>
        </p:nvPicPr>
        <p:blipFill>
          <a:blip r:embed="rId2"/>
          <a:stretch>
            <a:fillRect/>
          </a:stretch>
        </p:blipFill>
        <p:spPr>
          <a:xfrm>
            <a:off x="295379" y="1179408"/>
            <a:ext cx="5615229" cy="3474578"/>
          </a:xfrm>
          <a:prstGeom prst="rect">
            <a:avLst/>
          </a:prstGeom>
        </p:spPr>
      </p:pic>
      <p:pic>
        <p:nvPicPr>
          <p:cNvPr id="3" name="Рисунок 2">
            <a:extLst>
              <a:ext uri="{FF2B5EF4-FFF2-40B4-BE49-F238E27FC236}">
                <a16:creationId xmlns="" xmlns:a16="http://schemas.microsoft.com/office/drawing/2014/main" id="{B5E0CD9E-6E28-AA2D-6EAD-7D917ADD400A}"/>
              </a:ext>
            </a:extLst>
          </p:cNvPr>
          <p:cNvPicPr>
            <a:picLocks noChangeAspect="1"/>
          </p:cNvPicPr>
          <p:nvPr/>
        </p:nvPicPr>
        <p:blipFill>
          <a:blip r:embed="rId3"/>
          <a:srcRect l="1409" t="3793" r="231"/>
          <a:stretch/>
        </p:blipFill>
        <p:spPr>
          <a:xfrm>
            <a:off x="5910608" y="1687201"/>
            <a:ext cx="6226111" cy="2458992"/>
          </a:xfrm>
          <a:prstGeom prst="rect">
            <a:avLst/>
          </a:prstGeom>
        </p:spPr>
      </p:pic>
      <p:sp>
        <p:nvSpPr>
          <p:cNvPr id="4" name="Google Shape;178;p5">
            <a:extLst>
              <a:ext uri="{FF2B5EF4-FFF2-40B4-BE49-F238E27FC236}">
                <a16:creationId xmlns="" xmlns:a16="http://schemas.microsoft.com/office/drawing/2014/main" id="{0C300431-2A84-42F9-AC7F-37BC35CDB8A9}"/>
              </a:ext>
            </a:extLst>
          </p:cNvPr>
          <p:cNvSpPr/>
          <p:nvPr/>
        </p:nvSpPr>
        <p:spPr>
          <a:xfrm>
            <a:off x="2272032" y="152105"/>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3600" b="1" i="0" u="none" strike="noStrike" cap="none" dirty="0">
                <a:solidFill>
                  <a:schemeClr val="lt1"/>
                </a:solidFill>
                <a:latin typeface="Times New Roman"/>
                <a:ea typeface="Times New Roman"/>
                <a:cs typeface="Times New Roman"/>
                <a:sym typeface="Times New Roman"/>
              </a:rPr>
              <a:t>Оптическая схема гравиметра </a:t>
            </a:r>
            <a:endParaRPr sz="2000" b="0" i="0" u="none" strike="noStrike" cap="none" dirty="0">
              <a:solidFill>
                <a:srgbClr val="000000"/>
              </a:solidFill>
              <a:latin typeface="Arial"/>
              <a:ea typeface="Arial"/>
              <a:cs typeface="Arial"/>
              <a:sym typeface="Arial"/>
            </a:endParaRPr>
          </a:p>
        </p:txBody>
      </p:sp>
      <p:sp>
        <p:nvSpPr>
          <p:cNvPr id="6" name="TextBox 5">
            <a:extLst>
              <a:ext uri="{FF2B5EF4-FFF2-40B4-BE49-F238E27FC236}">
                <a16:creationId xmlns="" xmlns:a16="http://schemas.microsoft.com/office/drawing/2014/main" id="{7D2686F3-13E8-45ED-A8AD-5CE2C3BD8A29}"/>
              </a:ext>
            </a:extLst>
          </p:cNvPr>
          <p:cNvSpPr txBox="1"/>
          <p:nvPr/>
        </p:nvSpPr>
        <p:spPr>
          <a:xfrm>
            <a:off x="684775" y="5010629"/>
            <a:ext cx="10587134" cy="738664"/>
          </a:xfrm>
          <a:prstGeom prst="rect">
            <a:avLst/>
          </a:prstGeom>
          <a:noFill/>
        </p:spPr>
        <p:txBody>
          <a:bodyPr wrap="square">
            <a:spAutoFit/>
          </a:bodyPr>
          <a:lstStyle/>
          <a:p>
            <a:pPr algn="ctr"/>
            <a:r>
              <a:rPr lang="ru-RU" dirty="0">
                <a:latin typeface="Times New Roman" panose="02020603050405020304" pitchFamily="18" charset="0"/>
                <a:ea typeface="Calibri" panose="020F0502020204030204" pitchFamily="34" charset="0"/>
              </a:rPr>
              <a:t>Рис. 3. С</a:t>
            </a:r>
            <a:r>
              <a:rPr lang="ru-RU" sz="1400" dirty="0">
                <a:solidFill>
                  <a:srgbClr val="000000"/>
                </a:solidFill>
                <a:effectLst/>
                <a:latin typeface="Times New Roman" panose="02020603050405020304" pitchFamily="18" charset="0"/>
                <a:ea typeface="Calibri" panose="020F0502020204030204" pitchFamily="34" charset="0"/>
              </a:rPr>
              <a:t>хема уровней </a:t>
            </a:r>
            <a:r>
              <a:rPr lang="en-US" sz="1400" dirty="0">
                <a:solidFill>
                  <a:srgbClr val="000000"/>
                </a:solidFill>
                <a:effectLst/>
                <a:latin typeface="Times New Roman" panose="02020603050405020304" pitchFamily="18" charset="0"/>
                <a:ea typeface="Calibri" panose="020F0502020204030204" pitchFamily="34" charset="0"/>
              </a:rPr>
              <a:t>D</a:t>
            </a:r>
            <a:r>
              <a:rPr lang="ru-RU" sz="1400" baseline="-25000" dirty="0">
                <a:solidFill>
                  <a:srgbClr val="000000"/>
                </a:solidFill>
                <a:effectLst/>
                <a:latin typeface="Times New Roman" panose="02020603050405020304" pitchFamily="18" charset="0"/>
                <a:ea typeface="Calibri" panose="020F0502020204030204" pitchFamily="34" charset="0"/>
              </a:rPr>
              <a:t>2</a:t>
            </a:r>
            <a:r>
              <a:rPr lang="ru-RU" sz="1400" dirty="0">
                <a:solidFill>
                  <a:srgbClr val="000000"/>
                </a:solidFill>
                <a:effectLst/>
                <a:latin typeface="Times New Roman" panose="02020603050405020304" pitchFamily="18" charset="0"/>
                <a:ea typeface="Calibri" panose="020F0502020204030204" pitchFamily="34" charset="0"/>
              </a:rPr>
              <a:t> линии атома </a:t>
            </a:r>
            <a:r>
              <a:rPr lang="ru-RU" sz="1400" baseline="30000" dirty="0">
                <a:solidFill>
                  <a:srgbClr val="000000"/>
                </a:solidFill>
                <a:effectLst/>
                <a:latin typeface="Times New Roman" panose="02020603050405020304" pitchFamily="18" charset="0"/>
                <a:ea typeface="Calibri" panose="020F0502020204030204" pitchFamily="34" charset="0"/>
              </a:rPr>
              <a:t>87</a:t>
            </a:r>
            <a:r>
              <a:rPr lang="en-US" sz="1400" dirty="0">
                <a:solidFill>
                  <a:srgbClr val="000000"/>
                </a:solidFill>
                <a:effectLst/>
                <a:latin typeface="Times New Roman" panose="02020603050405020304" pitchFamily="18" charset="0"/>
                <a:ea typeface="Calibri" panose="020F0502020204030204" pitchFamily="34" charset="0"/>
              </a:rPr>
              <a:t>Rb</a:t>
            </a:r>
            <a:r>
              <a:rPr lang="ru-RU" sz="1400" dirty="0">
                <a:solidFill>
                  <a:srgbClr val="000000"/>
                </a:solidFill>
                <a:effectLst/>
                <a:latin typeface="Times New Roman" panose="02020603050405020304" pitchFamily="18" charset="0"/>
                <a:ea typeface="Calibri" panose="020F0502020204030204" pitchFamily="34" charset="0"/>
              </a:rPr>
              <a:t> и используемые частоты лазерного излучения (слева)</a:t>
            </a:r>
            <a:r>
              <a:rPr lang="en-US" dirty="0">
                <a:latin typeface="Times New Roman" panose="02020603050405020304" pitchFamily="18" charset="0"/>
                <a:ea typeface="Calibri" panose="020F0502020204030204" pitchFamily="34" charset="0"/>
              </a:rPr>
              <a:t>, </a:t>
            </a:r>
            <a:r>
              <a:rPr lang="ru-RU" dirty="0">
                <a:latin typeface="Times New Roman" panose="02020603050405020304" pitchFamily="18" charset="0"/>
                <a:ea typeface="Calibri" panose="020F0502020204030204" pitchFamily="34" charset="0"/>
              </a:rPr>
              <a:t>о</a:t>
            </a:r>
            <a:r>
              <a:rPr lang="ru-RU" dirty="0">
                <a:effectLst/>
                <a:latin typeface="Times New Roman" panose="02020603050405020304" pitchFamily="18" charset="0"/>
                <a:ea typeface="Times New Roman" panose="02020603050405020304" pitchFamily="18" charset="0"/>
              </a:rPr>
              <a:t>птическая схема формирования лазерного излучения, используемого для лазерного охлаждения и пленения атомов рубидия, оптической накачки и осуществления двухфотонных </a:t>
            </a:r>
            <a:r>
              <a:rPr lang="ru-RU" dirty="0" err="1">
                <a:effectLst/>
                <a:latin typeface="Times New Roman" panose="02020603050405020304" pitchFamily="18" charset="0"/>
                <a:ea typeface="Times New Roman" panose="02020603050405020304" pitchFamily="18" charset="0"/>
              </a:rPr>
              <a:t>рамановских</a:t>
            </a:r>
            <a:r>
              <a:rPr lang="ru-RU" dirty="0">
                <a:effectLst/>
                <a:latin typeface="Times New Roman" panose="02020603050405020304" pitchFamily="18" charset="0"/>
                <a:ea typeface="Times New Roman" panose="02020603050405020304" pitchFamily="18" charset="0"/>
              </a:rPr>
              <a:t> переходов в атомном интерферометре</a:t>
            </a:r>
            <a:r>
              <a:rPr lang="en-US" dirty="0">
                <a:latin typeface="Times New Roman" panose="02020603050405020304" pitchFamily="18" charset="0"/>
                <a:ea typeface="Times New Roman" panose="02020603050405020304" pitchFamily="18" charset="0"/>
              </a:rPr>
              <a:t> (</a:t>
            </a:r>
            <a:r>
              <a:rPr lang="ru-RU" dirty="0">
                <a:latin typeface="Times New Roman" panose="02020603050405020304" pitchFamily="18" charset="0"/>
                <a:ea typeface="Times New Roman" panose="02020603050405020304" pitchFamily="18" charset="0"/>
              </a:rPr>
              <a:t>справа</a:t>
            </a:r>
            <a:r>
              <a:rPr lang="en-US" dirty="0">
                <a:latin typeface="Times New Roman" panose="02020603050405020304" pitchFamily="18" charset="0"/>
                <a:ea typeface="Times New Roman" panose="02020603050405020304" pitchFamily="18" charset="0"/>
              </a:rPr>
              <a:t>)</a:t>
            </a:r>
            <a:r>
              <a:rPr lang="ru-RU" sz="1400" dirty="0">
                <a:solidFill>
                  <a:srgbClr val="000000"/>
                </a:solidFill>
                <a:effectLst/>
                <a:latin typeface="Times New Roman" panose="02020603050405020304" pitchFamily="18" charset="0"/>
                <a:ea typeface="Calibri" panose="020F0502020204030204" pitchFamily="34" charset="0"/>
              </a:rPr>
              <a:t> </a:t>
            </a:r>
            <a:endParaRPr lang="ru-RU" dirty="0"/>
          </a:p>
        </p:txBody>
      </p:sp>
      <p:sp>
        <p:nvSpPr>
          <p:cNvPr id="9" name="TextBox 8">
            <a:extLst>
              <a:ext uri="{FF2B5EF4-FFF2-40B4-BE49-F238E27FC236}">
                <a16:creationId xmlns="" xmlns:a16="http://schemas.microsoft.com/office/drawing/2014/main" id="{2AF96418-F43F-49D3-8F8E-E2651F57759E}"/>
              </a:ext>
            </a:extLst>
          </p:cNvPr>
          <p:cNvSpPr txBox="1"/>
          <p:nvPr/>
        </p:nvSpPr>
        <p:spPr>
          <a:xfrm>
            <a:off x="11681926" y="6408575"/>
            <a:ext cx="360784" cy="312570"/>
          </a:xfrm>
          <a:prstGeom prst="rect">
            <a:avLst/>
          </a:prstGeom>
          <a:noFill/>
        </p:spPr>
        <p:txBody>
          <a:bodyPr wrap="square" rtlCol="0">
            <a:spAutoFit/>
          </a:bodyPr>
          <a:lstStyle/>
          <a:p>
            <a:r>
              <a:rPr lang="ru-RU" dirty="0"/>
              <a:t>4</a:t>
            </a:r>
          </a:p>
        </p:txBody>
      </p:sp>
    </p:spTree>
    <p:extLst>
      <p:ext uri="{BB962C8B-B14F-4D97-AF65-F5344CB8AC3E}">
        <p14:creationId xmlns:p14="http://schemas.microsoft.com/office/powerpoint/2010/main" val="828788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2ACDA365-E3B3-01BE-C12D-5555B4A36A5D}"/>
              </a:ext>
            </a:extLst>
          </p:cNvPr>
          <p:cNvSpPr txBox="1"/>
          <p:nvPr/>
        </p:nvSpPr>
        <p:spPr>
          <a:xfrm>
            <a:off x="2937933" y="516467"/>
            <a:ext cx="6316133" cy="3970318"/>
          </a:xfrm>
          <a:prstGeom prst="rect">
            <a:avLst/>
          </a:prstGeom>
          <a:noFill/>
        </p:spPr>
        <p:txBody>
          <a:bodyPr wrap="square" rtlCol="0">
            <a:spAutoFit/>
          </a:bodyPr>
          <a:lstStyle/>
          <a:p>
            <a:r>
              <a:rPr lang="ru-RU" smtClean="0"/>
              <a:t>На </a:t>
            </a:r>
            <a:r>
              <a:rPr lang="ru-RU" dirty="0"/>
              <a:t>данном слайде слева представлена схема уровней </a:t>
            </a:r>
            <a:r>
              <a:rPr lang="en-US" dirty="0"/>
              <a:t>D2  </a:t>
            </a:r>
            <a:r>
              <a:rPr lang="ru-RU" dirty="0"/>
              <a:t>линии 87</a:t>
            </a:r>
            <a:r>
              <a:rPr lang="en-US" dirty="0"/>
              <a:t>Rb </a:t>
            </a:r>
            <a:r>
              <a:rPr lang="ru-RU" dirty="0"/>
              <a:t>и используемые лазерные частоты. Для лазерного охлаждения и пленения используется охлаждающее – синие, и перекачивающее - голубое</a:t>
            </a:r>
            <a:r>
              <a:rPr lang="en-US" dirty="0"/>
              <a:t>, </a:t>
            </a:r>
            <a:r>
              <a:rPr lang="ru-RU" dirty="0"/>
              <a:t>излучение оптической накачки - зелёные</a:t>
            </a:r>
            <a:r>
              <a:rPr lang="en-US" dirty="0"/>
              <a:t>, </a:t>
            </a:r>
            <a:r>
              <a:rPr lang="ru-RU" dirty="0"/>
              <a:t>для подсветки Резонансное излучения – оранжевое, и для атомной интерференции </a:t>
            </a:r>
            <a:r>
              <a:rPr lang="ru-RU" dirty="0" err="1"/>
              <a:t>рамановские</a:t>
            </a:r>
            <a:r>
              <a:rPr lang="ru-RU" dirty="0"/>
              <a:t> пучки - красные.</a:t>
            </a:r>
          </a:p>
          <a:p>
            <a:endParaRPr lang="ru-RU" dirty="0"/>
          </a:p>
          <a:p>
            <a:r>
              <a:rPr lang="ru-RU" dirty="0"/>
              <a:t>А справа показана оптическая схема </a:t>
            </a:r>
            <a:r>
              <a:rPr lang="ru-RU" dirty="0" err="1"/>
              <a:t>гравимерта</a:t>
            </a:r>
            <a:r>
              <a:rPr lang="ru-RU" dirty="0"/>
              <a:t>. Излучение лазерной волоконной системой </a:t>
            </a:r>
            <a:r>
              <a:rPr lang="en-US" dirty="0"/>
              <a:t>EYLSA </a:t>
            </a:r>
            <a:r>
              <a:rPr lang="ru-RU" dirty="0"/>
              <a:t>используется формирование охлаждающего излучения, </a:t>
            </a:r>
            <a:r>
              <a:rPr lang="ru-RU" dirty="0" err="1"/>
              <a:t>рамановских</a:t>
            </a:r>
            <a:r>
              <a:rPr lang="ru-RU" dirty="0"/>
              <a:t> пучков и части излучения оптической накачки. Ее частота стабилизируется по биениям с излучением диодного лазера </a:t>
            </a:r>
            <a:r>
              <a:rPr lang="ru-RU" dirty="0" err="1"/>
              <a:t>Топтика</a:t>
            </a:r>
            <a:r>
              <a:rPr lang="ru-RU" dirty="0"/>
              <a:t> благодаря частотной привязке. Частота </a:t>
            </a:r>
            <a:r>
              <a:rPr lang="ru-RU" dirty="0" err="1"/>
              <a:t>Топтики</a:t>
            </a:r>
            <a:r>
              <a:rPr lang="ru-RU" dirty="0"/>
              <a:t> стабилизируется по резонансам насыщенного поглощения. Также излучение </a:t>
            </a:r>
            <a:r>
              <a:rPr lang="ru-RU" dirty="0" err="1"/>
              <a:t>Топтики</a:t>
            </a:r>
            <a:r>
              <a:rPr lang="ru-RU" dirty="0"/>
              <a:t> используется для формирования части излучения оптической накачки и перекачивающего излучения. Для формирования нужных частот используются </a:t>
            </a:r>
            <a:r>
              <a:rPr lang="ru-RU" dirty="0" err="1"/>
              <a:t>акусто</a:t>
            </a:r>
            <a:r>
              <a:rPr lang="ru-RU" dirty="0"/>
              <a:t> и электрооптика. Для доставки излучения к вакуумной камере применяются коллиматоры и волокно с сохранением поляризации. </a:t>
            </a:r>
          </a:p>
        </p:txBody>
      </p:sp>
    </p:spTree>
    <p:extLst>
      <p:ext uri="{BB962C8B-B14F-4D97-AF65-F5344CB8AC3E}">
        <p14:creationId xmlns:p14="http://schemas.microsoft.com/office/powerpoint/2010/main" val="713215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7" name="Google Shape;187;p22"/>
          <p:cNvSpPr txBox="1"/>
          <p:nvPr/>
        </p:nvSpPr>
        <p:spPr>
          <a:xfrm>
            <a:off x="1824587" y="5021396"/>
            <a:ext cx="8192278" cy="13233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600" b="0" i="0" u="none" strike="noStrike" cap="none" dirty="0">
                <a:solidFill>
                  <a:srgbClr val="000000"/>
                </a:solidFill>
                <a:latin typeface="Times New Roman"/>
                <a:ea typeface="Times New Roman"/>
                <a:cs typeface="Times New Roman"/>
                <a:sym typeface="Times New Roman"/>
              </a:rPr>
              <a:t>Рис. 4. Трехмерная модель экспериментальной установки. На рисунке представлены: вакуумная камера, три пары компенсационных магнитных катушек, охлаждающие лазерные пучки (розовые), рамановские пучки (фиолетовые), пробный пучок (жёлтый), оптика (коллиматоры, зеркала, линзы) и видеокамера. На рисунке не показаны четвертьволновые пластинки и катушка анти-Гельмгольца(фронтальная сторона)</a:t>
            </a:r>
            <a:endParaRPr sz="2000" b="0" i="0" u="none" strike="noStrike" cap="none" dirty="0">
              <a:solidFill>
                <a:srgbClr val="000000"/>
              </a:solidFill>
              <a:latin typeface="Arial"/>
              <a:ea typeface="Arial"/>
              <a:cs typeface="Arial"/>
              <a:sym typeface="Arial"/>
            </a:endParaRPr>
          </a:p>
        </p:txBody>
      </p:sp>
      <p:sp>
        <p:nvSpPr>
          <p:cNvPr id="188" name="Google Shape;188;p22"/>
          <p:cNvSpPr/>
          <p:nvPr/>
        </p:nvSpPr>
        <p:spPr>
          <a:xfrm>
            <a:off x="2465349" y="100125"/>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3600" b="1" i="0" u="none" strike="noStrike" cap="none" dirty="0">
                <a:solidFill>
                  <a:schemeClr val="lt1"/>
                </a:solidFill>
                <a:latin typeface="Times New Roman"/>
                <a:ea typeface="Times New Roman"/>
                <a:cs typeface="Times New Roman"/>
                <a:sym typeface="Times New Roman"/>
              </a:rPr>
              <a:t>Экспериментальная установка</a:t>
            </a:r>
            <a:endParaRPr sz="2000" b="0" i="0" u="none" strike="noStrike" cap="none" dirty="0">
              <a:solidFill>
                <a:srgbClr val="000000"/>
              </a:solidFill>
              <a:latin typeface="Arial"/>
              <a:ea typeface="Arial"/>
              <a:cs typeface="Arial"/>
              <a:sym typeface="Arial"/>
            </a:endParaRPr>
          </a:p>
        </p:txBody>
      </p:sp>
      <p:sp>
        <p:nvSpPr>
          <p:cNvPr id="7" name="TextBox 6">
            <a:extLst>
              <a:ext uri="{FF2B5EF4-FFF2-40B4-BE49-F238E27FC236}">
                <a16:creationId xmlns="" xmlns:a16="http://schemas.microsoft.com/office/drawing/2014/main" id="{5FB779BE-E95C-4F23-B584-09191216FEFF}"/>
              </a:ext>
            </a:extLst>
          </p:cNvPr>
          <p:cNvSpPr txBox="1"/>
          <p:nvPr/>
        </p:nvSpPr>
        <p:spPr>
          <a:xfrm>
            <a:off x="11681926" y="6408575"/>
            <a:ext cx="360784" cy="312570"/>
          </a:xfrm>
          <a:prstGeom prst="rect">
            <a:avLst/>
          </a:prstGeom>
          <a:noFill/>
        </p:spPr>
        <p:txBody>
          <a:bodyPr wrap="square" rtlCol="0">
            <a:spAutoFit/>
          </a:bodyPr>
          <a:lstStyle/>
          <a:p>
            <a:r>
              <a:rPr lang="ru-RU" dirty="0"/>
              <a:t>5</a:t>
            </a:r>
          </a:p>
        </p:txBody>
      </p:sp>
      <p:pic>
        <p:nvPicPr>
          <p:cNvPr id="4" name="Рисунок 3">
            <a:extLst>
              <a:ext uri="{FF2B5EF4-FFF2-40B4-BE49-F238E27FC236}">
                <a16:creationId xmlns="" xmlns:a16="http://schemas.microsoft.com/office/drawing/2014/main" id="{E8DBF2D1-7100-5EC3-B82B-FE54E4636A53}"/>
              </a:ext>
            </a:extLst>
          </p:cNvPr>
          <p:cNvPicPr>
            <a:picLocks noChangeAspect="1"/>
          </p:cNvPicPr>
          <p:nvPr/>
        </p:nvPicPr>
        <p:blipFill>
          <a:blip r:embed="rId3"/>
          <a:stretch>
            <a:fillRect/>
          </a:stretch>
        </p:blipFill>
        <p:spPr>
          <a:xfrm>
            <a:off x="2287480" y="1184995"/>
            <a:ext cx="7401958" cy="371526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 xmlns:a16="http://schemas.microsoft.com/office/drawing/2014/main" id="{9391A7E6-5806-3DFD-08A6-FB1401E2440E}"/>
              </a:ext>
            </a:extLst>
          </p:cNvPr>
          <p:cNvSpPr/>
          <p:nvPr/>
        </p:nvSpPr>
        <p:spPr>
          <a:xfrm>
            <a:off x="1558832" y="1371526"/>
            <a:ext cx="7193282" cy="1384995"/>
          </a:xfrm>
          <a:prstGeom prst="rect">
            <a:avLst/>
          </a:prstGeom>
        </p:spPr>
        <p:txBody>
          <a:bodyPr wrap="square">
            <a:spAutoFit/>
          </a:bodyPr>
          <a:lstStyle/>
          <a:p>
            <a:pPr lvl="0">
              <a:buSzPts val="1400"/>
            </a:pPr>
            <a:r>
              <a:rPr lang="ru-RU" dirty="0">
                <a:latin typeface="Times New Roman" panose="02020603050405020304" pitchFamily="18" charset="0"/>
                <a:cs typeface="Times New Roman" panose="02020603050405020304" pitchFamily="18" charset="0"/>
              </a:rPr>
              <a:t>На данном слайде изображена 3д модель гравиметра. Показаны 3 пары взаимно ортогональных пучков сфокусированы в центр вакуумной камеры, они используются для пленения и охлаждения атомов, Сверху заводятся Рамановские пучки для атомной интерференции, также есть три пары компенсирующих остаточной магнитное поле катушек, и две катушки в конфигурации анти-</a:t>
            </a:r>
            <a:r>
              <a:rPr lang="ru-RU" dirty="0" err="1">
                <a:latin typeface="Times New Roman" panose="02020603050405020304" pitchFamily="18" charset="0"/>
                <a:cs typeface="Times New Roman" panose="02020603050405020304" pitchFamily="18" charset="0"/>
              </a:rPr>
              <a:t>гельмгольц</a:t>
            </a:r>
            <a:r>
              <a:rPr lang="ru-RU" dirty="0">
                <a:latin typeface="Times New Roman" panose="02020603050405020304" pitchFamily="18" charset="0"/>
                <a:cs typeface="Times New Roman" panose="02020603050405020304" pitchFamily="18" charset="0"/>
              </a:rPr>
              <a:t> для создания квадрупольного потенциала, нужного для МОЛ.  </a:t>
            </a:r>
          </a:p>
        </p:txBody>
      </p:sp>
    </p:spTree>
    <p:extLst>
      <p:ext uri="{BB962C8B-B14F-4D97-AF65-F5344CB8AC3E}">
        <p14:creationId xmlns:p14="http://schemas.microsoft.com/office/powerpoint/2010/main" val="5824927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Прямоугольник 83"/>
          <p:cNvSpPr/>
          <p:nvPr/>
        </p:nvSpPr>
        <p:spPr>
          <a:xfrm>
            <a:off x="7293648" y="4457301"/>
            <a:ext cx="2126372" cy="17312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3" name="Прямоугольник 82"/>
          <p:cNvSpPr/>
          <p:nvPr/>
        </p:nvSpPr>
        <p:spPr>
          <a:xfrm>
            <a:off x="10579453" y="4129970"/>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Прямоугольник 80"/>
          <p:cNvSpPr/>
          <p:nvPr/>
        </p:nvSpPr>
        <p:spPr>
          <a:xfrm>
            <a:off x="10270032" y="2105263"/>
            <a:ext cx="21259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7" name="Прямоугольник 76"/>
          <p:cNvSpPr/>
          <p:nvPr/>
        </p:nvSpPr>
        <p:spPr>
          <a:xfrm>
            <a:off x="9233029" y="4122702"/>
            <a:ext cx="18699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Прямоугольник 74"/>
          <p:cNvSpPr/>
          <p:nvPr/>
        </p:nvSpPr>
        <p:spPr>
          <a:xfrm>
            <a:off x="8125093" y="4126685"/>
            <a:ext cx="44036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4" name="Прямоугольник 73"/>
          <p:cNvSpPr/>
          <p:nvPr/>
        </p:nvSpPr>
        <p:spPr>
          <a:xfrm>
            <a:off x="7291205" y="4126831"/>
            <a:ext cx="18699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3" name="Прямоугольник 72"/>
          <p:cNvSpPr/>
          <p:nvPr/>
        </p:nvSpPr>
        <p:spPr>
          <a:xfrm>
            <a:off x="5520028" y="3426494"/>
            <a:ext cx="328768" cy="19812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Прямоугольник 71"/>
          <p:cNvSpPr/>
          <p:nvPr/>
        </p:nvSpPr>
        <p:spPr>
          <a:xfrm>
            <a:off x="5358427" y="3794876"/>
            <a:ext cx="4382559" cy="167165"/>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0" name="Прямоугольник 69"/>
          <p:cNvSpPr/>
          <p:nvPr/>
        </p:nvSpPr>
        <p:spPr>
          <a:xfrm>
            <a:off x="5039772" y="3079237"/>
            <a:ext cx="24414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Прямоугольник 53"/>
          <p:cNvSpPr/>
          <p:nvPr/>
        </p:nvSpPr>
        <p:spPr>
          <a:xfrm>
            <a:off x="3981508" y="2125399"/>
            <a:ext cx="1001779" cy="175398"/>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Прямоугольник 52"/>
          <p:cNvSpPr/>
          <p:nvPr/>
        </p:nvSpPr>
        <p:spPr>
          <a:xfrm>
            <a:off x="3981509" y="1818671"/>
            <a:ext cx="755297" cy="189623"/>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Прямоугольник 20"/>
          <p:cNvSpPr/>
          <p:nvPr/>
        </p:nvSpPr>
        <p:spPr>
          <a:xfrm>
            <a:off x="2670350" y="1808076"/>
            <a:ext cx="1187327"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Прямоугольник 22"/>
          <p:cNvSpPr/>
          <p:nvPr/>
        </p:nvSpPr>
        <p:spPr>
          <a:xfrm>
            <a:off x="2660002" y="1498979"/>
            <a:ext cx="1199014"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12"/>
          <p:cNvSpPr/>
          <p:nvPr/>
        </p:nvSpPr>
        <p:spPr>
          <a:xfrm>
            <a:off x="2670350" y="2106695"/>
            <a:ext cx="1188734"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Google Shape;188;p22"/>
          <p:cNvSpPr/>
          <p:nvPr/>
        </p:nvSpPr>
        <p:spPr>
          <a:xfrm>
            <a:off x="2465349" y="100125"/>
            <a:ext cx="6910755" cy="483349"/>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800" b="1" i="0" u="none" strike="noStrike" cap="none" dirty="0">
                <a:solidFill>
                  <a:schemeClr val="lt1"/>
                </a:solidFill>
                <a:latin typeface="Times New Roman"/>
                <a:ea typeface="Times New Roman"/>
                <a:cs typeface="Times New Roman"/>
                <a:sym typeface="Times New Roman"/>
              </a:rPr>
              <a:t>Экспериментальная </a:t>
            </a:r>
            <a:r>
              <a:rPr lang="ru-RU" sz="2800" b="1" dirty="0">
                <a:solidFill>
                  <a:schemeClr val="lt1"/>
                </a:solidFill>
                <a:latin typeface="Times New Roman"/>
                <a:ea typeface="Times New Roman"/>
                <a:cs typeface="Times New Roman"/>
                <a:sym typeface="Times New Roman"/>
              </a:rPr>
              <a:t>последовательность</a:t>
            </a:r>
            <a:endParaRPr sz="1600" b="0" i="0" u="none" strike="noStrike" cap="none" dirty="0">
              <a:solidFill>
                <a:srgbClr val="000000"/>
              </a:solidFill>
              <a:latin typeface="Arial"/>
              <a:ea typeface="Arial"/>
              <a:cs typeface="Arial"/>
              <a:sym typeface="Arial"/>
            </a:endParaRPr>
          </a:p>
        </p:txBody>
      </p:sp>
      <p:sp>
        <p:nvSpPr>
          <p:cNvPr id="3" name="TextBox 2"/>
          <p:cNvSpPr txBox="1"/>
          <p:nvPr/>
        </p:nvSpPr>
        <p:spPr>
          <a:xfrm>
            <a:off x="927016" y="138259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Маг. поле МОЛ</a:t>
            </a:r>
          </a:p>
        </p:txBody>
      </p:sp>
      <p:cxnSp>
        <p:nvCxnSpPr>
          <p:cNvPr id="5" name="Прямая соединительная линия 4"/>
          <p:cNvCxnSpPr/>
          <p:nvPr/>
        </p:nvCxnSpPr>
        <p:spPr>
          <a:xfrm>
            <a:off x="2424751" y="1599156"/>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58716" y="1706864"/>
            <a:ext cx="2586604"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Охлаждающее излучение</a:t>
            </a:r>
          </a:p>
        </p:txBody>
      </p:sp>
      <p:cxnSp>
        <p:nvCxnSpPr>
          <p:cNvPr id="9" name="Прямая соединительная линия 8"/>
          <p:cNvCxnSpPr/>
          <p:nvPr/>
        </p:nvCxnSpPr>
        <p:spPr>
          <a:xfrm>
            <a:off x="2416568" y="1912594"/>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1340467" y="200491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Перекачка</a:t>
            </a:r>
          </a:p>
        </p:txBody>
      </p:sp>
      <p:cxnSp>
        <p:nvCxnSpPr>
          <p:cNvPr id="11" name="Прямая соединительная линия 10"/>
          <p:cNvCxnSpPr/>
          <p:nvPr/>
        </p:nvCxnSpPr>
        <p:spPr>
          <a:xfrm>
            <a:off x="2416568" y="2212439"/>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8" name="TextBox 27"/>
          <p:cNvSpPr txBox="1"/>
          <p:nvPr/>
        </p:nvSpPr>
        <p:spPr>
          <a:xfrm>
            <a:off x="1448696" y="235315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Камера 1</a:t>
            </a:r>
          </a:p>
        </p:txBody>
      </p:sp>
      <p:sp>
        <p:nvSpPr>
          <p:cNvPr id="30" name="TextBox 29"/>
          <p:cNvSpPr txBox="1"/>
          <p:nvPr/>
        </p:nvSpPr>
        <p:spPr>
          <a:xfrm>
            <a:off x="1442545" y="2668175"/>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Камера 2</a:t>
            </a:r>
          </a:p>
        </p:txBody>
      </p:sp>
      <p:sp>
        <p:nvSpPr>
          <p:cNvPr id="32" name="TextBox 31"/>
          <p:cNvSpPr txBox="1"/>
          <p:nvPr/>
        </p:nvSpPr>
        <p:spPr>
          <a:xfrm>
            <a:off x="1176197" y="301220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2-</a:t>
            </a:r>
            <a:r>
              <a:rPr lang="en-US" sz="1600" i="1" dirty="0">
                <a:latin typeface="Times New Roman" panose="02020603050405020304" pitchFamily="18" charset="0"/>
                <a:cs typeface="Times New Roman" panose="02020603050405020304" pitchFamily="18" charset="0"/>
              </a:rPr>
              <a:t>2’</a:t>
            </a:r>
            <a:endParaRPr lang="ru-RU" sz="1600" i="1" dirty="0">
              <a:latin typeface="Times New Roman" panose="02020603050405020304" pitchFamily="18" charset="0"/>
              <a:cs typeface="Times New Roman" panose="02020603050405020304" pitchFamily="18" charset="0"/>
            </a:endParaRPr>
          </a:p>
        </p:txBody>
      </p:sp>
      <p:cxnSp>
        <p:nvCxnSpPr>
          <p:cNvPr id="33" name="Прямая соединительная линия 32"/>
          <p:cNvCxnSpPr/>
          <p:nvPr/>
        </p:nvCxnSpPr>
        <p:spPr>
          <a:xfrm>
            <a:off x="2416568" y="3203007"/>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305295" y="3689814"/>
            <a:ext cx="1776549" cy="338554"/>
          </a:xfrm>
          <a:prstGeom prst="rect">
            <a:avLst/>
          </a:prstGeom>
          <a:noFill/>
        </p:spPr>
        <p:txBody>
          <a:bodyPr wrap="square" rtlCol="0">
            <a:spAutoFit/>
          </a:bodyPr>
          <a:lstStyle/>
          <a:p>
            <a:r>
              <a:rPr lang="en-US" sz="1600" i="1" dirty="0">
                <a:latin typeface="Times New Roman" panose="02020603050405020304" pitchFamily="18" charset="0"/>
                <a:cs typeface="Times New Roman" panose="02020603050405020304" pitchFamily="18" charset="0"/>
              </a:rPr>
              <a:t>Z-</a:t>
            </a:r>
            <a:r>
              <a:rPr lang="ru-RU" sz="1600" i="1" dirty="0">
                <a:latin typeface="Times New Roman" panose="02020603050405020304" pitchFamily="18" charset="0"/>
                <a:cs typeface="Times New Roman" panose="02020603050405020304" pitchFamily="18" charset="0"/>
              </a:rPr>
              <a:t>маг поле</a:t>
            </a:r>
          </a:p>
        </p:txBody>
      </p:sp>
      <p:cxnSp>
        <p:nvCxnSpPr>
          <p:cNvPr id="35" name="Прямая соединительная линия 34"/>
          <p:cNvCxnSpPr/>
          <p:nvPr/>
        </p:nvCxnSpPr>
        <p:spPr>
          <a:xfrm>
            <a:off x="2416568" y="3531123"/>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36" name="TextBox 35"/>
          <p:cNvSpPr txBox="1"/>
          <p:nvPr/>
        </p:nvSpPr>
        <p:spPr>
          <a:xfrm>
            <a:off x="1164650" y="333627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1-0</a:t>
            </a:r>
            <a:r>
              <a:rPr lang="en-US" sz="1600" i="1" dirty="0">
                <a:latin typeface="Times New Roman" panose="02020603050405020304" pitchFamily="18" charset="0"/>
                <a:cs typeface="Times New Roman" panose="02020603050405020304" pitchFamily="18" charset="0"/>
              </a:rPr>
              <a:t>’</a:t>
            </a:r>
            <a:endParaRPr lang="ru-RU" sz="1600" i="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1680683" y="4029245"/>
            <a:ext cx="1776549" cy="338554"/>
          </a:xfrm>
          <a:prstGeom prst="rect">
            <a:avLst/>
          </a:prstGeom>
          <a:noFill/>
        </p:spPr>
        <p:txBody>
          <a:bodyPr wrap="square" rtlCol="0">
            <a:spAutoFit/>
          </a:bodyPr>
          <a:lstStyle/>
          <a:p>
            <a:r>
              <a:rPr lang="ru-RU" sz="1600" i="1" dirty="0" err="1">
                <a:latin typeface="Times New Roman" panose="02020603050405020304" pitchFamily="18" charset="0"/>
                <a:cs typeface="Times New Roman" panose="02020603050405020304" pitchFamily="18" charset="0"/>
              </a:rPr>
              <a:t>Раман</a:t>
            </a:r>
            <a:endParaRPr lang="ru-RU" sz="1600" i="1" dirty="0">
              <a:latin typeface="Times New Roman" panose="02020603050405020304" pitchFamily="18" charset="0"/>
              <a:cs typeface="Times New Roman" panose="02020603050405020304" pitchFamily="18" charset="0"/>
            </a:endParaRPr>
          </a:p>
        </p:txBody>
      </p:sp>
      <p:sp>
        <p:nvSpPr>
          <p:cNvPr id="40" name="TextBox 39"/>
          <p:cNvSpPr txBox="1"/>
          <p:nvPr/>
        </p:nvSpPr>
        <p:spPr>
          <a:xfrm>
            <a:off x="1012287" y="435135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Чирпирование</a:t>
            </a:r>
          </a:p>
        </p:txBody>
      </p:sp>
      <p:cxnSp>
        <p:nvCxnSpPr>
          <p:cNvPr id="41" name="Прямая соединительная линия 40"/>
          <p:cNvCxnSpPr/>
          <p:nvPr/>
        </p:nvCxnSpPr>
        <p:spPr>
          <a:xfrm>
            <a:off x="2421069" y="455346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43" name="Прямая соединительная линия 42"/>
          <p:cNvCxnSpPr/>
          <p:nvPr/>
        </p:nvCxnSpPr>
        <p:spPr>
          <a:xfrm>
            <a:off x="2657749" y="1261745"/>
            <a:ext cx="20647" cy="366229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p:cNvCxnSpPr/>
          <p:nvPr/>
        </p:nvCxnSpPr>
        <p:spPr>
          <a:xfrm>
            <a:off x="3851039" y="1267762"/>
            <a:ext cx="16090" cy="365628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 xmlns:a16="http://schemas.microsoft.com/office/drawing/2014/main" id="{D264B975-A8B3-4554-9188-E48F759EEE32}"/>
              </a:ext>
            </a:extLst>
          </p:cNvPr>
          <p:cNvSpPr txBox="1"/>
          <p:nvPr/>
        </p:nvSpPr>
        <p:spPr>
          <a:xfrm>
            <a:off x="2510135" y="4875571"/>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0</a:t>
            </a:r>
            <a:endParaRPr lang="ru-RU" sz="1800" dirty="0">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 xmlns:a16="http://schemas.microsoft.com/office/drawing/2014/main" id="{D264B975-A8B3-4554-9188-E48F759EEE32}"/>
              </a:ext>
            </a:extLst>
          </p:cNvPr>
          <p:cNvSpPr txBox="1"/>
          <p:nvPr/>
        </p:nvSpPr>
        <p:spPr>
          <a:xfrm>
            <a:off x="3606920" y="4873816"/>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250</a:t>
            </a:r>
            <a:endParaRPr lang="ru-RU" sz="1800" dirty="0">
              <a:latin typeface="Times New Roman" panose="02020603050405020304" pitchFamily="18" charset="0"/>
              <a:cs typeface="Times New Roman" panose="02020603050405020304" pitchFamily="18" charset="0"/>
            </a:endParaRPr>
          </a:p>
        </p:txBody>
      </p:sp>
      <p:sp>
        <p:nvSpPr>
          <p:cNvPr id="49" name="TextBox 48"/>
          <p:cNvSpPr txBox="1"/>
          <p:nvPr/>
        </p:nvSpPr>
        <p:spPr>
          <a:xfrm>
            <a:off x="2919577" y="921194"/>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МОЛ</a:t>
            </a:r>
          </a:p>
        </p:txBody>
      </p:sp>
      <p:sp>
        <p:nvSpPr>
          <p:cNvPr id="56" name="TextBox 55">
            <a:extLst>
              <a:ext uri="{FF2B5EF4-FFF2-40B4-BE49-F238E27FC236}">
                <a16:creationId xmlns="" xmlns:a16="http://schemas.microsoft.com/office/drawing/2014/main" id="{D264B975-A8B3-4554-9188-E48F759EEE32}"/>
              </a:ext>
            </a:extLst>
          </p:cNvPr>
          <p:cNvSpPr txBox="1"/>
          <p:nvPr/>
        </p:nvSpPr>
        <p:spPr>
          <a:xfrm>
            <a:off x="4680190" y="4869468"/>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260</a:t>
            </a:r>
            <a:endParaRPr lang="ru-RU" sz="1800" dirty="0">
              <a:latin typeface="Times New Roman" panose="02020603050405020304" pitchFamily="18" charset="0"/>
              <a:cs typeface="Times New Roman" panose="02020603050405020304" pitchFamily="18" charset="0"/>
            </a:endParaRPr>
          </a:p>
        </p:txBody>
      </p:sp>
      <p:sp>
        <p:nvSpPr>
          <p:cNvPr id="57" name="TextBox 56"/>
          <p:cNvSpPr txBox="1"/>
          <p:nvPr/>
        </p:nvSpPr>
        <p:spPr>
          <a:xfrm>
            <a:off x="3807851" y="906878"/>
            <a:ext cx="1776549" cy="338554"/>
          </a:xfrm>
          <a:prstGeom prst="rect">
            <a:avLst/>
          </a:prstGeom>
          <a:noFill/>
        </p:spPr>
        <p:txBody>
          <a:bodyPr wrap="square" rtlCol="0">
            <a:spAutoFit/>
          </a:bodyPr>
          <a:lstStyle/>
          <a:p>
            <a:r>
              <a:rPr lang="ru-RU" sz="1600" b="1" dirty="0" err="1">
                <a:latin typeface="Times New Roman" panose="02020603050405020304" pitchFamily="18" charset="0"/>
                <a:cs typeface="Times New Roman" panose="02020603050405020304" pitchFamily="18" charset="0"/>
              </a:rPr>
              <a:t>Субдоплер</a:t>
            </a:r>
            <a:endParaRPr lang="ru-RU" sz="1600" b="1" dirty="0">
              <a:latin typeface="Times New Roman" panose="02020603050405020304" pitchFamily="18" charset="0"/>
              <a:cs typeface="Times New Roman" panose="02020603050405020304" pitchFamily="18" charset="0"/>
            </a:endParaRPr>
          </a:p>
        </p:txBody>
      </p:sp>
      <p:sp>
        <p:nvSpPr>
          <p:cNvPr id="58" name="TextBox 57"/>
          <p:cNvSpPr txBox="1"/>
          <p:nvPr/>
        </p:nvSpPr>
        <p:spPr>
          <a:xfrm>
            <a:off x="4887811" y="868192"/>
            <a:ext cx="2210264" cy="584775"/>
          </a:xfrm>
          <a:prstGeom prst="rect">
            <a:avLst/>
          </a:prstGeom>
          <a:noFill/>
        </p:spPr>
        <p:txBody>
          <a:bodyPr wrap="square" rtlCol="0">
            <a:spAutoFit/>
          </a:bodyPr>
          <a:lstStyle/>
          <a:p>
            <a:pPr algn="ctr"/>
            <a:r>
              <a:rPr lang="ru-RU" sz="1600" b="1" dirty="0">
                <a:latin typeface="Times New Roman" panose="02020603050405020304" pitchFamily="18" charset="0"/>
                <a:cs typeface="Times New Roman" panose="02020603050405020304" pitchFamily="18" charset="0"/>
              </a:rPr>
              <a:t>Подготовка в </a:t>
            </a:r>
            <a:r>
              <a:rPr lang="ru-RU" sz="1600" b="1" dirty="0" err="1">
                <a:latin typeface="Times New Roman" panose="02020603050405020304" pitchFamily="18" charset="0"/>
                <a:cs typeface="Times New Roman" panose="02020603050405020304" pitchFamily="18" charset="0"/>
              </a:rPr>
              <a:t>немаг</a:t>
            </a:r>
            <a:r>
              <a:rPr lang="ru-RU" sz="1600" b="1" dirty="0">
                <a:latin typeface="Times New Roman" panose="02020603050405020304" pitchFamily="18" charset="0"/>
                <a:cs typeface="Times New Roman" panose="02020603050405020304" pitchFamily="18" charset="0"/>
              </a:rPr>
              <a:t>. состояние</a:t>
            </a:r>
          </a:p>
        </p:txBody>
      </p:sp>
      <p:cxnSp>
        <p:nvCxnSpPr>
          <p:cNvPr id="59" name="Прямая соединительная линия 58"/>
          <p:cNvCxnSpPr/>
          <p:nvPr/>
        </p:nvCxnSpPr>
        <p:spPr>
          <a:xfrm>
            <a:off x="7094658" y="1261745"/>
            <a:ext cx="21816" cy="366229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 xmlns:a16="http://schemas.microsoft.com/office/drawing/2014/main" id="{D264B975-A8B3-4554-9188-E48F759EEE32}"/>
              </a:ext>
            </a:extLst>
          </p:cNvPr>
          <p:cNvSpPr txBox="1"/>
          <p:nvPr/>
        </p:nvSpPr>
        <p:spPr>
          <a:xfrm>
            <a:off x="6844877" y="4864030"/>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a:t>
            </a:r>
            <a:r>
              <a:rPr lang="ru-RU" sz="1800" dirty="0">
                <a:latin typeface="Times New Roman" panose="02020603050405020304" pitchFamily="18" charset="0"/>
                <a:cs typeface="Times New Roman" panose="02020603050405020304" pitchFamily="18" charset="0"/>
              </a:rPr>
              <a:t>7</a:t>
            </a:r>
            <a:r>
              <a:rPr lang="en-US" sz="1800" dirty="0">
                <a:latin typeface="Times New Roman" panose="02020603050405020304" pitchFamily="18" charset="0"/>
                <a:cs typeface="Times New Roman" panose="02020603050405020304" pitchFamily="18" charset="0"/>
              </a:rPr>
              <a:t>0</a:t>
            </a:r>
            <a:endParaRPr lang="ru-RU" sz="1800" dirty="0">
              <a:latin typeface="Times New Roman" panose="02020603050405020304" pitchFamily="18" charset="0"/>
              <a:cs typeface="Times New Roman" panose="02020603050405020304" pitchFamily="18" charset="0"/>
            </a:endParaRPr>
          </a:p>
        </p:txBody>
      </p:sp>
      <p:cxnSp>
        <p:nvCxnSpPr>
          <p:cNvPr id="64" name="Прямая соединительная линия 63"/>
          <p:cNvCxnSpPr/>
          <p:nvPr/>
        </p:nvCxnSpPr>
        <p:spPr>
          <a:xfrm>
            <a:off x="9723937" y="1261745"/>
            <a:ext cx="17049" cy="366229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 xmlns:a16="http://schemas.microsoft.com/office/drawing/2014/main" id="{D264B975-A8B3-4554-9188-E48F759EEE32}"/>
              </a:ext>
            </a:extLst>
          </p:cNvPr>
          <p:cNvSpPr txBox="1"/>
          <p:nvPr/>
        </p:nvSpPr>
        <p:spPr>
          <a:xfrm>
            <a:off x="9482662" y="4861198"/>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300</a:t>
            </a:r>
            <a:endParaRPr lang="ru-RU" sz="1800" dirty="0">
              <a:latin typeface="Times New Roman" panose="02020603050405020304" pitchFamily="18" charset="0"/>
              <a:cs typeface="Times New Roman" panose="02020603050405020304" pitchFamily="18" charset="0"/>
            </a:endParaRPr>
          </a:p>
        </p:txBody>
      </p:sp>
      <p:sp>
        <p:nvSpPr>
          <p:cNvPr id="78" name="Google Shape;187;p22"/>
          <p:cNvSpPr txBox="1"/>
          <p:nvPr/>
        </p:nvSpPr>
        <p:spPr>
          <a:xfrm>
            <a:off x="2805834" y="5572585"/>
            <a:ext cx="8192278"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800" b="0" i="0" u="none" strike="noStrike" cap="none" dirty="0">
                <a:solidFill>
                  <a:srgbClr val="000000"/>
                </a:solidFill>
                <a:latin typeface="Times New Roman"/>
                <a:ea typeface="Times New Roman"/>
                <a:cs typeface="Times New Roman"/>
                <a:sym typeface="Times New Roman"/>
              </a:rPr>
              <a:t>Рис. 5. </a:t>
            </a:r>
            <a:r>
              <a:rPr lang="ru-RU" sz="1800" dirty="0">
                <a:latin typeface="Times New Roman"/>
                <a:ea typeface="Times New Roman"/>
                <a:cs typeface="Times New Roman"/>
                <a:sym typeface="Times New Roman"/>
              </a:rPr>
              <a:t>Временная последовательность работы гравиметра.</a:t>
            </a:r>
            <a:endParaRPr sz="2400" b="0" i="0" u="none" strike="noStrike" cap="none" dirty="0">
              <a:solidFill>
                <a:srgbClr val="000000"/>
              </a:solidFill>
              <a:latin typeface="Arial"/>
              <a:ea typeface="Arial"/>
              <a:cs typeface="Arial"/>
              <a:sym typeface="Arial"/>
            </a:endParaRPr>
          </a:p>
        </p:txBody>
      </p:sp>
      <p:cxnSp>
        <p:nvCxnSpPr>
          <p:cNvPr id="79" name="Прямая соединительная линия 78"/>
          <p:cNvCxnSpPr/>
          <p:nvPr/>
        </p:nvCxnSpPr>
        <p:spPr>
          <a:xfrm>
            <a:off x="11092199" y="1261745"/>
            <a:ext cx="5591" cy="36432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 xmlns:a16="http://schemas.microsoft.com/office/drawing/2014/main" id="{D264B975-A8B3-4554-9188-E48F759EEE32}"/>
              </a:ext>
            </a:extLst>
          </p:cNvPr>
          <p:cNvSpPr txBox="1"/>
          <p:nvPr/>
        </p:nvSpPr>
        <p:spPr>
          <a:xfrm>
            <a:off x="10932024" y="4871253"/>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3</a:t>
            </a:r>
            <a:r>
              <a:rPr lang="ru-RU" sz="18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0</a:t>
            </a:r>
            <a:r>
              <a:rPr lang="ru-RU" sz="1800" dirty="0">
                <a:latin typeface="Times New Roman" panose="02020603050405020304" pitchFamily="18" charset="0"/>
                <a:cs typeface="Times New Roman" panose="02020603050405020304" pitchFamily="18" charset="0"/>
              </a:rPr>
              <a:t> </a:t>
            </a:r>
          </a:p>
        </p:txBody>
      </p:sp>
      <p:sp>
        <p:nvSpPr>
          <p:cNvPr id="85" name="TextBox 84"/>
          <p:cNvSpPr txBox="1"/>
          <p:nvPr/>
        </p:nvSpPr>
        <p:spPr>
          <a:xfrm>
            <a:off x="7549919" y="924113"/>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Интерференция</a:t>
            </a:r>
          </a:p>
        </p:txBody>
      </p:sp>
      <p:sp>
        <p:nvSpPr>
          <p:cNvPr id="86" name="TextBox 85"/>
          <p:cNvSpPr txBox="1"/>
          <p:nvPr/>
        </p:nvSpPr>
        <p:spPr>
          <a:xfrm>
            <a:off x="9759969" y="924113"/>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Регистрация</a:t>
            </a:r>
          </a:p>
        </p:txBody>
      </p:sp>
      <p:sp>
        <p:nvSpPr>
          <p:cNvPr id="63" name="Google Shape;187;p22">
            <a:extLst>
              <a:ext uri="{FF2B5EF4-FFF2-40B4-BE49-F238E27FC236}">
                <a16:creationId xmlns="" xmlns:a16="http://schemas.microsoft.com/office/drawing/2014/main" id="{752E87BA-AE03-4575-BC6E-FFA836941546}"/>
              </a:ext>
            </a:extLst>
          </p:cNvPr>
          <p:cNvSpPr txBox="1"/>
          <p:nvPr/>
        </p:nvSpPr>
        <p:spPr>
          <a:xfrm>
            <a:off x="2980435" y="5203294"/>
            <a:ext cx="8192278"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800" dirty="0">
                <a:latin typeface="Times New Roman"/>
                <a:cs typeface="Times New Roman"/>
                <a:sym typeface="Times New Roman"/>
              </a:rPr>
              <a:t>Время, </a:t>
            </a:r>
            <a:r>
              <a:rPr lang="en-US" sz="1800" dirty="0">
                <a:latin typeface="Times New Roman"/>
                <a:cs typeface="Times New Roman"/>
                <a:sym typeface="Times New Roman"/>
              </a:rPr>
              <a:t>[</a:t>
            </a:r>
            <a:r>
              <a:rPr lang="ru-RU" sz="1800" dirty="0" err="1">
                <a:latin typeface="Times New Roman"/>
                <a:cs typeface="Times New Roman"/>
                <a:sym typeface="Times New Roman"/>
              </a:rPr>
              <a:t>мс</a:t>
            </a:r>
            <a:r>
              <a:rPr lang="en-US" sz="1800" dirty="0">
                <a:latin typeface="Times New Roman"/>
                <a:cs typeface="Times New Roman"/>
                <a:sym typeface="Times New Roman"/>
              </a:rPr>
              <a:t>]</a:t>
            </a:r>
            <a:endParaRPr sz="1800" b="0" i="0" u="none" strike="noStrike" cap="none" dirty="0">
              <a:solidFill>
                <a:srgbClr val="000000"/>
              </a:solidFill>
              <a:latin typeface="Arial"/>
              <a:ea typeface="Arial"/>
              <a:cs typeface="Arial"/>
              <a:sym typeface="Arial"/>
            </a:endParaRPr>
          </a:p>
        </p:txBody>
      </p:sp>
      <p:cxnSp>
        <p:nvCxnSpPr>
          <p:cNvPr id="151" name="Прямая соединительная линия 150">
            <a:extLst>
              <a:ext uri="{FF2B5EF4-FFF2-40B4-BE49-F238E27FC236}">
                <a16:creationId xmlns="" xmlns:a16="http://schemas.microsoft.com/office/drawing/2014/main" id="{248B8D68-1797-4905-AC45-2C0793BDA79A}"/>
              </a:ext>
            </a:extLst>
          </p:cNvPr>
          <p:cNvCxnSpPr/>
          <p:nvPr/>
        </p:nvCxnSpPr>
        <p:spPr>
          <a:xfrm flipH="1">
            <a:off x="3041397" y="4410725"/>
            <a:ext cx="144491" cy="284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Прямая соединительная линия 153">
            <a:extLst>
              <a:ext uri="{FF2B5EF4-FFF2-40B4-BE49-F238E27FC236}">
                <a16:creationId xmlns="" xmlns:a16="http://schemas.microsoft.com/office/drawing/2014/main" id="{E08F3811-E9DD-466E-B562-EDC2724496C2}"/>
              </a:ext>
            </a:extLst>
          </p:cNvPr>
          <p:cNvCxnSpPr/>
          <p:nvPr/>
        </p:nvCxnSpPr>
        <p:spPr>
          <a:xfrm flipH="1">
            <a:off x="3343492" y="4408042"/>
            <a:ext cx="144491" cy="284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5" name="Прямоугольник 174">
            <a:extLst>
              <a:ext uri="{FF2B5EF4-FFF2-40B4-BE49-F238E27FC236}">
                <a16:creationId xmlns="" xmlns:a16="http://schemas.microsoft.com/office/drawing/2014/main" id="{D95B086B-20F1-4FB8-973C-18B9F97E541F}"/>
              </a:ext>
            </a:extLst>
          </p:cNvPr>
          <p:cNvSpPr/>
          <p:nvPr/>
        </p:nvSpPr>
        <p:spPr>
          <a:xfrm rot="1536041">
            <a:off x="3143797" y="4384282"/>
            <a:ext cx="241841" cy="3417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7" name="Прямоугольник 66">
            <a:extLst>
              <a:ext uri="{FF2B5EF4-FFF2-40B4-BE49-F238E27FC236}">
                <a16:creationId xmlns="" xmlns:a16="http://schemas.microsoft.com/office/drawing/2014/main" id="{EE466986-E0AF-4394-9D4C-BEFEDC65AD31}"/>
              </a:ext>
            </a:extLst>
          </p:cNvPr>
          <p:cNvSpPr/>
          <p:nvPr/>
        </p:nvSpPr>
        <p:spPr>
          <a:xfrm>
            <a:off x="9840902" y="4136831"/>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Прямоугольник 67">
            <a:extLst>
              <a:ext uri="{FF2B5EF4-FFF2-40B4-BE49-F238E27FC236}">
                <a16:creationId xmlns="" xmlns:a16="http://schemas.microsoft.com/office/drawing/2014/main" id="{883A6D51-BD10-4CB1-9C2A-1746D6D82718}"/>
              </a:ext>
            </a:extLst>
          </p:cNvPr>
          <p:cNvSpPr/>
          <p:nvPr/>
        </p:nvSpPr>
        <p:spPr>
          <a:xfrm>
            <a:off x="9840903" y="2446541"/>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Прямоугольник 68">
            <a:extLst>
              <a:ext uri="{FF2B5EF4-FFF2-40B4-BE49-F238E27FC236}">
                <a16:creationId xmlns="" xmlns:a16="http://schemas.microsoft.com/office/drawing/2014/main" id="{71D83A6E-C16E-4F2B-83C6-29C70DD39534}"/>
              </a:ext>
            </a:extLst>
          </p:cNvPr>
          <p:cNvSpPr/>
          <p:nvPr/>
        </p:nvSpPr>
        <p:spPr>
          <a:xfrm>
            <a:off x="10579453" y="2764203"/>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9" name="Прямая соединительная линия 28"/>
          <p:cNvCxnSpPr/>
          <p:nvPr/>
        </p:nvCxnSpPr>
        <p:spPr>
          <a:xfrm>
            <a:off x="2416568" y="254231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7" name="Прямая соединительная линия 36"/>
          <p:cNvCxnSpPr/>
          <p:nvPr/>
        </p:nvCxnSpPr>
        <p:spPr>
          <a:xfrm>
            <a:off x="2416568" y="3881241"/>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9" name="Прямая соединительная линия 38"/>
          <p:cNvCxnSpPr/>
          <p:nvPr/>
        </p:nvCxnSpPr>
        <p:spPr>
          <a:xfrm>
            <a:off x="2416568" y="4231359"/>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1" name="Прямая соединительная линия 30"/>
          <p:cNvCxnSpPr/>
          <p:nvPr/>
        </p:nvCxnSpPr>
        <p:spPr>
          <a:xfrm>
            <a:off x="2416568" y="285796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 xmlns:a16="http://schemas.microsoft.com/office/drawing/2014/main" id="{5FB779BE-E95C-4F23-B584-09191216FEFF}"/>
              </a:ext>
            </a:extLst>
          </p:cNvPr>
          <p:cNvSpPr txBox="1"/>
          <p:nvPr/>
        </p:nvSpPr>
        <p:spPr>
          <a:xfrm>
            <a:off x="11681926" y="6408575"/>
            <a:ext cx="360784" cy="312570"/>
          </a:xfrm>
          <a:prstGeom prst="rect">
            <a:avLst/>
          </a:prstGeom>
          <a:noFill/>
        </p:spPr>
        <p:txBody>
          <a:bodyPr wrap="square" rtlCol="0">
            <a:spAutoFit/>
          </a:bodyPr>
          <a:lstStyle/>
          <a:p>
            <a:r>
              <a:rPr lang="ru-RU" dirty="0"/>
              <a:t>6</a:t>
            </a:r>
          </a:p>
        </p:txBody>
      </p:sp>
      <p:cxnSp>
        <p:nvCxnSpPr>
          <p:cNvPr id="117" name="Прямая соединительная линия 116"/>
          <p:cNvCxnSpPr/>
          <p:nvPr/>
        </p:nvCxnSpPr>
        <p:spPr>
          <a:xfrm>
            <a:off x="4974321" y="1267762"/>
            <a:ext cx="16090" cy="365628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08726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2B697A10-FD94-624C-4819-B6D157B1D080}"/>
              </a:ext>
            </a:extLst>
          </p:cNvPr>
          <p:cNvSpPr txBox="1"/>
          <p:nvPr/>
        </p:nvSpPr>
        <p:spPr>
          <a:xfrm>
            <a:off x="2099733" y="2091267"/>
            <a:ext cx="6680200" cy="1384995"/>
          </a:xfrm>
          <a:prstGeom prst="rect">
            <a:avLst/>
          </a:prstGeom>
          <a:noFill/>
        </p:spPr>
        <p:txBody>
          <a:bodyPr wrap="square" rtlCol="0">
            <a:spAutoFit/>
          </a:bodyPr>
          <a:lstStyle/>
          <a:p>
            <a:r>
              <a:rPr lang="ru-RU" dirty="0"/>
              <a:t>На данном слайде показана типичная экспериментальная последовательность работы гравиметра. Начинается цикл с лазерного охлаждение и пленения, что длится порядке 250 мс, после чего идёт оптическая накачка в немагнитное состояние, исследованию которой посвящена часть представляемого доклада, после чего идут процессы атомной интерференции и регистрации.</a:t>
            </a:r>
          </a:p>
        </p:txBody>
      </p:sp>
    </p:spTree>
    <p:extLst>
      <p:ext uri="{BB962C8B-B14F-4D97-AF65-F5344CB8AC3E}">
        <p14:creationId xmlns:p14="http://schemas.microsoft.com/office/powerpoint/2010/main" val="3927482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Рисунок 22">
            <a:extLst>
              <a:ext uri="{FF2B5EF4-FFF2-40B4-BE49-F238E27FC236}">
                <a16:creationId xmlns="" xmlns:a16="http://schemas.microsoft.com/office/drawing/2014/main" id="{B517E7CE-C80C-57B9-6CD2-509946F43843}"/>
              </a:ext>
            </a:extLst>
          </p:cNvPr>
          <p:cNvPicPr>
            <a:picLocks noChangeAspect="1"/>
          </p:cNvPicPr>
          <p:nvPr/>
        </p:nvPicPr>
        <p:blipFill>
          <a:blip r:embed="rId3"/>
          <a:srcRect l="3329" t="3914" r="2226" b="2619"/>
          <a:stretch/>
        </p:blipFill>
        <p:spPr>
          <a:xfrm>
            <a:off x="4225236" y="1040363"/>
            <a:ext cx="3727344" cy="2615032"/>
          </a:xfrm>
          <a:prstGeom prst="rect">
            <a:avLst/>
          </a:prstGeom>
        </p:spPr>
      </p:pic>
      <p:pic>
        <p:nvPicPr>
          <p:cNvPr id="5" name="Рисунок 4"/>
          <p:cNvPicPr>
            <a:picLocks noChangeAspect="1"/>
          </p:cNvPicPr>
          <p:nvPr/>
        </p:nvPicPr>
        <p:blipFill rotWithShape="1">
          <a:blip r:embed="rId4"/>
          <a:srcRect t="4191"/>
          <a:stretch/>
        </p:blipFill>
        <p:spPr>
          <a:xfrm>
            <a:off x="2313708" y="915605"/>
            <a:ext cx="911540" cy="2203764"/>
          </a:xfrm>
          <a:prstGeom prst="rect">
            <a:avLst/>
          </a:prstGeom>
        </p:spPr>
      </p:pic>
      <p:pic>
        <p:nvPicPr>
          <p:cNvPr id="58" name="Рисунок 57">
            <a:extLst>
              <a:ext uri="{FF2B5EF4-FFF2-40B4-BE49-F238E27FC236}">
                <a16:creationId xmlns="" xmlns:a16="http://schemas.microsoft.com/office/drawing/2014/main" id="{D6D133B6-FCC8-4C58-A203-3759379D37EE}"/>
              </a:ext>
            </a:extLst>
          </p:cNvPr>
          <p:cNvPicPr>
            <a:picLocks noChangeAspect="1"/>
          </p:cNvPicPr>
          <p:nvPr/>
        </p:nvPicPr>
        <p:blipFill rotWithShape="1">
          <a:blip r:embed="rId5"/>
          <a:srcRect l="9363" t="10044" r="6469" b="9599"/>
          <a:stretch/>
        </p:blipFill>
        <p:spPr>
          <a:xfrm>
            <a:off x="8205080" y="1170886"/>
            <a:ext cx="3603233" cy="2600707"/>
          </a:xfrm>
          <a:prstGeom prst="rect">
            <a:avLst/>
          </a:prstGeom>
        </p:spPr>
      </p:pic>
      <p:sp>
        <p:nvSpPr>
          <p:cNvPr id="2" name="Google Shape;136;p21">
            <a:extLst>
              <a:ext uri="{FF2B5EF4-FFF2-40B4-BE49-F238E27FC236}">
                <a16:creationId xmlns="" xmlns:a16="http://schemas.microsoft.com/office/drawing/2014/main" id="{1E7CF083-A787-4F48-A93A-E44DFC78373A}"/>
              </a:ext>
            </a:extLst>
          </p:cNvPr>
          <p:cNvSpPr/>
          <p:nvPr/>
        </p:nvSpPr>
        <p:spPr>
          <a:xfrm>
            <a:off x="1619070" y="32347"/>
            <a:ext cx="8953860" cy="62364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3200" b="1" i="0" u="none" strike="noStrike" cap="none" dirty="0">
                <a:solidFill>
                  <a:schemeClr val="lt1"/>
                </a:solidFill>
                <a:latin typeface="Times New Roman"/>
                <a:ea typeface="Arial"/>
                <a:cs typeface="Times New Roman"/>
                <a:sym typeface="Times New Roman"/>
              </a:rPr>
              <a:t>Влияние вибрационных возмущений</a:t>
            </a:r>
            <a:endParaRPr sz="1800" b="0" i="0" u="none" strike="noStrike" cap="none" dirty="0">
              <a:solidFill>
                <a:srgbClr val="000000"/>
              </a:solidFill>
              <a:latin typeface="Arial"/>
              <a:ea typeface="Arial"/>
              <a:cs typeface="Arial"/>
              <a:sym typeface="Arial"/>
            </a:endParaRPr>
          </a:p>
        </p:txBody>
      </p:sp>
      <p:sp>
        <p:nvSpPr>
          <p:cNvPr id="9" name="TextBox 8">
            <a:extLst>
              <a:ext uri="{FF2B5EF4-FFF2-40B4-BE49-F238E27FC236}">
                <a16:creationId xmlns="" xmlns:a16="http://schemas.microsoft.com/office/drawing/2014/main" id="{53A8042C-E52E-4288-B49A-5DABBD83A1A0}"/>
              </a:ext>
            </a:extLst>
          </p:cNvPr>
          <p:cNvSpPr txBox="1"/>
          <p:nvPr/>
        </p:nvSpPr>
        <p:spPr>
          <a:xfrm>
            <a:off x="1639817" y="5000545"/>
            <a:ext cx="4928664"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Разность фаз между плечами интерферометра</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 xmlns:a16="http://schemas.microsoft.com/office/drawing/2014/main" id="{FC228A56-F53C-4040-AA74-A750668FC7D9}"/>
              </a:ext>
            </a:extLst>
          </p:cNvPr>
          <p:cNvSpPr txBox="1"/>
          <p:nvPr/>
        </p:nvSpPr>
        <p:spPr>
          <a:xfrm>
            <a:off x="7971039" y="75798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в</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 xmlns:a16="http://schemas.microsoft.com/office/drawing/2014/main" id="{A5F76187-A348-4512-AFBD-6EA014B794F8}"/>
                  </a:ext>
                </a:extLst>
              </p:cNvPr>
              <p:cNvSpPr txBox="1"/>
              <p:nvPr/>
            </p:nvSpPr>
            <p:spPr>
              <a:xfrm>
                <a:off x="2367955" y="5420807"/>
                <a:ext cx="3198953" cy="363241"/>
              </a:xfrm>
              <a:prstGeom prst="rect">
                <a:avLst/>
              </a:prstGeom>
              <a:noFill/>
              <a:ln w="28575">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ru-RU" sz="1600" i="1" dirty="0" smtClean="0">
                          <a:latin typeface="Cambria Math" panose="02040503050406030204" pitchFamily="18" charset="0"/>
                          <a:sym typeface="Symbol"/>
                        </a:rPr>
                        <m:t></m:t>
                      </m:r>
                      <m:r>
                        <a:rPr lang="ru-RU" sz="1600" i="1" dirty="0" smtClean="0">
                          <a:latin typeface="Cambria Math" panose="02040503050406030204" pitchFamily="18" charset="0"/>
                        </a:rPr>
                        <m:t>Ф=</m:t>
                      </m:r>
                      <m:sSub>
                        <m:sSubPr>
                          <m:ctrlPr>
                            <a:rPr lang="en-US" sz="1600" b="0" i="1" dirty="0" smtClean="0">
                              <a:latin typeface="Cambria Math" panose="02040503050406030204" pitchFamily="18" charset="0"/>
                            </a:rPr>
                          </m:ctrlPr>
                        </m:sSubPr>
                        <m:e>
                          <m:r>
                            <a:rPr lang="en-US" sz="1600" i="1" dirty="0">
                              <a:latin typeface="Cambria Math" panose="02040503050406030204" pitchFamily="18" charset="0"/>
                            </a:rPr>
                            <m:t>2</m:t>
                          </m:r>
                          <m:r>
                            <a:rPr lang="en-US" sz="1600" i="1" dirty="0">
                              <a:latin typeface="Cambria Math" panose="02040503050406030204" pitchFamily="18" charset="0"/>
                            </a:rPr>
                            <m:t>𝜋</m:t>
                          </m:r>
                          <m:sSup>
                            <m:sSupPr>
                              <m:ctrlPr>
                                <a:rPr lang="en-US" sz="1600" i="1" dirty="0">
                                  <a:latin typeface="Cambria Math" panose="02040503050406030204" pitchFamily="18" charset="0"/>
                                </a:rPr>
                              </m:ctrlPr>
                            </m:sSupPr>
                            <m:e>
                              <m:r>
                                <a:rPr lang="en-US" sz="1600" i="1" dirty="0">
                                  <a:latin typeface="Cambria Math" panose="02040503050406030204" pitchFamily="18" charset="0"/>
                                </a:rPr>
                                <m:t>𝛼</m:t>
                              </m:r>
                              <m:r>
                                <a:rPr lang="en-US" sz="1600" i="1" dirty="0">
                                  <a:latin typeface="Cambria Math" panose="02040503050406030204" pitchFamily="18" charset="0"/>
                                </a:rPr>
                                <m:t>𝑇</m:t>
                              </m:r>
                            </m:e>
                            <m:sup>
                              <m:r>
                                <a:rPr lang="en-US" sz="1600" i="1" dirty="0">
                                  <a:latin typeface="Cambria Math" panose="02040503050406030204" pitchFamily="18" charset="0"/>
                                </a:rPr>
                                <m:t>2</m:t>
                              </m:r>
                            </m:sup>
                          </m:sSup>
                          <m:r>
                            <a:rPr lang="en-US" sz="1600" b="0" i="1" dirty="0" smtClean="0">
                              <a:latin typeface="Cambria Math" panose="02040503050406030204" pitchFamily="18" charset="0"/>
                            </a:rPr>
                            <m:t>−</m:t>
                          </m:r>
                          <m:r>
                            <a:rPr lang="en-US" sz="1600" b="0" i="1" dirty="0" smtClean="0">
                              <a:latin typeface="Cambria Math" panose="02040503050406030204" pitchFamily="18" charset="0"/>
                            </a:rPr>
                            <m:t>𝑘</m:t>
                          </m:r>
                        </m:e>
                        <m:sub>
                          <m:r>
                            <a:rPr lang="en-US" sz="1600" b="0" i="1" dirty="0" smtClean="0">
                              <a:latin typeface="Cambria Math" panose="02040503050406030204" pitchFamily="18" charset="0"/>
                            </a:rPr>
                            <m:t>𝑒𝑓𝑓</m:t>
                          </m:r>
                        </m:sub>
                      </m:sSub>
                      <m:r>
                        <a:rPr lang="en-US" sz="1600" i="1" dirty="0" smtClean="0">
                          <a:latin typeface="Cambria Math" panose="02040503050406030204" pitchFamily="18" charset="0"/>
                        </a:rPr>
                        <m:t>𝑔</m:t>
                      </m:r>
                      <m:sSup>
                        <m:sSupPr>
                          <m:ctrlPr>
                            <a:rPr lang="en-US" sz="1600" b="0" i="1" dirty="0" smtClean="0">
                              <a:latin typeface="Cambria Math" panose="02040503050406030204" pitchFamily="18" charset="0"/>
                            </a:rPr>
                          </m:ctrlPr>
                        </m:sSupPr>
                        <m:e>
                          <m:r>
                            <a:rPr lang="en-US" sz="1600" i="1" dirty="0" smtClean="0">
                              <a:latin typeface="Cambria Math" panose="02040503050406030204" pitchFamily="18" charset="0"/>
                            </a:rPr>
                            <m:t>𝑇</m:t>
                          </m:r>
                        </m:e>
                        <m:sup>
                          <m:r>
                            <a:rPr lang="en-US" sz="1600" b="0" i="1" dirty="0" smtClean="0">
                              <a:latin typeface="Cambria Math" panose="02040503050406030204" pitchFamily="18" charset="0"/>
                            </a:rPr>
                            <m:t>2</m:t>
                          </m:r>
                        </m:sup>
                      </m:sSup>
                      <m:r>
                        <a:rPr lang="ru-RU" sz="1600" b="0" i="1" dirty="0" smtClean="0">
                          <a:latin typeface="Cambria Math" panose="02040503050406030204" pitchFamily="18" charset="0"/>
                        </a:rPr>
                        <m:t>+ </m:t>
                      </m:r>
                      <m:sSub>
                        <m:sSubPr>
                          <m:ctrlPr>
                            <a:rPr lang="ru-RU" sz="1600" b="0" i="1" dirty="0" smtClean="0">
                              <a:solidFill>
                                <a:schemeClr val="tx1"/>
                              </a:solidFill>
                              <a:latin typeface="Cambria Math" panose="02040503050406030204" pitchFamily="18" charset="0"/>
                            </a:rPr>
                          </m:ctrlPr>
                        </m:sSubPr>
                        <m:e>
                          <m:r>
                            <a:rPr lang="ru-RU" sz="1600" i="1" dirty="0">
                              <a:solidFill>
                                <a:schemeClr val="tx1"/>
                              </a:solidFill>
                              <a:latin typeface="Cambria Math" panose="02040503050406030204" pitchFamily="18" charset="0"/>
                            </a:rPr>
                            <m:t>Ф</m:t>
                          </m:r>
                        </m:e>
                        <m:sub>
                          <m:r>
                            <a:rPr lang="ru-RU" sz="1600" b="0" i="1" dirty="0" smtClean="0">
                              <a:solidFill>
                                <a:schemeClr val="tx1"/>
                              </a:solidFill>
                              <a:latin typeface="Cambria Math" panose="02040503050406030204" pitchFamily="18" charset="0"/>
                            </a:rPr>
                            <m:t>виб</m:t>
                          </m:r>
                        </m:sub>
                      </m:sSub>
                      <m:r>
                        <a:rPr lang="ru-RU" sz="1600" b="0" i="1" dirty="0" smtClean="0">
                          <a:solidFill>
                            <a:schemeClr val="tx1"/>
                          </a:solidFill>
                          <a:latin typeface="Cambria Math" panose="02040503050406030204" pitchFamily="18" charset="0"/>
                        </a:rPr>
                        <m:t>,</m:t>
                      </m:r>
                    </m:oMath>
                  </m:oMathPara>
                </a14:m>
                <a:endParaRPr lang="ru-RU" sz="1600" dirty="0"/>
              </a:p>
            </p:txBody>
          </p:sp>
        </mc:Choice>
        <mc:Fallback xmlns="">
          <p:sp>
            <p:nvSpPr>
              <p:cNvPr id="15" name="TextBox 14">
                <a:extLst>
                  <a:ext uri="{FF2B5EF4-FFF2-40B4-BE49-F238E27FC236}">
                    <a16:creationId xmlns="" xmlns:a16="http://schemas.microsoft.com/office/drawing/2014/main" xmlns:a14="http://schemas.microsoft.com/office/drawing/2010/main" id="{A5F76187-A348-4512-AFBD-6EA014B794F8}"/>
                  </a:ext>
                </a:extLst>
              </p:cNvPr>
              <p:cNvSpPr txBox="1">
                <a:spLocks noRot="1" noChangeAspect="1" noMove="1" noResize="1" noEditPoints="1" noAdjustHandles="1" noChangeArrowheads="1" noChangeShapeType="1" noTextEdit="1"/>
              </p:cNvSpPr>
              <p:nvPr/>
            </p:nvSpPr>
            <p:spPr>
              <a:xfrm>
                <a:off x="2367955" y="5420807"/>
                <a:ext cx="3198953" cy="363241"/>
              </a:xfrm>
              <a:prstGeom prst="rect">
                <a:avLst/>
              </a:prstGeom>
              <a:blipFill rotWithShape="0">
                <a:blip r:embed="rId6"/>
                <a:stretch>
                  <a:fillRect b="-5000"/>
                </a:stretch>
              </a:blipFill>
              <a:ln w="28575">
                <a:noFill/>
              </a:ln>
            </p:spPr>
            <p:txBody>
              <a:bodyPr/>
              <a:lstStyle/>
              <a:p>
                <a:r>
                  <a:rPr lang="ru-RU">
                    <a:noFill/>
                  </a:rPr>
                  <a:t> </a:t>
                </a:r>
              </a:p>
            </p:txBody>
          </p:sp>
        </mc:Fallback>
      </mc:AlternateContent>
      <p:sp>
        <p:nvSpPr>
          <p:cNvPr id="16" name="TextBox 15"/>
          <p:cNvSpPr txBox="1"/>
          <p:nvPr/>
        </p:nvSpPr>
        <p:spPr>
          <a:xfrm>
            <a:off x="2239246" y="5837018"/>
            <a:ext cx="4185346" cy="1077218"/>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eff</a:t>
            </a:r>
            <a:r>
              <a:rPr lang="en-US" sz="1600" b="1" dirty="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1</a:t>
            </a:r>
            <a:r>
              <a:rPr lang="ru-RU" sz="1600" b="1" baseline="-25000" dirty="0">
                <a:latin typeface="Times New Roman" panose="02020603050405020304" pitchFamily="18" charset="0"/>
                <a:cs typeface="Times New Roman" panose="02020603050405020304" pitchFamily="18" charset="0"/>
              </a:rPr>
              <a:t> </a:t>
            </a:r>
            <a:r>
              <a:rPr lang="ru-RU"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2</a:t>
            </a:r>
            <a:r>
              <a:rPr lang="en-US" sz="1600" b="1"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эффективное волновое число, </a:t>
            </a:r>
            <a:r>
              <a:rPr lang="el-GR" sz="1600" dirty="0">
                <a:latin typeface="Times New Roman" panose="02020603050405020304" pitchFamily="18" charset="0"/>
                <a:cs typeface="Times New Roman" panose="02020603050405020304" pitchFamily="18" charset="0"/>
              </a:rPr>
              <a:t>α</a:t>
            </a:r>
            <a:r>
              <a:rPr lang="ru-RU" sz="1600" dirty="0">
                <a:latin typeface="Times New Roman" panose="02020603050405020304" pitchFamily="18" charset="0"/>
                <a:cs typeface="Times New Roman" panose="02020603050405020304" pitchFamily="18" charset="0"/>
              </a:rPr>
              <a:t> – скорость чирпирования, </a:t>
            </a:r>
            <a:r>
              <a:rPr lang="ru-RU" sz="1600" dirty="0" err="1">
                <a:latin typeface="Times New Roman" panose="02020603050405020304" pitchFamily="18" charset="0"/>
                <a:cs typeface="Times New Roman" panose="02020603050405020304" pitchFamily="18" charset="0"/>
              </a:rPr>
              <a:t>Ф</a:t>
            </a:r>
            <a:r>
              <a:rPr lang="ru-RU" sz="1600" baseline="-25000" dirty="0" err="1">
                <a:latin typeface="Times New Roman" panose="02020603050405020304" pitchFamily="18" charset="0"/>
                <a:cs typeface="Times New Roman" panose="02020603050405020304" pitchFamily="18" charset="0"/>
              </a:rPr>
              <a:t>виб</a:t>
            </a:r>
            <a:r>
              <a:rPr lang="ru-RU" sz="1600" dirty="0">
                <a:latin typeface="Times New Roman" panose="02020603050405020304" pitchFamily="18" charset="0"/>
                <a:cs typeface="Times New Roman" panose="02020603050405020304" pitchFamily="18" charset="0"/>
              </a:rPr>
              <a:t> – вибрационная фаза</a:t>
            </a:r>
            <a:r>
              <a:rPr lang="en-US" sz="1600" dirty="0">
                <a:latin typeface="Times New Roman" panose="02020603050405020304" pitchFamily="18" charset="0"/>
                <a:cs typeface="Times New Roman" panose="02020603050405020304" pitchFamily="18" charset="0"/>
              </a:rPr>
              <a:t>;</a:t>
            </a:r>
            <a:endParaRPr lang="ru-RU"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  </a:t>
            </a:r>
            <a:endParaRPr lang="ru-RU" sz="1600" b="1" dirty="0">
              <a:latin typeface="Times New Roman" panose="02020603050405020304" pitchFamily="18" charset="0"/>
              <a:cs typeface="Times New Roman" panose="02020603050405020304" pitchFamily="18" charset="0"/>
            </a:endParaRPr>
          </a:p>
        </p:txBody>
      </p:sp>
      <p:sp>
        <p:nvSpPr>
          <p:cNvPr id="20" name="Google Shape;139;p21">
            <a:extLst>
              <a:ext uri="{FF2B5EF4-FFF2-40B4-BE49-F238E27FC236}">
                <a16:creationId xmlns="" xmlns:a16="http://schemas.microsoft.com/office/drawing/2014/main" id="{B7A8C424-1497-4145-B7C5-C8EA445193E9}"/>
              </a:ext>
            </a:extLst>
          </p:cNvPr>
          <p:cNvSpPr txBox="1"/>
          <p:nvPr/>
        </p:nvSpPr>
        <p:spPr>
          <a:xfrm>
            <a:off x="908268" y="4389140"/>
            <a:ext cx="10790908" cy="584735"/>
          </a:xfrm>
          <a:prstGeom prst="rect">
            <a:avLst/>
          </a:prstGeom>
          <a:noFill/>
          <a:ln>
            <a:noFill/>
          </a:ln>
        </p:spPr>
        <p:txBody>
          <a:bodyPr spcFirstLastPara="1" wrap="square" lIns="91425" tIns="45700" rIns="91425" bIns="45700" anchor="t" anchorCtr="0">
            <a:spAutoFit/>
          </a:bodyPr>
          <a:lstStyle/>
          <a:p>
            <a:pPr lvl="0" algn="ctr">
              <a:buSzPts val="1600"/>
            </a:pPr>
            <a:r>
              <a:rPr lang="ru-RU" sz="1600" b="0" i="0" u="none" strike="noStrike" cap="none" dirty="0">
                <a:solidFill>
                  <a:srgbClr val="000000"/>
                </a:solidFill>
                <a:latin typeface="Times New Roman"/>
                <a:ea typeface="Times New Roman"/>
                <a:cs typeface="Times New Roman"/>
                <a:sym typeface="Times New Roman"/>
              </a:rPr>
              <a:t>Рис. </a:t>
            </a:r>
            <a:r>
              <a:rPr lang="ru-RU" sz="1600" dirty="0">
                <a:latin typeface="Times New Roman"/>
                <a:ea typeface="Times New Roman"/>
                <a:cs typeface="Times New Roman"/>
                <a:sym typeface="Times New Roman"/>
              </a:rPr>
              <a:t>6</a:t>
            </a:r>
            <a:r>
              <a:rPr lang="ru-RU" sz="1600" b="0" i="0" u="none" strike="noStrike" cap="none" dirty="0">
                <a:solidFill>
                  <a:srgbClr val="000000"/>
                </a:solidFill>
                <a:latin typeface="Times New Roman"/>
                <a:ea typeface="Times New Roman"/>
                <a:cs typeface="Times New Roman"/>
                <a:sym typeface="Times New Roman"/>
              </a:rPr>
              <a:t>. Демонстрация влияни</a:t>
            </a:r>
            <a:r>
              <a:rPr lang="ru-RU" sz="1600" dirty="0">
                <a:latin typeface="Times New Roman"/>
                <a:ea typeface="Times New Roman"/>
                <a:cs typeface="Times New Roman"/>
                <a:sym typeface="Times New Roman"/>
              </a:rPr>
              <a:t>я вибраций зеркала на фазу лазерного излучения</a:t>
            </a:r>
            <a:r>
              <a:rPr lang="ru-RU" sz="1600" b="0" i="0" u="none" strike="noStrike" cap="none" dirty="0">
                <a:solidFill>
                  <a:srgbClr val="000000"/>
                </a:solidFill>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иллюстрация принципа работы атомного интерферометра в гравитационном поле</a:t>
            </a:r>
            <a:r>
              <a:rPr lang="en-US" sz="1600" dirty="0">
                <a:latin typeface="Times New Roman"/>
                <a:ea typeface="Times New Roman"/>
                <a:cs typeface="Times New Roman"/>
                <a:sym typeface="Times New Roman"/>
              </a:rPr>
              <a:t> </a:t>
            </a:r>
            <a:r>
              <a:rPr lang="ru-RU" sz="1600" b="0" i="0" u="none" strike="noStrike" cap="none" dirty="0">
                <a:solidFill>
                  <a:srgbClr val="000000"/>
                </a:solidFill>
                <a:latin typeface="Times New Roman"/>
                <a:ea typeface="Times New Roman"/>
                <a:cs typeface="Times New Roman"/>
                <a:sym typeface="Times New Roman"/>
              </a:rPr>
              <a:t>(б), </a:t>
            </a:r>
            <a:r>
              <a:rPr lang="ru-RU" sz="1600" dirty="0">
                <a:latin typeface="Times New Roman"/>
                <a:ea typeface="Times New Roman"/>
                <a:cs typeface="Times New Roman"/>
                <a:sym typeface="Times New Roman"/>
              </a:rPr>
              <a:t>демонстрация смешения интерференционной картины из-за вибрация</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в</a:t>
            </a:r>
            <a:r>
              <a:rPr lang="en-US" sz="1600" dirty="0">
                <a:latin typeface="Times New Roman"/>
                <a:ea typeface="Times New Roman"/>
                <a:cs typeface="Times New Roman"/>
                <a:sym typeface="Times New Roman"/>
              </a:rPr>
              <a:t>)</a:t>
            </a:r>
            <a:r>
              <a:rPr lang="ru-RU" sz="1600" dirty="0">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p:txBody>
      </p:sp>
      <p:sp>
        <p:nvSpPr>
          <p:cNvPr id="25" name="TextBox 24">
            <a:extLst>
              <a:ext uri="{FF2B5EF4-FFF2-40B4-BE49-F238E27FC236}">
                <a16:creationId xmlns="" xmlns:a16="http://schemas.microsoft.com/office/drawing/2014/main" id="{C7C7F885-9814-4E89-91F6-B6347CA79E74}"/>
              </a:ext>
            </a:extLst>
          </p:cNvPr>
          <p:cNvSpPr txBox="1"/>
          <p:nvPr/>
        </p:nvSpPr>
        <p:spPr>
          <a:xfrm>
            <a:off x="11571298" y="6440400"/>
            <a:ext cx="510074" cy="307777"/>
          </a:xfrm>
          <a:prstGeom prst="rect">
            <a:avLst/>
          </a:prstGeom>
          <a:noFill/>
        </p:spPr>
        <p:txBody>
          <a:bodyPr wrap="square" rtlCol="0">
            <a:spAutoFit/>
          </a:bodyPr>
          <a:lstStyle/>
          <a:p>
            <a:r>
              <a:rPr lang="ru-RU" dirty="0"/>
              <a:t> 7</a:t>
            </a:r>
          </a:p>
        </p:txBody>
      </p:sp>
      <p:sp>
        <p:nvSpPr>
          <p:cNvPr id="13" name="TextBox 12">
            <a:extLst>
              <a:ext uri="{FF2B5EF4-FFF2-40B4-BE49-F238E27FC236}">
                <a16:creationId xmlns="" xmlns:a16="http://schemas.microsoft.com/office/drawing/2014/main" id="{FC228A56-F53C-4040-AA74-A750668FC7D9}"/>
              </a:ext>
            </a:extLst>
          </p:cNvPr>
          <p:cNvSpPr txBox="1"/>
          <p:nvPr/>
        </p:nvSpPr>
        <p:spPr>
          <a:xfrm>
            <a:off x="1392699" y="768545"/>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1F084374-756E-4C7D-93D4-4F9875A29030}"/>
                  </a:ext>
                </a:extLst>
              </p:cNvPr>
              <p:cNvSpPr txBox="1"/>
              <p:nvPr/>
            </p:nvSpPr>
            <p:spPr>
              <a:xfrm>
                <a:off x="2421985" y="2540296"/>
                <a:ext cx="27122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ru-RU" sz="1600" i="1" smtClean="0">
                          <a:latin typeface="Cambria Math" panose="02040503050406030204" pitchFamily="18" charset="0"/>
                          <a:ea typeface="Cambria Math" panose="02040503050406030204" pitchFamily="18" charset="0"/>
                        </a:rPr>
                        <m:t>𝛿</m:t>
                      </m:r>
                      <m:r>
                        <a:rPr lang="en-US" sz="1600" b="0" i="1" smtClean="0">
                          <a:latin typeface="Cambria Math" panose="02040503050406030204" pitchFamily="18" charset="0"/>
                          <a:ea typeface="Cambria Math" panose="02040503050406030204" pitchFamily="18" charset="0"/>
                        </a:rPr>
                        <m:t>𝑧</m:t>
                      </m:r>
                    </m:oMath>
                  </m:oMathPara>
                </a14:m>
                <a:endParaRPr lang="ru-RU" sz="1600" dirty="0"/>
              </a:p>
            </p:txBody>
          </p:sp>
        </mc:Choice>
        <mc:Fallback xmlns="">
          <p:sp>
            <p:nvSpPr>
              <p:cNvPr id="8" name="TextBox 7">
                <a:extLst>
                  <a:ext uri="{FF2B5EF4-FFF2-40B4-BE49-F238E27FC236}">
                    <a16:creationId xmlns="" xmlns:a16="http://schemas.microsoft.com/office/drawing/2014/main" xmlns:a14="http://schemas.microsoft.com/office/drawing/2010/main" id="{1F084374-756E-4C7D-93D4-4F9875A29030}"/>
                  </a:ext>
                </a:extLst>
              </p:cNvPr>
              <p:cNvSpPr txBox="1">
                <a:spLocks noRot="1" noChangeAspect="1" noMove="1" noResize="1" noEditPoints="1" noAdjustHandles="1" noChangeArrowheads="1" noChangeShapeType="1" noTextEdit="1"/>
              </p:cNvSpPr>
              <p:nvPr/>
            </p:nvSpPr>
            <p:spPr>
              <a:xfrm>
                <a:off x="2421985" y="2540296"/>
                <a:ext cx="271228" cy="246221"/>
              </a:xfrm>
              <a:prstGeom prst="rect">
                <a:avLst/>
              </a:prstGeom>
              <a:blipFill rotWithShape="0">
                <a:blip r:embed="rId7"/>
                <a:stretch>
                  <a:fillRect l="-15556" r="-6667" b="-1000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 xmlns:a16="http://schemas.microsoft.com/office/drawing/2014/main" id="{75AB15FA-B823-45BE-9719-060BB92C4C75}"/>
                  </a:ext>
                </a:extLst>
              </p:cNvPr>
              <p:cNvSpPr txBox="1"/>
              <p:nvPr/>
            </p:nvSpPr>
            <p:spPr>
              <a:xfrm>
                <a:off x="2156394" y="3445722"/>
                <a:ext cx="1226168" cy="2659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ru-RU" sz="1600" i="1" smtClean="0">
                          <a:latin typeface="Cambria Math" panose="02040503050406030204" pitchFamily="18" charset="0"/>
                          <a:ea typeface="Cambria Math" panose="02040503050406030204" pitchFamily="18" charset="0"/>
                        </a:rPr>
                        <m:t>𝛿</m:t>
                      </m:r>
                      <m:r>
                        <a:rPr lang="en-US" sz="1600" i="1" smtClean="0">
                          <a:latin typeface="Cambria Math" panose="02040503050406030204" pitchFamily="18" charset="0"/>
                          <a:ea typeface="Cambria Math" panose="02040503050406030204" pitchFamily="18" charset="0"/>
                        </a:rPr>
                        <m:t>𝜑</m:t>
                      </m:r>
                      <m:r>
                        <a:rPr lang="en-US" sz="1600" b="0" i="1" smtClean="0">
                          <a:latin typeface="Cambria Math" panose="02040503050406030204" pitchFamily="18" charset="0"/>
                          <a:ea typeface="Cambria Math" panose="02040503050406030204" pitchFamily="18" charset="0"/>
                        </a:rPr>
                        <m:t>= </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𝑘</m:t>
                          </m:r>
                        </m:e>
                        <m:sub>
                          <m:r>
                            <a:rPr lang="en-US" sz="1600" b="0" i="1" smtClean="0">
                              <a:latin typeface="Cambria Math" panose="02040503050406030204" pitchFamily="18" charset="0"/>
                              <a:ea typeface="Cambria Math" panose="02040503050406030204" pitchFamily="18" charset="0"/>
                            </a:rPr>
                            <m:t>𝑒𝑓𝑓</m:t>
                          </m:r>
                        </m:sub>
                      </m:sSub>
                      <m:r>
                        <a:rPr lang="ru-RU" sz="1600" i="1">
                          <a:latin typeface="Cambria Math" panose="02040503050406030204" pitchFamily="18" charset="0"/>
                          <a:ea typeface="Cambria Math" panose="02040503050406030204" pitchFamily="18" charset="0"/>
                        </a:rPr>
                        <m:t>𝛿</m:t>
                      </m:r>
                      <m:r>
                        <a:rPr lang="en-US" sz="1600" i="1">
                          <a:latin typeface="Cambria Math" panose="02040503050406030204" pitchFamily="18" charset="0"/>
                          <a:ea typeface="Cambria Math" panose="02040503050406030204" pitchFamily="18" charset="0"/>
                        </a:rPr>
                        <m:t>𝑧</m:t>
                      </m:r>
                    </m:oMath>
                  </m:oMathPara>
                </a14:m>
                <a:endParaRPr lang="ru-RU" sz="1600" dirty="0"/>
              </a:p>
            </p:txBody>
          </p:sp>
        </mc:Choice>
        <mc:Fallback xmlns="">
          <p:sp>
            <p:nvSpPr>
              <p:cNvPr id="39" name="TextBox 38">
                <a:extLst>
                  <a:ext uri="{FF2B5EF4-FFF2-40B4-BE49-F238E27FC236}">
                    <a16:creationId xmlns:a16="http://schemas.microsoft.com/office/drawing/2014/main" xmlns:a14="http://schemas.microsoft.com/office/drawing/2010/main" xmlns="" id="{75AB15FA-B823-45BE-9719-060BB92C4C75}"/>
                  </a:ext>
                </a:extLst>
              </p:cNvPr>
              <p:cNvSpPr txBox="1">
                <a:spLocks noRot="1" noChangeAspect="1" noMove="1" noResize="1" noEditPoints="1" noAdjustHandles="1" noChangeArrowheads="1" noChangeShapeType="1" noTextEdit="1"/>
              </p:cNvSpPr>
              <p:nvPr/>
            </p:nvSpPr>
            <p:spPr>
              <a:xfrm>
                <a:off x="2156394" y="3445722"/>
                <a:ext cx="1226168" cy="265970"/>
              </a:xfrm>
              <a:prstGeom prst="rect">
                <a:avLst/>
              </a:prstGeom>
              <a:blipFill rotWithShape="0">
                <a:blip r:embed="rId8"/>
                <a:stretch>
                  <a:fillRect l="-2985" r="-995" b="-25000"/>
                </a:stretch>
              </a:blipFill>
            </p:spPr>
            <p:txBody>
              <a:bodyPr/>
              <a:lstStyle/>
              <a:p>
                <a:r>
                  <a:rPr lang="ru-RU">
                    <a:noFill/>
                  </a:rPr>
                  <a:t> </a:t>
                </a:r>
              </a:p>
            </p:txBody>
          </p:sp>
        </mc:Fallback>
      </mc:AlternateContent>
      <p:sp>
        <p:nvSpPr>
          <p:cNvPr id="40" name="TextBox 39">
            <a:extLst>
              <a:ext uri="{FF2B5EF4-FFF2-40B4-BE49-F238E27FC236}">
                <a16:creationId xmlns="" xmlns:a16="http://schemas.microsoft.com/office/drawing/2014/main" id="{3DE66B3E-91DE-4731-B98D-DD8CA74B0925}"/>
              </a:ext>
            </a:extLst>
          </p:cNvPr>
          <p:cNvSpPr txBox="1"/>
          <p:nvPr/>
        </p:nvSpPr>
        <p:spPr>
          <a:xfrm>
            <a:off x="1920629" y="3097228"/>
            <a:ext cx="1697699"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Набег фазы</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 xmlns:a16="http://schemas.microsoft.com/office/drawing/2014/main" id="{05B47A22-8C1F-491D-8F65-97B9F142E382}"/>
              </a:ext>
            </a:extLst>
          </p:cNvPr>
          <p:cNvSpPr txBox="1"/>
          <p:nvPr/>
        </p:nvSpPr>
        <p:spPr>
          <a:xfrm>
            <a:off x="3990271" y="768545"/>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 xmlns:a16="http://schemas.microsoft.com/office/drawing/2014/main" id="{21842DF5-87AF-4AFA-A45C-0EC2908FA86D}"/>
                  </a:ext>
                </a:extLst>
              </p:cNvPr>
              <p:cNvSpPr txBox="1"/>
              <p:nvPr/>
            </p:nvSpPr>
            <p:spPr>
              <a:xfrm>
                <a:off x="8981319" y="3824494"/>
                <a:ext cx="2050754" cy="626325"/>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xmlns="">
          <p:sp>
            <p:nvSpPr>
              <p:cNvPr id="22" name="TextBox 21">
                <a:extLst>
                  <a:ext uri="{FF2B5EF4-FFF2-40B4-BE49-F238E27FC236}">
                    <a16:creationId xmlns="" xmlns:a16="http://schemas.microsoft.com/office/drawing/2014/main" xmlns:a14="http://schemas.microsoft.com/office/drawing/2010/main" id="{21842DF5-87AF-4AFA-A45C-0EC2908FA86D}"/>
                  </a:ext>
                </a:extLst>
              </p:cNvPr>
              <p:cNvSpPr txBox="1">
                <a:spLocks noRot="1" noChangeAspect="1" noMove="1" noResize="1" noEditPoints="1" noAdjustHandles="1" noChangeArrowheads="1" noChangeShapeType="1" noTextEdit="1"/>
              </p:cNvSpPr>
              <p:nvPr/>
            </p:nvSpPr>
            <p:spPr>
              <a:xfrm>
                <a:off x="8981319" y="3824494"/>
                <a:ext cx="2050754" cy="626325"/>
              </a:xfrm>
              <a:prstGeom prst="rect">
                <a:avLst/>
              </a:prstGeom>
              <a:blipFill rotWithShape="0">
                <a:blip r:embed="rId9"/>
                <a:stretch>
                  <a:fillRect/>
                </a:stretch>
              </a:blipFill>
              <a:ln w="28575">
                <a:solidFill>
                  <a:srgbClr val="FF0000"/>
                </a:solidFill>
              </a:ln>
            </p:spPr>
            <p:txBody>
              <a:bodyPr/>
              <a:lstStyle/>
              <a:p>
                <a:r>
                  <a:rPr lang="ru-RU">
                    <a:noFill/>
                  </a:rPr>
                  <a:t> </a:t>
                </a:r>
              </a:p>
            </p:txBody>
          </p:sp>
        </mc:Fallback>
      </mc:AlternateContent>
      <p:sp>
        <p:nvSpPr>
          <p:cNvPr id="18" name="TextBox 17">
            <a:extLst>
              <a:ext uri="{FF2B5EF4-FFF2-40B4-BE49-F238E27FC236}">
                <a16:creationId xmlns="" xmlns:a16="http://schemas.microsoft.com/office/drawing/2014/main" id="{53A8042C-E52E-4288-B49A-5DABBD83A1A0}"/>
              </a:ext>
            </a:extLst>
          </p:cNvPr>
          <p:cNvSpPr txBox="1"/>
          <p:nvPr/>
        </p:nvSpPr>
        <p:spPr>
          <a:xfrm>
            <a:off x="8205080" y="5000545"/>
            <a:ext cx="2704174"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Нахождение </a:t>
            </a:r>
            <a:r>
              <a:rPr lang="ru-RU" sz="1600" b="1" dirty="0" err="1">
                <a:latin typeface="Times New Roman" panose="02020603050405020304" pitchFamily="18" charset="0"/>
                <a:cs typeface="Times New Roman" panose="02020603050405020304" pitchFamily="18" charset="0"/>
              </a:rPr>
              <a:t>Ф</a:t>
            </a:r>
            <a:r>
              <a:rPr lang="ru-RU" sz="1600" b="1" baseline="-25000" dirty="0" err="1">
                <a:latin typeface="Times New Roman" panose="02020603050405020304" pitchFamily="18" charset="0"/>
                <a:cs typeface="Times New Roman" panose="02020603050405020304" pitchFamily="18" charset="0"/>
              </a:rPr>
              <a:t>виб</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 xmlns:a16="http://schemas.microsoft.com/office/drawing/2014/main" id="{656B4533-F1DA-4E4E-8C53-BCC6CEFB8E14}"/>
                  </a:ext>
                </a:extLst>
              </p:cNvPr>
              <p:cNvSpPr txBox="1"/>
              <p:nvPr/>
            </p:nvSpPr>
            <p:spPr>
              <a:xfrm>
                <a:off x="8097449" y="5365769"/>
                <a:ext cx="3269005" cy="334515"/>
              </a:xfrm>
              <a:prstGeom prst="rect">
                <a:avLst/>
              </a:prstGeom>
              <a:noFill/>
              <a:ln w="19050">
                <a:noFill/>
              </a:ln>
            </p:spPr>
            <p:txBody>
              <a:bodyPr wrap="square" lIns="0" tIns="0" rIns="0" bIns="0" rtlCol="0">
                <a:spAutoFit/>
              </a:bodyPr>
              <a:lstStyle/>
              <a:p>
                <a14:m>
                  <m:oMath xmlns:m="http://schemas.openxmlformats.org/officeDocument/2006/math">
                    <m:sSub>
                      <m:sSubPr>
                        <m:ctrlPr>
                          <a:rPr lang="ru-RU" sz="1600" i="1" dirty="0" smtClean="0">
                            <a:solidFill>
                              <a:schemeClr val="tx1"/>
                            </a:solidFill>
                            <a:latin typeface="Cambria Math" panose="02040503050406030204" pitchFamily="18" charset="0"/>
                          </a:rPr>
                        </m:ctrlPr>
                      </m:sSubPr>
                      <m:e>
                        <m:r>
                          <a:rPr lang="ru-RU" sz="1600" i="1" dirty="0">
                            <a:solidFill>
                              <a:schemeClr val="tx1"/>
                            </a:solidFill>
                            <a:latin typeface="Cambria Math" panose="02040503050406030204" pitchFamily="18" charset="0"/>
                          </a:rPr>
                          <m:t>Ф</m:t>
                        </m:r>
                      </m:e>
                      <m:sub>
                        <m:r>
                          <a:rPr lang="ru-RU" sz="1600" i="1" dirty="0">
                            <a:solidFill>
                              <a:schemeClr val="tx1"/>
                            </a:solidFill>
                            <a:latin typeface="Cambria Math" panose="02040503050406030204" pitchFamily="18" charset="0"/>
                          </a:rPr>
                          <m:t>виб</m:t>
                        </m:r>
                      </m:sub>
                    </m:sSub>
                    <m:r>
                      <a:rPr lang="ru-RU" sz="1600" b="0" i="1" smtClean="0">
                        <a:latin typeface="Cambria Math" panose="02040503050406030204" pitchFamily="18" charset="0"/>
                        <a:ea typeface="Cambria Math" panose="02040503050406030204" pitchFamily="18" charset="0"/>
                      </a:rPr>
                      <m:t>=</m:t>
                    </m:r>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𝑘</m:t>
                        </m:r>
                      </m:e>
                      <m:sub>
                        <m:r>
                          <a:rPr lang="en-US" sz="1600" b="0" i="1" smtClean="0">
                            <a:latin typeface="Cambria Math" panose="02040503050406030204" pitchFamily="18" charset="0"/>
                            <a:ea typeface="Cambria Math" panose="02040503050406030204" pitchFamily="18" charset="0"/>
                          </a:rPr>
                          <m:t>𝑒𝑓𝑓</m:t>
                        </m:r>
                      </m:sub>
                    </m:sSub>
                    <m:nary>
                      <m:naryPr>
                        <m:ctrlPr>
                          <a:rPr lang="ru-RU" sz="1600" b="0" i="1" smtClean="0">
                            <a:latin typeface="Cambria Math" panose="02040503050406030204" pitchFamily="18" charset="0"/>
                            <a:ea typeface="Cambria Math" panose="02040503050406030204" pitchFamily="18" charset="0"/>
                          </a:rPr>
                        </m:ctrlPr>
                      </m:naryPr>
                      <m:sub>
                        <m:r>
                          <m:rPr>
                            <m:brk m:alnAt="23"/>
                          </m:rPr>
                          <a:rPr lang="en-US" sz="1600" b="0" i="1" smtClean="0">
                            <a:latin typeface="Cambria Math" panose="02040503050406030204" pitchFamily="18" charset="0"/>
                            <a:ea typeface="Cambria Math" panose="02040503050406030204" pitchFamily="18" charset="0"/>
                          </a:rPr>
                          <m:t>0</m:t>
                        </m:r>
                      </m:sub>
                      <m:sup>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𝑇</m:t>
                            </m:r>
                          </m:e>
                          <m:sub>
                            <m:r>
                              <a:rPr lang="ru-RU" sz="1600" b="0" i="1" smtClean="0">
                                <a:latin typeface="Cambria Math" panose="02040503050406030204" pitchFamily="18" charset="0"/>
                                <a:ea typeface="Cambria Math" panose="02040503050406030204" pitchFamily="18" charset="0"/>
                              </a:rPr>
                              <m:t>инт</m:t>
                            </m:r>
                          </m:sub>
                        </m:sSub>
                      </m:sup>
                      <m:e>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𝑎</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𝑔</m:t>
                            </m:r>
                          </m:e>
                          <m:sub>
                            <m:r>
                              <a:rPr lang="en-US" sz="1600" b="0" i="1" smtClean="0">
                                <a:latin typeface="Cambria Math" panose="02040503050406030204" pitchFamily="18" charset="0"/>
                                <a:ea typeface="Cambria Math" panose="02040503050406030204" pitchFamily="18" charset="0"/>
                              </a:rPr>
                              <m:t>𝑎</m:t>
                            </m:r>
                          </m:sub>
                        </m:sSub>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𝑑𝑡</m:t>
                        </m:r>
                        <m:r>
                          <a:rPr lang="ru-RU" sz="1600" b="0" i="1" smtClean="0">
                            <a:latin typeface="Cambria Math" panose="02040503050406030204" pitchFamily="18" charset="0"/>
                            <a:ea typeface="Cambria Math" panose="02040503050406030204" pitchFamily="18" charset="0"/>
                          </a:rPr>
                          <m:t>,</m:t>
                        </m:r>
                      </m:e>
                    </m:nary>
                  </m:oMath>
                </a14:m>
                <a:r>
                  <a:rPr lang="ru-RU" sz="1600" dirty="0"/>
                  <a:t> </a:t>
                </a:r>
              </a:p>
            </p:txBody>
          </p:sp>
        </mc:Choice>
        <mc:Fallback xmlns="">
          <p:sp>
            <p:nvSpPr>
              <p:cNvPr id="19" name="TextBox 18">
                <a:extLst>
                  <a:ext uri="{FF2B5EF4-FFF2-40B4-BE49-F238E27FC236}">
                    <a16:creationId xmlns="" xmlns:a16="http://schemas.microsoft.com/office/drawing/2014/main" xmlns:a14="http://schemas.microsoft.com/office/drawing/2010/main" id="{656B4533-F1DA-4E4E-8C53-BCC6CEFB8E14}"/>
                  </a:ext>
                </a:extLst>
              </p:cNvPr>
              <p:cNvSpPr txBox="1">
                <a:spLocks noRot="1" noChangeAspect="1" noMove="1" noResize="1" noEditPoints="1" noAdjustHandles="1" noChangeArrowheads="1" noChangeShapeType="1" noTextEdit="1"/>
              </p:cNvSpPr>
              <p:nvPr/>
            </p:nvSpPr>
            <p:spPr>
              <a:xfrm>
                <a:off x="8097449" y="5365769"/>
                <a:ext cx="3269005" cy="334515"/>
              </a:xfrm>
              <a:prstGeom prst="rect">
                <a:avLst/>
              </a:prstGeom>
              <a:blipFill rotWithShape="0">
                <a:blip r:embed="rId10"/>
                <a:stretch>
                  <a:fillRect l="-2235" t="-140000" b="-220000"/>
                </a:stretch>
              </a:blipFill>
              <a:ln w="19050">
                <a:noFill/>
              </a:ln>
            </p:spPr>
            <p:txBody>
              <a:bodyPr/>
              <a:lstStyle/>
              <a:p>
                <a:r>
                  <a:rPr lang="ru-RU">
                    <a:noFill/>
                  </a:rPr>
                  <a:t> </a:t>
                </a:r>
              </a:p>
            </p:txBody>
          </p:sp>
        </mc:Fallback>
      </mc:AlternateContent>
      <p:sp>
        <p:nvSpPr>
          <p:cNvPr id="21" name="TextBox 20">
            <a:extLst>
              <a:ext uri="{FF2B5EF4-FFF2-40B4-BE49-F238E27FC236}">
                <a16:creationId xmlns="" xmlns:a16="http://schemas.microsoft.com/office/drawing/2014/main" id="{E0F4C38C-6509-4CBE-B2EB-9C3DBDE6CBCF}"/>
              </a:ext>
            </a:extLst>
          </p:cNvPr>
          <p:cNvSpPr txBox="1"/>
          <p:nvPr/>
        </p:nvSpPr>
        <p:spPr>
          <a:xfrm>
            <a:off x="7382529" y="5837018"/>
            <a:ext cx="4698843" cy="830997"/>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 </a:t>
            </a:r>
            <a:r>
              <a:rPr lang="ru-RU" sz="1600" dirty="0">
                <a:latin typeface="Times New Roman" panose="02020603050405020304" pitchFamily="18" charset="0"/>
                <a:cs typeface="Times New Roman" panose="02020603050405020304" pitchFamily="18" charset="0"/>
              </a:rPr>
              <a:t>– ускорение зеркала, </a:t>
            </a:r>
            <a:r>
              <a:rPr lang="en-US" sz="1600" dirty="0">
                <a:latin typeface="Times New Roman" panose="02020603050405020304" pitchFamily="18" charset="0"/>
                <a:cs typeface="Times New Roman" panose="02020603050405020304" pitchFamily="18" charset="0"/>
              </a:rPr>
              <a:t>T</a:t>
            </a:r>
            <a:r>
              <a:rPr lang="ru-RU" sz="1600" baseline="-25000" dirty="0" err="1">
                <a:latin typeface="Times New Roman" panose="02020603050405020304" pitchFamily="18" charset="0"/>
                <a:cs typeface="Times New Roman" panose="02020603050405020304" pitchFamily="18" charset="0"/>
              </a:rPr>
              <a:t>инт</a:t>
            </a:r>
            <a:r>
              <a:rPr lang="ru-RU" sz="1600" dirty="0">
                <a:latin typeface="Times New Roman" panose="02020603050405020304" pitchFamily="18" charset="0"/>
                <a:cs typeface="Times New Roman" panose="02020603050405020304" pitchFamily="18" charset="0"/>
              </a:rPr>
              <a:t> – время атомной интерференции, </a:t>
            </a:r>
            <a:r>
              <a:rPr lang="en-US" sz="1600" dirty="0" err="1">
                <a:latin typeface="Times New Roman" panose="02020603050405020304" pitchFamily="18" charset="0"/>
                <a:cs typeface="Times New Roman" panose="02020603050405020304" pitchFamily="18" charset="0"/>
              </a:rPr>
              <a:t>g</a:t>
            </a:r>
            <a:r>
              <a:rPr lang="en-US" sz="1600" baseline="-25000" dirty="0" err="1">
                <a:latin typeface="Times New Roman" panose="02020603050405020304" pitchFamily="18" charset="0"/>
                <a:cs typeface="Times New Roman" panose="02020603050405020304" pitchFamily="18" charset="0"/>
              </a:rPr>
              <a:t>a</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функция чувствительность гравиметра. </a:t>
            </a:r>
          </a:p>
        </p:txBody>
      </p:sp>
    </p:spTree>
    <p:extLst>
      <p:ext uri="{BB962C8B-B14F-4D97-AF65-F5344CB8AC3E}">
        <p14:creationId xmlns:p14="http://schemas.microsoft.com/office/powerpoint/2010/main" val="3660272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8847AD4A-9428-117F-629B-822110272D8B}"/>
              </a:ext>
            </a:extLst>
          </p:cNvPr>
          <p:cNvSpPr txBox="1"/>
          <p:nvPr/>
        </p:nvSpPr>
        <p:spPr>
          <a:xfrm>
            <a:off x="2540000" y="677333"/>
            <a:ext cx="6409267" cy="3539430"/>
          </a:xfrm>
          <a:prstGeom prst="rect">
            <a:avLst/>
          </a:prstGeom>
          <a:noFill/>
        </p:spPr>
        <p:txBody>
          <a:bodyPr wrap="square" rtlCol="0">
            <a:spAutoFit/>
          </a:bodyPr>
          <a:lstStyle/>
          <a:p>
            <a:r>
              <a:rPr lang="ru-RU" dirty="0"/>
              <a:t>Также в работе было проведено исследование по компенсации вибрационных шумов. </a:t>
            </a:r>
          </a:p>
          <a:p>
            <a:endParaRPr lang="ru-RU" dirty="0"/>
          </a:p>
          <a:p>
            <a:r>
              <a:rPr lang="ru-RU" dirty="0"/>
              <a:t>Во время атомной интерференции вибрации зеркала приводят к набегу фазы рамановского излучения. Это в свою очередь приводит к паразитному фазовому сдвигу в интерференционной картине </a:t>
            </a:r>
            <a:r>
              <a:rPr lang="ru-RU" dirty="0" err="1"/>
              <a:t>Фвиб</a:t>
            </a:r>
            <a:r>
              <a:rPr lang="ru-RU" dirty="0"/>
              <a:t>. </a:t>
            </a:r>
          </a:p>
          <a:p>
            <a:endParaRPr lang="ru-RU" dirty="0"/>
          </a:p>
          <a:p>
            <a:r>
              <a:rPr lang="ru-RU" dirty="0"/>
              <a:t>Данный сдвиг может быть скорректирован исходя из следующего выражения, для вычисление которого необходимо знать ускорение зеркала на протяжении всего процесса атомной интерференции.</a:t>
            </a:r>
          </a:p>
          <a:p>
            <a:endParaRPr lang="ru-RU" dirty="0"/>
          </a:p>
          <a:p>
            <a:endParaRPr lang="ru-RU" dirty="0"/>
          </a:p>
          <a:p>
            <a:endParaRPr lang="ru-RU" dirty="0"/>
          </a:p>
          <a:p>
            <a:endParaRPr lang="ru-RU" dirty="0"/>
          </a:p>
          <a:p>
            <a:endParaRPr lang="ru-RU" dirty="0"/>
          </a:p>
          <a:p>
            <a:endParaRPr lang="ru-RU" dirty="0"/>
          </a:p>
        </p:txBody>
      </p:sp>
    </p:spTree>
    <p:extLst>
      <p:ext uri="{BB962C8B-B14F-4D97-AF65-F5344CB8AC3E}">
        <p14:creationId xmlns:p14="http://schemas.microsoft.com/office/powerpoint/2010/main" val="3662371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6;p21">
            <a:extLst>
              <a:ext uri="{FF2B5EF4-FFF2-40B4-BE49-F238E27FC236}">
                <a16:creationId xmlns="" xmlns:a16="http://schemas.microsoft.com/office/drawing/2014/main" id="{535A5357-A41F-4385-8B97-66DA938677B8}"/>
              </a:ext>
            </a:extLst>
          </p:cNvPr>
          <p:cNvSpPr/>
          <p:nvPr/>
        </p:nvSpPr>
        <p:spPr>
          <a:xfrm>
            <a:off x="202224" y="118356"/>
            <a:ext cx="11843238" cy="483947"/>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800" b="1" i="0" u="none" strike="noStrike" cap="none" dirty="0">
                <a:solidFill>
                  <a:schemeClr val="lt1"/>
                </a:solidFill>
                <a:latin typeface="Times New Roman"/>
                <a:cs typeface="Times New Roman"/>
                <a:sym typeface="Times New Roman"/>
              </a:rPr>
              <a:t>Экспериментальная </a:t>
            </a:r>
            <a:r>
              <a:rPr lang="ru-RU" sz="2800" b="1" dirty="0" smtClean="0">
                <a:solidFill>
                  <a:schemeClr val="lt1"/>
                </a:solidFill>
                <a:latin typeface="Times New Roman"/>
                <a:cs typeface="Times New Roman"/>
                <a:sym typeface="Times New Roman"/>
              </a:rPr>
              <a:t>система для</a:t>
            </a:r>
            <a:r>
              <a:rPr lang="ru-RU" sz="2800" b="1" i="0" u="none" strike="noStrike" cap="none" dirty="0" smtClean="0">
                <a:solidFill>
                  <a:schemeClr val="lt1"/>
                </a:solidFill>
                <a:latin typeface="Times New Roman"/>
                <a:cs typeface="Times New Roman"/>
                <a:sym typeface="Times New Roman"/>
              </a:rPr>
              <a:t> </a:t>
            </a:r>
            <a:r>
              <a:rPr lang="ru-RU" sz="2800" b="1" i="0" u="none" strike="noStrike" cap="none" dirty="0">
                <a:solidFill>
                  <a:schemeClr val="lt1"/>
                </a:solidFill>
                <a:latin typeface="Times New Roman"/>
                <a:cs typeface="Times New Roman"/>
                <a:sym typeface="Times New Roman"/>
              </a:rPr>
              <a:t>компенсации вибрационных шумов</a:t>
            </a:r>
            <a:endParaRPr sz="1600" b="0" i="0" u="none" strike="noStrike" cap="none" dirty="0">
              <a:solidFill>
                <a:srgbClr val="000000"/>
              </a:solidFill>
              <a:latin typeface="Arial"/>
              <a:ea typeface="Arial"/>
              <a:cs typeface="Arial"/>
              <a:sym typeface="Arial"/>
            </a:endParaRPr>
          </a:p>
        </p:txBody>
      </p:sp>
      <p:pic>
        <p:nvPicPr>
          <p:cNvPr id="3" name="Рисунок 2"/>
          <p:cNvPicPr>
            <a:picLocks noChangeAspect="1"/>
          </p:cNvPicPr>
          <p:nvPr/>
        </p:nvPicPr>
        <p:blipFill>
          <a:blip r:embed="rId2"/>
          <a:stretch>
            <a:fillRect/>
          </a:stretch>
        </p:blipFill>
        <p:spPr>
          <a:xfrm>
            <a:off x="1661078" y="1006252"/>
            <a:ext cx="4210071" cy="3570567"/>
          </a:xfrm>
          <a:prstGeom prst="rect">
            <a:avLst/>
          </a:prstGeom>
        </p:spPr>
      </p:pic>
      <p:sp>
        <p:nvSpPr>
          <p:cNvPr id="5" name="TextBox 4">
            <a:extLst>
              <a:ext uri="{FF2B5EF4-FFF2-40B4-BE49-F238E27FC236}">
                <a16:creationId xmlns="" xmlns:a16="http://schemas.microsoft.com/office/drawing/2014/main" id="{3ADBD3C2-D191-4F54-98DB-3146E94F5266}"/>
              </a:ext>
            </a:extLst>
          </p:cNvPr>
          <p:cNvSpPr txBox="1"/>
          <p:nvPr/>
        </p:nvSpPr>
        <p:spPr>
          <a:xfrm>
            <a:off x="1661078" y="821586"/>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6" name="Google Shape;139;p21">
            <a:extLst>
              <a:ext uri="{FF2B5EF4-FFF2-40B4-BE49-F238E27FC236}">
                <a16:creationId xmlns="" xmlns:a16="http://schemas.microsoft.com/office/drawing/2014/main" id="{DB31045B-64E8-4C95-921F-4E6125B3101B}"/>
              </a:ext>
            </a:extLst>
          </p:cNvPr>
          <p:cNvSpPr txBox="1"/>
          <p:nvPr/>
        </p:nvSpPr>
        <p:spPr>
          <a:xfrm>
            <a:off x="554991" y="4980768"/>
            <a:ext cx="11137700" cy="584735"/>
          </a:xfrm>
          <a:prstGeom prst="rect">
            <a:avLst/>
          </a:prstGeom>
          <a:noFill/>
          <a:ln>
            <a:noFill/>
          </a:ln>
        </p:spPr>
        <p:txBody>
          <a:bodyPr spcFirstLastPara="1" wrap="square" lIns="91425" tIns="45700" rIns="91425" bIns="45700" anchor="t" anchorCtr="0">
            <a:spAutoFit/>
          </a:bodyPr>
          <a:lstStyle/>
          <a:p>
            <a:pPr lvl="0" algn="ctr">
              <a:buSzPts val="1600"/>
            </a:pPr>
            <a:r>
              <a:rPr lang="ru-RU" sz="1600" b="0" i="0" u="none" strike="noStrike" cap="none" dirty="0">
                <a:solidFill>
                  <a:srgbClr val="000000"/>
                </a:solidFill>
                <a:latin typeface="Times New Roman"/>
                <a:ea typeface="Times New Roman"/>
                <a:cs typeface="Times New Roman"/>
                <a:sym typeface="Times New Roman"/>
              </a:rPr>
              <a:t>Рис. </a:t>
            </a:r>
            <a:r>
              <a:rPr lang="ru-RU" sz="1600" dirty="0">
                <a:latin typeface="Times New Roman"/>
                <a:ea typeface="Times New Roman"/>
                <a:cs typeface="Times New Roman"/>
                <a:sym typeface="Times New Roman"/>
              </a:rPr>
              <a:t>7</a:t>
            </a:r>
            <a:r>
              <a:rPr lang="ru-RU" sz="1600" b="0" i="0" u="none" strike="noStrike" cap="none" dirty="0">
                <a:solidFill>
                  <a:srgbClr val="000000"/>
                </a:solidFill>
                <a:latin typeface="Times New Roman"/>
                <a:ea typeface="Times New Roman"/>
                <a:cs typeface="Times New Roman"/>
                <a:sym typeface="Times New Roman"/>
              </a:rPr>
              <a:t>. Экспериментальная установка для измерения ускорения</a:t>
            </a:r>
            <a:r>
              <a:rPr lang="ru-RU" sz="1600" dirty="0">
                <a:latin typeface="Times New Roman"/>
                <a:ea typeface="Times New Roman"/>
                <a:cs typeface="Times New Roman"/>
                <a:sym typeface="Times New Roman"/>
              </a:rPr>
              <a:t> зеркала</a:t>
            </a:r>
            <a:r>
              <a:rPr lang="ru-RU" sz="1600" b="0" i="0" u="none" strike="noStrike" cap="none" dirty="0">
                <a:solidFill>
                  <a:srgbClr val="000000"/>
                </a:solidFill>
                <a:latin typeface="Times New Roman"/>
                <a:ea typeface="Times New Roman"/>
                <a:cs typeface="Times New Roman"/>
                <a:sym typeface="Times New Roman"/>
              </a:rPr>
              <a:t> (а)</a:t>
            </a:r>
            <a:r>
              <a:rPr lang="en-US" sz="1600" b="0" i="0" u="none" strike="noStrike" cap="none" dirty="0">
                <a:solidFill>
                  <a:srgbClr val="000000"/>
                </a:solidFill>
                <a:latin typeface="Times New Roman"/>
                <a:ea typeface="Times New Roman"/>
                <a:cs typeface="Times New Roman"/>
                <a:sym typeface="Times New Roman"/>
              </a:rPr>
              <a:t>;</a:t>
            </a:r>
            <a:r>
              <a:rPr lang="ru-RU" sz="1600" b="0" i="0" u="none" strike="noStrike" cap="none" dirty="0">
                <a:solidFill>
                  <a:srgbClr val="000000"/>
                </a:solidFill>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Окно программы для управления сбора данных с акселерометра с помощью </a:t>
            </a:r>
            <a:r>
              <a:rPr lang="en-US" sz="1600" dirty="0">
                <a:latin typeface="Times New Roman"/>
                <a:ea typeface="Times New Roman"/>
                <a:cs typeface="Times New Roman"/>
                <a:sym typeface="Times New Roman"/>
              </a:rPr>
              <a:t>Red pitaya (</a:t>
            </a:r>
            <a:r>
              <a:rPr lang="ru-RU" sz="1600" dirty="0">
                <a:latin typeface="Times New Roman"/>
                <a:ea typeface="Times New Roman"/>
                <a:cs typeface="Times New Roman"/>
                <a:sym typeface="Times New Roman"/>
              </a:rPr>
              <a:t>б</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сигнал акселерометра – синий, триггерный сигнал– красный</a:t>
            </a:r>
            <a:r>
              <a:rPr lang="en-US" sz="1600" dirty="0" smtClean="0">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p:txBody>
      </p:sp>
      <p:pic>
        <p:nvPicPr>
          <p:cNvPr id="7" name="Рисунок 6">
            <a:extLst>
              <a:ext uri="{FF2B5EF4-FFF2-40B4-BE49-F238E27FC236}">
                <a16:creationId xmlns="" xmlns:a16="http://schemas.microsoft.com/office/drawing/2014/main" id="{1B86CB88-0BFE-4864-B2EE-834FABF0D643}"/>
              </a:ext>
            </a:extLst>
          </p:cNvPr>
          <p:cNvPicPr>
            <a:picLocks noChangeAspect="1"/>
          </p:cNvPicPr>
          <p:nvPr/>
        </p:nvPicPr>
        <p:blipFill rotWithShape="1">
          <a:blip r:embed="rId3"/>
          <a:srcRect l="1367" t="2852" r="3812" b="3862"/>
          <a:stretch/>
        </p:blipFill>
        <p:spPr>
          <a:xfrm>
            <a:off x="6572131" y="1123553"/>
            <a:ext cx="4903103" cy="3453266"/>
          </a:xfrm>
          <a:prstGeom prst="rect">
            <a:avLst/>
          </a:prstGeom>
        </p:spPr>
      </p:pic>
      <p:sp>
        <p:nvSpPr>
          <p:cNvPr id="8" name="TextBox 7">
            <a:extLst>
              <a:ext uri="{FF2B5EF4-FFF2-40B4-BE49-F238E27FC236}">
                <a16:creationId xmlns="" xmlns:a16="http://schemas.microsoft.com/office/drawing/2014/main" id="{C7485A22-BF4D-48AC-895F-DF74FD27014A}"/>
              </a:ext>
            </a:extLst>
          </p:cNvPr>
          <p:cNvSpPr txBox="1"/>
          <p:nvPr/>
        </p:nvSpPr>
        <p:spPr>
          <a:xfrm>
            <a:off x="6064330" y="821586"/>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 xmlns:a16="http://schemas.microsoft.com/office/drawing/2014/main" id="{C7C7F885-9814-4E89-91F6-B6347CA79E74}"/>
              </a:ext>
            </a:extLst>
          </p:cNvPr>
          <p:cNvSpPr txBox="1"/>
          <p:nvPr/>
        </p:nvSpPr>
        <p:spPr>
          <a:xfrm>
            <a:off x="11571298" y="6440400"/>
            <a:ext cx="510074" cy="307777"/>
          </a:xfrm>
          <a:prstGeom prst="rect">
            <a:avLst/>
          </a:prstGeom>
          <a:noFill/>
        </p:spPr>
        <p:txBody>
          <a:bodyPr wrap="square" rtlCol="0">
            <a:spAutoFit/>
          </a:bodyPr>
          <a:lstStyle/>
          <a:p>
            <a:r>
              <a:rPr lang="ru-RU" dirty="0"/>
              <a:t> </a:t>
            </a:r>
            <a:r>
              <a:rPr lang="ru-RU" dirty="0" smtClean="0"/>
              <a:t>8</a:t>
            </a:r>
            <a:endParaRPr lang="ru-RU" dirty="0"/>
          </a:p>
        </p:txBody>
      </p:sp>
    </p:spTree>
    <p:extLst>
      <p:ext uri="{BB962C8B-B14F-4D97-AF65-F5344CB8AC3E}">
        <p14:creationId xmlns:p14="http://schemas.microsoft.com/office/powerpoint/2010/main" val="11862575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6;p21">
            <a:extLst>
              <a:ext uri="{FF2B5EF4-FFF2-40B4-BE49-F238E27FC236}">
                <a16:creationId xmlns="" xmlns:a16="http://schemas.microsoft.com/office/drawing/2014/main" id="{535A5357-A41F-4385-8B97-66DA938677B8}"/>
              </a:ext>
            </a:extLst>
          </p:cNvPr>
          <p:cNvSpPr/>
          <p:nvPr/>
        </p:nvSpPr>
        <p:spPr>
          <a:xfrm>
            <a:off x="1336430" y="65602"/>
            <a:ext cx="9460524" cy="470729"/>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3200" b="1" dirty="0" smtClean="0">
                <a:solidFill>
                  <a:schemeClr val="lt1"/>
                </a:solidFill>
                <a:latin typeface="Times New Roman"/>
                <a:cs typeface="Times New Roman"/>
                <a:sym typeface="Times New Roman"/>
              </a:rPr>
              <a:t>Пост-коррекция вибрационных шумов</a:t>
            </a:r>
            <a:endParaRPr sz="1800" b="0" i="0" u="none" strike="noStrike" cap="none" dirty="0">
              <a:solidFill>
                <a:srgbClr val="000000"/>
              </a:solidFill>
              <a:latin typeface="Arial"/>
              <a:ea typeface="Arial"/>
              <a:cs typeface="Arial"/>
              <a:sym typeface="Arial"/>
            </a:endParaRPr>
          </a:p>
        </p:txBody>
      </p:sp>
      <p:pic>
        <p:nvPicPr>
          <p:cNvPr id="3" name="Рисунок 2">
            <a:extLst>
              <a:ext uri="{FF2B5EF4-FFF2-40B4-BE49-F238E27FC236}">
                <a16:creationId xmlns="" xmlns:a16="http://schemas.microsoft.com/office/drawing/2014/main" id="{03EAB47F-A127-4F36-9FC1-BDC6A329A7DF}"/>
              </a:ext>
            </a:extLst>
          </p:cNvPr>
          <p:cNvPicPr>
            <a:picLocks noChangeAspect="1"/>
          </p:cNvPicPr>
          <p:nvPr/>
        </p:nvPicPr>
        <p:blipFill rotWithShape="1">
          <a:blip r:embed="rId2"/>
          <a:srcRect l="1167" t="5015" r="1585" b="4990"/>
          <a:stretch/>
        </p:blipFill>
        <p:spPr>
          <a:xfrm>
            <a:off x="1787296" y="1178288"/>
            <a:ext cx="8673010" cy="2606774"/>
          </a:xfrm>
          <a:prstGeom prst="rect">
            <a:avLst/>
          </a:prstGeom>
        </p:spPr>
      </p:pic>
      <p:sp>
        <p:nvSpPr>
          <p:cNvPr id="4" name="TextBox 3">
            <a:extLst>
              <a:ext uri="{FF2B5EF4-FFF2-40B4-BE49-F238E27FC236}">
                <a16:creationId xmlns="" xmlns:a16="http://schemas.microsoft.com/office/drawing/2014/main" id="{59144724-DE99-40F5-98CF-EB3900FD24E4}"/>
              </a:ext>
            </a:extLst>
          </p:cNvPr>
          <p:cNvSpPr txBox="1"/>
          <p:nvPr/>
        </p:nvSpPr>
        <p:spPr>
          <a:xfrm>
            <a:off x="3381709" y="592122"/>
            <a:ext cx="6574971" cy="369332"/>
          </a:xfrm>
          <a:prstGeom prst="rect">
            <a:avLst/>
          </a:prstGeom>
          <a:noFill/>
        </p:spPr>
        <p:txBody>
          <a:bodyPr wrap="square" rtlCol="0">
            <a:spAutoFit/>
          </a:bodyPr>
          <a:lstStyle/>
          <a:p>
            <a:r>
              <a:rPr lang="ru-RU" sz="1800" b="1" dirty="0">
                <a:latin typeface="Times New Roman" panose="02020603050405020304" pitchFamily="18" charset="0"/>
                <a:cs typeface="Times New Roman" panose="02020603050405020304" pitchFamily="18" charset="0"/>
              </a:rPr>
              <a:t>Демонстрация подбора (</a:t>
            </a:r>
            <a:r>
              <a:rPr lang="en-US" sz="1800" b="1" dirty="0">
                <a:latin typeface="Times New Roman" panose="02020603050405020304" pitchFamily="18" charset="0"/>
                <a:cs typeface="Times New Roman" panose="02020603050405020304" pitchFamily="18" charset="0"/>
              </a:rPr>
              <a:t>K, </a:t>
            </a:r>
            <a:r>
              <a:rPr lang="el-GR" sz="1800" b="1" dirty="0">
                <a:latin typeface="Times New Roman" panose="02020603050405020304" pitchFamily="18" charset="0"/>
                <a:cs typeface="Times New Roman" panose="02020603050405020304" pitchFamily="18" charset="0"/>
              </a:rPr>
              <a:t>Δ</a:t>
            </a:r>
            <a:r>
              <a:rPr lang="en-US" sz="1800" b="1" dirty="0">
                <a:latin typeface="Times New Roman" panose="02020603050405020304" pitchFamily="18" charset="0"/>
                <a:cs typeface="Times New Roman" panose="02020603050405020304" pitchFamily="18" charset="0"/>
              </a:rPr>
              <a:t>t</a:t>
            </a:r>
            <a:r>
              <a:rPr lang="ru-RU" sz="1800" b="1" dirty="0">
                <a:latin typeface="Times New Roman" panose="02020603050405020304" pitchFamily="18" charset="0"/>
                <a:cs typeface="Times New Roman" panose="02020603050405020304" pitchFamily="18" charset="0"/>
              </a:rPr>
              <a:t>) и пост-коррекции</a:t>
            </a:r>
            <a:endParaRPr lang="en-US" sz="1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 xmlns:a16="http://schemas.microsoft.com/office/drawing/2014/main" id="{C123148B-D47B-4EE9-816D-57391A88CB09}"/>
              </a:ext>
            </a:extLst>
          </p:cNvPr>
          <p:cNvSpPr txBox="1"/>
          <p:nvPr/>
        </p:nvSpPr>
        <p:spPr>
          <a:xfrm>
            <a:off x="2647894" y="4624403"/>
            <a:ext cx="3442322" cy="369332"/>
          </a:xfrm>
          <a:prstGeom prst="rect">
            <a:avLst/>
          </a:prstGeom>
          <a:noFill/>
        </p:spPr>
        <p:txBody>
          <a:bodyPr wrap="square" rtlCol="0">
            <a:spAutoFit/>
          </a:bodyPr>
          <a:lstStyle/>
          <a:p>
            <a:r>
              <a:rPr lang="ru-RU" sz="1800" b="1" dirty="0">
                <a:latin typeface="Times New Roman" panose="02020603050405020304" pitchFamily="18" charset="0"/>
                <a:cs typeface="Times New Roman" panose="02020603050405020304" pitchFamily="18" charset="0"/>
              </a:rPr>
              <a:t>Передаточная функция</a:t>
            </a:r>
            <a:r>
              <a:rPr lang="en-US" sz="1800" b="1"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54F217A7-8A53-4051-B61A-46EE6B6E7593}"/>
                  </a:ext>
                </a:extLst>
              </p:cNvPr>
              <p:cNvSpPr txBox="1"/>
              <p:nvPr/>
            </p:nvSpPr>
            <p:spPr>
              <a:xfrm>
                <a:off x="3054731" y="5105062"/>
                <a:ext cx="192514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𝑎</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r>
                        <a:rPr lang="en-US" sz="1600" b="0" i="1" smtClean="0">
                          <a:latin typeface="Cambria Math" panose="02040503050406030204" pitchFamily="18" charset="0"/>
                        </a:rPr>
                        <m:t>=</m:t>
                      </m:r>
                      <m:r>
                        <a:rPr lang="en-US" sz="1600" b="0" i="1" smtClean="0">
                          <a:latin typeface="Cambria Math" panose="02040503050406030204" pitchFamily="18" charset="0"/>
                        </a:rPr>
                        <m:t>𝐾</m:t>
                      </m:r>
                      <m:r>
                        <a:rPr lang="en-US" sz="1600" b="0" i="1" smtClean="0">
                          <a:latin typeface="Cambria Math" panose="02040503050406030204" pitchFamily="18" charset="0"/>
                        </a:rPr>
                        <m:t>∗</m:t>
                      </m:r>
                      <m:r>
                        <a:rPr lang="en-US" sz="1600" b="0" i="1" smtClean="0">
                          <a:latin typeface="Cambria Math" panose="02040503050406030204" pitchFamily="18" charset="0"/>
                        </a:rPr>
                        <m:t>𝐴</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rPr>
                        <m:t>,</m:t>
                      </m:r>
                    </m:oMath>
                  </m:oMathPara>
                </a14:m>
                <a:endParaRPr lang="ru-RU" sz="1600" dirty="0"/>
              </a:p>
            </p:txBody>
          </p:sp>
        </mc:Choice>
        <mc:Fallback xmlns="">
          <p:sp>
            <p:nvSpPr>
              <p:cNvPr id="6" name="TextBox 5">
                <a:extLst>
                  <a:ext uri="{FF2B5EF4-FFF2-40B4-BE49-F238E27FC236}">
                    <a16:creationId xmlns="" xmlns:a16="http://schemas.microsoft.com/office/drawing/2014/main" xmlns:a14="http://schemas.microsoft.com/office/drawing/2010/main" id="{54F217A7-8A53-4051-B61A-46EE6B6E7593}"/>
                  </a:ext>
                </a:extLst>
              </p:cNvPr>
              <p:cNvSpPr txBox="1">
                <a:spLocks noRot="1" noChangeAspect="1" noMove="1" noResize="1" noEditPoints="1" noAdjustHandles="1" noChangeArrowheads="1" noChangeShapeType="1" noTextEdit="1"/>
              </p:cNvSpPr>
              <p:nvPr/>
            </p:nvSpPr>
            <p:spPr>
              <a:xfrm>
                <a:off x="3054731" y="5105062"/>
                <a:ext cx="1925142" cy="246221"/>
              </a:xfrm>
              <a:prstGeom prst="rect">
                <a:avLst/>
              </a:prstGeom>
              <a:blipFill rotWithShape="0">
                <a:blip r:embed="rId3"/>
                <a:stretch>
                  <a:fillRect l="-633" b="-7317"/>
                </a:stretch>
              </a:blipFill>
            </p:spPr>
            <p:txBody>
              <a:bodyPr/>
              <a:lstStyle/>
              <a:p>
                <a:r>
                  <a:rPr lang="ru-RU">
                    <a:noFill/>
                  </a:rPr>
                  <a:t> </a:t>
                </a:r>
              </a:p>
            </p:txBody>
          </p:sp>
        </mc:Fallback>
      </mc:AlternateContent>
      <p:sp>
        <p:nvSpPr>
          <p:cNvPr id="7" name="TextBox 6">
            <a:extLst>
              <a:ext uri="{FF2B5EF4-FFF2-40B4-BE49-F238E27FC236}">
                <a16:creationId xmlns="" xmlns:a16="http://schemas.microsoft.com/office/drawing/2014/main" id="{74EEC305-5116-49C6-A223-32088B9EBA3B}"/>
              </a:ext>
            </a:extLst>
          </p:cNvPr>
          <p:cNvSpPr txBox="1"/>
          <p:nvPr/>
        </p:nvSpPr>
        <p:spPr>
          <a:xfrm>
            <a:off x="2957325" y="5544407"/>
            <a:ext cx="4551914" cy="1077218"/>
          </a:xfrm>
          <a:prstGeom prst="rect">
            <a:avLst/>
          </a:prstGeom>
          <a:noFill/>
        </p:spPr>
        <p:txBody>
          <a:bodyPr wrap="square" rtlCol="0">
            <a:spAutoFit/>
          </a:bodyPr>
          <a:lstStyle/>
          <a:p>
            <a:r>
              <a:rPr lang="en-US" sz="1600" dirty="0" smtClean="0">
                <a:latin typeface="Times New Roman" panose="02020603050405020304" pitchFamily="18" charset="0"/>
                <a:cs typeface="Times New Roman" panose="02020603050405020304" pitchFamily="18" charset="0"/>
              </a:rPr>
              <a:t>a </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ускорение зеркала, </a:t>
            </a:r>
            <a:endParaRPr lang="ru-RU" sz="1600" dirty="0" smtClean="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A </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ускорение акселерометра, </a:t>
            </a:r>
            <a:endParaRPr lang="ru-RU" sz="1600" dirty="0" smtClean="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временная задержка сигнала, </a:t>
            </a:r>
            <a:endParaRPr lang="ru-RU" sz="1600" dirty="0" smtClean="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K </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амплитудный коэффициент.</a:t>
            </a:r>
            <a:endParaRPr lang="en-US" sz="16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9C747BF1-D877-C44D-1A3D-9144D24233F7}"/>
              </a:ext>
            </a:extLst>
          </p:cNvPr>
          <p:cNvSpPr txBox="1"/>
          <p:nvPr/>
        </p:nvSpPr>
        <p:spPr>
          <a:xfrm>
            <a:off x="7509239" y="4624403"/>
            <a:ext cx="2704174" cy="369332"/>
          </a:xfrm>
          <a:prstGeom prst="rect">
            <a:avLst/>
          </a:prstGeom>
          <a:noFill/>
        </p:spPr>
        <p:txBody>
          <a:bodyPr wrap="square" rtlCol="0">
            <a:spAutoFit/>
          </a:bodyPr>
          <a:lstStyle/>
          <a:p>
            <a:pPr indent="216000"/>
            <a:r>
              <a:rPr lang="ru-RU" sz="1800" b="1" dirty="0">
                <a:latin typeface="Times New Roman" panose="02020603050405020304" pitchFamily="18" charset="0"/>
                <a:cs typeface="Times New Roman" panose="02020603050405020304" pitchFamily="18" charset="0"/>
              </a:rPr>
              <a:t>Нахождение </a:t>
            </a:r>
            <a:r>
              <a:rPr lang="ru-RU" sz="1800" b="1" dirty="0" err="1">
                <a:latin typeface="Times New Roman" panose="02020603050405020304" pitchFamily="18" charset="0"/>
                <a:cs typeface="Times New Roman" panose="02020603050405020304" pitchFamily="18" charset="0"/>
              </a:rPr>
              <a:t>Ф</a:t>
            </a:r>
            <a:r>
              <a:rPr lang="ru-RU" sz="1800" b="1" baseline="-25000" dirty="0" err="1">
                <a:latin typeface="Times New Roman" panose="02020603050405020304" pitchFamily="18" charset="0"/>
                <a:cs typeface="Times New Roman" panose="02020603050405020304" pitchFamily="18" charset="0"/>
              </a:rPr>
              <a:t>виб</a:t>
            </a:r>
            <a:r>
              <a:rPr lang="en-US" sz="1800" b="1" dirty="0">
                <a:latin typeface="Times New Roman" panose="02020603050405020304" pitchFamily="18" charset="0"/>
                <a:cs typeface="Times New Roman" panose="02020603050405020304" pitchFamily="18" charset="0"/>
              </a:rPr>
              <a:t>:</a:t>
            </a:r>
            <a:endParaRPr lang="ru-RU" sz="1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B47BEAB4-D999-D846-EE9C-F090FA6F536A}"/>
                  </a:ext>
                </a:extLst>
              </p:cNvPr>
              <p:cNvSpPr txBox="1"/>
              <p:nvPr/>
            </p:nvSpPr>
            <p:spPr>
              <a:xfrm>
                <a:off x="7595039" y="5082589"/>
                <a:ext cx="3269005" cy="334515"/>
              </a:xfrm>
              <a:prstGeom prst="rect">
                <a:avLst/>
              </a:prstGeom>
              <a:noFill/>
              <a:ln w="19050">
                <a:noFill/>
              </a:ln>
            </p:spPr>
            <p:txBody>
              <a:bodyPr wrap="square" lIns="0" tIns="0" rIns="0" bIns="0" rtlCol="0">
                <a:spAutoFit/>
              </a:bodyPr>
              <a:lstStyle/>
              <a:p>
                <a14:m>
                  <m:oMath xmlns:m="http://schemas.openxmlformats.org/officeDocument/2006/math">
                    <m:sSub>
                      <m:sSubPr>
                        <m:ctrlPr>
                          <a:rPr lang="ru-RU" sz="1600" i="1" dirty="0" smtClean="0">
                            <a:solidFill>
                              <a:schemeClr val="tx1"/>
                            </a:solidFill>
                            <a:latin typeface="Cambria Math" panose="02040503050406030204" pitchFamily="18" charset="0"/>
                          </a:rPr>
                        </m:ctrlPr>
                      </m:sSubPr>
                      <m:e>
                        <m:r>
                          <a:rPr lang="ru-RU" sz="1600" i="1" dirty="0">
                            <a:solidFill>
                              <a:schemeClr val="tx1"/>
                            </a:solidFill>
                            <a:latin typeface="Cambria Math" panose="02040503050406030204" pitchFamily="18" charset="0"/>
                          </a:rPr>
                          <m:t>Ф</m:t>
                        </m:r>
                      </m:e>
                      <m:sub>
                        <m:r>
                          <a:rPr lang="ru-RU" sz="1600" i="1" dirty="0">
                            <a:solidFill>
                              <a:schemeClr val="tx1"/>
                            </a:solidFill>
                            <a:latin typeface="Cambria Math" panose="02040503050406030204" pitchFamily="18" charset="0"/>
                          </a:rPr>
                          <m:t>виб</m:t>
                        </m:r>
                      </m:sub>
                    </m:sSub>
                    <m:r>
                      <a:rPr lang="ru-RU" sz="1600" b="0" i="1" smtClean="0">
                        <a:latin typeface="Cambria Math" panose="02040503050406030204" pitchFamily="18" charset="0"/>
                        <a:ea typeface="Cambria Math" panose="02040503050406030204" pitchFamily="18" charset="0"/>
                      </a:rPr>
                      <m:t>=</m:t>
                    </m:r>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𝑘</m:t>
                        </m:r>
                      </m:e>
                      <m:sub>
                        <m:r>
                          <a:rPr lang="en-US" sz="1600" b="0" i="1" smtClean="0">
                            <a:latin typeface="Cambria Math" panose="02040503050406030204" pitchFamily="18" charset="0"/>
                            <a:ea typeface="Cambria Math" panose="02040503050406030204" pitchFamily="18" charset="0"/>
                          </a:rPr>
                          <m:t>𝑒𝑓𝑓</m:t>
                        </m:r>
                      </m:sub>
                    </m:sSub>
                    <m:nary>
                      <m:naryPr>
                        <m:ctrlPr>
                          <a:rPr lang="ru-RU" sz="1600" b="0" i="1" smtClean="0">
                            <a:latin typeface="Cambria Math" panose="02040503050406030204" pitchFamily="18" charset="0"/>
                            <a:ea typeface="Cambria Math" panose="02040503050406030204" pitchFamily="18" charset="0"/>
                          </a:rPr>
                        </m:ctrlPr>
                      </m:naryPr>
                      <m:sub>
                        <m:r>
                          <m:rPr>
                            <m:brk m:alnAt="23"/>
                          </m:rPr>
                          <a:rPr lang="en-US" sz="1600" b="0" i="1" smtClean="0">
                            <a:latin typeface="Cambria Math" panose="02040503050406030204" pitchFamily="18" charset="0"/>
                            <a:ea typeface="Cambria Math" panose="02040503050406030204" pitchFamily="18" charset="0"/>
                          </a:rPr>
                          <m:t>0</m:t>
                        </m:r>
                      </m:sub>
                      <m:sup>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𝑇</m:t>
                            </m:r>
                          </m:e>
                          <m:sub>
                            <m:r>
                              <a:rPr lang="ru-RU" sz="1600" b="0" i="1" smtClean="0">
                                <a:latin typeface="Cambria Math" panose="02040503050406030204" pitchFamily="18" charset="0"/>
                                <a:ea typeface="Cambria Math" panose="02040503050406030204" pitchFamily="18" charset="0"/>
                              </a:rPr>
                              <m:t>инт</m:t>
                            </m:r>
                          </m:sub>
                        </m:sSub>
                      </m:sup>
                      <m:e>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𝑎</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𝑔</m:t>
                            </m:r>
                          </m:e>
                          <m:sub>
                            <m:r>
                              <a:rPr lang="en-US" sz="1600" b="0" i="1" smtClean="0">
                                <a:latin typeface="Cambria Math" panose="02040503050406030204" pitchFamily="18" charset="0"/>
                                <a:ea typeface="Cambria Math" panose="02040503050406030204" pitchFamily="18" charset="0"/>
                              </a:rPr>
                              <m:t>𝑎</m:t>
                            </m:r>
                          </m:sub>
                        </m:sSub>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𝑑𝑡</m:t>
                        </m:r>
                        <m:r>
                          <a:rPr lang="ru-RU" sz="1600" b="0" i="1" smtClean="0">
                            <a:latin typeface="Cambria Math" panose="02040503050406030204" pitchFamily="18" charset="0"/>
                            <a:ea typeface="Cambria Math" panose="02040503050406030204" pitchFamily="18" charset="0"/>
                          </a:rPr>
                          <m:t>,</m:t>
                        </m:r>
                      </m:e>
                    </m:nary>
                  </m:oMath>
                </a14:m>
                <a:r>
                  <a:rPr lang="ru-RU" sz="1600" dirty="0"/>
                  <a:t> </a:t>
                </a:r>
              </a:p>
            </p:txBody>
          </p:sp>
        </mc:Choice>
        <mc:Fallback xmlns="">
          <p:sp>
            <p:nvSpPr>
              <p:cNvPr id="9" name="TextBox 8">
                <a:extLst>
                  <a:ext uri="{FF2B5EF4-FFF2-40B4-BE49-F238E27FC236}">
                    <a16:creationId xmlns="" xmlns:a16="http://schemas.microsoft.com/office/drawing/2014/main" xmlns:a14="http://schemas.microsoft.com/office/drawing/2010/main" id="{B47BEAB4-D999-D846-EE9C-F090FA6F536A}"/>
                  </a:ext>
                </a:extLst>
              </p:cNvPr>
              <p:cNvSpPr txBox="1">
                <a:spLocks noRot="1" noChangeAspect="1" noMove="1" noResize="1" noEditPoints="1" noAdjustHandles="1" noChangeArrowheads="1" noChangeShapeType="1" noTextEdit="1"/>
              </p:cNvSpPr>
              <p:nvPr/>
            </p:nvSpPr>
            <p:spPr>
              <a:xfrm>
                <a:off x="7595039" y="5082589"/>
                <a:ext cx="3269005" cy="334515"/>
              </a:xfrm>
              <a:prstGeom prst="rect">
                <a:avLst/>
              </a:prstGeom>
              <a:blipFill rotWithShape="0">
                <a:blip r:embed="rId4"/>
                <a:stretch>
                  <a:fillRect l="-2239" t="-141818" b="-218182"/>
                </a:stretch>
              </a:blipFill>
              <a:ln w="19050">
                <a:noFill/>
              </a:ln>
            </p:spPr>
            <p:txBody>
              <a:bodyPr/>
              <a:lstStyle/>
              <a:p>
                <a:r>
                  <a:rPr lang="ru-RU">
                    <a:noFill/>
                  </a:rPr>
                  <a:t> </a:t>
                </a:r>
              </a:p>
            </p:txBody>
          </p:sp>
        </mc:Fallback>
      </mc:AlternateContent>
      <p:sp>
        <p:nvSpPr>
          <p:cNvPr id="10" name="TextBox 9">
            <a:extLst>
              <a:ext uri="{FF2B5EF4-FFF2-40B4-BE49-F238E27FC236}">
                <a16:creationId xmlns="" xmlns:a16="http://schemas.microsoft.com/office/drawing/2014/main" id="{8EDDC6D4-77F4-B572-AD4A-BE90EC1E8615}"/>
              </a:ext>
            </a:extLst>
          </p:cNvPr>
          <p:cNvSpPr txBox="1"/>
          <p:nvPr/>
        </p:nvSpPr>
        <p:spPr>
          <a:xfrm>
            <a:off x="7595039" y="5544407"/>
            <a:ext cx="4698843" cy="830997"/>
          </a:xfrm>
          <a:prstGeom prst="rect">
            <a:avLst/>
          </a:prstGeom>
          <a:noFill/>
        </p:spPr>
        <p:txBody>
          <a:bodyPr wrap="square" rtlCol="0">
            <a:spAutoFit/>
          </a:bodyPr>
          <a:lstStyle/>
          <a:p>
            <a:r>
              <a:rPr lang="en-US" sz="1600" dirty="0" smtClean="0">
                <a:latin typeface="Times New Roman" panose="02020603050405020304" pitchFamily="18" charset="0"/>
                <a:cs typeface="Times New Roman" panose="02020603050405020304" pitchFamily="18" charset="0"/>
              </a:rPr>
              <a:t>a </a:t>
            </a:r>
            <a:r>
              <a:rPr lang="ru-RU" sz="1600" dirty="0">
                <a:latin typeface="Times New Roman" panose="02020603050405020304" pitchFamily="18" charset="0"/>
                <a:cs typeface="Times New Roman" panose="02020603050405020304" pitchFamily="18" charset="0"/>
              </a:rPr>
              <a:t>– ускорение зеркала, </a:t>
            </a:r>
            <a:endParaRPr lang="ru-RU" sz="1600" dirty="0" smtClean="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T</a:t>
            </a:r>
            <a:r>
              <a:rPr lang="ru-RU" sz="1600" baseline="-25000" dirty="0" err="1">
                <a:latin typeface="Times New Roman" panose="02020603050405020304" pitchFamily="18" charset="0"/>
                <a:cs typeface="Times New Roman" panose="02020603050405020304" pitchFamily="18" charset="0"/>
              </a:rPr>
              <a:t>инт</a:t>
            </a:r>
            <a:r>
              <a:rPr lang="ru-RU" sz="1600" dirty="0">
                <a:latin typeface="Times New Roman" panose="02020603050405020304" pitchFamily="18" charset="0"/>
                <a:cs typeface="Times New Roman" panose="02020603050405020304" pitchFamily="18" charset="0"/>
              </a:rPr>
              <a:t> – время атомной интерференции, </a:t>
            </a:r>
            <a:endParaRPr lang="ru-RU" sz="1600" dirty="0" smtClean="0">
              <a:latin typeface="Times New Roman" panose="02020603050405020304" pitchFamily="18" charset="0"/>
              <a:cs typeface="Times New Roman" panose="02020603050405020304" pitchFamily="18" charset="0"/>
            </a:endParaRPr>
          </a:p>
          <a:p>
            <a:r>
              <a:rPr lang="en-US" sz="1600" dirty="0" err="1" smtClean="0">
                <a:latin typeface="Times New Roman" panose="02020603050405020304" pitchFamily="18" charset="0"/>
                <a:cs typeface="Times New Roman" panose="02020603050405020304" pitchFamily="18" charset="0"/>
              </a:rPr>
              <a:t>g</a:t>
            </a:r>
            <a:r>
              <a:rPr lang="en-US" sz="1600" baseline="-25000" dirty="0" err="1" smtClean="0">
                <a:latin typeface="Times New Roman" panose="02020603050405020304" pitchFamily="18" charset="0"/>
                <a:cs typeface="Times New Roman" panose="02020603050405020304" pitchFamily="18" charset="0"/>
              </a:rPr>
              <a:t>a</a:t>
            </a:r>
            <a:r>
              <a:rPr lang="en-US" sz="1600" dirty="0" smtClean="0">
                <a:latin typeface="Times New Roman" panose="02020603050405020304" pitchFamily="18" charset="0"/>
                <a:cs typeface="Times New Roman" panose="02020603050405020304" pitchFamily="18" charset="0"/>
              </a:rPr>
              <a:t>(t</a:t>
            </a:r>
            <a:r>
              <a:rPr lang="en-US" sz="1600" dirty="0">
                <a:latin typeface="Times New Roman" panose="02020603050405020304" pitchFamily="18" charset="0"/>
                <a:cs typeface="Times New Roman" panose="02020603050405020304" pitchFamily="18" charset="0"/>
              </a:rPr>
              <a:t>) – </a:t>
            </a:r>
            <a:r>
              <a:rPr lang="ru-RU" sz="1600" dirty="0">
                <a:latin typeface="Times New Roman" panose="02020603050405020304" pitchFamily="18" charset="0"/>
                <a:cs typeface="Times New Roman" panose="02020603050405020304" pitchFamily="18" charset="0"/>
              </a:rPr>
              <a:t>функция чувствительность гравиметра. </a:t>
            </a:r>
          </a:p>
        </p:txBody>
      </p:sp>
      <p:cxnSp>
        <p:nvCxnSpPr>
          <p:cNvPr id="11" name="Прямая со стрелкой 10">
            <a:extLst>
              <a:ext uri="{FF2B5EF4-FFF2-40B4-BE49-F238E27FC236}">
                <a16:creationId xmlns="" xmlns:a16="http://schemas.microsoft.com/office/drawing/2014/main" id="{95661207-FD7C-4B8C-81F6-BA9919077A58}"/>
              </a:ext>
            </a:extLst>
          </p:cNvPr>
          <p:cNvCxnSpPr>
            <a:cxnSpLocks/>
          </p:cNvCxnSpPr>
          <p:nvPr/>
        </p:nvCxnSpPr>
        <p:spPr>
          <a:xfrm>
            <a:off x="4397073" y="1072781"/>
            <a:ext cx="35640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Google Shape;139;p21">
            <a:extLst>
              <a:ext uri="{FF2B5EF4-FFF2-40B4-BE49-F238E27FC236}">
                <a16:creationId xmlns="" xmlns:a16="http://schemas.microsoft.com/office/drawing/2014/main" id="{DB31045B-64E8-4C95-921F-4E6125B3101B}"/>
              </a:ext>
            </a:extLst>
          </p:cNvPr>
          <p:cNvSpPr txBox="1"/>
          <p:nvPr/>
        </p:nvSpPr>
        <p:spPr>
          <a:xfrm>
            <a:off x="2436879" y="3912365"/>
            <a:ext cx="7226241" cy="584735"/>
          </a:xfrm>
          <a:prstGeom prst="rect">
            <a:avLst/>
          </a:prstGeom>
          <a:noFill/>
          <a:ln>
            <a:noFill/>
          </a:ln>
        </p:spPr>
        <p:txBody>
          <a:bodyPr spcFirstLastPara="1" wrap="square" lIns="91425" tIns="45700" rIns="91425" bIns="45700" anchor="t" anchorCtr="0">
            <a:spAutoFit/>
          </a:bodyPr>
          <a:lstStyle/>
          <a:p>
            <a:pPr lvl="0" algn="ctr">
              <a:buSzPts val="1600"/>
            </a:pPr>
            <a:r>
              <a:rPr lang="ru-RU" sz="1600" b="0" i="0" u="none" strike="noStrike" cap="none" dirty="0">
                <a:solidFill>
                  <a:srgbClr val="000000"/>
                </a:solidFill>
                <a:latin typeface="Times New Roman"/>
                <a:ea typeface="Times New Roman"/>
                <a:cs typeface="Times New Roman"/>
                <a:sym typeface="Times New Roman"/>
              </a:rPr>
              <a:t>Рис. </a:t>
            </a:r>
            <a:r>
              <a:rPr lang="ru-RU" sz="1600" dirty="0">
                <a:latin typeface="Times New Roman"/>
                <a:ea typeface="Times New Roman"/>
                <a:cs typeface="Times New Roman"/>
                <a:sym typeface="Times New Roman"/>
              </a:rPr>
              <a:t>8</a:t>
            </a:r>
            <a:r>
              <a:rPr lang="ru-RU" sz="1600" b="0" i="0" u="none" strike="noStrike" cap="none" dirty="0" smtClean="0">
                <a:solidFill>
                  <a:srgbClr val="000000"/>
                </a:solidFill>
                <a:latin typeface="Times New Roman"/>
                <a:ea typeface="Times New Roman"/>
                <a:cs typeface="Times New Roman"/>
                <a:sym typeface="Times New Roman"/>
              </a:rPr>
              <a:t>. </a:t>
            </a:r>
            <a:r>
              <a:rPr lang="ru-RU" sz="1600" dirty="0" smtClean="0">
                <a:latin typeface="Times New Roman"/>
                <a:ea typeface="Times New Roman"/>
                <a:cs typeface="Times New Roman"/>
                <a:sym typeface="Times New Roman"/>
              </a:rPr>
              <a:t>Демонстрация </a:t>
            </a:r>
            <a:r>
              <a:rPr lang="ru-RU" sz="1600" dirty="0">
                <a:latin typeface="Times New Roman"/>
                <a:ea typeface="Times New Roman"/>
                <a:cs typeface="Times New Roman"/>
                <a:sym typeface="Times New Roman"/>
              </a:rPr>
              <a:t>подбора коэффициентов передаточной функции и демонстрация пост-коррекции интерференционного </a:t>
            </a:r>
            <a:r>
              <a:rPr lang="ru-RU" sz="1600" dirty="0" smtClean="0">
                <a:latin typeface="Times New Roman"/>
                <a:ea typeface="Times New Roman"/>
                <a:cs typeface="Times New Roman"/>
                <a:sym typeface="Times New Roman"/>
              </a:rPr>
              <a:t>сигнала.</a:t>
            </a:r>
            <a:r>
              <a:rPr lang="en-US" sz="1600" dirty="0" smtClean="0">
                <a:latin typeface="Times New Roman"/>
                <a:ea typeface="Times New Roman"/>
                <a:cs typeface="Times New Roman"/>
                <a:sym typeface="Times New Roman"/>
              </a:rPr>
              <a:t> </a:t>
            </a:r>
            <a:endParaRPr sz="1600" b="0" i="0" u="none" strike="noStrike" cap="none" dirty="0">
              <a:solidFill>
                <a:srgbClr val="000000"/>
              </a:solidFill>
              <a:latin typeface="Times New Roman"/>
              <a:ea typeface="Times New Roman"/>
              <a:cs typeface="Times New Roman"/>
              <a:sym typeface="Times New Roman"/>
            </a:endParaRPr>
          </a:p>
        </p:txBody>
      </p:sp>
      <p:sp>
        <p:nvSpPr>
          <p:cNvPr id="14" name="TextBox 13">
            <a:extLst>
              <a:ext uri="{FF2B5EF4-FFF2-40B4-BE49-F238E27FC236}">
                <a16:creationId xmlns="" xmlns:a16="http://schemas.microsoft.com/office/drawing/2014/main" id="{C7C7F885-9814-4E89-91F6-B6347CA79E74}"/>
              </a:ext>
            </a:extLst>
          </p:cNvPr>
          <p:cNvSpPr txBox="1"/>
          <p:nvPr/>
        </p:nvSpPr>
        <p:spPr>
          <a:xfrm>
            <a:off x="11571298" y="6440400"/>
            <a:ext cx="510074" cy="307777"/>
          </a:xfrm>
          <a:prstGeom prst="rect">
            <a:avLst/>
          </a:prstGeom>
          <a:noFill/>
        </p:spPr>
        <p:txBody>
          <a:bodyPr wrap="square" rtlCol="0">
            <a:spAutoFit/>
          </a:bodyPr>
          <a:lstStyle/>
          <a:p>
            <a:r>
              <a:rPr lang="ru-RU" dirty="0"/>
              <a:t> </a:t>
            </a:r>
            <a:r>
              <a:rPr lang="ru-RU" dirty="0" smtClean="0"/>
              <a:t>9</a:t>
            </a:r>
            <a:endParaRPr lang="ru-RU" dirty="0"/>
          </a:p>
        </p:txBody>
      </p:sp>
    </p:spTree>
    <p:extLst>
      <p:ext uri="{BB962C8B-B14F-4D97-AF65-F5344CB8AC3E}">
        <p14:creationId xmlns:p14="http://schemas.microsoft.com/office/powerpoint/2010/main" val="6283592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7F889BD2-E7D3-251F-A842-50EA3344BB1D}"/>
              </a:ext>
            </a:extLst>
          </p:cNvPr>
          <p:cNvSpPr txBox="1"/>
          <p:nvPr/>
        </p:nvSpPr>
        <p:spPr>
          <a:xfrm>
            <a:off x="2840566" y="203200"/>
            <a:ext cx="6510867" cy="5693866"/>
          </a:xfrm>
          <a:prstGeom prst="rect">
            <a:avLst/>
          </a:prstGeom>
          <a:noFill/>
        </p:spPr>
        <p:txBody>
          <a:bodyPr wrap="square" rtlCol="0">
            <a:spAutoFit/>
          </a:bodyPr>
          <a:lstStyle/>
          <a:p>
            <a:r>
              <a:rPr lang="ru-RU" dirty="0"/>
              <a:t>На данном слайде изображена схема компенсации вибраций (а). На платформе вместе с зеркалом находится акселерометр,</a:t>
            </a:r>
            <a:r>
              <a:rPr lang="en-US" dirty="0"/>
              <a:t> </a:t>
            </a:r>
            <a:r>
              <a:rPr lang="ru-RU" dirty="0"/>
              <a:t>аналоговый выход которого подключен к аналоговому входу платы сбора данных </a:t>
            </a:r>
            <a:r>
              <a:rPr lang="en-US" dirty="0"/>
              <a:t>red pitaya</a:t>
            </a:r>
            <a:r>
              <a:rPr lang="ru-RU" dirty="0"/>
              <a:t>, второй аналоговый вход </a:t>
            </a:r>
            <a:r>
              <a:rPr lang="en-US" dirty="0"/>
              <a:t>red pitaya </a:t>
            </a:r>
            <a:r>
              <a:rPr lang="ru-RU" dirty="0"/>
              <a:t>подключен к таймеру, который посылает триггерный сигнал для начала сбора данных. Управление экспериментальной системой осуществляется с помощью ПК, подключенного к </a:t>
            </a:r>
            <a:r>
              <a:rPr lang="en-US" dirty="0" err="1"/>
              <a:t>redpitaya</a:t>
            </a:r>
            <a:r>
              <a:rPr lang="ru-RU" dirty="0"/>
              <a:t>. Для управлением </a:t>
            </a:r>
            <a:r>
              <a:rPr lang="en-US" dirty="0"/>
              <a:t>red pitaya </a:t>
            </a:r>
            <a:r>
              <a:rPr lang="ru-RU" dirty="0"/>
              <a:t>была написана программа, интерфейс которой показана на рисунке (б). Синий сигнал – сигнал с акселерометра, красный сигнал – вспомогательный триггерный сигнал. Сигнал с акселерометра начинает записываться в момент прихода триггерного сигнала</a:t>
            </a:r>
            <a:r>
              <a:rPr lang="en-US" dirty="0"/>
              <a:t> (</a:t>
            </a:r>
            <a:r>
              <a:rPr lang="ru-RU" dirty="0"/>
              <a:t>первый красный пик</a:t>
            </a:r>
            <a:r>
              <a:rPr lang="en-US" dirty="0"/>
              <a:t>)</a:t>
            </a:r>
            <a:r>
              <a:rPr lang="ru-RU" dirty="0"/>
              <a:t>, который также является триггером запуска атомной интерференции. Акселерометр заканчивает запись чуть позже после завершения атомной интерференции.</a:t>
            </a:r>
          </a:p>
          <a:p>
            <a:endParaRPr lang="ru-RU" dirty="0"/>
          </a:p>
          <a:p>
            <a:r>
              <a:rPr lang="ru-RU" dirty="0"/>
              <a:t>Зеркало и акселерометр стоят на одной платформе, поэтому для нахождения ускорения зеркала используется следующая передаточная функция, которая содержит амплитудный коэффициент и временную задержу. Коэффициенты передаточной функции определяются на этапе пост-коррекции сигнала атомной интерференции.</a:t>
            </a:r>
          </a:p>
          <a:p>
            <a:endParaRPr lang="ru-RU" dirty="0"/>
          </a:p>
          <a:p>
            <a:r>
              <a:rPr lang="ru-RU" dirty="0"/>
              <a:t>Теперь что касается пост-коррекции, она осуществляется согласно ранее приведённому выражению</a:t>
            </a:r>
            <a:r>
              <a:rPr lang="en-US" dirty="0"/>
              <a:t>: </a:t>
            </a:r>
            <a:r>
              <a:rPr lang="ru-RU" dirty="0"/>
              <a:t>Программа написанная для пост-коррекции осуществляет подбор коэффициентов таким образом, чтобы скорректированные данные ложились на аппроксимацию оптимальный образом, как это показано на рисунке в</a:t>
            </a:r>
            <a:r>
              <a:rPr lang="en-US" dirty="0"/>
              <a:t>: </a:t>
            </a:r>
            <a:r>
              <a:rPr lang="ru-RU" dirty="0"/>
              <a:t>слева – до пост-коррекции, справа – после.</a:t>
            </a:r>
          </a:p>
        </p:txBody>
      </p:sp>
    </p:spTree>
    <p:extLst>
      <p:ext uri="{BB962C8B-B14F-4D97-AF65-F5344CB8AC3E}">
        <p14:creationId xmlns:p14="http://schemas.microsoft.com/office/powerpoint/2010/main" val="3963014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38;p41">
            <a:extLst>
              <a:ext uri="{FF2B5EF4-FFF2-40B4-BE49-F238E27FC236}">
                <a16:creationId xmlns="" xmlns:a16="http://schemas.microsoft.com/office/drawing/2014/main" id="{FD46C5F4-A971-4CA4-8EA1-62B295AC1E02}"/>
              </a:ext>
            </a:extLst>
          </p:cNvPr>
          <p:cNvSpPr/>
          <p:nvPr/>
        </p:nvSpPr>
        <p:spPr>
          <a:xfrm>
            <a:off x="1403493" y="157271"/>
            <a:ext cx="9847608" cy="558168"/>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3200" b="1" dirty="0">
                <a:solidFill>
                  <a:schemeClr val="lt1"/>
                </a:solidFill>
                <a:latin typeface="Times New Roman"/>
                <a:cs typeface="Times New Roman"/>
                <a:sym typeface="Times New Roman"/>
              </a:rPr>
              <a:t>Результаты компенсации вибрационных шумов</a:t>
            </a:r>
            <a:endParaRPr sz="18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 xmlns:a16="http://schemas.microsoft.com/office/drawing/2014/main" id="{7CFBBB85-1DFE-4038-BF35-8451EAA57176}"/>
              </a:ext>
            </a:extLst>
          </p:cNvPr>
          <p:cNvSpPr txBox="1"/>
          <p:nvPr/>
        </p:nvSpPr>
        <p:spPr>
          <a:xfrm>
            <a:off x="595025" y="6273225"/>
            <a:ext cx="10996131" cy="338554"/>
          </a:xfrm>
          <a:prstGeom prst="rect">
            <a:avLst/>
          </a:prstGeom>
          <a:noFill/>
        </p:spPr>
        <p:txBody>
          <a:bodyPr wrap="square" rtlCol="0">
            <a:spAutoFit/>
          </a:bodyPr>
          <a:lstStyle/>
          <a:p>
            <a:pPr algn="ctr"/>
            <a:r>
              <a:rPr lang="ru-RU" sz="1600" dirty="0">
                <a:latin typeface="Times New Roman" panose="02020603050405020304" pitchFamily="18" charset="0"/>
                <a:cs typeface="Times New Roman" panose="02020603050405020304" pitchFamily="18" charset="0"/>
              </a:rPr>
              <a:t>Рис.</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8. Интерференционная картина</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и остатки до</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и после</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компенсации вибрационных шумов.</a:t>
            </a:r>
            <a:r>
              <a:rPr lang="en-US" sz="1600" dirty="0">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 xmlns:a16="http://schemas.microsoft.com/office/drawing/2014/main" id="{604A0537-671D-4211-BE82-4434C00B09D1}"/>
              </a:ext>
            </a:extLst>
          </p:cNvPr>
          <p:cNvSpPr txBox="1"/>
          <p:nvPr/>
        </p:nvSpPr>
        <p:spPr>
          <a:xfrm>
            <a:off x="11591156" y="6446706"/>
            <a:ext cx="510074" cy="307777"/>
          </a:xfrm>
          <a:prstGeom prst="rect">
            <a:avLst/>
          </a:prstGeom>
          <a:noFill/>
        </p:spPr>
        <p:txBody>
          <a:bodyPr wrap="square" rtlCol="0">
            <a:spAutoFit/>
          </a:bodyPr>
          <a:lstStyle/>
          <a:p>
            <a:r>
              <a:rPr lang="ru-RU" dirty="0"/>
              <a:t> </a:t>
            </a:r>
            <a:r>
              <a:rPr lang="ru-RU" dirty="0" smtClean="0"/>
              <a:t>10</a:t>
            </a:r>
            <a:endParaRPr lang="ru-RU"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 xmlns:a16="http://schemas.microsoft.com/office/drawing/2014/main" id="{21842DF5-87AF-4AFA-A45C-0EC2908FA86D}"/>
                  </a:ext>
                </a:extLst>
              </p:cNvPr>
              <p:cNvSpPr txBox="1"/>
              <p:nvPr/>
            </p:nvSpPr>
            <p:spPr>
              <a:xfrm>
                <a:off x="7163820" y="1055756"/>
                <a:ext cx="2050754" cy="626325"/>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xmlns="">
          <p:sp>
            <p:nvSpPr>
              <p:cNvPr id="11" name="TextBox 10">
                <a:extLst>
                  <a:ext uri="{FF2B5EF4-FFF2-40B4-BE49-F238E27FC236}">
                    <a16:creationId xmlns:a16="http://schemas.microsoft.com/office/drawing/2014/main" xmlns:a14="http://schemas.microsoft.com/office/drawing/2010/main" xmlns="" id="{21842DF5-87AF-4AFA-A45C-0EC2908FA86D}"/>
                  </a:ext>
                </a:extLst>
              </p:cNvPr>
              <p:cNvSpPr txBox="1">
                <a:spLocks noRot="1" noChangeAspect="1" noMove="1" noResize="1" noEditPoints="1" noAdjustHandles="1" noChangeArrowheads="1" noChangeShapeType="1" noTextEdit="1"/>
              </p:cNvSpPr>
              <p:nvPr/>
            </p:nvSpPr>
            <p:spPr>
              <a:xfrm>
                <a:off x="7163820" y="1055756"/>
                <a:ext cx="2050754" cy="626325"/>
              </a:xfrm>
              <a:prstGeom prst="rect">
                <a:avLst/>
              </a:prstGeom>
              <a:blipFill rotWithShape="0">
                <a:blip r:embed="rId2"/>
                <a:stretch>
                  <a:fillRect/>
                </a:stretch>
              </a:blipFill>
              <a:ln w="28575">
                <a:solidFill>
                  <a:srgbClr val="FF0000"/>
                </a:solidFill>
              </a:ln>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 xmlns:a16="http://schemas.microsoft.com/office/drawing/2014/main" id="{65E1332E-B1D6-4008-82C1-20AC426FB8D6}"/>
                  </a:ext>
                </a:extLst>
              </p:cNvPr>
              <p:cNvSpPr txBox="1"/>
              <p:nvPr/>
            </p:nvSpPr>
            <p:spPr>
              <a:xfrm>
                <a:off x="2547878" y="1170370"/>
                <a:ext cx="3779419" cy="397096"/>
              </a:xfrm>
              <a:prstGeom prst="rect">
                <a:avLst/>
              </a:prstGeom>
              <a:noFill/>
              <a:ln w="28575">
                <a:solidFill>
                  <a:srgbClr val="FF0000"/>
                </a:solidFill>
              </a:ln>
            </p:spPr>
            <p:txBody>
              <a:bodyPr wrap="square" rtlCol="0">
                <a:spAutoFit/>
              </a:bodyPr>
              <a:lstStyle/>
              <a:p>
                <a14:m>
                  <m:oMath xmlns:m="http://schemas.openxmlformats.org/officeDocument/2006/math">
                    <m:r>
                      <a:rPr lang="ru-RU" sz="1800" i="1" dirty="0" smtClean="0">
                        <a:latin typeface="Cambria Math" panose="02040503050406030204" pitchFamily="18" charset="0"/>
                        <a:sym typeface="Symbol"/>
                      </a:rPr>
                      <m:t></m:t>
                    </m:r>
                    <m:r>
                      <a:rPr lang="ru-RU" sz="1800" i="1" dirty="0" smtClean="0">
                        <a:latin typeface="Cambria Math" panose="02040503050406030204" pitchFamily="18" charset="0"/>
                      </a:rPr>
                      <m:t>Ф=</m:t>
                    </m:r>
                    <m:sSub>
                      <m:sSubPr>
                        <m:ctrlPr>
                          <a:rPr lang="en-US" sz="1800" b="0" i="1" dirty="0" smtClean="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dirty="0" smtClean="0">
                            <a:latin typeface="Cambria Math" panose="02040503050406030204" pitchFamily="18" charset="0"/>
                          </a:rPr>
                          <m:t>−</m:t>
                        </m:r>
                        <m:r>
                          <a:rPr lang="en-US" sz="1800" b="0" i="1" dirty="0" smtClean="0">
                            <a:latin typeface="Cambria Math" panose="02040503050406030204" pitchFamily="18" charset="0"/>
                          </a:rPr>
                          <m:t>𝑘</m:t>
                        </m:r>
                      </m:e>
                      <m:sub>
                        <m:r>
                          <a:rPr lang="en-US" sz="1800" b="0" i="1" dirty="0" smtClean="0">
                            <a:latin typeface="Cambria Math" panose="02040503050406030204" pitchFamily="18" charset="0"/>
                          </a:rPr>
                          <m:t>𝑒𝑓𝑓</m:t>
                        </m:r>
                      </m:sub>
                    </m:sSub>
                    <m:r>
                      <a:rPr lang="en-US" sz="1800" i="1" dirty="0" smtClean="0">
                        <a:latin typeface="Cambria Math" panose="02040503050406030204" pitchFamily="18" charset="0"/>
                      </a:rPr>
                      <m:t>𝑔</m:t>
                    </m:r>
                    <m:sSup>
                      <m:sSupPr>
                        <m:ctrlPr>
                          <a:rPr lang="en-US" sz="1800" b="0" i="1" dirty="0" smtClean="0">
                            <a:latin typeface="Cambria Math" panose="02040503050406030204" pitchFamily="18" charset="0"/>
                          </a:rPr>
                        </m:ctrlPr>
                      </m:sSupPr>
                      <m:e>
                        <m:r>
                          <a:rPr lang="en-US" sz="1800" i="1" dirty="0" smtClean="0">
                            <a:latin typeface="Cambria Math" panose="02040503050406030204" pitchFamily="18" charset="0"/>
                          </a:rPr>
                          <m:t>𝑇</m:t>
                        </m:r>
                      </m:e>
                      <m:sup>
                        <m:r>
                          <a:rPr lang="en-US" sz="1800" b="0" i="1" dirty="0" smtClean="0">
                            <a:latin typeface="Cambria Math" panose="02040503050406030204" pitchFamily="18" charset="0"/>
                          </a:rPr>
                          <m:t>2</m:t>
                        </m:r>
                      </m:sup>
                    </m:sSup>
                  </m:oMath>
                </a14:m>
                <a:r>
                  <a:rPr lang="en-US" sz="1800" dirty="0"/>
                  <a:t> </a:t>
                </a:r>
                <a:r>
                  <a:rPr lang="ru-RU" sz="1800" dirty="0"/>
                  <a:t>+</a:t>
                </a:r>
                <a14:m>
                  <m:oMath xmlns:m="http://schemas.openxmlformats.org/officeDocument/2006/math">
                    <m:sSub>
                      <m:sSubPr>
                        <m:ctrlPr>
                          <a:rPr lang="ru-RU" sz="1800" i="1" dirty="0">
                            <a:solidFill>
                              <a:schemeClr val="tx1"/>
                            </a:solidFill>
                            <a:latin typeface="Cambria Math" panose="02040503050406030204" pitchFamily="18" charset="0"/>
                          </a:rPr>
                        </m:ctrlPr>
                      </m:sSubPr>
                      <m:e>
                        <m:r>
                          <a:rPr lang="en-US" sz="1800" b="0" i="1" dirty="0" smtClean="0">
                            <a:solidFill>
                              <a:schemeClr val="tx1"/>
                            </a:solidFill>
                            <a:latin typeface="Cambria Math" panose="02040503050406030204" pitchFamily="18" charset="0"/>
                          </a:rPr>
                          <m:t> </m:t>
                        </m:r>
                        <m:r>
                          <a:rPr lang="ru-RU" sz="1800" i="1" dirty="0">
                            <a:solidFill>
                              <a:schemeClr val="tx1"/>
                            </a:solidFill>
                            <a:latin typeface="Cambria Math" panose="02040503050406030204" pitchFamily="18" charset="0"/>
                          </a:rPr>
                          <m:t>Ф</m:t>
                        </m:r>
                      </m:e>
                      <m:sub>
                        <m:r>
                          <a:rPr lang="ru-RU" sz="1800" i="1" dirty="0">
                            <a:solidFill>
                              <a:schemeClr val="tx1"/>
                            </a:solidFill>
                            <a:latin typeface="Cambria Math" panose="02040503050406030204" pitchFamily="18" charset="0"/>
                          </a:rPr>
                          <m:t>виб</m:t>
                        </m:r>
                      </m:sub>
                    </m:sSub>
                  </m:oMath>
                </a14:m>
                <a:endParaRPr lang="ru-RU" sz="1800" dirty="0"/>
              </a:p>
            </p:txBody>
          </p:sp>
        </mc:Choice>
        <mc:Fallback xmlns="">
          <p:sp>
            <p:nvSpPr>
              <p:cNvPr id="12" name="TextBox 11">
                <a:extLst>
                  <a:ext uri="{FF2B5EF4-FFF2-40B4-BE49-F238E27FC236}">
                    <a16:creationId xmlns:a16="http://schemas.microsoft.com/office/drawing/2014/main" xmlns:a14="http://schemas.microsoft.com/office/drawing/2010/main" xmlns="" id="{65E1332E-B1D6-4008-82C1-20AC426FB8D6}"/>
                  </a:ext>
                </a:extLst>
              </p:cNvPr>
              <p:cNvSpPr txBox="1">
                <a:spLocks noRot="1" noChangeAspect="1" noMove="1" noResize="1" noEditPoints="1" noAdjustHandles="1" noChangeArrowheads="1" noChangeShapeType="1" noTextEdit="1"/>
              </p:cNvSpPr>
              <p:nvPr/>
            </p:nvSpPr>
            <p:spPr>
              <a:xfrm>
                <a:off x="2547878" y="1170370"/>
                <a:ext cx="3779419" cy="397096"/>
              </a:xfrm>
              <a:prstGeom prst="rect">
                <a:avLst/>
              </a:prstGeom>
              <a:blipFill rotWithShape="0">
                <a:blip r:embed="rId3"/>
                <a:stretch>
                  <a:fillRect t="-4286" b="-12857"/>
                </a:stretch>
              </a:blipFill>
              <a:ln w="28575">
                <a:solidFill>
                  <a:srgbClr val="FF0000"/>
                </a:solidFill>
              </a:ln>
            </p:spPr>
            <p:txBody>
              <a:bodyPr/>
              <a:lstStyle/>
              <a:p>
                <a:r>
                  <a:rPr lang="ru-RU">
                    <a:noFill/>
                  </a:rPr>
                  <a:t> </a:t>
                </a:r>
              </a:p>
            </p:txBody>
          </p:sp>
        </mc:Fallback>
      </mc:AlternateContent>
      <p:pic>
        <p:nvPicPr>
          <p:cNvPr id="16" name="Рисунок 15" descr="Изображение выглядит как текст, Шрифт, рукописный текст, линия&#10;&#10;Контент, сгенерированный ИИ, может содержать ошибки.">
            <a:extLst>
              <a:ext uri="{FF2B5EF4-FFF2-40B4-BE49-F238E27FC236}">
                <a16:creationId xmlns="" xmlns:a16="http://schemas.microsoft.com/office/drawing/2014/main" id="{2253CE9C-952D-EE63-5BB3-82D275A2B282}"/>
              </a:ext>
            </a:extLst>
          </p:cNvPr>
          <p:cNvPicPr>
            <a:picLocks noChangeAspect="1"/>
          </p:cNvPicPr>
          <p:nvPr/>
        </p:nvPicPr>
        <p:blipFill>
          <a:blip r:embed="rId4"/>
          <a:srcRect l="1540" t="3563" r="874" b="3285"/>
          <a:stretch/>
        </p:blipFill>
        <p:spPr>
          <a:xfrm>
            <a:off x="1696763" y="2022398"/>
            <a:ext cx="8587524" cy="3949668"/>
          </a:xfrm>
          <a:prstGeom prst="rect">
            <a:avLst/>
          </a:prstGeom>
        </p:spPr>
      </p:pic>
    </p:spTree>
    <p:extLst>
      <p:ext uri="{BB962C8B-B14F-4D97-AF65-F5344CB8AC3E}">
        <p14:creationId xmlns:p14="http://schemas.microsoft.com/office/powerpoint/2010/main" val="2824919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15CB82D0-5C6A-372B-D636-A5E7643A4EDC}"/>
              </a:ext>
            </a:extLst>
          </p:cNvPr>
          <p:cNvSpPr txBox="1"/>
          <p:nvPr/>
        </p:nvSpPr>
        <p:spPr>
          <a:xfrm>
            <a:off x="2878667" y="1209244"/>
            <a:ext cx="5723466" cy="1815882"/>
          </a:xfrm>
          <a:prstGeom prst="rect">
            <a:avLst/>
          </a:prstGeom>
          <a:noFill/>
        </p:spPr>
        <p:txBody>
          <a:bodyPr wrap="square" rtlCol="0">
            <a:spAutoFit/>
          </a:bodyPr>
          <a:lstStyle/>
          <a:p>
            <a:r>
              <a:rPr lang="ru-RU" dirty="0"/>
              <a:t>Для проверка системы пост-коррекции мы создавал дополнительное механическое возмущение значительно сильнее обычного возмущения. Сигнал до пост-коррекции – зелёный, после пост-коррекции – красный, аппроксимация – синий. На данном рисунке наглядно виден эффект от пост-коррекции. В результате пост-коррекции чувствительность гравиметра повысилась с 21 </a:t>
            </a:r>
            <a:r>
              <a:rPr lang="ru-RU" dirty="0" err="1"/>
              <a:t>мГал</a:t>
            </a:r>
            <a:r>
              <a:rPr lang="en-US" dirty="0"/>
              <a:t>/</a:t>
            </a:r>
            <a:r>
              <a:rPr lang="ru-RU" dirty="0"/>
              <a:t>Гц</a:t>
            </a:r>
            <a:r>
              <a:rPr lang="en-US" dirty="0"/>
              <a:t>^</a:t>
            </a:r>
            <a:r>
              <a:rPr lang="ru-RU" dirty="0"/>
              <a:t>1</a:t>
            </a:r>
            <a:r>
              <a:rPr lang="en-US" dirty="0"/>
              <a:t>/2 </a:t>
            </a:r>
            <a:r>
              <a:rPr lang="ru-RU" dirty="0"/>
              <a:t>до 10 </a:t>
            </a:r>
            <a:r>
              <a:rPr lang="ru-RU" dirty="0" err="1"/>
              <a:t>мГал</a:t>
            </a:r>
            <a:r>
              <a:rPr lang="en-US" dirty="0"/>
              <a:t>/</a:t>
            </a:r>
            <a:r>
              <a:rPr lang="ru-RU" dirty="0"/>
              <a:t>Гц</a:t>
            </a:r>
            <a:r>
              <a:rPr lang="en-US" dirty="0"/>
              <a:t>^</a:t>
            </a:r>
            <a:r>
              <a:rPr lang="ru-RU" dirty="0"/>
              <a:t>1</a:t>
            </a:r>
            <a:r>
              <a:rPr lang="en-US" dirty="0"/>
              <a:t>/2, </a:t>
            </a:r>
            <a:r>
              <a:rPr lang="ru-RU" dirty="0" err="1"/>
              <a:t>т.е</a:t>
            </a:r>
            <a:r>
              <a:rPr lang="ru-RU" dirty="0"/>
              <a:t> выросла приблизительно в 2 раза.</a:t>
            </a:r>
          </a:p>
        </p:txBody>
      </p:sp>
    </p:spTree>
    <p:extLst>
      <p:ext uri="{BB962C8B-B14F-4D97-AF65-F5344CB8AC3E}">
        <p14:creationId xmlns:p14="http://schemas.microsoft.com/office/powerpoint/2010/main" val="307077152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p:cNvPicPr>
            <a:picLocks noChangeAspect="1"/>
          </p:cNvPicPr>
          <p:nvPr/>
        </p:nvPicPr>
        <p:blipFill>
          <a:blip r:embed="rId2"/>
          <a:stretch>
            <a:fillRect/>
          </a:stretch>
        </p:blipFill>
        <p:spPr>
          <a:xfrm>
            <a:off x="718692" y="1243748"/>
            <a:ext cx="3762715" cy="3576134"/>
          </a:xfrm>
          <a:prstGeom prst="rect">
            <a:avLst/>
          </a:prstGeom>
        </p:spPr>
      </p:pic>
      <p:sp>
        <p:nvSpPr>
          <p:cNvPr id="2" name="Google Shape;438;p41">
            <a:extLst>
              <a:ext uri="{FF2B5EF4-FFF2-40B4-BE49-F238E27FC236}">
                <a16:creationId xmlns="" xmlns:a16="http://schemas.microsoft.com/office/drawing/2014/main" id="{FD46C5F4-A971-4CA4-8EA1-62B295AC1E02}"/>
              </a:ext>
            </a:extLst>
          </p:cNvPr>
          <p:cNvSpPr/>
          <p:nvPr/>
        </p:nvSpPr>
        <p:spPr>
          <a:xfrm>
            <a:off x="3285832" y="140868"/>
            <a:ext cx="5620336" cy="462628"/>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Контраст атомного интерферометра</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 xmlns:a16="http://schemas.microsoft.com/office/drawing/2014/main" id="{604A0537-671D-4211-BE82-4434C00B09D1}"/>
              </a:ext>
            </a:extLst>
          </p:cNvPr>
          <p:cNvSpPr txBox="1"/>
          <p:nvPr/>
        </p:nvSpPr>
        <p:spPr>
          <a:xfrm>
            <a:off x="11591156" y="6446706"/>
            <a:ext cx="510074" cy="307777"/>
          </a:xfrm>
          <a:prstGeom prst="rect">
            <a:avLst/>
          </a:prstGeom>
          <a:noFill/>
        </p:spPr>
        <p:txBody>
          <a:bodyPr wrap="square" rtlCol="0">
            <a:spAutoFit/>
          </a:bodyPr>
          <a:lstStyle/>
          <a:p>
            <a:r>
              <a:rPr lang="ru-RU" dirty="0" smtClean="0"/>
              <a:t>11</a:t>
            </a:r>
            <a:endParaRPr lang="ru-RU" dirty="0"/>
          </a:p>
        </p:txBody>
      </p:sp>
      <mc:AlternateContent xmlns:mc="http://schemas.openxmlformats.org/markup-compatibility/2006" xmlns:a14="http://schemas.microsoft.com/office/drawing/2010/main">
        <mc:Choice Requires="a14">
          <p:sp>
            <p:nvSpPr>
              <p:cNvPr id="4" name="TextBox 3"/>
              <p:cNvSpPr txBox="1"/>
              <p:nvPr/>
            </p:nvSpPr>
            <p:spPr>
              <a:xfrm>
                <a:off x="6748873" y="1376348"/>
                <a:ext cx="4343204" cy="405688"/>
              </a:xfrm>
              <a:prstGeom prst="rect">
                <a:avLst/>
              </a:prstGeom>
              <a:noFill/>
            </p:spPr>
            <p:txBody>
              <a:bodyPr wrap="square" lIns="0" tIns="0" rIns="0" bIns="0" rtlCol="0">
                <a:spAutoFit/>
              </a:bodyPr>
              <a:lstStyle/>
              <a:p>
                <a:r>
                  <a:rPr lang="ru-RU" sz="1600" b="1" dirty="0">
                    <a:latin typeface="Times New Roman" panose="02020603050405020304" pitchFamily="18" charset="0"/>
                    <a:cs typeface="Times New Roman" panose="02020603050405020304" pitchFamily="18" charset="0"/>
                  </a:rPr>
                  <a:t>Погрешность измерений</a:t>
                </a:r>
                <a:r>
                  <a:rPr lang="ru-RU"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g</a:t>
                </a:r>
                <a:r>
                  <a:rPr lang="ru-RU" sz="16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ru-RU" sz="1600" i="1" smtClean="0">
                            <a:latin typeface="Cambria Math" panose="02040503050406030204" pitchFamily="18" charset="0"/>
                          </a:rPr>
                        </m:ctrlPr>
                      </m:sSubPr>
                      <m:e>
                        <m:r>
                          <a:rPr lang="ru-RU" sz="1600" i="1" smtClean="0">
                            <a:latin typeface="Cambria Math" panose="02040503050406030204" pitchFamily="18" charset="0"/>
                            <a:ea typeface="Cambria Math" panose="02040503050406030204" pitchFamily="18" charset="0"/>
                          </a:rPr>
                          <m:t>𝜎</m:t>
                        </m:r>
                      </m:e>
                      <m:sub>
                        <m:r>
                          <a:rPr lang="en-US" sz="1600" b="0" i="1" smtClean="0">
                            <a:latin typeface="Cambria Math" panose="02040503050406030204" pitchFamily="18" charset="0"/>
                          </a:rPr>
                          <m:t>𝑔</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𝑘</m:t>
                            </m:r>
                          </m:e>
                          <m:sub>
                            <m:r>
                              <a:rPr lang="en-US" sz="1600" b="0" i="1" smtClean="0">
                                <a:latin typeface="Cambria Math" panose="02040503050406030204" pitchFamily="18" charset="0"/>
                              </a:rPr>
                              <m:t>𝑒𝑓𝑓</m:t>
                            </m:r>
                          </m:sub>
                        </m:sSub>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𝑇</m:t>
                            </m:r>
                          </m:e>
                          <m:sup>
                            <m:r>
                              <a:rPr lang="en-US" sz="1600" b="0" i="1" smtClean="0">
                                <a:latin typeface="Cambria Math" panose="02040503050406030204" pitchFamily="18" charset="0"/>
                              </a:rPr>
                              <m:t>2</m:t>
                            </m:r>
                          </m:sup>
                        </m:sSup>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rPr>
                          <m:t>𝐶</m:t>
                        </m:r>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𝜎</m:t>
                            </m:r>
                          </m:e>
                          <m:sub>
                            <m:r>
                              <a:rPr lang="en-US" sz="1600" b="0" i="1" smtClean="0">
                                <a:latin typeface="Cambria Math" panose="02040503050406030204" pitchFamily="18" charset="0"/>
                              </a:rPr>
                              <m:t>𝑃</m:t>
                            </m:r>
                          </m:sub>
                        </m:sSub>
                      </m:den>
                    </m:f>
                    <m:r>
                      <a:rPr lang="ru-RU" sz="1600" b="0" i="0" smtClean="0">
                        <a:latin typeface="Cambria Math" panose="02040503050406030204" pitchFamily="18" charset="0"/>
                      </a:rPr>
                      <m:t>,</m:t>
                    </m:r>
                  </m:oMath>
                </a14:m>
                <a:endParaRPr lang="ru-RU" sz="1600" b="0" dirty="0">
                  <a:latin typeface="Times New Roman" panose="020206030504050203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6748873" y="1376348"/>
                <a:ext cx="4343204" cy="405688"/>
              </a:xfrm>
              <a:prstGeom prst="rect">
                <a:avLst/>
              </a:prstGeom>
              <a:blipFill rotWithShape="0">
                <a:blip r:embed="rId3"/>
                <a:stretch>
                  <a:fillRect l="-2805" t="-4545" b="-13636"/>
                </a:stretch>
              </a:blipFill>
            </p:spPr>
            <p:txBody>
              <a:bodyPr/>
              <a:lstStyle/>
              <a:p>
                <a:r>
                  <a:rPr lang="ru-RU">
                    <a:noFill/>
                  </a:rPr>
                  <a:t> </a:t>
                </a:r>
              </a:p>
            </p:txBody>
          </p:sp>
        </mc:Fallback>
      </mc:AlternateContent>
      <p:cxnSp>
        <p:nvCxnSpPr>
          <p:cNvPr id="7" name="Прямая со стрелкой 6"/>
          <p:cNvCxnSpPr/>
          <p:nvPr/>
        </p:nvCxnSpPr>
        <p:spPr>
          <a:xfrm flipH="1">
            <a:off x="3499315" y="1413025"/>
            <a:ext cx="2044212"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Прямая со стрелкой 8"/>
          <p:cNvCxnSpPr/>
          <p:nvPr/>
        </p:nvCxnSpPr>
        <p:spPr>
          <a:xfrm flipH="1">
            <a:off x="4068663" y="4316699"/>
            <a:ext cx="1444414" cy="293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Прямоугольник 14"/>
          <p:cNvSpPr/>
          <p:nvPr/>
        </p:nvSpPr>
        <p:spPr>
          <a:xfrm>
            <a:off x="4790870" y="1037794"/>
            <a:ext cx="652743" cy="338554"/>
          </a:xfrm>
          <a:prstGeom prst="rect">
            <a:avLst/>
          </a:prstGeom>
        </p:spPr>
        <p:txBody>
          <a:bodyPr wrap="none">
            <a:spAutoFit/>
          </a:bodyPr>
          <a:lstStyle/>
          <a:p>
            <a:r>
              <a:rPr lang="en-US" sz="1600" dirty="0" err="1">
                <a:latin typeface="Times New Roman" panose="02020603050405020304" pitchFamily="18" charset="0"/>
                <a:cs typeface="Times New Roman" panose="02020603050405020304" pitchFamily="18" charset="0"/>
              </a:rPr>
              <a:t>Pmax</a:t>
            </a:r>
            <a:endParaRPr lang="en-US" sz="1600" dirty="0">
              <a:latin typeface="Times New Roman" panose="02020603050405020304" pitchFamily="18" charset="0"/>
              <a:cs typeface="Times New Roman" panose="02020603050405020304" pitchFamily="18" charset="0"/>
            </a:endParaRPr>
          </a:p>
        </p:txBody>
      </p:sp>
      <p:sp>
        <p:nvSpPr>
          <p:cNvPr id="16" name="Прямоугольник 15"/>
          <p:cNvSpPr/>
          <p:nvPr/>
        </p:nvSpPr>
        <p:spPr>
          <a:xfrm>
            <a:off x="4807701" y="3941467"/>
            <a:ext cx="619080" cy="338554"/>
          </a:xfrm>
          <a:prstGeom prst="rect">
            <a:avLst/>
          </a:prstGeom>
        </p:spPr>
        <p:txBody>
          <a:bodyPr wrap="none">
            <a:spAutoFit/>
          </a:bodyPr>
          <a:lstStyle/>
          <a:p>
            <a:r>
              <a:rPr lang="en-US" sz="1600" dirty="0" err="1">
                <a:latin typeface="Times New Roman" panose="02020603050405020304" pitchFamily="18" charset="0"/>
                <a:cs typeface="Times New Roman" panose="02020603050405020304" pitchFamily="18" charset="0"/>
              </a:rPr>
              <a:t>Pmin</a:t>
            </a:r>
            <a:endParaRPr lang="en-US" sz="1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TextBox 16"/>
              <p:cNvSpPr txBox="1"/>
              <p:nvPr/>
            </p:nvSpPr>
            <p:spPr>
              <a:xfrm>
                <a:off x="4481407" y="2666308"/>
                <a:ext cx="1511632" cy="5025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ru-RU" sz="1600" b="0" i="1" smtClean="0">
                          <a:latin typeface="Cambria Math" panose="02040503050406030204" pitchFamily="18" charset="0"/>
                        </a:rPr>
                        <m:t>С=</m:t>
                      </m:r>
                      <m:f>
                        <m:fPr>
                          <m:ctrlPr>
                            <a:rPr lang="en-US" sz="1600" b="0" i="1" smtClean="0">
                              <a:latin typeface="Cambria Math" panose="02040503050406030204" pitchFamily="18" charset="0"/>
                            </a:rPr>
                          </m:ctrlPr>
                        </m:fPr>
                        <m:num>
                          <m:sSub>
                            <m:sSubPr>
                              <m:ctrlPr>
                                <a:rPr lang="ru-RU"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𝑚𝑎𝑥</m:t>
                              </m:r>
                            </m:sub>
                          </m:sSub>
                          <m:r>
                            <a:rPr lang="en-US" sz="1600" b="0" i="1" smtClean="0">
                              <a:latin typeface="Cambria Math" panose="02040503050406030204" pitchFamily="18" charset="0"/>
                            </a:rPr>
                            <m:t>−</m:t>
                          </m:r>
                          <m:sSub>
                            <m:sSubPr>
                              <m:ctrlPr>
                                <a:rPr lang="ru-RU"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𝑚</m:t>
                              </m:r>
                              <m:r>
                                <a:rPr lang="en-US" sz="1600" b="0" i="1" smtClean="0">
                                  <a:latin typeface="Cambria Math" panose="02040503050406030204" pitchFamily="18" charset="0"/>
                                </a:rPr>
                                <m:t>𝑖𝑛</m:t>
                              </m:r>
                            </m:sub>
                          </m:sSub>
                        </m:num>
                        <m:den>
                          <m:sSub>
                            <m:sSubPr>
                              <m:ctrlPr>
                                <a:rPr lang="ru-RU" sz="1600" i="1">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𝑚𝑎𝑥</m:t>
                              </m:r>
                            </m:sub>
                          </m:sSub>
                          <m:r>
                            <a:rPr lang="en-US" sz="1600" b="0" i="1" smtClean="0">
                              <a:latin typeface="Cambria Math" panose="02040503050406030204" pitchFamily="18" charset="0"/>
                            </a:rPr>
                            <m:t>+</m:t>
                          </m:r>
                          <m:sSub>
                            <m:sSubPr>
                              <m:ctrlPr>
                                <a:rPr lang="ru-RU" sz="1600" i="1" smtClean="0">
                                  <a:latin typeface="Cambria Math" panose="02040503050406030204" pitchFamily="18" charset="0"/>
                                </a:rPr>
                              </m:ctrlPr>
                            </m:sSubPr>
                            <m:e>
                              <m:r>
                                <a:rPr lang="en-US" sz="1600" i="1">
                                  <a:latin typeface="Cambria Math" panose="02040503050406030204" pitchFamily="18" charset="0"/>
                                </a:rPr>
                                <m:t>𝑃</m:t>
                              </m:r>
                            </m:e>
                            <m:sub>
                              <m:r>
                                <a:rPr lang="en-US" sz="1600" i="1">
                                  <a:latin typeface="Cambria Math" panose="02040503050406030204" pitchFamily="18" charset="0"/>
                                </a:rPr>
                                <m:t>𝑚</m:t>
                              </m:r>
                              <m:r>
                                <a:rPr lang="en-US" sz="1600" b="0" i="1" smtClean="0">
                                  <a:latin typeface="Cambria Math" panose="02040503050406030204" pitchFamily="18" charset="0"/>
                                </a:rPr>
                                <m:t>𝑖𝑛</m:t>
                              </m:r>
                            </m:sub>
                          </m:sSub>
                        </m:den>
                      </m:f>
                    </m:oMath>
                  </m:oMathPara>
                </a14:m>
                <a:endParaRPr lang="ru-RU" sz="1600" dirty="0"/>
              </a:p>
            </p:txBody>
          </p:sp>
        </mc:Choice>
        <mc:Fallback xmlns="">
          <p:sp>
            <p:nvSpPr>
              <p:cNvPr id="17" name="TextBox 16"/>
              <p:cNvSpPr txBox="1">
                <a:spLocks noRot="1" noChangeAspect="1" noMove="1" noResize="1" noEditPoints="1" noAdjustHandles="1" noChangeArrowheads="1" noChangeShapeType="1" noTextEdit="1"/>
              </p:cNvSpPr>
              <p:nvPr/>
            </p:nvSpPr>
            <p:spPr>
              <a:xfrm>
                <a:off x="4481407" y="2666308"/>
                <a:ext cx="1511632" cy="502573"/>
              </a:xfrm>
              <a:prstGeom prst="rect">
                <a:avLst/>
              </a:prstGeom>
              <a:blipFill rotWithShape="0">
                <a:blip r:embed="rId4"/>
                <a:stretch>
                  <a:fillRect/>
                </a:stretch>
              </a:blipFill>
            </p:spPr>
            <p:txBody>
              <a:bodyPr/>
              <a:lstStyle/>
              <a:p>
                <a:r>
                  <a:rPr lang="ru-RU">
                    <a:noFill/>
                  </a:rPr>
                  <a:t> </a:t>
                </a:r>
              </a:p>
            </p:txBody>
          </p:sp>
        </mc:Fallback>
      </mc:AlternateContent>
      <p:sp>
        <p:nvSpPr>
          <p:cNvPr id="18" name="TextBox 17">
            <a:extLst>
              <a:ext uri="{FF2B5EF4-FFF2-40B4-BE49-F238E27FC236}">
                <a16:creationId xmlns="" xmlns:a16="http://schemas.microsoft.com/office/drawing/2014/main" id="{7CFBBB85-1DFE-4038-BF35-8451EAA57176}"/>
              </a:ext>
            </a:extLst>
          </p:cNvPr>
          <p:cNvSpPr txBox="1"/>
          <p:nvPr/>
        </p:nvSpPr>
        <p:spPr>
          <a:xfrm>
            <a:off x="780215" y="4819882"/>
            <a:ext cx="3916399" cy="584775"/>
          </a:xfrm>
          <a:prstGeom prst="rect">
            <a:avLst/>
          </a:prstGeom>
          <a:noFill/>
        </p:spPr>
        <p:txBody>
          <a:bodyPr wrap="square" rtlCol="0">
            <a:spAutoFit/>
          </a:bodyPr>
          <a:lstStyle/>
          <a:p>
            <a:pPr algn="ctr"/>
            <a:r>
              <a:rPr lang="ru-RU" sz="1600" dirty="0">
                <a:latin typeface="Times New Roman" panose="02020603050405020304" pitchFamily="18" charset="0"/>
                <a:cs typeface="Times New Roman" panose="02020603050405020304" pitchFamily="18" charset="0"/>
              </a:rPr>
              <a:t>Рис.</a:t>
            </a:r>
            <a:r>
              <a:rPr lang="en-US" sz="1600" dirty="0">
                <a:latin typeface="Times New Roman" panose="02020603050405020304" pitchFamily="18" charset="0"/>
                <a:cs typeface="Times New Roman" panose="02020603050405020304" pitchFamily="18" charset="0"/>
              </a:rPr>
              <a:t> 9</a:t>
            </a:r>
            <a:r>
              <a:rPr lang="ru-RU" sz="1600" dirty="0">
                <a:latin typeface="Times New Roman" panose="02020603050405020304" pitchFamily="18" charset="0"/>
                <a:cs typeface="Times New Roman" panose="02020603050405020304" pitchFamily="18" charset="0"/>
              </a:rPr>
              <a:t>. </a:t>
            </a:r>
            <a:r>
              <a:rPr lang="ru-RU" sz="1600" dirty="0" smtClean="0">
                <a:latin typeface="Times New Roman" panose="02020603050405020304" pitchFamily="18" charset="0"/>
                <a:cs typeface="Times New Roman" panose="02020603050405020304" pitchFamily="18" charset="0"/>
              </a:rPr>
              <a:t>Типичная интерференционная </a:t>
            </a:r>
            <a:r>
              <a:rPr lang="ru-RU" sz="1600" dirty="0">
                <a:latin typeface="Times New Roman" panose="02020603050405020304" pitchFamily="18" charset="0"/>
                <a:cs typeface="Times New Roman" panose="02020603050405020304" pitchFamily="18" charset="0"/>
              </a:rPr>
              <a:t>картина.</a:t>
            </a:r>
            <a:r>
              <a:rPr lang="en-US" sz="1600" dirty="0">
                <a:latin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20" name="TextBox 19"/>
              <p:cNvSpPr txBox="1"/>
              <p:nvPr/>
            </p:nvSpPr>
            <p:spPr>
              <a:xfrm>
                <a:off x="6974551" y="2704111"/>
                <a:ext cx="95910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ru-RU" sz="1600" b="0" i="1" smtClean="0">
                          <a:latin typeface="Cambria Math" panose="02040503050406030204" pitchFamily="18" charset="0"/>
                        </a:rPr>
                        <m:t>С</m:t>
                      </m:r>
                      <m:r>
                        <a:rPr lang="ru-RU"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 </m:t>
                      </m:r>
                      <m:r>
                        <m:rPr>
                          <m:sty m:val="p"/>
                        </m:rPr>
                        <a:rPr lang="el-GR" sz="1600" b="0" i="1" smtClean="0">
                          <a:latin typeface="Cambria Math" panose="02040503050406030204" pitchFamily="18" charset="0"/>
                          <a:ea typeface="Cambria Math" panose="02040503050406030204" pitchFamily="18" charset="0"/>
                        </a:rPr>
                        <m:t>Ω</m:t>
                      </m:r>
                      <m:r>
                        <a:rPr lang="ru-RU"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𝐼</m:t>
                      </m:r>
                    </m:oMath>
                  </m:oMathPara>
                </a14:m>
                <a:endParaRPr lang="ru-RU" sz="1600" dirty="0"/>
              </a:p>
            </p:txBody>
          </p:sp>
        </mc:Choice>
        <mc:Fallback xmlns="">
          <p:sp>
            <p:nvSpPr>
              <p:cNvPr id="20" name="TextBox 19"/>
              <p:cNvSpPr txBox="1">
                <a:spLocks noRot="1" noChangeAspect="1" noMove="1" noResize="1" noEditPoints="1" noAdjustHandles="1" noChangeArrowheads="1" noChangeShapeType="1" noTextEdit="1"/>
              </p:cNvSpPr>
              <p:nvPr/>
            </p:nvSpPr>
            <p:spPr>
              <a:xfrm>
                <a:off x="6974551" y="2704111"/>
                <a:ext cx="959109" cy="246221"/>
              </a:xfrm>
              <a:prstGeom prst="rect">
                <a:avLst/>
              </a:prstGeom>
              <a:blipFill rotWithShape="0">
                <a:blip r:embed="rId5"/>
                <a:stretch>
                  <a:fillRect l="-3822" r="-3822" b="-750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1" name="Прямоугольник 20"/>
              <p:cNvSpPr/>
              <p:nvPr/>
            </p:nvSpPr>
            <p:spPr>
              <a:xfrm>
                <a:off x="6974551" y="3695245"/>
                <a:ext cx="4425349" cy="830997"/>
              </a:xfrm>
              <a:prstGeom prst="rect">
                <a:avLst/>
              </a:prstGeom>
            </p:spPr>
            <p:txBody>
              <a:bodyPr wrap="square">
                <a:spAutoFit/>
              </a:bodyPr>
              <a:lstStyle/>
              <a:p>
                <a14:m>
                  <m:oMath xmlns:m="http://schemas.openxmlformats.org/officeDocument/2006/math">
                    <m:r>
                      <m:rPr>
                        <m:sty m:val="p"/>
                      </m:rPr>
                      <a:rPr lang="el-GR" sz="1600" i="1" smtClean="0">
                        <a:latin typeface="Cambria Math" panose="02040503050406030204" pitchFamily="18" charset="0"/>
                        <a:ea typeface="Cambria Math" panose="02040503050406030204" pitchFamily="18" charset="0"/>
                      </a:rPr>
                      <m:t>Ω</m:t>
                    </m:r>
                  </m:oMath>
                </a14:m>
                <a:r>
                  <a:rPr lang="ru-RU" sz="1600" dirty="0">
                    <a:latin typeface="Times New Roman" panose="02020603050405020304" pitchFamily="18" charset="0"/>
                    <a:cs typeface="Times New Roman" panose="02020603050405020304" pitchFamily="18" charset="0"/>
                  </a:rPr>
                  <a:t> – частота раби двух-фотонного перехода</a:t>
                </a:r>
                <a:r>
                  <a:rPr lang="ru-RU" sz="1600" dirty="0" smtClean="0">
                    <a:latin typeface="Times New Roman" panose="02020603050405020304" pitchFamily="18" charset="0"/>
                    <a:cs typeface="Times New Roman" panose="02020603050405020304" pitchFamily="18" charset="0"/>
                  </a:rPr>
                  <a:t>,</a:t>
                </a:r>
                <a:endParaRPr lang="en-US" sz="1600" dirty="0" smtClean="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I – </a:t>
                </a:r>
                <a:r>
                  <a:rPr lang="ru-RU" sz="1600" dirty="0" smtClean="0">
                    <a:latin typeface="Times New Roman" panose="02020603050405020304" pitchFamily="18" charset="0"/>
                    <a:cs typeface="Times New Roman" panose="02020603050405020304" pitchFamily="18" charset="0"/>
                  </a:rPr>
                  <a:t>интенсивности рамановских пучков,</a:t>
                </a:r>
                <a:endParaRPr lang="ru-RU" sz="1600" dirty="0">
                  <a:latin typeface="Times New Roman" panose="02020603050405020304" pitchFamily="18" charset="0"/>
                  <a:cs typeface="Times New Roman" panose="02020603050405020304" pitchFamily="18" charset="0"/>
                </a:endParaRPr>
              </a:p>
              <a:p>
                <a14:m>
                  <m:oMath xmlns:m="http://schemas.openxmlformats.org/officeDocument/2006/math">
                    <m:r>
                      <a:rPr lang="en-US" sz="1600" i="1">
                        <a:latin typeface="Cambria Math" panose="02040503050406030204" pitchFamily="18" charset="0"/>
                        <a:ea typeface="Cambria Math" panose="02040503050406030204" pitchFamily="18" charset="0"/>
                      </a:rPr>
                      <m:t>𝜏</m:t>
                    </m:r>
                  </m:oMath>
                </a14:m>
                <a:r>
                  <a:rPr lang="ru-RU" sz="1600" dirty="0">
                    <a:latin typeface="Times New Roman" panose="02020603050405020304" pitchFamily="18" charset="0"/>
                    <a:cs typeface="Times New Roman" panose="02020603050405020304" pitchFamily="18" charset="0"/>
                  </a:rPr>
                  <a:t> – длительность </a:t>
                </a:r>
                <a:r>
                  <a:rPr lang="el-GR" sz="1600" dirty="0">
                    <a:latin typeface="Times New Roman" panose="02020603050405020304" pitchFamily="18" charset="0"/>
                    <a:cs typeface="Times New Roman" panose="02020603050405020304" pitchFamily="18" charset="0"/>
                  </a:rPr>
                  <a:t>π</a:t>
                </a:r>
                <a:r>
                  <a:rPr lang="ru-RU" sz="1600" dirty="0">
                    <a:latin typeface="Times New Roman" panose="02020603050405020304" pitchFamily="18" charset="0"/>
                    <a:cs typeface="Times New Roman" panose="02020603050405020304" pitchFamily="18" charset="0"/>
                  </a:rPr>
                  <a:t>/2-импульса.</a:t>
                </a:r>
              </a:p>
            </p:txBody>
          </p:sp>
        </mc:Choice>
        <mc:Fallback xmlns="">
          <p:sp>
            <p:nvSpPr>
              <p:cNvPr id="21" name="Прямоугольник 20"/>
              <p:cNvSpPr>
                <a:spLocks noRot="1" noChangeAspect="1" noMove="1" noResize="1" noEditPoints="1" noAdjustHandles="1" noChangeArrowheads="1" noChangeShapeType="1" noTextEdit="1"/>
              </p:cNvSpPr>
              <p:nvPr/>
            </p:nvSpPr>
            <p:spPr>
              <a:xfrm>
                <a:off x="6974551" y="3695245"/>
                <a:ext cx="4425349" cy="830997"/>
              </a:xfrm>
              <a:prstGeom prst="rect">
                <a:avLst/>
              </a:prstGeom>
              <a:blipFill rotWithShape="0">
                <a:blip r:embed="rId6"/>
                <a:stretch>
                  <a:fillRect l="-689" t="-2206" b="-8824"/>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866078B1-4A6F-400F-8FDB-55ED181E0378}"/>
                  </a:ext>
                </a:extLst>
              </p:cNvPr>
              <p:cNvSpPr txBox="1"/>
              <p:nvPr/>
            </p:nvSpPr>
            <p:spPr>
              <a:xfrm>
                <a:off x="6974550" y="2116709"/>
                <a:ext cx="2521141" cy="51533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i="1">
                          <a:latin typeface="Cambria Math" panose="02040503050406030204" pitchFamily="18" charset="0"/>
                        </a:rPr>
                        <m:t>P</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m:rPr>
                              <m:sty m:val="p"/>
                            </m:rPr>
                            <a:rPr lang="el-GR" b="0" i="1" smtClean="0">
                              <a:latin typeface="Cambria Math" panose="02040503050406030204" pitchFamily="18" charset="0"/>
                            </a:rPr>
                            <m:t>Ω</m:t>
                          </m:r>
                        </m:num>
                        <m:den>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r>
                                    <m:rPr>
                                      <m:sty m:val="p"/>
                                    </m:rPr>
                                    <a:rPr lang="el-GR" i="1">
                                      <a:latin typeface="Cambria Math" panose="02040503050406030204" pitchFamily="18" charset="0"/>
                                    </a:rPr>
                                    <m:t>Ω</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𝛿</m:t>
                                  </m:r>
                                </m:e>
                                <m:sup>
                                  <m:r>
                                    <a:rPr lang="en-US" b="0" i="1" smtClean="0">
                                      <a:latin typeface="Cambria Math" panose="02040503050406030204" pitchFamily="18" charset="0"/>
                                    </a:rPr>
                                    <m:t>2</m:t>
                                  </m:r>
                                </m:sup>
                              </m:sSup>
                            </m:e>
                          </m:rad>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𝑠𝑖𝑛</m:t>
                          </m:r>
                        </m:e>
                        <m:sup>
                          <m:r>
                            <a:rPr lang="en-US" b="0" i="1" smtClean="0">
                              <a:latin typeface="Cambria Math" panose="02040503050406030204" pitchFamily="18" charset="0"/>
                            </a:rPr>
                            <m:t>2</m:t>
                          </m:r>
                        </m:sup>
                      </m:sSup>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m:rPr>
                                          <m:sty m:val="p"/>
                                        </m:rPr>
                                        <a:rPr lang="el-GR" i="1">
                                          <a:latin typeface="Cambria Math" panose="02040503050406030204" pitchFamily="18" charset="0"/>
                                        </a:rPr>
                                        <m:t>Ω</m:t>
                                      </m:r>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𝛿</m:t>
                                      </m:r>
                                    </m:e>
                                    <m:sup>
                                      <m:r>
                                        <a:rPr lang="en-US" i="1">
                                          <a:latin typeface="Cambria Math" panose="02040503050406030204" pitchFamily="18" charset="0"/>
                                        </a:rPr>
                                        <m:t>2</m:t>
                                      </m:r>
                                    </m:sup>
                                  </m:sSup>
                                </m:e>
                              </m:rad>
                              <m:r>
                                <a:rPr lang="en-US" b="0" i="1" smtClean="0">
                                  <a:latin typeface="Cambria Math" panose="02040503050406030204" pitchFamily="18" charset="0"/>
                                  <a:ea typeface="Cambria Math" panose="02040503050406030204" pitchFamily="18" charset="0"/>
                                </a:rPr>
                                <m:t>𝑡</m:t>
                              </m:r>
                            </m:num>
                            <m:den>
                              <m:r>
                                <a:rPr lang="en-US" b="0" i="1" smtClean="0">
                                  <a:latin typeface="Cambria Math" panose="02040503050406030204" pitchFamily="18" charset="0"/>
                                </a:rPr>
                                <m:t>2</m:t>
                              </m:r>
                            </m:den>
                          </m:f>
                        </m:e>
                      </m:d>
                    </m:oMath>
                  </m:oMathPara>
                </a14:m>
                <a:endParaRPr lang="ru-RU" dirty="0"/>
              </a:p>
            </p:txBody>
          </p:sp>
        </mc:Choice>
        <mc:Fallback xmlns="">
          <p:sp>
            <p:nvSpPr>
              <p:cNvPr id="14" name="TextBox 13">
                <a:extLst>
                  <a:ext uri="{FF2B5EF4-FFF2-40B4-BE49-F238E27FC236}">
                    <a16:creationId xmlns="" xmlns:a16="http://schemas.microsoft.com/office/drawing/2014/main" xmlns:a14="http://schemas.microsoft.com/office/drawing/2010/main" id="{866078B1-4A6F-400F-8FDB-55ED181E0378}"/>
                  </a:ext>
                </a:extLst>
              </p:cNvPr>
              <p:cNvSpPr txBox="1">
                <a:spLocks noRot="1" noChangeAspect="1" noMove="1" noResize="1" noEditPoints="1" noAdjustHandles="1" noChangeArrowheads="1" noChangeShapeType="1" noTextEdit="1"/>
              </p:cNvSpPr>
              <p:nvPr/>
            </p:nvSpPr>
            <p:spPr>
              <a:xfrm>
                <a:off x="6974550" y="2116709"/>
                <a:ext cx="2521141" cy="515334"/>
              </a:xfrm>
              <a:prstGeom prst="rect">
                <a:avLst/>
              </a:prstGeom>
              <a:blipFill rotWithShape="0">
                <a:blip r:embed="rId7"/>
                <a:stretch>
                  <a:fillRect b="-1176"/>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6974551" y="3157605"/>
                <a:ext cx="535916" cy="4626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1600" b="0" i="1" smtClean="0">
                          <a:latin typeface="Cambria Math" panose="02040503050406030204" pitchFamily="18" charset="0"/>
                          <a:ea typeface="Cambria Math" panose="02040503050406030204" pitchFamily="18" charset="0"/>
                        </a:rPr>
                        <m:t>Ω</m:t>
                      </m:r>
                      <m:r>
                        <a:rPr lang="en-US" sz="1600" b="0" i="1" smtClean="0">
                          <a:latin typeface="Cambria Math" panose="02040503050406030204" pitchFamily="18" charset="0"/>
                          <a:ea typeface="Cambria Math" panose="02040503050406030204" pitchFamily="18" charset="0"/>
                        </a:rPr>
                        <m:t> ~</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1</m:t>
                          </m:r>
                        </m:num>
                        <m:den>
                          <m:r>
                            <a:rPr lang="en-US" sz="1600" b="0" i="1" smtClean="0">
                              <a:latin typeface="Cambria Math" panose="02040503050406030204" pitchFamily="18" charset="0"/>
                              <a:ea typeface="Cambria Math" panose="02040503050406030204" pitchFamily="18" charset="0"/>
                            </a:rPr>
                            <m:t>𝜏</m:t>
                          </m:r>
                        </m:den>
                      </m:f>
                    </m:oMath>
                  </m:oMathPara>
                </a14:m>
                <a:endParaRPr lang="ru-RU" sz="1600" dirty="0"/>
              </a:p>
            </p:txBody>
          </p:sp>
        </mc:Choice>
        <mc:Fallback xmlns="">
          <p:sp>
            <p:nvSpPr>
              <p:cNvPr id="19" name="TextBox 18"/>
              <p:cNvSpPr txBox="1">
                <a:spLocks noRot="1" noChangeAspect="1" noMove="1" noResize="1" noEditPoints="1" noAdjustHandles="1" noChangeArrowheads="1" noChangeShapeType="1" noTextEdit="1"/>
              </p:cNvSpPr>
              <p:nvPr/>
            </p:nvSpPr>
            <p:spPr>
              <a:xfrm>
                <a:off x="6974551" y="3157605"/>
                <a:ext cx="535916" cy="462627"/>
              </a:xfrm>
              <a:prstGeom prst="rect">
                <a:avLst/>
              </a:prstGeom>
              <a:blipFill rotWithShape="0">
                <a:blip r:embed="rId8"/>
                <a:stretch>
                  <a:fillRect/>
                </a:stretch>
              </a:blipFill>
            </p:spPr>
            <p:txBody>
              <a:bodyPr/>
              <a:lstStyle/>
              <a:p>
                <a:r>
                  <a:rPr lang="ru-RU">
                    <a:noFill/>
                  </a:rPr>
                  <a:t> </a:t>
                </a:r>
              </a:p>
            </p:txBody>
          </p:sp>
        </mc:Fallback>
      </mc:AlternateContent>
    </p:spTree>
    <p:extLst>
      <p:ext uri="{BB962C8B-B14F-4D97-AF65-F5344CB8AC3E}">
        <p14:creationId xmlns:p14="http://schemas.microsoft.com/office/powerpoint/2010/main" val="9453165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a:blip r:embed="rId3"/>
          <a:stretch>
            <a:fillRect/>
          </a:stretch>
        </p:blipFill>
        <p:spPr>
          <a:xfrm>
            <a:off x="4253157" y="1022672"/>
            <a:ext cx="3883938" cy="3696179"/>
          </a:xfrm>
          <a:prstGeom prst="rect">
            <a:avLst/>
          </a:prstGeom>
        </p:spPr>
      </p:pic>
      <p:sp>
        <p:nvSpPr>
          <p:cNvPr id="2" name="Google Shape;438;p41">
            <a:extLst>
              <a:ext uri="{FF2B5EF4-FFF2-40B4-BE49-F238E27FC236}">
                <a16:creationId xmlns="" xmlns:a16="http://schemas.microsoft.com/office/drawing/2014/main" id="{FD46C5F4-A971-4CA4-8EA1-62B295AC1E02}"/>
              </a:ext>
            </a:extLst>
          </p:cNvPr>
          <p:cNvSpPr/>
          <p:nvPr/>
        </p:nvSpPr>
        <p:spPr>
          <a:xfrm>
            <a:off x="2579638" y="109228"/>
            <a:ext cx="6674663" cy="701862"/>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Исследование контраста атомного интерферометра</a:t>
            </a:r>
            <a:endParaRPr sz="1400" b="0" i="0" u="none" strike="noStrike" cap="none" dirty="0">
              <a:solidFill>
                <a:srgbClr val="000000"/>
              </a:solidFill>
              <a:latin typeface="Arial"/>
              <a:ea typeface="Arial"/>
              <a:cs typeface="Arial"/>
              <a:sym typeface="Arial"/>
            </a:endParaRPr>
          </a:p>
        </p:txBody>
      </p:sp>
      <p:sp>
        <p:nvSpPr>
          <p:cNvPr id="4" name="TextBox 3">
            <a:extLst>
              <a:ext uri="{FF2B5EF4-FFF2-40B4-BE49-F238E27FC236}">
                <a16:creationId xmlns="" xmlns:a16="http://schemas.microsoft.com/office/drawing/2014/main" id="{7CFBBB85-1DFE-4038-BF35-8451EAA57176}"/>
              </a:ext>
            </a:extLst>
          </p:cNvPr>
          <p:cNvSpPr txBox="1"/>
          <p:nvPr/>
        </p:nvSpPr>
        <p:spPr>
          <a:xfrm>
            <a:off x="2307517" y="4702215"/>
            <a:ext cx="7576966" cy="584775"/>
          </a:xfrm>
          <a:prstGeom prst="rect">
            <a:avLst/>
          </a:prstGeom>
          <a:noFill/>
        </p:spPr>
        <p:txBody>
          <a:bodyPr wrap="square" rtlCol="0">
            <a:spAutoFit/>
          </a:bodyPr>
          <a:lstStyle/>
          <a:p>
            <a:pPr algn="ctr"/>
            <a:r>
              <a:rPr lang="ru-RU" sz="1600" dirty="0">
                <a:latin typeface="Times New Roman" panose="02020603050405020304" pitchFamily="18" charset="0"/>
                <a:cs typeface="Times New Roman" panose="02020603050405020304" pitchFamily="18" charset="0"/>
              </a:rPr>
              <a:t>Рис.</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10. Модельные и экспериментальные значения контраста в зависимости от времени </a:t>
            </a:r>
            <a:r>
              <a:rPr lang="el-GR" sz="1600" dirty="0">
                <a:latin typeface="Times New Roman" panose="02020603050405020304" pitchFamily="18" charset="0"/>
                <a:cs typeface="Times New Roman" panose="02020603050405020304" pitchFamily="18" charset="0"/>
              </a:rPr>
              <a:t>π</a:t>
            </a:r>
            <a:r>
              <a:rPr lang="en-US" sz="1600" dirty="0">
                <a:latin typeface="Times New Roman" panose="02020603050405020304" pitchFamily="18" charset="0"/>
                <a:cs typeface="Times New Roman" panose="02020603050405020304" pitchFamily="18" charset="0"/>
              </a:rPr>
              <a:t>/2-</a:t>
            </a:r>
            <a:r>
              <a:rPr lang="ru-RU" sz="1600" dirty="0">
                <a:latin typeface="Times New Roman" panose="02020603050405020304" pitchFamily="18" charset="0"/>
                <a:cs typeface="Times New Roman" panose="02020603050405020304" pitchFamily="18" charset="0"/>
              </a:rPr>
              <a:t>импульса для различных времён </a:t>
            </a:r>
            <a:r>
              <a:rPr lang="en-US" sz="1600" dirty="0">
                <a:latin typeface="Times New Roman" panose="02020603050405020304" pitchFamily="18" charset="0"/>
                <a:cs typeface="Times New Roman" panose="02020603050405020304" pitchFamily="18" charset="0"/>
              </a:rPr>
              <a:t>T </a:t>
            </a:r>
            <a:r>
              <a:rPr lang="ru-RU" sz="1600" dirty="0">
                <a:latin typeface="Times New Roman" panose="02020603050405020304" pitchFamily="18" charset="0"/>
                <a:cs typeface="Times New Roman" panose="02020603050405020304" pitchFamily="18" charset="0"/>
              </a:rPr>
              <a:t>между </a:t>
            </a:r>
            <a:r>
              <a:rPr lang="ru-RU" sz="1600" dirty="0" smtClean="0">
                <a:latin typeface="Times New Roman" panose="02020603050405020304" pitchFamily="18" charset="0"/>
                <a:cs typeface="Times New Roman" panose="02020603050405020304" pitchFamily="18" charset="0"/>
              </a:rPr>
              <a:t>импульсами</a:t>
            </a:r>
            <a:r>
              <a:rPr lang="en-US" sz="1600"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6" name="Прямоугольник 5"/>
              <p:cNvSpPr/>
              <p:nvPr/>
            </p:nvSpPr>
            <p:spPr>
              <a:xfrm>
                <a:off x="6564316" y="2541881"/>
                <a:ext cx="1313180" cy="830997"/>
              </a:xfrm>
              <a:prstGeom prst="rect">
                <a:avLst/>
              </a:prstGeom>
            </p:spPr>
            <p:txBody>
              <a:bodyPr wrap="none">
                <a:spAutoFit/>
              </a:bodyPr>
              <a:lstStyle/>
              <a:p>
                <a14:m>
                  <m:oMath xmlns:m="http://schemas.openxmlformats.org/officeDocument/2006/math">
                    <m:r>
                      <m:rPr>
                        <m:sty m:val="p"/>
                      </m:rPr>
                      <a:rPr lang="el-GR" sz="1600" i="1">
                        <a:latin typeface="Cambria Math" panose="02040503050406030204" pitchFamily="18" charset="0"/>
                        <a:ea typeface="Cambria Math" panose="02040503050406030204" pitchFamily="18" charset="0"/>
                      </a:rPr>
                      <m:t>Ω</m:t>
                    </m:r>
                    <m:r>
                      <a:rPr lang="el-GR" sz="1600" i="1">
                        <a:latin typeface="Cambria Math" panose="02040503050406030204" pitchFamily="18" charset="0"/>
                        <a:ea typeface="Cambria Math" panose="02040503050406030204" pitchFamily="18" charset="0"/>
                      </a:rPr>
                      <m:t> </m:t>
                    </m:r>
                  </m:oMath>
                </a14:m>
                <a:r>
                  <a:rPr lang="ru-RU" sz="1600" dirty="0">
                    <a:latin typeface="Times New Roman" panose="02020603050405020304" pitchFamily="18" charset="0"/>
                    <a:cs typeface="Times New Roman" panose="02020603050405020304" pitchFamily="18" charset="0"/>
                  </a:rPr>
                  <a:t>= </a:t>
                </a:r>
                <a:r>
                  <a:rPr lang="el-GR" sz="1600" dirty="0">
                    <a:latin typeface="Times New Roman" panose="02020603050405020304" pitchFamily="18" charset="0"/>
                    <a:cs typeface="Times New Roman" panose="02020603050405020304" pitchFamily="18" charset="0"/>
                  </a:rPr>
                  <a:t>π</a:t>
                </a:r>
                <a:r>
                  <a:rPr lang="en-US" sz="1600" dirty="0">
                    <a:latin typeface="Times New Roman" panose="02020603050405020304" pitchFamily="18" charset="0"/>
                    <a:cs typeface="Times New Roman" panose="02020603050405020304" pitchFamily="18" charset="0"/>
                  </a:rPr>
                  <a:t>/2</a:t>
                </a:r>
                <a:r>
                  <a:rPr lang="el-GR" sz="1600" dirty="0">
                    <a:latin typeface="Times New Roman" panose="02020603050405020304" pitchFamily="18" charset="0"/>
                    <a:cs typeface="Times New Roman" panose="02020603050405020304" pitchFamily="18" charset="0"/>
                  </a:rPr>
                  <a:t>τ</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w = 7</a:t>
                </a:r>
                <a:r>
                  <a:rPr lang="ru-RU" sz="1600"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5 </a:t>
                </a:r>
                <a:r>
                  <a:rPr lang="ru-RU" sz="1600" dirty="0">
                    <a:latin typeface="Times New Roman" panose="02020603050405020304" pitchFamily="18" charset="0"/>
                    <a:cs typeface="Times New Roman" panose="02020603050405020304" pitchFamily="18" charset="0"/>
                  </a:rPr>
                  <a:t>мм</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a:t>
                </a:r>
                <a:r>
                  <a:rPr lang="en-US" sz="1600" baseline="-25000" dirty="0">
                    <a:latin typeface="Times New Roman" panose="02020603050405020304" pitchFamily="18" charset="0"/>
                    <a:cs typeface="Times New Roman" panose="02020603050405020304" pitchFamily="18" charset="0"/>
                  </a:rPr>
                  <a:t>a</a:t>
                </a:r>
                <a:r>
                  <a:rPr lang="en-US" sz="1600" dirty="0">
                    <a:latin typeface="Times New Roman" panose="02020603050405020304" pitchFamily="18" charset="0"/>
                    <a:cs typeface="Times New Roman" panose="02020603050405020304" pitchFamily="18" charset="0"/>
                  </a:rPr>
                  <a:t> = 5,5 </a:t>
                </a:r>
                <a:r>
                  <a:rPr lang="ru-RU" sz="1600" dirty="0" err="1">
                    <a:latin typeface="Times New Roman" panose="02020603050405020304" pitchFamily="18" charset="0"/>
                    <a:cs typeface="Times New Roman" panose="02020603050405020304" pitchFamily="18" charset="0"/>
                  </a:rPr>
                  <a:t>мкК</a:t>
                </a:r>
                <a:r>
                  <a:rPr lang="en-US" sz="1600" dirty="0">
                    <a:latin typeface="Times New Roman" panose="02020603050405020304" pitchFamily="18" charset="0"/>
                    <a:cs typeface="Times New Roman" panose="02020603050405020304" pitchFamily="18" charset="0"/>
                  </a:rPr>
                  <a:t> </a:t>
                </a:r>
                <a:endParaRPr lang="ru-RU" sz="1600" dirty="0">
                  <a:latin typeface="Times New Roman" panose="02020603050405020304" pitchFamily="18" charset="0"/>
                  <a:cs typeface="Times New Roman" panose="02020603050405020304" pitchFamily="18" charset="0"/>
                </a:endParaRP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6564316" y="2541881"/>
                <a:ext cx="1313180" cy="830997"/>
              </a:xfrm>
              <a:prstGeom prst="rect">
                <a:avLst/>
              </a:prstGeom>
              <a:blipFill rotWithShape="0">
                <a:blip r:embed="rId4"/>
                <a:stretch>
                  <a:fillRect l="-2791" t="-2206" b="-8824"/>
                </a:stretch>
              </a:blipFill>
            </p:spPr>
            <p:txBody>
              <a:bodyPr/>
              <a:lstStyle/>
              <a:p>
                <a:r>
                  <a:rPr lang="ru-RU">
                    <a:noFill/>
                  </a:rPr>
                  <a:t> </a:t>
                </a:r>
              </a:p>
            </p:txBody>
          </p:sp>
        </mc:Fallback>
      </mc:AlternateContent>
      <p:sp>
        <p:nvSpPr>
          <p:cNvPr id="7" name="TextBox 6">
            <a:extLst>
              <a:ext uri="{FF2B5EF4-FFF2-40B4-BE49-F238E27FC236}">
                <a16:creationId xmlns="" xmlns:a16="http://schemas.microsoft.com/office/drawing/2014/main" id="{604A0537-671D-4211-BE82-4434C00B09D1}"/>
              </a:ext>
            </a:extLst>
          </p:cNvPr>
          <p:cNvSpPr txBox="1"/>
          <p:nvPr/>
        </p:nvSpPr>
        <p:spPr>
          <a:xfrm>
            <a:off x="11591156" y="6446706"/>
            <a:ext cx="510074" cy="307777"/>
          </a:xfrm>
          <a:prstGeom prst="rect">
            <a:avLst/>
          </a:prstGeom>
          <a:noFill/>
        </p:spPr>
        <p:txBody>
          <a:bodyPr wrap="square" rtlCol="0">
            <a:spAutoFit/>
          </a:bodyPr>
          <a:lstStyle/>
          <a:p>
            <a:r>
              <a:rPr lang="ru-RU" dirty="0" smtClean="0"/>
              <a:t>12</a:t>
            </a:r>
            <a:endParaRPr lang="ru-RU" dirty="0"/>
          </a:p>
        </p:txBody>
      </p:sp>
      <p:sp>
        <p:nvSpPr>
          <p:cNvPr id="13" name="TextBox 12">
            <a:extLst>
              <a:ext uri="{FF2B5EF4-FFF2-40B4-BE49-F238E27FC236}">
                <a16:creationId xmlns="" xmlns:a16="http://schemas.microsoft.com/office/drawing/2014/main" id="{2C1FB3F0-41E9-4CCA-B1F8-0B62A5A00C1F}"/>
              </a:ext>
            </a:extLst>
          </p:cNvPr>
          <p:cNvSpPr txBox="1"/>
          <p:nvPr/>
        </p:nvSpPr>
        <p:spPr>
          <a:xfrm>
            <a:off x="6549527" y="2119323"/>
            <a:ext cx="1189973" cy="523220"/>
          </a:xfrm>
          <a:prstGeom prst="rect">
            <a:avLst/>
          </a:prstGeom>
          <a:noFill/>
        </p:spPr>
        <p:txBody>
          <a:bodyPr wrap="square" rtlCol="0">
            <a:spAutoFit/>
          </a:bodyPr>
          <a:lstStyle/>
          <a:p>
            <a:pPr algn="ctr"/>
            <a:r>
              <a:rPr lang="ru-RU" b="1" dirty="0">
                <a:latin typeface="Times New Roman" panose="02020603050405020304" pitchFamily="18" charset="0"/>
                <a:cs typeface="Times New Roman" panose="02020603050405020304" pitchFamily="18" charset="0"/>
              </a:rPr>
              <a:t>Параметры модели</a:t>
            </a:r>
            <a:r>
              <a:rPr lang="en-US" b="1" dirty="0">
                <a:latin typeface="Times New Roman" panose="02020603050405020304" pitchFamily="18" charset="0"/>
                <a:cs typeface="Times New Roman" panose="02020603050405020304" pitchFamily="18" charset="0"/>
              </a:rPr>
              <a:t>:</a:t>
            </a:r>
            <a:endParaRPr lang="ru-RU"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663734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3369983" y="1127077"/>
            <a:ext cx="4761446" cy="4631883"/>
          </a:xfrm>
          <a:prstGeom prst="rect">
            <a:avLst/>
          </a:prstGeom>
        </p:spPr>
      </p:pic>
      <p:sp>
        <p:nvSpPr>
          <p:cNvPr id="2" name="Google Shape;438;p41">
            <a:extLst>
              <a:ext uri="{FF2B5EF4-FFF2-40B4-BE49-F238E27FC236}">
                <a16:creationId xmlns="" xmlns:a16="http://schemas.microsoft.com/office/drawing/2014/main" id="{DACF6021-8B76-1A62-9943-EA6EFAB79205}"/>
              </a:ext>
            </a:extLst>
          </p:cNvPr>
          <p:cNvSpPr/>
          <p:nvPr/>
        </p:nvSpPr>
        <p:spPr>
          <a:xfrm>
            <a:off x="2582334" y="83828"/>
            <a:ext cx="7445130" cy="881372"/>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Зависимость чувствительности гравиметра от времени цикла гравиметра</a:t>
            </a:r>
            <a:endParaRPr sz="1400" b="0" i="0" u="none" strike="noStrike" cap="none" dirty="0">
              <a:solidFill>
                <a:srgbClr val="000000"/>
              </a:solidFill>
              <a:latin typeface="Arial"/>
              <a:ea typeface="Arial"/>
              <a:cs typeface="Arial"/>
              <a:sym typeface="Arial"/>
            </a:endParaRPr>
          </a:p>
        </p:txBody>
      </p:sp>
      <p:sp>
        <p:nvSpPr>
          <p:cNvPr id="7" name="TextBox 6">
            <a:extLst>
              <a:ext uri="{FF2B5EF4-FFF2-40B4-BE49-F238E27FC236}">
                <a16:creationId xmlns="" xmlns:a16="http://schemas.microsoft.com/office/drawing/2014/main" id="{2FE1B03F-2317-3058-A476-82E1BC7681C9}"/>
              </a:ext>
            </a:extLst>
          </p:cNvPr>
          <p:cNvSpPr txBox="1"/>
          <p:nvPr/>
        </p:nvSpPr>
        <p:spPr>
          <a:xfrm>
            <a:off x="11591156" y="6446706"/>
            <a:ext cx="510074" cy="307777"/>
          </a:xfrm>
          <a:prstGeom prst="rect">
            <a:avLst/>
          </a:prstGeom>
          <a:noFill/>
        </p:spPr>
        <p:txBody>
          <a:bodyPr wrap="square" rtlCol="0">
            <a:spAutoFit/>
          </a:bodyPr>
          <a:lstStyle/>
          <a:p>
            <a:r>
              <a:rPr lang="ru-RU" dirty="0"/>
              <a:t>13</a:t>
            </a:r>
          </a:p>
        </p:txBody>
      </p:sp>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848FF9D8-F1B7-5D99-7BC0-8106CAA55261}"/>
                  </a:ext>
                </a:extLst>
              </p:cNvPr>
              <p:cNvSpPr txBox="1"/>
              <p:nvPr/>
            </p:nvSpPr>
            <p:spPr>
              <a:xfrm>
                <a:off x="4790266" y="2154976"/>
                <a:ext cx="3433363" cy="608115"/>
              </a:xfrm>
              <a:prstGeom prst="rect">
                <a:avLst/>
              </a:prstGeom>
              <a:noFill/>
            </p:spPr>
            <p:txBody>
              <a:bodyPr wrap="square" rtlCol="0">
                <a:spAutoFit/>
              </a:bodyPr>
              <a:lstStyle/>
              <a:p>
                <a:pPr algn="ctr"/>
                <a:r>
                  <a:rPr lang="ru-RU" sz="1600" b="1" dirty="0">
                    <a:latin typeface="Times New Roman" panose="02020603050405020304" pitchFamily="18" charset="0"/>
                    <a:cs typeface="Times New Roman" panose="02020603050405020304" pitchFamily="18" charset="0"/>
                  </a:rPr>
                  <a:t>Стабильность квантового гравиметра </a:t>
                </a:r>
                <a14:m>
                  <m:oMath xmlns:m="http://schemas.openxmlformats.org/officeDocument/2006/math">
                    <m:sSub>
                      <m:sSubPr>
                        <m:ctrlPr>
                          <a:rPr lang="ru-RU" sz="1600" b="1" i="1" smtClean="0">
                            <a:latin typeface="Cambria Math" panose="02040503050406030204" pitchFamily="18" charset="0"/>
                          </a:rPr>
                        </m:ctrlPr>
                      </m:sSubPr>
                      <m:e>
                        <m:r>
                          <a:rPr lang="ru-RU" sz="1600" b="1" i="1" smtClean="0">
                            <a:latin typeface="Cambria Math" panose="02040503050406030204" pitchFamily="18" charset="0"/>
                            <a:ea typeface="Cambria Math" panose="02040503050406030204" pitchFamily="18" charset="0"/>
                          </a:rPr>
                          <m:t>𝝈</m:t>
                        </m:r>
                      </m:e>
                      <m:sub>
                        <m:r>
                          <a:rPr lang="en-US" sz="1600" b="1" i="1" smtClean="0">
                            <a:latin typeface="Cambria Math" panose="02040503050406030204" pitchFamily="18" charset="0"/>
                          </a:rPr>
                          <m:t>𝒈</m:t>
                        </m:r>
                      </m:sub>
                    </m:sSub>
                    <m:r>
                      <a:rPr lang="en-US" sz="1600" b="1" i="0" smtClean="0">
                        <a:latin typeface="Cambria Math" panose="02040503050406030204" pitchFamily="18" charset="0"/>
                      </a:rPr>
                      <m:t>:</m:t>
                    </m:r>
                  </m:oMath>
                </a14:m>
                <a:endParaRPr lang="en-US" sz="1600" b="1" dirty="0">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 xmlns:a16="http://schemas.microsoft.com/office/drawing/2014/main" xmlns:a14="http://schemas.microsoft.com/office/drawing/2010/main" id="{848FF9D8-F1B7-5D99-7BC0-8106CAA55261}"/>
                  </a:ext>
                </a:extLst>
              </p:cNvPr>
              <p:cNvSpPr txBox="1">
                <a:spLocks noRot="1" noChangeAspect="1" noMove="1" noResize="1" noEditPoints="1" noAdjustHandles="1" noChangeArrowheads="1" noChangeShapeType="1" noTextEdit="1"/>
              </p:cNvSpPr>
              <p:nvPr/>
            </p:nvSpPr>
            <p:spPr>
              <a:xfrm>
                <a:off x="4790266" y="2154976"/>
                <a:ext cx="3433363" cy="608115"/>
              </a:xfrm>
              <a:prstGeom prst="rect">
                <a:avLst/>
              </a:prstGeom>
              <a:blipFill rotWithShape="0">
                <a:blip r:embed="rId3"/>
                <a:stretch>
                  <a:fillRect t="-3030" b="-9091"/>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5C0D6F46-EFEF-26BA-3832-B263B5D0EBE8}"/>
                  </a:ext>
                </a:extLst>
              </p:cNvPr>
              <p:cNvSpPr txBox="1"/>
              <p:nvPr/>
            </p:nvSpPr>
            <p:spPr>
              <a:xfrm>
                <a:off x="6029540" y="2714675"/>
                <a:ext cx="954813" cy="2861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ru-RU" sz="1600" i="1" smtClean="0">
                              <a:latin typeface="Cambria Math" panose="02040503050406030204" pitchFamily="18" charset="0"/>
                            </a:rPr>
                          </m:ctrlPr>
                        </m:sSubPr>
                        <m:e>
                          <m:r>
                            <a:rPr lang="ru-RU" sz="1600" i="1" smtClean="0">
                              <a:latin typeface="Cambria Math" panose="02040503050406030204" pitchFamily="18" charset="0"/>
                              <a:ea typeface="Cambria Math" panose="02040503050406030204" pitchFamily="18" charset="0"/>
                            </a:rPr>
                            <m:t>𝜎</m:t>
                          </m:r>
                        </m:e>
                        <m:sub>
                          <m:r>
                            <a:rPr lang="en-US" sz="1600" b="0" i="1" smtClean="0">
                              <a:latin typeface="Cambria Math" panose="02040503050406030204" pitchFamily="18" charset="0"/>
                            </a:rPr>
                            <m:t>𝑔</m:t>
                          </m:r>
                        </m:sub>
                      </m:sSub>
                      <m:r>
                        <a:rPr lang="en-US" sz="1600" b="0" i="1" smtClean="0">
                          <a:latin typeface="Cambria Math" panose="02040503050406030204" pitchFamily="18" charset="0"/>
                        </a:rPr>
                        <m:t>=</m:t>
                      </m:r>
                      <m:r>
                        <a:rPr lang="en-US" sz="1600" b="0" i="1" smtClean="0">
                          <a:latin typeface="Cambria Math" panose="02040503050406030204" pitchFamily="18" charset="0"/>
                        </a:rPr>
                        <m:t>𝑠</m:t>
                      </m:r>
                      <m:r>
                        <a:rPr lang="en-US" sz="1600" b="0" i="1"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r>
                            <a:rPr lang="en-US" sz="1600" b="0" i="1" smtClean="0">
                              <a:latin typeface="Cambria Math" panose="02040503050406030204" pitchFamily="18" charset="0"/>
                            </a:rPr>
                            <m:t>𝑡</m:t>
                          </m:r>
                        </m:e>
                      </m:rad>
                    </m:oMath>
                  </m:oMathPara>
                </a14:m>
                <a:endParaRPr lang="ru-RU" sz="1600" dirty="0"/>
              </a:p>
            </p:txBody>
          </p:sp>
        </mc:Choice>
        <mc:Fallback xmlns="">
          <p:sp>
            <p:nvSpPr>
              <p:cNvPr id="9" name="TextBox 8">
                <a:extLst>
                  <a:ext uri="{FF2B5EF4-FFF2-40B4-BE49-F238E27FC236}">
                    <a16:creationId xmlns="" xmlns:a16="http://schemas.microsoft.com/office/drawing/2014/main" xmlns:a14="http://schemas.microsoft.com/office/drawing/2010/main" id="{5C0D6F46-EFEF-26BA-3832-B263B5D0EBE8}"/>
                  </a:ext>
                </a:extLst>
              </p:cNvPr>
              <p:cNvSpPr txBox="1">
                <a:spLocks noRot="1" noChangeAspect="1" noMove="1" noResize="1" noEditPoints="1" noAdjustHandles="1" noChangeArrowheads="1" noChangeShapeType="1" noTextEdit="1"/>
              </p:cNvSpPr>
              <p:nvPr/>
            </p:nvSpPr>
            <p:spPr>
              <a:xfrm>
                <a:off x="6029540" y="2714675"/>
                <a:ext cx="954813" cy="286169"/>
              </a:xfrm>
              <a:prstGeom prst="rect">
                <a:avLst/>
              </a:prstGeom>
              <a:blipFill rotWithShape="0">
                <a:blip r:embed="rId4"/>
                <a:stretch>
                  <a:fillRect l="-1911" r="-2548" b="-23404"/>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1" name="Прямоугольник 10">
                <a:extLst>
                  <a:ext uri="{FF2B5EF4-FFF2-40B4-BE49-F238E27FC236}">
                    <a16:creationId xmlns="" xmlns:a16="http://schemas.microsoft.com/office/drawing/2014/main" id="{DB8C89C8-52E5-49B6-B5EF-F7C46CF45BD8}"/>
                  </a:ext>
                </a:extLst>
              </p:cNvPr>
              <p:cNvSpPr/>
              <p:nvPr/>
            </p:nvSpPr>
            <p:spPr>
              <a:xfrm>
                <a:off x="5574860" y="3037323"/>
                <a:ext cx="2134656" cy="523220"/>
              </a:xfrm>
              <a:prstGeom prst="rect">
                <a:avLst/>
              </a:prstGeom>
            </p:spPr>
            <p:txBody>
              <a:bodyPr wrap="square">
                <a:spAutoFit/>
              </a:bodyPr>
              <a:lstStyle/>
              <a:p>
                <a14:m>
                  <m:oMath xmlns:m="http://schemas.openxmlformats.org/officeDocument/2006/math">
                    <m:r>
                      <a:rPr lang="en-US" b="0" i="1" smtClean="0">
                        <a:latin typeface="Cambria Math" panose="02040503050406030204" pitchFamily="18" charset="0"/>
                        <a:cs typeface="Times New Roman" panose="02020603050405020304" pitchFamily="18" charset="0"/>
                      </a:rPr>
                      <m:t>𝑠</m:t>
                    </m:r>
                  </m:oMath>
                </a14:m>
                <a:r>
                  <a:rPr lang="ru-RU" dirty="0">
                    <a:latin typeface="Times New Roman" panose="02020603050405020304" pitchFamily="18" charset="0"/>
                    <a:cs typeface="Times New Roman" panose="02020603050405020304" pitchFamily="18" charset="0"/>
                  </a:rPr>
                  <a:t> – чувствительность квантового гравиметра</a:t>
                </a:r>
                <a:r>
                  <a:rPr lang="en-US" dirty="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mc:Choice>
        <mc:Fallback xmlns="">
          <p:sp>
            <p:nvSpPr>
              <p:cNvPr id="11" name="Прямоугольник 10">
                <a:extLst>
                  <a:ext uri="{FF2B5EF4-FFF2-40B4-BE49-F238E27FC236}">
                    <a16:creationId xmlns="" xmlns:a16="http://schemas.microsoft.com/office/drawing/2014/main" xmlns:a14="http://schemas.microsoft.com/office/drawing/2010/main" id="{DB8C89C8-52E5-49B6-B5EF-F7C46CF45BD8}"/>
                  </a:ext>
                </a:extLst>
              </p:cNvPr>
              <p:cNvSpPr>
                <a:spLocks noRot="1" noChangeAspect="1" noMove="1" noResize="1" noEditPoints="1" noAdjustHandles="1" noChangeArrowheads="1" noChangeShapeType="1" noTextEdit="1"/>
              </p:cNvSpPr>
              <p:nvPr/>
            </p:nvSpPr>
            <p:spPr>
              <a:xfrm>
                <a:off x="5574860" y="3037323"/>
                <a:ext cx="2134656" cy="523220"/>
              </a:xfrm>
              <a:prstGeom prst="rect">
                <a:avLst/>
              </a:prstGeom>
              <a:blipFill rotWithShape="0">
                <a:blip r:embed="rId5"/>
                <a:stretch>
                  <a:fillRect l="-857" t="-2326" b="-11628"/>
                </a:stretch>
              </a:blipFill>
            </p:spPr>
            <p:txBody>
              <a:bodyPr/>
              <a:lstStyle/>
              <a:p>
                <a:r>
                  <a:rPr lang="ru-RU">
                    <a:noFill/>
                  </a:rPr>
                  <a:t> </a:t>
                </a:r>
              </a:p>
            </p:txBody>
          </p:sp>
        </mc:Fallback>
      </mc:AlternateContent>
      <p:sp>
        <p:nvSpPr>
          <p:cNvPr id="10" name="Прямоугольник 9"/>
          <p:cNvSpPr/>
          <p:nvPr/>
        </p:nvSpPr>
        <p:spPr>
          <a:xfrm>
            <a:off x="2981540" y="5758960"/>
            <a:ext cx="6285552" cy="584775"/>
          </a:xfrm>
          <a:prstGeom prst="rect">
            <a:avLst/>
          </a:prstGeom>
        </p:spPr>
        <p:txBody>
          <a:bodyPr wrap="square">
            <a:spAutoFit/>
          </a:bodyPr>
          <a:lstStyle/>
          <a:p>
            <a:pPr algn="ctr"/>
            <a:r>
              <a:rPr lang="ru-RU" sz="1600" dirty="0">
                <a:latin typeface="Times New Roman" panose="02020603050405020304" pitchFamily="18" charset="0"/>
                <a:cs typeface="Times New Roman" panose="02020603050405020304" pitchFamily="18" charset="0"/>
              </a:rPr>
              <a:t>Рис.</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11. Зависимости стабильности гравиметра от </a:t>
            </a:r>
            <a:r>
              <a:rPr lang="ru-RU" sz="1600" dirty="0" smtClean="0">
                <a:latin typeface="Times New Roman" panose="02020603050405020304" pitchFamily="18" charset="0"/>
                <a:cs typeface="Times New Roman" panose="02020603050405020304" pitchFamily="18" charset="0"/>
              </a:rPr>
              <a:t>времени усреднения </a:t>
            </a:r>
            <a:r>
              <a:rPr lang="ru-RU" sz="1600" dirty="0">
                <a:latin typeface="Times New Roman" panose="02020603050405020304" pitchFamily="18" charset="0"/>
                <a:cs typeface="Times New Roman" panose="02020603050405020304" pitchFamily="18" charset="0"/>
              </a:rPr>
              <a:t>для различных частот опроса </a:t>
            </a:r>
            <a:r>
              <a:rPr lang="ru-RU" sz="1600" dirty="0" smtClean="0">
                <a:latin typeface="Times New Roman" panose="02020603050405020304" pitchFamily="18" charset="0"/>
                <a:cs typeface="Times New Roman" panose="02020603050405020304" pitchFamily="18" charset="0"/>
              </a:rPr>
              <a:t>гравиметра</a:t>
            </a:r>
            <a:r>
              <a:rPr lang="en-US" sz="1600" dirty="0" smtClean="0">
                <a:latin typeface="Times New Roman" panose="02020603050405020304" pitchFamily="18" charset="0"/>
                <a:cs typeface="Times New Roman" panose="02020603050405020304" pitchFamily="18" charset="0"/>
              </a:rPr>
              <a:t> f </a:t>
            </a:r>
            <a:r>
              <a:rPr lang="ru-RU" sz="1600" dirty="0" smtClean="0">
                <a:latin typeface="Times New Roman" panose="02020603050405020304" pitchFamily="18" charset="0"/>
                <a:cs typeface="Times New Roman" panose="02020603050405020304" pitchFamily="18" charset="0"/>
              </a:rPr>
              <a:t>при </a:t>
            </a:r>
            <a:r>
              <a:rPr lang="en-US" sz="1600" dirty="0" smtClean="0">
                <a:latin typeface="Times New Roman" panose="02020603050405020304" pitchFamily="18" charset="0"/>
                <a:cs typeface="Times New Roman" panose="02020603050405020304" pitchFamily="18" charset="0"/>
              </a:rPr>
              <a:t>T = 5 </a:t>
            </a:r>
            <a:r>
              <a:rPr lang="ru-RU" sz="1600" dirty="0" err="1" smtClean="0">
                <a:latin typeface="Times New Roman" panose="02020603050405020304" pitchFamily="18" charset="0"/>
                <a:cs typeface="Times New Roman" panose="02020603050405020304" pitchFamily="18" charset="0"/>
              </a:rPr>
              <a:t>мс</a:t>
            </a:r>
            <a:r>
              <a:rPr lang="ru-RU" sz="1600" dirty="0" smtClean="0">
                <a:latin typeface="Times New Roman" panose="02020603050405020304" pitchFamily="18" charset="0"/>
                <a:cs typeface="Times New Roman" panose="02020603050405020304" pitchFamily="18" charset="0"/>
              </a:rPr>
              <a:t>.</a:t>
            </a:r>
            <a:r>
              <a:rPr lang="en-US" sz="1600" dirty="0" smtClean="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98519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55">
          <a:extLst>
            <a:ext uri="{FF2B5EF4-FFF2-40B4-BE49-F238E27FC236}">
              <a16:creationId xmlns="" xmlns:a16="http://schemas.microsoft.com/office/drawing/2014/main" id="{2A8D5B80-DE45-CA24-8AEC-F7F4E8ABF326}"/>
            </a:ext>
          </a:extLst>
        </p:cNvPr>
        <p:cNvGrpSpPr/>
        <p:nvPr/>
      </p:nvGrpSpPr>
      <p:grpSpPr>
        <a:xfrm>
          <a:off x="0" y="0"/>
          <a:ext cx="0" cy="0"/>
          <a:chOff x="0" y="0"/>
          <a:chExt cx="0" cy="0"/>
        </a:xfrm>
      </p:grpSpPr>
      <p:sp>
        <p:nvSpPr>
          <p:cNvPr id="456" name="Google Shape;456;p43">
            <a:extLst>
              <a:ext uri="{FF2B5EF4-FFF2-40B4-BE49-F238E27FC236}">
                <a16:creationId xmlns="" xmlns:a16="http://schemas.microsoft.com/office/drawing/2014/main" id="{B766B388-3BEE-43F4-D3FB-320633F3096C}"/>
              </a:ext>
            </a:extLst>
          </p:cNvPr>
          <p:cNvSpPr/>
          <p:nvPr/>
        </p:nvSpPr>
        <p:spPr>
          <a:xfrm>
            <a:off x="2440631" y="329667"/>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ru-RU" sz="3200" b="1" i="0" u="none" strike="noStrike" cap="none">
                <a:solidFill>
                  <a:schemeClr val="lt1"/>
                </a:solidFill>
                <a:latin typeface="Times New Roman"/>
                <a:ea typeface="Times New Roman"/>
                <a:cs typeface="Times New Roman"/>
                <a:sym typeface="Times New Roman"/>
              </a:rPr>
              <a:t>Заключение</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mc:Choice xmlns:a14="http://schemas.microsoft.com/office/drawing/2010/main" Requires="a14">
          <p:sp>
            <p:nvSpPr>
              <p:cNvPr id="5" name="Google Shape;340;p8">
                <a:extLst>
                  <a:ext uri="{FF2B5EF4-FFF2-40B4-BE49-F238E27FC236}">
                    <a16:creationId xmlns="" xmlns:a16="http://schemas.microsoft.com/office/drawing/2014/main" id="{137E8DA9-8746-00A9-621F-685812E3E204}"/>
                  </a:ext>
                </a:extLst>
              </p:cNvPr>
              <p:cNvSpPr txBox="1"/>
              <p:nvPr/>
            </p:nvSpPr>
            <p:spPr>
              <a:xfrm>
                <a:off x="1065331" y="928766"/>
                <a:ext cx="9239321" cy="522203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just" rtl="0">
                  <a:lnSpc>
                    <a:spcPct val="100000"/>
                  </a:lnSpc>
                  <a:spcBef>
                    <a:spcPts val="0"/>
                  </a:spcBef>
                  <a:spcAft>
                    <a:spcPts val="1200"/>
                  </a:spcAft>
                  <a:buClr>
                    <a:schemeClr val="dk1"/>
                  </a:buClr>
                  <a:buSzPts val="2400"/>
                </a:pPr>
                <a:endParaRPr lang="ru-RU"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342900" lvl="0" indent="-342900" algn="just">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Реализована система пост-коррекции вибрационного шума для сигнала атомного интерферометра</a:t>
                </a:r>
                <a:r>
                  <a:rPr lang="ru-RU"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sz="1800" dirty="0" smtClean="0">
                    <a:solidFill>
                      <a:schemeClr val="tx1"/>
                    </a:solidFill>
                    <a:latin typeface="Times New Roman" panose="02020603050405020304" pitchFamily="18" charset="0"/>
                    <a:ea typeface="Times New Roman"/>
                    <a:cs typeface="Times New Roman" panose="02020603050405020304" pitchFamily="18" charset="0"/>
                    <a:sym typeface="Times New Roman"/>
                  </a:rPr>
                  <a:t>В результате использования системы</a:t>
                </a:r>
                <a:r>
                  <a:rPr lang="ru-RU" sz="1800" dirty="0" smtClean="0">
                    <a:solidFill>
                      <a:srgbClr val="FF0000"/>
                    </a:solidFill>
                    <a:latin typeface="Times New Roman" panose="02020603050405020304" pitchFamily="18" charset="0"/>
                    <a:ea typeface="Times New Roman"/>
                    <a:cs typeface="Times New Roman" panose="02020603050405020304" pitchFamily="18" charset="0"/>
                    <a:sym typeface="Times New Roman"/>
                  </a:rPr>
                  <a:t> </a:t>
                </a:r>
                <a:r>
                  <a:rPr lang="ru-RU"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чувствительность гравиметра увеличилась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в два раза в условиях повышенных вибрационных возмущений</a:t>
                </a:r>
                <a:r>
                  <a:rPr lang="ru-RU"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a:t>
                </a:r>
                <a:endParaRPr lang="ru-RU" sz="1800" dirty="0">
                  <a:solidFill>
                    <a:srgbClr val="FF0000"/>
                  </a:solidFill>
                  <a:latin typeface="Times New Roman" panose="02020603050405020304" pitchFamily="18" charset="0"/>
                  <a:ea typeface="Times New Roman"/>
                  <a:cs typeface="Times New Roman" panose="02020603050405020304" pitchFamily="18" charset="0"/>
                  <a:sym typeface="Times New Roman"/>
                </a:endParaRPr>
              </a:p>
              <a:p>
                <a:pPr marL="342900" lvl="0" indent="-342900" algn="just">
                  <a:spcAft>
                    <a:spcPts val="1200"/>
                  </a:spcAft>
                  <a:buClr>
                    <a:schemeClr val="dk1"/>
                  </a:buClr>
                  <a:buSzPts val="2400"/>
                  <a:buFont typeface="Times New Roman"/>
                  <a:buChar char="-"/>
                </a:pPr>
                <a:r>
                  <a:rPr lang="ru-RU"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Выполнено экспериментальное исследование зависимости контраста атомного интерферометра </a:t>
                </a:r>
                <a:r>
                  <a:rPr lang="ru-RU"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от </a:t>
                </a:r>
                <a:r>
                  <a:rPr lang="ru-RU"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длительности </a:t>
                </a:r>
                <a:r>
                  <a:rPr lang="el-GR"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π</a:t>
                </a:r>
                <a:r>
                  <a:rPr lang="en-US"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ru-RU"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импульса. В результате оптимизации мощности и длительности рамановских импульсов достигнут максимальный контраст 22 </a:t>
                </a:r>
                <a:r>
                  <a:rPr lang="en-US"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 </a:t>
                </a:r>
              </a:p>
              <a:p>
                <a:pPr marL="342900" lvl="0" indent="-342900" algn="just">
                  <a:spcAft>
                    <a:spcPts val="1200"/>
                  </a:spcAft>
                  <a:buClr>
                    <a:schemeClr val="dk1"/>
                  </a:buClr>
                  <a:buSzPts val="2400"/>
                  <a:buFont typeface="Times New Roman"/>
                  <a:buChar char="-"/>
                </a:pPr>
                <a:r>
                  <a:rPr lang="ru-RU"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Проведено экспериментальное исследование чувствительности квантового гравиметра в зависимости от частоты опросы. По итогу наилучшая чувствительность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2,8 </a:t>
                </a:r>
                <a:r>
                  <a:rPr lang="ru-RU" sz="1800" dirty="0" err="1">
                    <a:solidFill>
                      <a:schemeClr val="dk1"/>
                    </a:solidFill>
                    <a:latin typeface="Times New Roman" panose="02020603050405020304" pitchFamily="18" charset="0"/>
                    <a:ea typeface="Times New Roman"/>
                    <a:cs typeface="Times New Roman" panose="02020603050405020304" pitchFamily="18" charset="0"/>
                    <a:sym typeface="Times New Roman"/>
                  </a:rPr>
                  <a:t>мГал</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a:t>
                </a:r>
                <a14:m>
                  <m:oMath xmlns:m="http://schemas.openxmlformats.org/officeDocument/2006/math">
                    <m:r>
                      <a:rPr lang="en-US" sz="1800" i="1">
                        <a:solidFill>
                          <a:schemeClr val="dk1"/>
                        </a:solidFill>
                        <a:latin typeface="Cambria Math" panose="02040503050406030204" pitchFamily="18" charset="0"/>
                        <a:ea typeface="Times New Roman"/>
                        <a:cs typeface="Times New Roman" panose="02020603050405020304" pitchFamily="18" charset="0"/>
                        <a:sym typeface="Times New Roman"/>
                      </a:rPr>
                      <m:t>√</m:t>
                    </m:r>
                  </m:oMath>
                </a14:m>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Гц</a:t>
                </a:r>
                <a:r>
                  <a:rPr lang="ru-RU" sz="18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 была достигнута при частоте опроса 10 Гц. </a:t>
                </a:r>
              </a:p>
              <a:p>
                <a:pPr marL="342900" lvl="0" indent="-342900" algn="just">
                  <a:spcAft>
                    <a:spcPts val="1200"/>
                  </a:spcAft>
                  <a:buClr>
                    <a:schemeClr val="dk1"/>
                  </a:buClr>
                  <a:buSzPts val="2400"/>
                  <a:buFont typeface="Times New Roman"/>
                  <a:buChar char="-"/>
                </a:pPr>
                <a:endPar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342900" lvl="0" indent="-342900" algn="just">
                  <a:spcAft>
                    <a:spcPts val="1200"/>
                  </a:spcAft>
                  <a:buClr>
                    <a:schemeClr val="dk1"/>
                  </a:buClr>
                  <a:buSzPts val="2400"/>
                  <a:buFont typeface="Times New Roman"/>
                  <a:buChar char="-"/>
                </a:pPr>
                <a:endPar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342900" lvl="0" indent="-342900" algn="just">
                  <a:spcAft>
                    <a:spcPts val="1200"/>
                  </a:spcAft>
                  <a:buClr>
                    <a:schemeClr val="dk1"/>
                  </a:buClr>
                  <a:buSzPts val="2400"/>
                  <a:buFont typeface="Times New Roman"/>
                  <a:buChar char="-"/>
                </a:pPr>
                <a:endPar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342900" lvl="0" indent="-342900" algn="just">
                  <a:spcAft>
                    <a:spcPts val="1200"/>
                  </a:spcAft>
                  <a:buClr>
                    <a:schemeClr val="dk1"/>
                  </a:buClr>
                  <a:buSzPts val="2400"/>
                  <a:buFont typeface="Times New Roman"/>
                  <a:buChar char="-"/>
                </a:pPr>
                <a:endPar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mc:Choice>
        <mc:Fallback>
          <p:sp>
            <p:nvSpPr>
              <p:cNvPr id="5" name="Google Shape;340;p8">
                <a:extLst>
                  <a:ext uri="{FF2B5EF4-FFF2-40B4-BE49-F238E27FC236}">
                    <a16:creationId xmlns="" xmlns:a16="http://schemas.microsoft.com/office/drawing/2014/main" xmlns:a14="http://schemas.microsoft.com/office/drawing/2010/main" id="{137E8DA9-8746-00A9-621F-685812E3E204}"/>
                  </a:ext>
                </a:extLst>
              </p:cNvPr>
              <p:cNvSpPr txBox="1">
                <a:spLocks noRot="1" noChangeAspect="1" noMove="1" noResize="1" noEditPoints="1" noAdjustHandles="1" noChangeArrowheads="1" noChangeShapeType="1" noTextEdit="1"/>
              </p:cNvSpPr>
              <p:nvPr/>
            </p:nvSpPr>
            <p:spPr>
              <a:xfrm>
                <a:off x="1065331" y="928766"/>
                <a:ext cx="9239321" cy="5222030"/>
              </a:xfrm>
              <a:prstGeom prst="rect">
                <a:avLst/>
              </a:prstGeom>
              <a:blipFill rotWithShape="0">
                <a:blip r:embed="rId3"/>
                <a:stretch>
                  <a:fillRect l="-924" r="-528"/>
                </a:stretch>
              </a:blipFill>
              <a:ln>
                <a:noFill/>
              </a:ln>
            </p:spPr>
            <p:txBody>
              <a:bodyPr/>
              <a:lstStyle/>
              <a:p>
                <a:r>
                  <a:rPr lang="ru-RU">
                    <a:noFill/>
                  </a:rPr>
                  <a:t> </a:t>
                </a:r>
              </a:p>
            </p:txBody>
          </p:sp>
        </mc:Fallback>
      </mc:AlternateContent>
      <p:sp>
        <p:nvSpPr>
          <p:cNvPr id="6" name="TextBox 5">
            <a:extLst>
              <a:ext uri="{FF2B5EF4-FFF2-40B4-BE49-F238E27FC236}">
                <a16:creationId xmlns="" xmlns:a16="http://schemas.microsoft.com/office/drawing/2014/main" id="{A6574AE1-2241-61BD-B020-065272383BFF}"/>
              </a:ext>
            </a:extLst>
          </p:cNvPr>
          <p:cNvSpPr txBox="1"/>
          <p:nvPr/>
        </p:nvSpPr>
        <p:spPr>
          <a:xfrm>
            <a:off x="11681926" y="6408575"/>
            <a:ext cx="510074" cy="307777"/>
          </a:xfrm>
          <a:prstGeom prst="rect">
            <a:avLst/>
          </a:prstGeom>
          <a:noFill/>
        </p:spPr>
        <p:txBody>
          <a:bodyPr wrap="square" rtlCol="0">
            <a:spAutoFit/>
          </a:bodyPr>
          <a:lstStyle/>
          <a:p>
            <a:r>
              <a:rPr lang="ru-RU" dirty="0"/>
              <a:t>14</a:t>
            </a:r>
          </a:p>
        </p:txBody>
      </p:sp>
    </p:spTree>
    <p:extLst>
      <p:ext uri="{BB962C8B-B14F-4D97-AF65-F5344CB8AC3E}">
        <p14:creationId xmlns:p14="http://schemas.microsoft.com/office/powerpoint/2010/main" val="2564780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40;p8">
            <a:extLst>
              <a:ext uri="{FF2B5EF4-FFF2-40B4-BE49-F238E27FC236}">
                <a16:creationId xmlns="" xmlns:a16="http://schemas.microsoft.com/office/drawing/2014/main" id="{29231A27-E450-41D8-A924-F74AF49F383D}"/>
              </a:ext>
            </a:extLst>
          </p:cNvPr>
          <p:cNvSpPr txBox="1"/>
          <p:nvPr/>
        </p:nvSpPr>
        <p:spPr>
          <a:xfrm>
            <a:off x="2108129" y="874495"/>
            <a:ext cx="8410322" cy="1107955"/>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rtl="0">
              <a:lnSpc>
                <a:spcPct val="100000"/>
              </a:lnSpc>
              <a:spcBef>
                <a:spcPts val="0"/>
              </a:spcBef>
              <a:spcAft>
                <a:spcPts val="1200"/>
              </a:spcAft>
              <a:buClr>
                <a:schemeClr val="dk1"/>
              </a:buClr>
              <a:buSzPts val="2400"/>
            </a:pPr>
            <a:r>
              <a:rPr lang="ru-RU"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Статьи:</a:t>
            </a:r>
          </a:p>
          <a:p>
            <a:pPr marL="28575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Интерференция ультрахолодных атомов 87 Rb в квантовом гравиметре / Д. Н. Капуста, А. 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 Н. Гончаров [и др.]. — Текст : непосредственный // ЖЭТФ. — 2025. — № 1. — С. 47-54.</a:t>
            </a:r>
          </a:p>
        </p:txBody>
      </p:sp>
      <p:sp>
        <p:nvSpPr>
          <p:cNvPr id="4" name="Google Shape;340;p8">
            <a:extLst>
              <a:ext uri="{FF2B5EF4-FFF2-40B4-BE49-F238E27FC236}">
                <a16:creationId xmlns="" xmlns:a16="http://schemas.microsoft.com/office/drawing/2014/main" id="{29231A27-E450-41D8-A924-F74AF49F383D}"/>
              </a:ext>
            </a:extLst>
          </p:cNvPr>
          <p:cNvSpPr txBox="1"/>
          <p:nvPr/>
        </p:nvSpPr>
        <p:spPr>
          <a:xfrm>
            <a:off x="3781678" y="147329"/>
            <a:ext cx="8410322" cy="615513"/>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rtl="0">
              <a:lnSpc>
                <a:spcPct val="100000"/>
              </a:lnSpc>
              <a:spcBef>
                <a:spcPts val="0"/>
              </a:spcBef>
              <a:spcAft>
                <a:spcPts val="1200"/>
              </a:spcAft>
              <a:buClr>
                <a:schemeClr val="dk1"/>
              </a:buClr>
              <a:buSzPts val="2400"/>
            </a:pPr>
            <a:r>
              <a:rPr lang="ru-RU" sz="2400" b="1" dirty="0">
                <a:solidFill>
                  <a:schemeClr val="dk1"/>
                </a:solidFill>
                <a:latin typeface="Times New Roman" panose="02020603050405020304" pitchFamily="18" charset="0"/>
                <a:ea typeface="Times New Roman"/>
                <a:cs typeface="Times New Roman" panose="02020603050405020304" pitchFamily="18" charset="0"/>
                <a:sym typeface="Times New Roman"/>
              </a:rPr>
              <a:t>Апробация результатов</a:t>
            </a:r>
          </a:p>
        </p:txBody>
      </p:sp>
      <p:sp>
        <p:nvSpPr>
          <p:cNvPr id="5" name="Google Shape;340;p8">
            <a:extLst>
              <a:ext uri="{FF2B5EF4-FFF2-40B4-BE49-F238E27FC236}">
                <a16:creationId xmlns="" xmlns:a16="http://schemas.microsoft.com/office/drawing/2014/main" id="{29231A27-E450-41D8-A924-F74AF49F383D}"/>
              </a:ext>
            </a:extLst>
          </p:cNvPr>
          <p:cNvSpPr txBox="1"/>
          <p:nvPr/>
        </p:nvSpPr>
        <p:spPr>
          <a:xfrm>
            <a:off x="2108129" y="1982450"/>
            <a:ext cx="8410322" cy="4093388"/>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rtl="0">
              <a:lnSpc>
                <a:spcPct val="100000"/>
              </a:lnSpc>
              <a:spcBef>
                <a:spcPts val="0"/>
              </a:spcBef>
              <a:spcAft>
                <a:spcPts val="1200"/>
              </a:spcAft>
              <a:buClr>
                <a:schemeClr val="dk1"/>
              </a:buClr>
              <a:buSzPts val="2400"/>
            </a:pPr>
            <a:r>
              <a:rPr lang="ru-RU"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Конференции</a:t>
            </a:r>
          </a:p>
          <a:p>
            <a:pPr marL="285750" lvl="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Д.Н. Капуста, А.Э.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А.Н. Гончаров, К.Н. Адамов, О.Н. Прудников, А.В.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Тайченачев</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 Интерференция ультрахолодных атомов 87Rb в квантовом гравиметре </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Материалы конференции ФУХА-2024 (Новосибирск). – 2024 декабрь. – с. 29.</a:t>
            </a:r>
          </a:p>
          <a:p>
            <a:pPr marL="28575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Д.Н. Капуста, А.Э.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А.Н. Гончаров, К.Н. Адамов, О.Н. Прудников, А.В.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Тайченачев</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 Интерференция ультрахолодных атомов 87Rb в квантовом гравиметре </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Материалы конференции КВНО-2025 (Санкт-Петербург). – 2025 апрель.</a:t>
            </a:r>
          </a:p>
          <a:p>
            <a:pPr marL="28575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Д.Н. Капуста, А.Э.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А.Н. Гончаров, К.Н. Адамов, О.Н. Прудников, А.В.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Тайченачев</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 Подготовка начального волнового пакета для квантового интерферометра-гравиметра</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Материалы конференции МНСК-2025 (Новосибирск). – 2025 апрель.</a:t>
            </a:r>
          </a:p>
          <a:p>
            <a:pPr marL="285750" lvl="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Д.Н. Капуста, А.Э.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А.Н. Гончаров, К.Н. Адамов/ Подготовка начального волнового пакета для квантового интерферометра-гравиметра </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Материалы конференции </a:t>
            </a:r>
            <a:r>
              <a:rPr lang="en-US" dirty="0" err="1">
                <a:solidFill>
                  <a:schemeClr val="dk1"/>
                </a:solidFill>
                <a:latin typeface="Times New Roman" panose="02020603050405020304" pitchFamily="18" charset="0"/>
                <a:ea typeface="Times New Roman"/>
                <a:cs typeface="Times New Roman" panose="02020603050405020304" pitchFamily="18" charset="0"/>
                <a:sym typeface="Times New Roman"/>
              </a:rPr>
              <a:t>LaserPhys</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-202</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5</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(Новосибирск). – 202</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5</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ноябрь.</a:t>
            </a:r>
          </a:p>
          <a:p>
            <a:pPr marL="285750" indent="-285750">
              <a:spcAft>
                <a:spcPts val="1200"/>
              </a:spcAft>
              <a:buClr>
                <a:schemeClr val="dk1"/>
              </a:buClr>
              <a:buSzPts val="2400"/>
              <a:buFont typeface="Arial" panose="020B0604020202020204" pitchFamily="34" charset="0"/>
              <a:buChar char="•"/>
            </a:pPr>
            <a:endParaRPr lang="ru-RU"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6" name="TextBox 5">
            <a:extLst>
              <a:ext uri="{FF2B5EF4-FFF2-40B4-BE49-F238E27FC236}">
                <a16:creationId xmlns="" xmlns:a16="http://schemas.microsoft.com/office/drawing/2014/main" id="{5836EB2D-2CF5-452C-9CE6-0A5E961FBED9}"/>
              </a:ext>
            </a:extLst>
          </p:cNvPr>
          <p:cNvSpPr txBox="1"/>
          <p:nvPr/>
        </p:nvSpPr>
        <p:spPr>
          <a:xfrm>
            <a:off x="11681925" y="6408575"/>
            <a:ext cx="553617" cy="307777"/>
          </a:xfrm>
          <a:prstGeom prst="rect">
            <a:avLst/>
          </a:prstGeom>
          <a:noFill/>
        </p:spPr>
        <p:txBody>
          <a:bodyPr wrap="square" rtlCol="0">
            <a:spAutoFit/>
          </a:bodyPr>
          <a:lstStyle/>
          <a:p>
            <a:r>
              <a:rPr lang="ru-RU" dirty="0"/>
              <a:t>16</a:t>
            </a:r>
          </a:p>
        </p:txBody>
      </p:sp>
    </p:spTree>
    <p:extLst>
      <p:ext uri="{BB962C8B-B14F-4D97-AF65-F5344CB8AC3E}">
        <p14:creationId xmlns:p14="http://schemas.microsoft.com/office/powerpoint/2010/main" val="878905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38;p41">
            <a:extLst>
              <a:ext uri="{FF2B5EF4-FFF2-40B4-BE49-F238E27FC236}">
                <a16:creationId xmlns="" xmlns:a16="http://schemas.microsoft.com/office/drawing/2014/main" id="{52BC617F-5E2D-4580-9506-94A652B0244A}"/>
              </a:ext>
            </a:extLst>
          </p:cNvPr>
          <p:cNvSpPr/>
          <p:nvPr/>
        </p:nvSpPr>
        <p:spPr>
          <a:xfrm>
            <a:off x="2456856" y="56641"/>
            <a:ext cx="6910755" cy="356845"/>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Функция чувствительности гравиметра</a:t>
            </a:r>
            <a:endParaRPr sz="1400" b="0" i="0" u="none" strike="noStrike" cap="none" dirty="0">
              <a:solidFill>
                <a:srgbClr val="000000"/>
              </a:solidFill>
              <a:latin typeface="Arial"/>
              <a:ea typeface="Arial"/>
              <a:cs typeface="Arial"/>
              <a:sym typeface="Arial"/>
            </a:endParaRPr>
          </a:p>
        </p:txBody>
      </p:sp>
      <mc:AlternateContent xmlns:mc="http://schemas.openxmlformats.org/markup-compatibility/2006" xmlns:a14="http://schemas.microsoft.com/office/drawing/2010/main">
        <mc:Choice Requires="a14">
          <p:sp>
            <p:nvSpPr>
              <p:cNvPr id="4" name="TextBox 3"/>
              <p:cNvSpPr txBox="1"/>
              <p:nvPr/>
            </p:nvSpPr>
            <p:spPr>
              <a:xfrm>
                <a:off x="4245930" y="928144"/>
                <a:ext cx="3087897" cy="376321"/>
              </a:xfrm>
              <a:prstGeom prst="rect">
                <a:avLst/>
              </a:prstGeom>
              <a:noFill/>
            </p:spPr>
            <p:txBody>
              <a:bodyPr wrap="none" lIns="0" tIns="0" rIns="0" bIns="0" rtlCol="0">
                <a:spAutoFit/>
              </a:bodyPr>
              <a:lstStyle/>
              <a:p>
                <a14:m>
                  <m:oMath xmlns:m="http://schemas.openxmlformats.org/officeDocument/2006/math">
                    <m:r>
                      <a:rPr lang="ru-RU" sz="1800" i="1" smtClean="0">
                        <a:latin typeface="Cambria Math" panose="02040503050406030204" pitchFamily="18" charset="0"/>
                        <a:ea typeface="Cambria Math" panose="02040503050406030204" pitchFamily="18" charset="0"/>
                      </a:rPr>
                      <m:t>∆</m:t>
                    </m:r>
                    <m:r>
                      <m:rPr>
                        <m:sty m:val="p"/>
                      </m:rPr>
                      <a:rPr lang="el-GR" sz="1800" i="1" smtClean="0">
                        <a:latin typeface="Cambria Math" panose="02040503050406030204" pitchFamily="18" charset="0"/>
                        <a:ea typeface="Cambria Math" panose="02040503050406030204" pitchFamily="18" charset="0"/>
                      </a:rPr>
                      <m:t>Φ</m:t>
                    </m:r>
                    <m:r>
                      <a:rPr lang="ru-RU" sz="1800" b="0" i="1" smtClean="0">
                        <a:latin typeface="Cambria Math" panose="02040503050406030204" pitchFamily="18" charset="0"/>
                        <a:ea typeface="Cambria Math" panose="02040503050406030204" pitchFamily="18" charset="0"/>
                      </a:rPr>
                      <m:t>=</m:t>
                    </m:r>
                    <m:sSub>
                      <m:sSubPr>
                        <m:ctrlPr>
                          <a:rPr lang="ru-RU"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𝑘</m:t>
                        </m:r>
                      </m:e>
                      <m:sub>
                        <m:r>
                          <a:rPr lang="en-US" sz="1800" b="0" i="1" smtClean="0">
                            <a:latin typeface="Cambria Math" panose="02040503050406030204" pitchFamily="18" charset="0"/>
                            <a:ea typeface="Cambria Math" panose="02040503050406030204" pitchFamily="18" charset="0"/>
                          </a:rPr>
                          <m:t>𝑒𝑓𝑓</m:t>
                        </m:r>
                      </m:sub>
                    </m:sSub>
                    <m:nary>
                      <m:naryPr>
                        <m:ctrlPr>
                          <a:rPr lang="ru-RU" sz="1800" b="0" i="1" smtClean="0">
                            <a:latin typeface="Cambria Math" panose="02040503050406030204" pitchFamily="18" charset="0"/>
                            <a:ea typeface="Cambria Math" panose="02040503050406030204" pitchFamily="18" charset="0"/>
                          </a:rPr>
                        </m:ctrlPr>
                      </m:naryPr>
                      <m:sub>
                        <m:r>
                          <m:rPr>
                            <m:brk m:alnAt="23"/>
                          </m:rPr>
                          <a:rPr lang="en-US" sz="1800" b="0" i="1" smtClean="0">
                            <a:latin typeface="Cambria Math" panose="02040503050406030204" pitchFamily="18" charset="0"/>
                            <a:ea typeface="Cambria Math" panose="02040503050406030204" pitchFamily="18" charset="0"/>
                          </a:rPr>
                          <m:t>0</m:t>
                        </m:r>
                      </m:sub>
                      <m:sup>
                        <m:r>
                          <a:rPr lang="en-US" sz="1800" b="0" i="1" smtClean="0">
                            <a:latin typeface="Cambria Math" panose="02040503050406030204" pitchFamily="18" charset="0"/>
                            <a:ea typeface="Cambria Math" panose="02040503050406030204" pitchFamily="18" charset="0"/>
                          </a:rPr>
                          <m:t>2</m:t>
                        </m:r>
                        <m:r>
                          <a:rPr lang="en-US" sz="1800" b="0" i="1" smtClean="0">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+4</m:t>
                        </m:r>
                        <m:r>
                          <a:rPr lang="en-US" sz="1800" b="0" i="1" smtClean="0">
                            <a:latin typeface="Cambria Math" panose="02040503050406030204" pitchFamily="18" charset="0"/>
                            <a:ea typeface="Cambria Math" panose="02040503050406030204" pitchFamily="18" charset="0"/>
                          </a:rPr>
                          <m:t>𝜏</m:t>
                        </m:r>
                      </m:sup>
                      <m:e>
                        <m:sSub>
                          <m:sSubPr>
                            <m:ctrlPr>
                              <a:rPr lang="ru-RU"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𝑎</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𝑡</m:t>
                                </m:r>
                              </m:e>
                            </m:d>
                            <m:r>
                              <a:rPr lang="en-US" sz="1800" b="0" i="1" smtClean="0">
                                <a:latin typeface="Cambria Math" panose="02040503050406030204" pitchFamily="18" charset="0"/>
                                <a:ea typeface="Cambria Math" panose="02040503050406030204" pitchFamily="18" charset="0"/>
                              </a:rPr>
                              <m:t>𝑔</m:t>
                            </m:r>
                          </m:e>
                          <m:sub>
                            <m:r>
                              <a:rPr lang="en-US" sz="1800" b="0" i="1" smtClean="0">
                                <a:latin typeface="Cambria Math" panose="02040503050406030204" pitchFamily="18" charset="0"/>
                                <a:ea typeface="Cambria Math" panose="02040503050406030204" pitchFamily="18" charset="0"/>
                              </a:rPr>
                              <m:t>𝑎</m:t>
                            </m:r>
                          </m:sub>
                        </m:sSub>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𝑡</m:t>
                            </m:r>
                          </m:e>
                        </m:d>
                        <m:r>
                          <a:rPr lang="en-US" sz="1800" b="0" i="1" smtClean="0">
                            <a:latin typeface="Cambria Math" panose="02040503050406030204" pitchFamily="18" charset="0"/>
                            <a:ea typeface="Cambria Math" panose="02040503050406030204" pitchFamily="18" charset="0"/>
                          </a:rPr>
                          <m:t>𝑑𝑡</m:t>
                        </m:r>
                        <m:r>
                          <a:rPr lang="ru-RU" sz="1800" b="0" i="1" smtClean="0">
                            <a:latin typeface="Cambria Math" panose="02040503050406030204" pitchFamily="18" charset="0"/>
                            <a:ea typeface="Cambria Math" panose="02040503050406030204" pitchFamily="18" charset="0"/>
                          </a:rPr>
                          <m:t>,</m:t>
                        </m:r>
                      </m:e>
                    </m:nary>
                  </m:oMath>
                </a14:m>
                <a:r>
                  <a:rPr lang="ru-RU" sz="1800" dirty="0"/>
                  <a:t> </a:t>
                </a:r>
              </a:p>
            </p:txBody>
          </p:sp>
        </mc:Choice>
        <mc:Fallback xmlns="">
          <p:sp>
            <p:nvSpPr>
              <p:cNvPr id="4" name="TextBox 3"/>
              <p:cNvSpPr txBox="1">
                <a:spLocks noRot="1" noChangeAspect="1" noMove="1" noResize="1" noEditPoints="1" noAdjustHandles="1" noChangeArrowheads="1" noChangeShapeType="1" noTextEdit="1"/>
              </p:cNvSpPr>
              <p:nvPr/>
            </p:nvSpPr>
            <p:spPr>
              <a:xfrm>
                <a:off x="4245930" y="928144"/>
                <a:ext cx="3087897" cy="376321"/>
              </a:xfrm>
              <a:prstGeom prst="rect">
                <a:avLst/>
              </a:prstGeom>
              <a:blipFill>
                <a:blip r:embed="rId2"/>
                <a:stretch>
                  <a:fillRect l="-2767" t="-141935" b="-222581"/>
                </a:stretch>
              </a:blipFill>
            </p:spPr>
            <p:txBody>
              <a:bodyPr/>
              <a:lstStyle/>
              <a:p>
                <a:r>
                  <a:rPr lang="ru-RU">
                    <a:noFill/>
                  </a:rPr>
                  <a:t> </a:t>
                </a:r>
              </a:p>
            </p:txBody>
          </p:sp>
        </mc:Fallback>
      </mc:AlternateContent>
      <p:sp>
        <p:nvSpPr>
          <p:cNvPr id="10" name="TextBox 9"/>
          <p:cNvSpPr txBox="1"/>
          <p:nvPr/>
        </p:nvSpPr>
        <p:spPr>
          <a:xfrm>
            <a:off x="3815591" y="1279536"/>
            <a:ext cx="4406537" cy="1077218"/>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 T – </a:t>
            </a:r>
            <a:r>
              <a:rPr lang="ru-RU" sz="1600" dirty="0">
                <a:latin typeface="Times New Roman" panose="02020603050405020304" pitchFamily="18" charset="0"/>
                <a:cs typeface="Times New Roman" panose="02020603050405020304" pitchFamily="18" charset="0"/>
              </a:rPr>
              <a:t>время между рамановскими импульсами, </a:t>
            </a:r>
            <a:r>
              <a:rPr lang="el-GR" sz="1600" dirty="0">
                <a:latin typeface="Times New Roman" panose="02020603050405020304" pitchFamily="18" charset="0"/>
                <a:cs typeface="Times New Roman" panose="02020603050405020304" pitchFamily="18" charset="0"/>
              </a:rPr>
              <a:t>τ</a:t>
            </a:r>
            <a:r>
              <a:rPr lang="ru-RU" sz="1600" dirty="0">
                <a:latin typeface="Times New Roman" panose="02020603050405020304" pitchFamily="18" charset="0"/>
                <a:cs typeface="Times New Roman" panose="02020603050405020304" pitchFamily="18" charset="0"/>
              </a:rPr>
              <a:t> – длительность </a:t>
            </a:r>
            <a:r>
              <a:rPr lang="el-GR" sz="1600" dirty="0">
                <a:latin typeface="Times New Roman" panose="02020603050405020304" pitchFamily="18" charset="0"/>
                <a:cs typeface="Times New Roman" panose="02020603050405020304" pitchFamily="18" charset="0"/>
              </a:rPr>
              <a:t>π</a:t>
            </a:r>
            <a:r>
              <a:rPr lang="en-US" sz="1600" dirty="0">
                <a:latin typeface="Times New Roman" panose="02020603050405020304" pitchFamily="18" charset="0"/>
                <a:cs typeface="Times New Roman" panose="02020603050405020304" pitchFamily="18" charset="0"/>
              </a:rPr>
              <a:t>/2 </a:t>
            </a:r>
            <a:r>
              <a:rPr lang="ru-RU" sz="1600" dirty="0">
                <a:latin typeface="Times New Roman" panose="02020603050405020304" pitchFamily="18" charset="0"/>
                <a:cs typeface="Times New Roman" panose="02020603050405020304" pitchFamily="18" charset="0"/>
              </a:rPr>
              <a:t>импульса, </a:t>
            </a:r>
            <a:r>
              <a:rPr lang="en-US" sz="1600" dirty="0" err="1">
                <a:latin typeface="Times New Roman" panose="02020603050405020304" pitchFamily="18" charset="0"/>
                <a:cs typeface="Times New Roman" panose="02020603050405020304" pitchFamily="18" charset="0"/>
              </a:rPr>
              <a:t>g</a:t>
            </a:r>
            <a:r>
              <a:rPr lang="en-US" sz="1600" baseline="-25000" dirty="0" err="1">
                <a:latin typeface="Times New Roman" panose="02020603050405020304" pitchFamily="18" charset="0"/>
                <a:cs typeface="Times New Roman" panose="02020603050405020304" pitchFamily="18" charset="0"/>
              </a:rPr>
              <a:t>a</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функция чувствительность гравиметра для ускорения</a:t>
            </a:r>
            <a:r>
              <a:rPr lang="en-US" sz="1600" dirty="0">
                <a:latin typeface="Times New Roman" panose="02020603050405020304" pitchFamily="18" charset="0"/>
                <a:cs typeface="Times New Roman" panose="02020603050405020304" pitchFamily="18" charset="0"/>
              </a:rPr>
              <a:t>:</a:t>
            </a:r>
            <a:r>
              <a:rPr lang="ru-RU" sz="1600" dirty="0">
                <a:latin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13" name="TextBox 12"/>
              <p:cNvSpPr txBox="1"/>
              <p:nvPr/>
            </p:nvSpPr>
            <p:spPr>
              <a:xfrm>
                <a:off x="2820395" y="2664744"/>
                <a:ext cx="6055889" cy="29434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ru-RU" sz="1800" i="1" smtClean="0">
                              <a:latin typeface="Cambria Math" panose="02040503050406030204" pitchFamily="18" charset="0"/>
                            </a:rPr>
                          </m:ctrlPr>
                        </m:sSubPr>
                        <m:e>
                          <m:r>
                            <a:rPr lang="en-US" sz="1800" b="0" i="1" smtClean="0">
                              <a:latin typeface="Cambria Math" panose="02040503050406030204" pitchFamily="18" charset="0"/>
                            </a:rPr>
                            <m:t>𝑔</m:t>
                          </m:r>
                        </m:e>
                        <m:sub>
                          <m:r>
                            <a:rPr lang="en-US" sz="1800" b="0" i="1" smtClean="0">
                              <a:latin typeface="Cambria Math" panose="02040503050406030204" pitchFamily="18" charset="0"/>
                            </a:rPr>
                            <m:t>𝑎</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 </m:t>
                      </m:r>
                      <m:d>
                        <m:dPr>
                          <m:begChr m:val="{"/>
                          <m:endChr m:val=""/>
                          <m:ctrlPr>
                            <a:rPr lang="en-US" sz="1800" b="0" i="1" smtClean="0">
                              <a:latin typeface="Cambria Math" panose="02040503050406030204" pitchFamily="18" charset="0"/>
                            </a:rPr>
                          </m:ctrlPr>
                        </m:dPr>
                        <m:e>
                          <m:eqArr>
                            <m:eqArrPr>
                              <m:ctrlPr>
                                <a:rPr lang="en-US" sz="1800" b="0" i="1" smtClean="0">
                                  <a:latin typeface="Cambria Math" panose="02040503050406030204" pitchFamily="18" charset="0"/>
                                </a:rPr>
                              </m:ctrlPr>
                            </m:eqArrPr>
                            <m:e>
                              <m:f>
                                <m:fPr>
                                  <m:ctrlPr>
                                    <a:rPr lang="en-US" sz="1800" b="0" i="1" smtClean="0">
                                      <a:latin typeface="Cambria Math" panose="02040503050406030204" pitchFamily="18" charset="0"/>
                                    </a:rPr>
                                  </m:ctrlPr>
                                </m:fPr>
                                <m:num>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m:rPr>
                                      <m:sty m:val="p"/>
                                    </m:rPr>
                                    <a:rPr lang="el-GR" sz="1800" b="0" i="1" smtClean="0">
                                      <a:latin typeface="Cambria Math" panose="02040503050406030204" pitchFamily="18" charset="0"/>
                                    </a:rPr>
                                    <m:t>Ω</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−2</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e>
                                  </m:d>
                                  <m:r>
                                    <a:rPr lang="en-US" sz="1800" b="0" i="1" smtClean="0">
                                      <a:latin typeface="Cambria Math" panose="02040503050406030204" pitchFamily="18" charset="0"/>
                                    </a:rPr>
                                    <m:t>+1</m:t>
                                  </m:r>
                                </m:num>
                                <m:den>
                                  <m:r>
                                    <m:rPr>
                                      <m:sty m:val="p"/>
                                    </m:rPr>
                                    <a:rPr lang="el-GR" sz="1800" i="1">
                                      <a:latin typeface="Cambria Math" panose="02040503050406030204" pitchFamily="18" charset="0"/>
                                    </a:rPr>
                                    <m:t>Ω</m:t>
                                  </m:r>
                                </m:den>
                              </m:f>
                              <m:r>
                                <a:rPr lang="en-US" sz="1800" i="1">
                                  <a:latin typeface="Cambria Math" panose="02040503050406030204" pitchFamily="18" charset="0"/>
                                </a:rPr>
                                <m:t>, </m:t>
                              </m:r>
                              <m:r>
                                <a:rPr lang="en-US" sz="1800" i="1">
                                  <a:latin typeface="Cambria Math" panose="02040503050406030204" pitchFamily="18" charset="0"/>
                                </a:rPr>
                                <m:t>𝑡</m:t>
                              </m:r>
                              <m:r>
                                <a:rPr lang="en-US" sz="1800" i="1">
                                  <a:latin typeface="Cambria Math" panose="02040503050406030204" pitchFamily="18" charset="0"/>
                                </a:rPr>
                                <m:t> &lt;</m:t>
                              </m:r>
                              <m:r>
                                <a:rPr lang="en-US" sz="1800" i="1">
                                  <a:latin typeface="Cambria Math" panose="02040503050406030204" pitchFamily="18" charset="0"/>
                                  <a:ea typeface="Cambria Math" panose="02040503050406030204" pitchFamily="18" charset="0"/>
                                </a:rPr>
                                <m:t>𝜏</m:t>
                              </m:r>
                              <m:r>
                                <m:rPr>
                                  <m:nor/>
                                </m:rPr>
                                <a:rPr lang="ru-RU" sz="1800" dirty="0"/>
                                <m:t> </m:t>
                              </m:r>
                            </m:e>
                            <m:e>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rPr>
                                <m:t>+</m:t>
                              </m:r>
                              <m:r>
                                <a:rPr lang="en-US" sz="1800" b="0" i="1" smtClean="0">
                                  <a:latin typeface="Cambria Math" panose="02040503050406030204" pitchFamily="18" charset="0"/>
                                </a:rPr>
                                <m:t>𝑡</m:t>
                              </m:r>
                              <m:r>
                                <a:rPr lang="en-US" sz="1800" b="0" i="1" smtClean="0">
                                  <a:latin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𝑡</m:t>
                              </m:r>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𝑇</m:t>
                              </m:r>
                            </m:e>
                            <m:e>
                              <m:f>
                                <m:fPr>
                                  <m:ctrlPr>
                                    <a:rPr lang="en-US" sz="1800" b="0" i="1" smtClean="0">
                                      <a:latin typeface="Cambria Math" panose="02040503050406030204" pitchFamily="18" charset="0"/>
                                      <a:ea typeface="Cambria Math" panose="02040503050406030204" pitchFamily="18" charset="0"/>
                                    </a:rPr>
                                  </m:ctrlPr>
                                </m:fPr>
                                <m:num>
                                  <m:func>
                                    <m:funcPr>
                                      <m:ctrlPr>
                                        <a:rPr lang="en-US" sz="1800" b="0" i="1" smtClean="0">
                                          <a:latin typeface="Cambria Math" panose="02040503050406030204" pitchFamily="18" charset="0"/>
                                          <a:ea typeface="Cambria Math" panose="02040503050406030204" pitchFamily="18" charset="0"/>
                                        </a:rPr>
                                      </m:ctrlPr>
                                    </m:funcPr>
                                    <m:fName>
                                      <m:r>
                                        <m:rPr>
                                          <m:sty m:val="p"/>
                                        </m:rPr>
                                        <a:rPr lang="en-US" sz="1800" b="0" i="0" smtClean="0">
                                          <a:latin typeface="Cambria Math" panose="02040503050406030204" pitchFamily="18" charset="0"/>
                                          <a:ea typeface="Cambria Math" panose="02040503050406030204" pitchFamily="18" charset="0"/>
                                        </a:rPr>
                                        <m:t>cos</m:t>
                                      </m:r>
                                    </m:fName>
                                    <m:e>
                                      <m:d>
                                        <m:dPr>
                                          <m:ctrlPr>
                                            <a:rPr lang="en-US" sz="1800" b="0" i="1" smtClean="0">
                                              <a:latin typeface="Cambria Math" panose="02040503050406030204" pitchFamily="18" charset="0"/>
                                              <a:ea typeface="Cambria Math" panose="02040503050406030204" pitchFamily="18" charset="0"/>
                                            </a:rPr>
                                          </m:ctrlPr>
                                        </m:dPr>
                                        <m:e>
                                          <m:r>
                                            <m:rPr>
                                              <m:sty m:val="p"/>
                                            </m:rPr>
                                            <a:rPr lang="el-GR" sz="1800" i="1">
                                              <a:latin typeface="Cambria Math" panose="02040503050406030204" pitchFamily="18" charset="0"/>
                                            </a:rPr>
                                            <m:t>Ω</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−2</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𝑇</m:t>
                                              </m:r>
                                            </m:e>
                                          </m:d>
                                        </m:e>
                                      </m:d>
                                    </m:e>
                                  </m:func>
                                  <m:r>
                                    <a:rPr lang="en-US" sz="1800" b="0" i="1" smtClean="0">
                                      <a:latin typeface="Cambria Math" panose="02040503050406030204" pitchFamily="18" charset="0"/>
                                      <a:ea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𝑡</m:t>
                              </m:r>
                              <m:r>
                                <a:rPr lang="en-US" sz="1800" b="0" i="1" smtClean="0">
                                  <a:latin typeface="Cambria Math" panose="02040503050406030204" pitchFamily="18" charset="0"/>
                                  <a:ea typeface="Cambria Math" panose="02040503050406030204" pitchFamily="18" charset="0"/>
                                </a:rPr>
                                <m:t> ≤3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𝑇</m:t>
                              </m:r>
                            </m:e>
                            <m:e>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rPr>
                                <m:t>−</m:t>
                              </m:r>
                              <m:r>
                                <a:rPr lang="en-US" sz="1800" b="0" i="1" smtClean="0">
                                  <a:latin typeface="Cambria Math" panose="02040503050406030204" pitchFamily="18" charset="0"/>
                                </a:rPr>
                                <m:t>𝑡</m:t>
                              </m:r>
                              <m:r>
                                <a:rPr lang="en-US" sz="1800" b="0" i="1" smtClean="0">
                                  <a:latin typeface="Cambria Math" panose="02040503050406030204" pitchFamily="18" charset="0"/>
                                </a:rPr>
                                <m:t>+3</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+2</m:t>
                              </m:r>
                              <m:r>
                                <a:rPr lang="en-US" sz="1800" b="0" i="1" smtClean="0">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𝑇</m:t>
                              </m:r>
                              <m:r>
                                <a:rPr lang="en-US" sz="1800" i="1">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𝑡</m:t>
                              </m:r>
                              <m:r>
                                <a:rPr lang="en-US" sz="1800" i="1">
                                  <a:latin typeface="Cambria Math" panose="02040503050406030204" pitchFamily="18" charset="0"/>
                                  <a:ea typeface="Cambria Math" panose="02040503050406030204" pitchFamily="18" charset="0"/>
                                </a:rPr>
                                <m:t> ≤3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e>
                            <m:e>
                              <m:f>
                                <m:fPr>
                                  <m:ctrlPr>
                                    <a:rPr lang="en-US" sz="1800" i="1">
                                      <a:latin typeface="Cambria Math" panose="02040503050406030204" pitchFamily="18" charset="0"/>
                                      <a:ea typeface="Cambria Math" panose="02040503050406030204" pitchFamily="18" charset="0"/>
                                    </a:rPr>
                                  </m:ctrlPr>
                                </m:fPr>
                                <m:num>
                                  <m:func>
                                    <m:funcPr>
                                      <m:ctrlPr>
                                        <a:rPr lang="en-US" sz="1800" i="1">
                                          <a:latin typeface="Cambria Math" panose="02040503050406030204" pitchFamily="18" charset="0"/>
                                          <a:ea typeface="Cambria Math" panose="02040503050406030204" pitchFamily="18" charset="0"/>
                                        </a:rPr>
                                      </m:ctrlPr>
                                    </m:funcPr>
                                    <m:fName>
                                      <m:r>
                                        <m:rPr>
                                          <m:sty m:val="p"/>
                                        </m:rPr>
                                        <a:rPr lang="en-US" sz="1800">
                                          <a:latin typeface="Cambria Math" panose="02040503050406030204" pitchFamily="18" charset="0"/>
                                          <a:ea typeface="Cambria Math" panose="02040503050406030204" pitchFamily="18" charset="0"/>
                                        </a:rPr>
                                        <m:t>cos</m:t>
                                      </m:r>
                                    </m:fName>
                                    <m:e>
                                      <m:d>
                                        <m:dPr>
                                          <m:ctrlPr>
                                            <a:rPr lang="en-US" sz="1800" i="1">
                                              <a:latin typeface="Cambria Math" panose="02040503050406030204" pitchFamily="18" charset="0"/>
                                              <a:ea typeface="Cambria Math" panose="02040503050406030204" pitchFamily="18" charset="0"/>
                                            </a:rPr>
                                          </m:ctrlPr>
                                        </m:dPr>
                                        <m:e>
                                          <m:r>
                                            <m:rPr>
                                              <m:sty m:val="p"/>
                                            </m:rPr>
                                            <a:rPr lang="el-GR" sz="1800" i="1">
                                              <a:latin typeface="Cambria Math" panose="02040503050406030204" pitchFamily="18" charset="0"/>
                                            </a:rPr>
                                            <m:t>Ω</m:t>
                                          </m:r>
                                          <m:d>
                                            <m:dPr>
                                              <m:ctrlPr>
                                                <a:rPr lang="en-US" sz="1800" i="1">
                                                  <a:latin typeface="Cambria Math" panose="02040503050406030204" pitchFamily="18" charset="0"/>
                                                </a:rPr>
                                              </m:ctrlPr>
                                            </m:dPr>
                                            <m:e>
                                              <m:r>
                                                <a:rPr lang="en-US" sz="1800" i="1">
                                                  <a:latin typeface="Cambria Math" panose="02040503050406030204" pitchFamily="18" charset="0"/>
                                                </a:rPr>
                                                <m:t>𝑡</m:t>
                                              </m:r>
                                              <m:r>
                                                <a:rPr lang="en-US" sz="1800" i="1">
                                                  <a:latin typeface="Cambria Math" panose="02040503050406030204" pitchFamily="18" charset="0"/>
                                                </a:rPr>
                                                <m:t>−2</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e>
                                          </m:d>
                                        </m:e>
                                      </m:d>
                                    </m:e>
                                  </m:func>
                                  <m:r>
                                    <a:rPr lang="en-US" sz="1800" i="1">
                                      <a:latin typeface="Cambria Math" panose="02040503050406030204" pitchFamily="18" charset="0"/>
                                      <a:ea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rPr>
                                <m:t>,3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r>
                                <a:rPr lang="en-US" sz="1800" i="1">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𝑡</m:t>
                              </m:r>
                              <m:r>
                                <a:rPr lang="en-US" sz="1800" i="1">
                                  <a:latin typeface="Cambria Math" panose="02040503050406030204" pitchFamily="18" charset="0"/>
                                  <a:ea typeface="Cambria Math" panose="02040503050406030204" pitchFamily="18" charset="0"/>
                                </a:rPr>
                                <m:t> ≤4</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e>
                          </m:eqArr>
                        </m:e>
                      </m:d>
                    </m:oMath>
                  </m:oMathPara>
                </a14:m>
                <a:endParaRPr lang="ru-RU" dirty="0"/>
              </a:p>
            </p:txBody>
          </p:sp>
        </mc:Choice>
        <mc:Fallback xmlns="">
          <p:sp>
            <p:nvSpPr>
              <p:cNvPr id="13" name="TextBox 12"/>
              <p:cNvSpPr txBox="1">
                <a:spLocks noRot="1" noChangeAspect="1" noMove="1" noResize="1" noEditPoints="1" noAdjustHandles="1" noChangeArrowheads="1" noChangeShapeType="1" noTextEdit="1"/>
              </p:cNvSpPr>
              <p:nvPr/>
            </p:nvSpPr>
            <p:spPr>
              <a:xfrm>
                <a:off x="2820395" y="2664744"/>
                <a:ext cx="6055889" cy="2943498"/>
              </a:xfrm>
              <a:prstGeom prst="rect">
                <a:avLst/>
              </a:prstGeom>
              <a:blipFill>
                <a:blip r:embed="rId3"/>
                <a:stretch>
                  <a:fillRect/>
                </a:stretch>
              </a:blipFill>
            </p:spPr>
            <p:txBody>
              <a:bodyPr/>
              <a:lstStyle/>
              <a:p>
                <a:r>
                  <a:rPr lang="ru-RU">
                    <a:noFill/>
                  </a:rPr>
                  <a:t> </a:t>
                </a:r>
              </a:p>
            </p:txBody>
          </p:sp>
        </mc:Fallback>
      </mc:AlternateContent>
      <p:sp>
        <p:nvSpPr>
          <p:cNvPr id="14" name="TextBox 13"/>
          <p:cNvSpPr txBox="1"/>
          <p:nvPr/>
        </p:nvSpPr>
        <p:spPr>
          <a:xfrm>
            <a:off x="3912398" y="5725619"/>
            <a:ext cx="4406537" cy="338554"/>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t>
            </a:r>
            <a:r>
              <a:rPr lang="el-GR" sz="1600" dirty="0">
                <a:latin typeface="Times New Roman" panose="02020603050405020304" pitchFamily="18" charset="0"/>
                <a:cs typeface="Times New Roman" panose="02020603050405020304" pitchFamily="18" charset="0"/>
              </a:rPr>
              <a:t>Ω</a:t>
            </a:r>
            <a:r>
              <a:rPr lang="en-US" sz="1600" dirty="0">
                <a:latin typeface="Times New Roman" panose="02020603050405020304" pitchFamily="18" charset="0"/>
                <a:cs typeface="Times New Roman" panose="02020603050405020304" pitchFamily="18" charset="0"/>
              </a:rPr>
              <a:t> = </a:t>
            </a:r>
            <a:r>
              <a:rPr lang="el-GR" sz="1600" dirty="0">
                <a:latin typeface="Times New Roman" panose="02020603050405020304" pitchFamily="18" charset="0"/>
                <a:cs typeface="Times New Roman" panose="02020603050405020304" pitchFamily="18" charset="0"/>
              </a:rPr>
              <a:t>π</a:t>
            </a:r>
            <a:r>
              <a:rPr lang="en-US" sz="1600" dirty="0">
                <a:latin typeface="Times New Roman" panose="02020603050405020304" pitchFamily="18" charset="0"/>
                <a:cs typeface="Times New Roman" panose="02020603050405020304" pitchFamily="18" charset="0"/>
              </a:rPr>
              <a:t>/2</a:t>
            </a:r>
            <a:r>
              <a:rPr lang="el-GR" sz="1600" dirty="0">
                <a:latin typeface="Times New Roman" panose="02020603050405020304" pitchFamily="18" charset="0"/>
                <a:cs typeface="Times New Roman" panose="02020603050405020304" pitchFamily="18" charset="0"/>
              </a:rPr>
              <a:t>τ</a:t>
            </a:r>
            <a:r>
              <a:rPr lang="en-US" sz="1600" dirty="0">
                <a:latin typeface="Times New Roman" panose="02020603050405020304" pitchFamily="18" charset="0"/>
                <a:cs typeface="Times New Roman" panose="02020603050405020304" pitchFamily="18" charset="0"/>
              </a:rPr>
              <a:t>, – </a:t>
            </a:r>
            <a:r>
              <a:rPr lang="ru-RU" sz="1600" dirty="0">
                <a:latin typeface="Times New Roman" panose="02020603050405020304" pitchFamily="18" charset="0"/>
                <a:cs typeface="Times New Roman" panose="02020603050405020304" pitchFamily="18" charset="0"/>
              </a:rPr>
              <a:t>частота </a:t>
            </a:r>
            <a:r>
              <a:rPr lang="ru-RU" sz="1600" dirty="0" err="1">
                <a:latin typeface="Times New Roman" panose="02020603050405020304" pitchFamily="18" charset="0"/>
                <a:cs typeface="Times New Roman" panose="02020603050405020304" pitchFamily="18" charset="0"/>
              </a:rPr>
              <a:t>раби</a:t>
            </a:r>
            <a:r>
              <a:rPr lang="ru-RU"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63022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38;p41">
            <a:extLst>
              <a:ext uri="{FF2B5EF4-FFF2-40B4-BE49-F238E27FC236}">
                <a16:creationId xmlns="" xmlns:a16="http://schemas.microsoft.com/office/drawing/2014/main" id="{FD46C5F4-A971-4CA4-8EA1-62B295AC1E02}"/>
              </a:ext>
            </a:extLst>
          </p:cNvPr>
          <p:cNvSpPr/>
          <p:nvPr/>
        </p:nvSpPr>
        <p:spPr>
          <a:xfrm>
            <a:off x="2567353" y="100435"/>
            <a:ext cx="6621194" cy="356845"/>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Моделирование атомного интерферометра</a:t>
            </a:r>
            <a:endParaRPr sz="1400" b="0" i="0" u="none" strike="noStrike" cap="none" dirty="0">
              <a:solidFill>
                <a:srgbClr val="000000"/>
              </a:solidFill>
              <a:latin typeface="Arial"/>
              <a:ea typeface="Arial"/>
              <a:cs typeface="Arial"/>
              <a:sym typeface="Arial"/>
            </a:endParaRPr>
          </a:p>
        </p:txBody>
      </p:sp>
      <mc:AlternateContent xmlns:mc="http://schemas.openxmlformats.org/markup-compatibility/2006" xmlns:a14="http://schemas.microsoft.com/office/drawing/2010/main">
        <mc:Choice Requires="a14">
          <p:sp>
            <p:nvSpPr>
              <p:cNvPr id="8" name="TextBox 7"/>
              <p:cNvSpPr txBox="1"/>
              <p:nvPr/>
            </p:nvSpPr>
            <p:spPr>
              <a:xfrm>
                <a:off x="-1" y="1241363"/>
                <a:ext cx="10018429" cy="100764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lang="ru-RU" i="1" smtClean="0">
                              <a:latin typeface="Cambria Math" panose="02040503050406030204" pitchFamily="18" charset="0"/>
                            </a:rPr>
                          </m:ctrlPr>
                        </m:dPr>
                        <m:e>
                          <m:f>
                            <m:fPr>
                              <m:type m:val="noBar"/>
                              <m:ctrlPr>
                                <a:rPr lang="ru-RU" i="1" smtClean="0">
                                  <a:latin typeface="Cambria Math" panose="02040503050406030204" pitchFamily="18" charset="0"/>
                                </a:rPr>
                              </m:ctrlPr>
                            </m:fPr>
                            <m:num>
                              <m:sSub>
                                <m:sSubPr>
                                  <m:ctrlPr>
                                    <a:rPr lang="ru-RU" i="1">
                                      <a:latin typeface="Cambria Math" panose="02040503050406030204" pitchFamily="18" charset="0"/>
                                    </a:rPr>
                                  </m:ctrlPr>
                                </m:sSubPr>
                                <m:e>
                                  <m:r>
                                    <a:rPr lang="ru-RU" i="1">
                                      <a:latin typeface="Cambria Math" panose="02040503050406030204" pitchFamily="18" charset="0"/>
                                    </a:rPr>
                                    <m:t>𝑐</m:t>
                                  </m:r>
                                </m:e>
                                <m:sub>
                                  <m:r>
                                    <a:rPr lang="ru-RU">
                                      <a:latin typeface="Cambria Math" panose="02040503050406030204" pitchFamily="18" charset="0"/>
                                    </a:rPr>
                                    <m:t>1</m:t>
                                  </m:r>
                                </m:sub>
                              </m:sSub>
                              <m:d>
                                <m:dPr>
                                  <m:ctrlPr>
                                    <a:rPr lang="ru-RU" i="1">
                                      <a:latin typeface="Cambria Math" panose="02040503050406030204" pitchFamily="18" charset="0"/>
                                    </a:rPr>
                                  </m:ctrlPr>
                                </m:dPr>
                                <m:e>
                                  <m:r>
                                    <a:rPr lang="ru-RU" i="1">
                                      <a:latin typeface="Cambria Math" panose="02040503050406030204" pitchFamily="18" charset="0"/>
                                    </a:rPr>
                                    <m:t>𝑡</m:t>
                                  </m:r>
                                  <m:r>
                                    <a:rPr lang="ru-RU">
                                      <a:latin typeface="Cambria Math" panose="02040503050406030204" pitchFamily="18" charset="0"/>
                                    </a:rPr>
                                    <m:t>+</m:t>
                                  </m:r>
                                  <m:r>
                                    <a:rPr lang="ru-RU" i="1">
                                      <a:latin typeface="Cambria Math" panose="02040503050406030204" pitchFamily="18" charset="0"/>
                                    </a:rPr>
                                    <m:t>𝜏</m:t>
                                  </m:r>
                                </m:e>
                              </m:d>
                            </m:num>
                            <m:den>
                              <m:sSub>
                                <m:sSubPr>
                                  <m:ctrlPr>
                                    <a:rPr lang="ru-RU" i="1">
                                      <a:latin typeface="Cambria Math" panose="02040503050406030204" pitchFamily="18" charset="0"/>
                                    </a:rPr>
                                  </m:ctrlPr>
                                </m:sSubPr>
                                <m:e>
                                  <m:r>
                                    <a:rPr lang="ru-RU" i="1">
                                      <a:latin typeface="Cambria Math" panose="02040503050406030204" pitchFamily="18" charset="0"/>
                                    </a:rPr>
                                    <m:t>𝑐</m:t>
                                  </m:r>
                                </m:e>
                                <m:sub>
                                  <m:r>
                                    <a:rPr lang="ru-RU">
                                      <a:latin typeface="Cambria Math" panose="02040503050406030204" pitchFamily="18" charset="0"/>
                                    </a:rPr>
                                    <m:t>2</m:t>
                                  </m:r>
                                </m:sub>
                              </m:sSub>
                              <m:d>
                                <m:dPr>
                                  <m:ctrlPr>
                                    <a:rPr lang="ru-RU" i="1">
                                      <a:latin typeface="Cambria Math" panose="02040503050406030204" pitchFamily="18" charset="0"/>
                                    </a:rPr>
                                  </m:ctrlPr>
                                </m:dPr>
                                <m:e>
                                  <m:r>
                                    <a:rPr lang="ru-RU" i="1">
                                      <a:latin typeface="Cambria Math" panose="02040503050406030204" pitchFamily="18" charset="0"/>
                                    </a:rPr>
                                    <m:t>𝑡</m:t>
                                  </m:r>
                                  <m:r>
                                    <a:rPr lang="ru-RU">
                                      <a:latin typeface="Cambria Math" panose="02040503050406030204" pitchFamily="18" charset="0"/>
                                    </a:rPr>
                                    <m:t>+</m:t>
                                  </m:r>
                                  <m:r>
                                    <a:rPr lang="ru-RU" i="1">
                                      <a:latin typeface="Cambria Math" panose="02040503050406030204" pitchFamily="18" charset="0"/>
                                    </a:rPr>
                                    <m:t>𝜏</m:t>
                                  </m:r>
                                </m:e>
                              </m:d>
                            </m:den>
                          </m:f>
                        </m:e>
                      </m:d>
                      <m:r>
                        <a:rPr lang="ru-RU" b="0" i="1" smtClean="0">
                          <a:latin typeface="Cambria Math" panose="02040503050406030204" pitchFamily="18" charset="0"/>
                        </a:rPr>
                        <m:t>=</m:t>
                      </m:r>
                      <m:sSup>
                        <m:sSupPr>
                          <m:ctrlPr>
                            <a:rPr lang="ru-RU" i="1">
                              <a:latin typeface="Cambria Math" panose="02040503050406030204" pitchFamily="18" charset="0"/>
                            </a:rPr>
                          </m:ctrlPr>
                        </m:sSupPr>
                        <m:e>
                          <m:r>
                            <a:rPr lang="ru-RU" i="1">
                              <a:latin typeface="Cambria Math" panose="02040503050406030204" pitchFamily="18" charset="0"/>
                            </a:rPr>
                            <m:t>𝑒</m:t>
                          </m:r>
                        </m:e>
                        <m:sup>
                          <m:f>
                            <m:fPr>
                              <m:ctrlPr>
                                <a:rPr lang="ru-RU" i="1">
                                  <a:latin typeface="Cambria Math" panose="02040503050406030204" pitchFamily="18" charset="0"/>
                                </a:rPr>
                              </m:ctrlPr>
                            </m:fPr>
                            <m:num>
                              <m:r>
                                <a:rPr lang="ru-RU" i="1">
                                  <a:latin typeface="Cambria Math" panose="02040503050406030204" pitchFamily="18" charset="0"/>
                                </a:rPr>
                                <m:t>𝑖</m:t>
                              </m:r>
                              <m:d>
                                <m:dPr>
                                  <m:ctrlPr>
                                    <a:rPr lang="ru-RU" i="1">
                                      <a:latin typeface="Cambria Math" panose="02040503050406030204" pitchFamily="18" charset="0"/>
                                    </a:rPr>
                                  </m:ctrlPr>
                                </m:dPr>
                                <m:e>
                                  <m:f>
                                    <m:fPr>
                                      <m:ctrlPr>
                                        <a:rPr lang="ru-RU" i="1">
                                          <a:latin typeface="Cambria Math" panose="02040503050406030204" pitchFamily="18" charset="0"/>
                                        </a:rPr>
                                      </m:ctrlPr>
                                    </m:fPr>
                                    <m:num>
                                      <m:sSup>
                                        <m:sSupPr>
                                          <m:ctrlPr>
                                            <a:rPr lang="ru-RU" i="1">
                                              <a:latin typeface="Cambria Math" panose="02040503050406030204" pitchFamily="18" charset="0"/>
                                            </a:rPr>
                                          </m:ctrlPr>
                                        </m:sSupPr>
                                        <m:e>
                                          <m:d>
                                            <m:dPr>
                                              <m:begChr m:val="|"/>
                                              <m:endChr m:val="|"/>
                                              <m:ctrlPr>
                                                <a:rPr lang="ru-RU" i="1">
                                                  <a:latin typeface="Cambria Math" panose="02040503050406030204" pitchFamily="18" charset="0"/>
                                                </a:rPr>
                                              </m:ctrlPr>
                                            </m:dPr>
                                            <m:e>
                                              <m:sSub>
                                                <m:sSubPr>
                                                  <m:ctrlPr>
                                                    <a:rPr lang="ru-RU" i="1">
                                                      <a:latin typeface="Cambria Math" panose="02040503050406030204" pitchFamily="18" charset="0"/>
                                                    </a:rPr>
                                                  </m:ctrlPr>
                                                </m:sSubPr>
                                                <m:e>
                                                  <m:r>
                                                    <a:rPr lang="ru-RU" i="1">
                                                      <a:latin typeface="Cambria Math" panose="02040503050406030204" pitchFamily="18" charset="0"/>
                                                    </a:rPr>
                                                    <m:t>𝛺</m:t>
                                                  </m:r>
                                                </m:e>
                                                <m:sub>
                                                  <m:r>
                                                    <a:rPr lang="ru-RU" i="1">
                                                      <a:latin typeface="Cambria Math" panose="02040503050406030204" pitchFamily="18" charset="0"/>
                                                    </a:rPr>
                                                    <m:t>1</m:t>
                                                  </m:r>
                                                </m:sub>
                                              </m:sSub>
                                            </m:e>
                                          </m:d>
                                        </m:e>
                                        <m:sup>
                                          <m:r>
                                            <a:rPr lang="ru-RU" i="1">
                                              <a:latin typeface="Cambria Math" panose="02040503050406030204" pitchFamily="18" charset="0"/>
                                            </a:rPr>
                                            <m:t>2</m:t>
                                          </m:r>
                                        </m:sup>
                                      </m:sSup>
                                    </m:num>
                                    <m:den>
                                      <m:r>
                                        <a:rPr lang="ru-RU" i="1">
                                          <a:latin typeface="Cambria Math" panose="02040503050406030204" pitchFamily="18" charset="0"/>
                                        </a:rPr>
                                        <m:t>∆</m:t>
                                      </m:r>
                                    </m:den>
                                  </m:f>
                                  <m:r>
                                    <a:rPr lang="ru-RU" i="1">
                                      <a:latin typeface="Cambria Math" panose="02040503050406030204" pitchFamily="18" charset="0"/>
                                    </a:rPr>
                                    <m:t>+</m:t>
                                  </m:r>
                                  <m:f>
                                    <m:fPr>
                                      <m:ctrlPr>
                                        <a:rPr lang="ru-RU" i="1">
                                          <a:latin typeface="Cambria Math" panose="02040503050406030204" pitchFamily="18" charset="0"/>
                                        </a:rPr>
                                      </m:ctrlPr>
                                    </m:fPr>
                                    <m:num>
                                      <m:sSup>
                                        <m:sSupPr>
                                          <m:ctrlPr>
                                            <a:rPr lang="ru-RU" i="1">
                                              <a:latin typeface="Cambria Math" panose="02040503050406030204" pitchFamily="18" charset="0"/>
                                            </a:rPr>
                                          </m:ctrlPr>
                                        </m:sSupPr>
                                        <m:e>
                                          <m:d>
                                            <m:dPr>
                                              <m:begChr m:val="|"/>
                                              <m:endChr m:val="|"/>
                                              <m:ctrlPr>
                                                <a:rPr lang="ru-RU" i="1">
                                                  <a:latin typeface="Cambria Math" panose="02040503050406030204" pitchFamily="18" charset="0"/>
                                                </a:rPr>
                                              </m:ctrlPr>
                                            </m:dPr>
                                            <m:e>
                                              <m:sSub>
                                                <m:sSubPr>
                                                  <m:ctrlPr>
                                                    <a:rPr lang="ru-RU" i="1">
                                                      <a:latin typeface="Cambria Math" panose="02040503050406030204" pitchFamily="18" charset="0"/>
                                                    </a:rPr>
                                                  </m:ctrlPr>
                                                </m:sSubPr>
                                                <m:e>
                                                  <m:r>
                                                    <a:rPr lang="ru-RU" i="1">
                                                      <a:latin typeface="Cambria Math" panose="02040503050406030204" pitchFamily="18" charset="0"/>
                                                    </a:rPr>
                                                    <m:t>𝛺</m:t>
                                                  </m:r>
                                                </m:e>
                                                <m:sub>
                                                  <m:r>
                                                    <a:rPr lang="ru-RU" i="1">
                                                      <a:latin typeface="Cambria Math" panose="02040503050406030204" pitchFamily="18" charset="0"/>
                                                    </a:rPr>
                                                    <m:t>2</m:t>
                                                  </m:r>
                                                </m:sub>
                                              </m:sSub>
                                            </m:e>
                                          </m:d>
                                        </m:e>
                                        <m:sup>
                                          <m:r>
                                            <a:rPr lang="ru-RU" i="1">
                                              <a:latin typeface="Cambria Math" panose="02040503050406030204" pitchFamily="18" charset="0"/>
                                            </a:rPr>
                                            <m:t>2</m:t>
                                          </m:r>
                                        </m:sup>
                                      </m:sSup>
                                    </m:num>
                                    <m:den>
                                      <m:r>
                                        <a:rPr lang="ru-RU" i="1">
                                          <a:latin typeface="Cambria Math" panose="02040503050406030204" pitchFamily="18" charset="0"/>
                                        </a:rPr>
                                        <m:t>∆</m:t>
                                      </m:r>
                                    </m:den>
                                  </m:f>
                                  <m:r>
                                    <a:rPr lang="ru-RU" i="1">
                                      <a:latin typeface="Cambria Math" panose="02040503050406030204" pitchFamily="18" charset="0"/>
                                    </a:rPr>
                                    <m:t>+</m:t>
                                  </m:r>
                                  <m:r>
                                    <a:rPr lang="ru-RU" i="1">
                                      <a:latin typeface="Cambria Math" panose="02040503050406030204" pitchFamily="18" charset="0"/>
                                    </a:rPr>
                                    <m:t>𝛿</m:t>
                                  </m:r>
                                </m:e>
                              </m:d>
                              <m:r>
                                <a:rPr lang="ru-RU" i="1">
                                  <a:latin typeface="Cambria Math" panose="02040503050406030204" pitchFamily="18" charset="0"/>
                                </a:rPr>
                                <m:t>𝜏</m:t>
                              </m:r>
                            </m:num>
                            <m:den>
                              <m:r>
                                <a:rPr lang="ru-RU" i="1">
                                  <a:latin typeface="Cambria Math" panose="02040503050406030204" pitchFamily="18" charset="0"/>
                                </a:rPr>
                                <m:t>2</m:t>
                              </m:r>
                            </m:den>
                          </m:f>
                        </m:sup>
                      </m:sSup>
                      <m:d>
                        <m:dPr>
                          <m:begChr m:val="["/>
                          <m:endChr m:val="]"/>
                          <m:ctrlPr>
                            <a:rPr lang="ru-RU" b="0" i="1" smtClean="0">
                              <a:latin typeface="Cambria Math" panose="02040503050406030204" pitchFamily="18" charset="0"/>
                            </a:rPr>
                          </m:ctrlPr>
                        </m:dPr>
                        <m:e>
                          <m:m>
                            <m:mPr>
                              <m:mcs>
                                <m:mc>
                                  <m:mcPr>
                                    <m:count m:val="2"/>
                                    <m:mcJc m:val="center"/>
                                  </m:mcPr>
                                </m:mc>
                              </m:mcs>
                              <m:ctrlPr>
                                <a:rPr lang="ru-RU" b="0" i="1" smtClean="0">
                                  <a:latin typeface="Cambria Math" panose="02040503050406030204" pitchFamily="18" charset="0"/>
                                </a:rPr>
                              </m:ctrlPr>
                            </m:mPr>
                            <m:mr>
                              <m:e>
                                <m:func>
                                  <m:funcPr>
                                    <m:ctrlPr>
                                      <a:rPr lang="ru-RU" i="1">
                                        <a:latin typeface="Cambria Math" panose="02040503050406030204" pitchFamily="18" charset="0"/>
                                      </a:rPr>
                                    </m:ctrlPr>
                                  </m:funcPr>
                                  <m:fName>
                                    <m:r>
                                      <m:rPr>
                                        <m:sty m:val="p"/>
                                      </m:rPr>
                                      <a:rPr lang="ru-RU">
                                        <a:latin typeface="Cambria Math" panose="02040503050406030204" pitchFamily="18" charset="0"/>
                                      </a:rPr>
                                      <m:t>cos</m:t>
                                    </m:r>
                                  </m:fName>
                                  <m:e>
                                    <m:f>
                                      <m:fPr>
                                        <m:ctrlPr>
                                          <a:rPr lang="ru-RU" i="1">
                                            <a:latin typeface="Cambria Math" panose="02040503050406030204" pitchFamily="18" charset="0"/>
                                          </a:rPr>
                                        </m:ctrlPr>
                                      </m:fPr>
                                      <m:num>
                                        <m:sSub>
                                          <m:sSubPr>
                                            <m:ctrlPr>
                                              <a:rPr lang="ru-RU" i="1">
                                                <a:latin typeface="Cambria Math" panose="02040503050406030204" pitchFamily="18" charset="0"/>
                                              </a:rPr>
                                            </m:ctrlPr>
                                          </m:sSubPr>
                                          <m:e>
                                            <m:r>
                                              <a:rPr lang="ru-RU" i="1">
                                                <a:latin typeface="Cambria Math" panose="02040503050406030204" pitchFamily="18" charset="0"/>
                                              </a:rPr>
                                              <m:t>𝛺</m:t>
                                            </m:r>
                                          </m:e>
                                          <m:sub>
                                            <m:r>
                                              <a:rPr lang="ru-RU" i="1">
                                                <a:latin typeface="Cambria Math" panose="02040503050406030204" pitchFamily="18" charset="0"/>
                                              </a:rPr>
                                              <m:t>𝑅</m:t>
                                            </m:r>
                                          </m:sub>
                                        </m:sSub>
                                        <m:r>
                                          <a:rPr lang="ru-RU" i="1">
                                            <a:latin typeface="Cambria Math" panose="02040503050406030204" pitchFamily="18" charset="0"/>
                                          </a:rPr>
                                          <m:t>𝜏</m:t>
                                        </m:r>
                                      </m:num>
                                      <m:den>
                                        <m:r>
                                          <a:rPr lang="ru-RU">
                                            <a:latin typeface="Cambria Math" panose="02040503050406030204" pitchFamily="18" charset="0"/>
                                          </a:rPr>
                                          <m:t>2</m:t>
                                        </m:r>
                                      </m:den>
                                    </m:f>
                                  </m:e>
                                </m:func>
                                <m:r>
                                  <a:rPr lang="ru-RU">
                                    <a:latin typeface="Cambria Math" panose="02040503050406030204" pitchFamily="18" charset="0"/>
                                  </a:rPr>
                                  <m:t>+ </m:t>
                                </m:r>
                                <m:f>
                                  <m:fPr>
                                    <m:ctrlPr>
                                      <a:rPr lang="ru-RU" i="1">
                                        <a:latin typeface="Cambria Math" panose="02040503050406030204" pitchFamily="18" charset="0"/>
                                      </a:rPr>
                                    </m:ctrlPr>
                                  </m:fPr>
                                  <m:num>
                                    <m:r>
                                      <a:rPr lang="ru-RU" i="1">
                                        <a:latin typeface="Cambria Math" panose="02040503050406030204" pitchFamily="18" charset="0"/>
                                      </a:rPr>
                                      <m:t>𝑖</m:t>
                                    </m:r>
                                  </m:num>
                                  <m:den>
                                    <m:sSub>
                                      <m:sSubPr>
                                        <m:ctrlPr>
                                          <a:rPr lang="ru-RU" i="1">
                                            <a:latin typeface="Cambria Math" panose="02040503050406030204" pitchFamily="18" charset="0"/>
                                          </a:rPr>
                                        </m:ctrlPr>
                                      </m:sSubPr>
                                      <m:e>
                                        <m:r>
                                          <a:rPr lang="ru-RU" i="1">
                                            <a:latin typeface="Cambria Math" panose="02040503050406030204" pitchFamily="18" charset="0"/>
                                          </a:rPr>
                                          <m:t>𝛺</m:t>
                                        </m:r>
                                      </m:e>
                                      <m:sub>
                                        <m:r>
                                          <a:rPr lang="ru-RU" i="1">
                                            <a:latin typeface="Cambria Math" panose="02040503050406030204" pitchFamily="18" charset="0"/>
                                          </a:rPr>
                                          <m:t>𝑅</m:t>
                                        </m:r>
                                      </m:sub>
                                    </m:sSub>
                                  </m:den>
                                </m:f>
                                <m:d>
                                  <m:dPr>
                                    <m:ctrlPr>
                                      <a:rPr lang="ru-RU" i="1">
                                        <a:latin typeface="Cambria Math" panose="02040503050406030204" pitchFamily="18" charset="0"/>
                                      </a:rPr>
                                    </m:ctrlPr>
                                  </m:dPr>
                                  <m:e>
                                    <m:f>
                                      <m:fPr>
                                        <m:ctrlPr>
                                          <a:rPr lang="ru-RU" i="1">
                                            <a:latin typeface="Cambria Math" panose="02040503050406030204" pitchFamily="18" charset="0"/>
                                          </a:rPr>
                                        </m:ctrlPr>
                                      </m:fPr>
                                      <m:num>
                                        <m:sSup>
                                          <m:sSupPr>
                                            <m:ctrlPr>
                                              <a:rPr lang="ru-RU" i="1">
                                                <a:latin typeface="Cambria Math" panose="02040503050406030204" pitchFamily="18" charset="0"/>
                                              </a:rPr>
                                            </m:ctrlPr>
                                          </m:sSupPr>
                                          <m:e>
                                            <m:d>
                                              <m:dPr>
                                                <m:begChr m:val="|"/>
                                                <m:endChr m:val="|"/>
                                                <m:ctrlPr>
                                                  <a:rPr lang="ru-RU" i="1">
                                                    <a:latin typeface="Cambria Math" panose="02040503050406030204" pitchFamily="18" charset="0"/>
                                                  </a:rPr>
                                                </m:ctrlPr>
                                              </m:dPr>
                                              <m:e>
                                                <m:sSub>
                                                  <m:sSubPr>
                                                    <m:ctrlPr>
                                                      <a:rPr lang="ru-RU" i="1">
                                                        <a:latin typeface="Cambria Math" panose="02040503050406030204" pitchFamily="18" charset="0"/>
                                                      </a:rPr>
                                                    </m:ctrlPr>
                                                  </m:sSubPr>
                                                  <m:e>
                                                    <m:r>
                                                      <a:rPr lang="ru-RU" i="1">
                                                        <a:latin typeface="Cambria Math" panose="02040503050406030204" pitchFamily="18" charset="0"/>
                                                      </a:rPr>
                                                      <m:t>𝛺</m:t>
                                                    </m:r>
                                                  </m:e>
                                                  <m:sub>
                                                    <m:r>
                                                      <a:rPr lang="ru-RU">
                                                        <a:latin typeface="Cambria Math" panose="02040503050406030204" pitchFamily="18" charset="0"/>
                                                      </a:rPr>
                                                      <m:t>1</m:t>
                                                    </m:r>
                                                  </m:sub>
                                                </m:sSub>
                                              </m:e>
                                            </m:d>
                                          </m:e>
                                          <m:sup>
                                            <m:r>
                                              <a:rPr lang="ru-RU">
                                                <a:latin typeface="Cambria Math" panose="02040503050406030204" pitchFamily="18" charset="0"/>
                                              </a:rPr>
                                              <m:t>2</m:t>
                                            </m:r>
                                          </m:sup>
                                        </m:sSup>
                                      </m:num>
                                      <m:den>
                                        <m:r>
                                          <a:rPr lang="ru-RU">
                                            <a:latin typeface="Cambria Math" panose="02040503050406030204" pitchFamily="18" charset="0"/>
                                          </a:rPr>
                                          <m:t>∆</m:t>
                                        </m:r>
                                      </m:den>
                                    </m:f>
                                    <m:r>
                                      <a:rPr lang="ru-RU">
                                        <a:latin typeface="Cambria Math" panose="02040503050406030204" pitchFamily="18" charset="0"/>
                                      </a:rPr>
                                      <m:t>−</m:t>
                                    </m:r>
                                    <m:f>
                                      <m:fPr>
                                        <m:ctrlPr>
                                          <a:rPr lang="ru-RU" i="1">
                                            <a:latin typeface="Cambria Math" panose="02040503050406030204" pitchFamily="18" charset="0"/>
                                          </a:rPr>
                                        </m:ctrlPr>
                                      </m:fPr>
                                      <m:num>
                                        <m:sSup>
                                          <m:sSupPr>
                                            <m:ctrlPr>
                                              <a:rPr lang="ru-RU" i="1">
                                                <a:latin typeface="Cambria Math" panose="02040503050406030204" pitchFamily="18" charset="0"/>
                                              </a:rPr>
                                            </m:ctrlPr>
                                          </m:sSupPr>
                                          <m:e>
                                            <m:d>
                                              <m:dPr>
                                                <m:begChr m:val="|"/>
                                                <m:endChr m:val="|"/>
                                                <m:ctrlPr>
                                                  <a:rPr lang="ru-RU" i="1">
                                                    <a:latin typeface="Cambria Math" panose="02040503050406030204" pitchFamily="18" charset="0"/>
                                                  </a:rPr>
                                                </m:ctrlPr>
                                              </m:dPr>
                                              <m:e>
                                                <m:sSub>
                                                  <m:sSubPr>
                                                    <m:ctrlPr>
                                                      <a:rPr lang="ru-RU" i="1">
                                                        <a:latin typeface="Cambria Math" panose="02040503050406030204" pitchFamily="18" charset="0"/>
                                                      </a:rPr>
                                                    </m:ctrlPr>
                                                  </m:sSubPr>
                                                  <m:e>
                                                    <m:r>
                                                      <a:rPr lang="ru-RU" i="1">
                                                        <a:latin typeface="Cambria Math" panose="02040503050406030204" pitchFamily="18" charset="0"/>
                                                      </a:rPr>
                                                      <m:t>𝛺</m:t>
                                                    </m:r>
                                                  </m:e>
                                                  <m:sub>
                                                    <m:r>
                                                      <a:rPr lang="ru-RU">
                                                        <a:latin typeface="Cambria Math" panose="02040503050406030204" pitchFamily="18" charset="0"/>
                                                      </a:rPr>
                                                      <m:t>2</m:t>
                                                    </m:r>
                                                  </m:sub>
                                                </m:sSub>
                                              </m:e>
                                            </m:d>
                                          </m:e>
                                          <m:sup>
                                            <m:r>
                                              <a:rPr lang="ru-RU">
                                                <a:latin typeface="Cambria Math" panose="02040503050406030204" pitchFamily="18" charset="0"/>
                                              </a:rPr>
                                              <m:t>2</m:t>
                                            </m:r>
                                          </m:sup>
                                        </m:sSup>
                                      </m:num>
                                      <m:den>
                                        <m:r>
                                          <a:rPr lang="ru-RU">
                                            <a:latin typeface="Cambria Math" panose="02040503050406030204" pitchFamily="18" charset="0"/>
                                          </a:rPr>
                                          <m:t>∆</m:t>
                                        </m:r>
                                      </m:den>
                                    </m:f>
                                    <m:r>
                                      <a:rPr lang="ru-RU">
                                        <a:latin typeface="Cambria Math" panose="02040503050406030204" pitchFamily="18" charset="0"/>
                                      </a:rPr>
                                      <m:t>−</m:t>
                                    </m:r>
                                    <m:r>
                                      <a:rPr lang="ru-RU" i="1">
                                        <a:latin typeface="Cambria Math" panose="02040503050406030204" pitchFamily="18" charset="0"/>
                                      </a:rPr>
                                      <m:t>𝛿</m:t>
                                    </m:r>
                                  </m:e>
                                </m:d>
                                <m:func>
                                  <m:funcPr>
                                    <m:ctrlPr>
                                      <a:rPr lang="ru-RU" i="1">
                                        <a:latin typeface="Cambria Math" panose="02040503050406030204" pitchFamily="18" charset="0"/>
                                      </a:rPr>
                                    </m:ctrlPr>
                                  </m:funcPr>
                                  <m:fName>
                                    <m:r>
                                      <m:rPr>
                                        <m:sty m:val="p"/>
                                      </m:rPr>
                                      <a:rPr lang="ru-RU">
                                        <a:latin typeface="Cambria Math" panose="02040503050406030204" pitchFamily="18" charset="0"/>
                                      </a:rPr>
                                      <m:t>sin</m:t>
                                    </m:r>
                                  </m:fName>
                                  <m:e>
                                    <m:f>
                                      <m:fPr>
                                        <m:ctrlPr>
                                          <a:rPr lang="ru-RU" i="1">
                                            <a:latin typeface="Cambria Math" panose="02040503050406030204" pitchFamily="18" charset="0"/>
                                          </a:rPr>
                                        </m:ctrlPr>
                                      </m:fPr>
                                      <m:num>
                                        <m:sSub>
                                          <m:sSubPr>
                                            <m:ctrlPr>
                                              <a:rPr lang="ru-RU" i="1">
                                                <a:latin typeface="Cambria Math" panose="02040503050406030204" pitchFamily="18" charset="0"/>
                                              </a:rPr>
                                            </m:ctrlPr>
                                          </m:sSubPr>
                                          <m:e>
                                            <m:r>
                                              <a:rPr lang="ru-RU" i="1">
                                                <a:latin typeface="Cambria Math" panose="02040503050406030204" pitchFamily="18" charset="0"/>
                                              </a:rPr>
                                              <m:t>𝛺</m:t>
                                            </m:r>
                                          </m:e>
                                          <m:sub>
                                            <m:r>
                                              <a:rPr lang="ru-RU" i="1">
                                                <a:latin typeface="Cambria Math" panose="02040503050406030204" pitchFamily="18" charset="0"/>
                                              </a:rPr>
                                              <m:t>𝑅</m:t>
                                            </m:r>
                                          </m:sub>
                                        </m:sSub>
                                        <m:r>
                                          <a:rPr lang="ru-RU" i="1">
                                            <a:latin typeface="Cambria Math" panose="02040503050406030204" pitchFamily="18" charset="0"/>
                                          </a:rPr>
                                          <m:t>𝜏</m:t>
                                        </m:r>
                                      </m:num>
                                      <m:den>
                                        <m:r>
                                          <a:rPr lang="ru-RU">
                                            <a:latin typeface="Cambria Math" panose="02040503050406030204" pitchFamily="18" charset="0"/>
                                          </a:rPr>
                                          <m:t>2</m:t>
                                        </m:r>
                                      </m:den>
                                    </m:f>
                                  </m:e>
                                </m:func>
                              </m:e>
                              <m:e>
                                <m:f>
                                  <m:fPr>
                                    <m:ctrlPr>
                                      <a:rPr lang="ru-RU" i="1">
                                        <a:latin typeface="Cambria Math" panose="02040503050406030204" pitchFamily="18" charset="0"/>
                                      </a:rPr>
                                    </m:ctrlPr>
                                  </m:fPr>
                                  <m:num>
                                    <m:r>
                                      <a:rPr lang="ru-RU" i="1">
                                        <a:latin typeface="Cambria Math" panose="02040503050406030204" pitchFamily="18" charset="0"/>
                                      </a:rPr>
                                      <m:t>𝑖</m:t>
                                    </m:r>
                                  </m:num>
                                  <m:den>
                                    <m:sSub>
                                      <m:sSubPr>
                                        <m:ctrlPr>
                                          <a:rPr lang="ru-RU" i="1">
                                            <a:latin typeface="Cambria Math" panose="02040503050406030204" pitchFamily="18" charset="0"/>
                                          </a:rPr>
                                        </m:ctrlPr>
                                      </m:sSubPr>
                                      <m:e>
                                        <m:r>
                                          <a:rPr lang="ru-RU" i="1">
                                            <a:latin typeface="Cambria Math" panose="02040503050406030204" pitchFamily="18" charset="0"/>
                                          </a:rPr>
                                          <m:t>𝛺</m:t>
                                        </m:r>
                                      </m:e>
                                      <m:sub>
                                        <m:r>
                                          <a:rPr lang="ru-RU" i="1">
                                            <a:latin typeface="Cambria Math" panose="02040503050406030204" pitchFamily="18" charset="0"/>
                                          </a:rPr>
                                          <m:t>𝑅</m:t>
                                        </m:r>
                                      </m:sub>
                                    </m:sSub>
                                  </m:den>
                                </m:f>
                                <m:sSub>
                                  <m:sSubPr>
                                    <m:ctrlPr>
                                      <a:rPr lang="ru-RU" i="1">
                                        <a:latin typeface="Cambria Math" panose="02040503050406030204" pitchFamily="18" charset="0"/>
                                      </a:rPr>
                                    </m:ctrlPr>
                                  </m:sSubPr>
                                  <m:e>
                                    <m:r>
                                      <a:rPr lang="ru-RU" i="1">
                                        <a:latin typeface="Cambria Math" panose="02040503050406030204" pitchFamily="18" charset="0"/>
                                      </a:rPr>
                                      <m:t>𝛺</m:t>
                                    </m:r>
                                  </m:e>
                                  <m:sub>
                                    <m:r>
                                      <a:rPr lang="ru-RU">
                                        <a:latin typeface="Cambria Math" panose="02040503050406030204" pitchFamily="18" charset="0"/>
                                      </a:rPr>
                                      <m:t>0</m:t>
                                    </m:r>
                                  </m:sub>
                                </m:sSub>
                                <m:func>
                                  <m:funcPr>
                                    <m:ctrlPr>
                                      <a:rPr lang="ru-RU" i="1">
                                        <a:latin typeface="Cambria Math" panose="02040503050406030204" pitchFamily="18" charset="0"/>
                                      </a:rPr>
                                    </m:ctrlPr>
                                  </m:funcPr>
                                  <m:fName>
                                    <m:r>
                                      <m:rPr>
                                        <m:sty m:val="p"/>
                                      </m:rPr>
                                      <a:rPr lang="ru-RU">
                                        <a:latin typeface="Cambria Math" panose="02040503050406030204" pitchFamily="18" charset="0"/>
                                      </a:rPr>
                                      <m:t>sin</m:t>
                                    </m:r>
                                  </m:fName>
                                  <m:e>
                                    <m:f>
                                      <m:fPr>
                                        <m:ctrlPr>
                                          <a:rPr lang="ru-RU" i="1">
                                            <a:latin typeface="Cambria Math" panose="02040503050406030204" pitchFamily="18" charset="0"/>
                                          </a:rPr>
                                        </m:ctrlPr>
                                      </m:fPr>
                                      <m:num>
                                        <m:sSub>
                                          <m:sSubPr>
                                            <m:ctrlPr>
                                              <a:rPr lang="ru-RU" i="1">
                                                <a:latin typeface="Cambria Math" panose="02040503050406030204" pitchFamily="18" charset="0"/>
                                              </a:rPr>
                                            </m:ctrlPr>
                                          </m:sSubPr>
                                          <m:e>
                                            <m:r>
                                              <a:rPr lang="ru-RU" i="1">
                                                <a:latin typeface="Cambria Math" panose="02040503050406030204" pitchFamily="18" charset="0"/>
                                              </a:rPr>
                                              <m:t>𝛺</m:t>
                                            </m:r>
                                          </m:e>
                                          <m:sub>
                                            <m:r>
                                              <a:rPr lang="ru-RU" i="1">
                                                <a:latin typeface="Cambria Math" panose="02040503050406030204" pitchFamily="18" charset="0"/>
                                              </a:rPr>
                                              <m:t>𝑅</m:t>
                                            </m:r>
                                          </m:sub>
                                        </m:sSub>
                                        <m:r>
                                          <a:rPr lang="ru-RU" i="1">
                                            <a:latin typeface="Cambria Math" panose="02040503050406030204" pitchFamily="18" charset="0"/>
                                          </a:rPr>
                                          <m:t>𝜏</m:t>
                                        </m:r>
                                      </m:num>
                                      <m:den>
                                        <m:r>
                                          <a:rPr lang="ru-RU">
                                            <a:latin typeface="Cambria Math" panose="02040503050406030204" pitchFamily="18" charset="0"/>
                                          </a:rPr>
                                          <m:t>2</m:t>
                                        </m:r>
                                      </m:den>
                                    </m:f>
                                  </m:e>
                                </m:func>
                                <m:sSup>
                                  <m:sSupPr>
                                    <m:ctrlPr>
                                      <a:rPr lang="ru-RU" i="1">
                                        <a:latin typeface="Cambria Math" panose="02040503050406030204" pitchFamily="18" charset="0"/>
                                      </a:rPr>
                                    </m:ctrlPr>
                                  </m:sSupPr>
                                  <m:e>
                                    <m:r>
                                      <a:rPr lang="ru-RU" i="1">
                                        <a:latin typeface="Cambria Math" panose="02040503050406030204" pitchFamily="18" charset="0"/>
                                      </a:rPr>
                                      <m:t>𝑒</m:t>
                                    </m:r>
                                  </m:e>
                                  <m:sup>
                                    <m:r>
                                      <a:rPr lang="ru-RU" i="1">
                                        <a:latin typeface="Cambria Math" panose="02040503050406030204" pitchFamily="18" charset="0"/>
                                      </a:rPr>
                                      <m:t>𝑖</m:t>
                                    </m:r>
                                    <m:d>
                                      <m:dPr>
                                        <m:ctrlPr>
                                          <a:rPr lang="ru-RU" i="1">
                                            <a:latin typeface="Cambria Math" panose="02040503050406030204" pitchFamily="18" charset="0"/>
                                          </a:rPr>
                                        </m:ctrlPr>
                                      </m:dPr>
                                      <m:e>
                                        <m:sSub>
                                          <m:sSubPr>
                                            <m:ctrlPr>
                                              <a:rPr lang="ru-RU" i="1">
                                                <a:latin typeface="Cambria Math" panose="02040503050406030204" pitchFamily="18" charset="0"/>
                                              </a:rPr>
                                            </m:ctrlPr>
                                          </m:sSubPr>
                                          <m:e>
                                            <m:r>
                                              <a:rPr lang="ru-RU" i="1">
                                                <a:latin typeface="Cambria Math" panose="02040503050406030204" pitchFamily="18" charset="0"/>
                                              </a:rPr>
                                              <m:t>𝛿</m:t>
                                            </m:r>
                                          </m:e>
                                          <m:sub>
                                            <m:r>
                                              <a:rPr lang="ru-RU">
                                                <a:latin typeface="Cambria Math" panose="02040503050406030204" pitchFamily="18" charset="0"/>
                                              </a:rPr>
                                              <m:t>0</m:t>
                                            </m:r>
                                          </m:sub>
                                        </m:sSub>
                                        <m:r>
                                          <a:rPr lang="ru-RU" i="1">
                                            <a:latin typeface="Cambria Math" panose="02040503050406030204" pitchFamily="18" charset="0"/>
                                          </a:rPr>
                                          <m:t>𝑡</m:t>
                                        </m:r>
                                        <m:r>
                                          <a:rPr lang="ru-RU">
                                            <a:latin typeface="Cambria Math" panose="02040503050406030204" pitchFamily="18" charset="0"/>
                                          </a:rPr>
                                          <m:t>+</m:t>
                                        </m:r>
                                        <m:r>
                                          <a:rPr lang="ru-RU" i="1">
                                            <a:latin typeface="Cambria Math" panose="02040503050406030204" pitchFamily="18" charset="0"/>
                                          </a:rPr>
                                          <m:t>𝜋𝛼</m:t>
                                        </m:r>
                                        <m:sSup>
                                          <m:sSupPr>
                                            <m:ctrlPr>
                                              <a:rPr lang="ru-RU" i="1">
                                                <a:latin typeface="Cambria Math" panose="02040503050406030204" pitchFamily="18" charset="0"/>
                                              </a:rPr>
                                            </m:ctrlPr>
                                          </m:sSupPr>
                                          <m:e>
                                            <m:r>
                                              <a:rPr lang="ru-RU" i="1">
                                                <a:latin typeface="Cambria Math" panose="02040503050406030204" pitchFamily="18" charset="0"/>
                                              </a:rPr>
                                              <m:t>𝑡</m:t>
                                            </m:r>
                                          </m:e>
                                          <m:sup>
                                            <m:r>
                                              <a:rPr lang="ru-RU">
                                                <a:latin typeface="Cambria Math" panose="02040503050406030204" pitchFamily="18" charset="0"/>
                                              </a:rPr>
                                              <m:t>2</m:t>
                                            </m:r>
                                          </m:sup>
                                        </m:sSup>
                                      </m:e>
                                    </m:d>
                                  </m:sup>
                                </m:sSup>
                              </m:e>
                            </m:mr>
                            <m:mr>
                              <m:e>
                                <m:f>
                                  <m:fPr>
                                    <m:ctrlPr>
                                      <a:rPr lang="ru-RU" i="1">
                                        <a:latin typeface="Cambria Math" panose="02040503050406030204" pitchFamily="18" charset="0"/>
                                      </a:rPr>
                                    </m:ctrlPr>
                                  </m:fPr>
                                  <m:num>
                                    <m:r>
                                      <a:rPr lang="ru-RU" i="1">
                                        <a:latin typeface="Cambria Math" panose="02040503050406030204" pitchFamily="18" charset="0"/>
                                      </a:rPr>
                                      <m:t>𝑖</m:t>
                                    </m:r>
                                  </m:num>
                                  <m:den>
                                    <m:sSub>
                                      <m:sSubPr>
                                        <m:ctrlPr>
                                          <a:rPr lang="ru-RU" i="1">
                                            <a:latin typeface="Cambria Math" panose="02040503050406030204" pitchFamily="18" charset="0"/>
                                          </a:rPr>
                                        </m:ctrlPr>
                                      </m:sSubPr>
                                      <m:e>
                                        <m:r>
                                          <a:rPr lang="ru-RU" i="1">
                                            <a:latin typeface="Cambria Math" panose="02040503050406030204" pitchFamily="18" charset="0"/>
                                          </a:rPr>
                                          <m:t>𝛺</m:t>
                                        </m:r>
                                      </m:e>
                                      <m:sub>
                                        <m:r>
                                          <a:rPr lang="ru-RU" i="1">
                                            <a:latin typeface="Cambria Math" panose="02040503050406030204" pitchFamily="18" charset="0"/>
                                          </a:rPr>
                                          <m:t>𝑅</m:t>
                                        </m:r>
                                      </m:sub>
                                    </m:sSub>
                                  </m:den>
                                </m:f>
                                <m:sSub>
                                  <m:sSubPr>
                                    <m:ctrlPr>
                                      <a:rPr lang="ru-RU" i="1">
                                        <a:latin typeface="Cambria Math" panose="02040503050406030204" pitchFamily="18" charset="0"/>
                                      </a:rPr>
                                    </m:ctrlPr>
                                  </m:sSubPr>
                                  <m:e>
                                    <m:r>
                                      <a:rPr lang="ru-RU" i="1">
                                        <a:latin typeface="Cambria Math" panose="02040503050406030204" pitchFamily="18" charset="0"/>
                                      </a:rPr>
                                      <m:t>𝛺</m:t>
                                    </m:r>
                                  </m:e>
                                  <m:sub>
                                    <m:r>
                                      <a:rPr lang="ru-RU">
                                        <a:latin typeface="Cambria Math" panose="02040503050406030204" pitchFamily="18" charset="0"/>
                                      </a:rPr>
                                      <m:t>0</m:t>
                                    </m:r>
                                  </m:sub>
                                </m:sSub>
                                <m:func>
                                  <m:funcPr>
                                    <m:ctrlPr>
                                      <a:rPr lang="ru-RU" i="1">
                                        <a:latin typeface="Cambria Math" panose="02040503050406030204" pitchFamily="18" charset="0"/>
                                      </a:rPr>
                                    </m:ctrlPr>
                                  </m:funcPr>
                                  <m:fName>
                                    <m:r>
                                      <m:rPr>
                                        <m:sty m:val="p"/>
                                      </m:rPr>
                                      <a:rPr lang="ru-RU">
                                        <a:latin typeface="Cambria Math" panose="02040503050406030204" pitchFamily="18" charset="0"/>
                                      </a:rPr>
                                      <m:t>sin</m:t>
                                    </m:r>
                                  </m:fName>
                                  <m:e>
                                    <m:f>
                                      <m:fPr>
                                        <m:ctrlPr>
                                          <a:rPr lang="ru-RU" i="1">
                                            <a:latin typeface="Cambria Math" panose="02040503050406030204" pitchFamily="18" charset="0"/>
                                          </a:rPr>
                                        </m:ctrlPr>
                                      </m:fPr>
                                      <m:num>
                                        <m:sSub>
                                          <m:sSubPr>
                                            <m:ctrlPr>
                                              <a:rPr lang="ru-RU" i="1">
                                                <a:latin typeface="Cambria Math" panose="02040503050406030204" pitchFamily="18" charset="0"/>
                                              </a:rPr>
                                            </m:ctrlPr>
                                          </m:sSubPr>
                                          <m:e>
                                            <m:r>
                                              <a:rPr lang="ru-RU" i="1">
                                                <a:latin typeface="Cambria Math" panose="02040503050406030204" pitchFamily="18" charset="0"/>
                                              </a:rPr>
                                              <m:t>𝛺</m:t>
                                            </m:r>
                                          </m:e>
                                          <m:sub>
                                            <m:r>
                                              <a:rPr lang="ru-RU" i="1">
                                                <a:latin typeface="Cambria Math" panose="02040503050406030204" pitchFamily="18" charset="0"/>
                                              </a:rPr>
                                              <m:t>𝑅</m:t>
                                            </m:r>
                                          </m:sub>
                                        </m:sSub>
                                        <m:r>
                                          <a:rPr lang="ru-RU" i="1">
                                            <a:latin typeface="Cambria Math" panose="02040503050406030204" pitchFamily="18" charset="0"/>
                                          </a:rPr>
                                          <m:t>𝜏</m:t>
                                        </m:r>
                                      </m:num>
                                      <m:den>
                                        <m:r>
                                          <a:rPr lang="ru-RU">
                                            <a:latin typeface="Cambria Math" panose="02040503050406030204" pitchFamily="18" charset="0"/>
                                          </a:rPr>
                                          <m:t>2</m:t>
                                        </m:r>
                                      </m:den>
                                    </m:f>
                                  </m:e>
                                </m:func>
                                <m:sSup>
                                  <m:sSupPr>
                                    <m:ctrlPr>
                                      <a:rPr lang="ru-RU" i="1">
                                        <a:latin typeface="Cambria Math" panose="02040503050406030204" pitchFamily="18" charset="0"/>
                                      </a:rPr>
                                    </m:ctrlPr>
                                  </m:sSupPr>
                                  <m:e>
                                    <m:r>
                                      <a:rPr lang="ru-RU" i="1">
                                        <a:latin typeface="Cambria Math" panose="02040503050406030204" pitchFamily="18" charset="0"/>
                                      </a:rPr>
                                      <m:t>𝑒</m:t>
                                    </m:r>
                                  </m:e>
                                  <m:sup>
                                    <m:r>
                                      <a:rPr lang="ru-RU" i="1">
                                        <a:latin typeface="Cambria Math" panose="02040503050406030204" pitchFamily="18" charset="0"/>
                                      </a:rPr>
                                      <m:t>𝑖</m:t>
                                    </m:r>
                                    <m:d>
                                      <m:dPr>
                                        <m:ctrlPr>
                                          <a:rPr lang="ru-RU" i="1">
                                            <a:latin typeface="Cambria Math" panose="02040503050406030204" pitchFamily="18" charset="0"/>
                                          </a:rPr>
                                        </m:ctrlPr>
                                      </m:dPr>
                                      <m:e>
                                        <m:sSub>
                                          <m:sSubPr>
                                            <m:ctrlPr>
                                              <a:rPr lang="ru-RU" i="1">
                                                <a:latin typeface="Cambria Math" panose="02040503050406030204" pitchFamily="18" charset="0"/>
                                              </a:rPr>
                                            </m:ctrlPr>
                                          </m:sSubPr>
                                          <m:e>
                                            <m:r>
                                              <a:rPr lang="ru-RU" i="1">
                                                <a:latin typeface="Cambria Math" panose="02040503050406030204" pitchFamily="18" charset="0"/>
                                              </a:rPr>
                                              <m:t>𝛿</m:t>
                                            </m:r>
                                          </m:e>
                                          <m:sub>
                                            <m:r>
                                              <a:rPr lang="ru-RU">
                                                <a:latin typeface="Cambria Math" panose="02040503050406030204" pitchFamily="18" charset="0"/>
                                              </a:rPr>
                                              <m:t>0</m:t>
                                            </m:r>
                                          </m:sub>
                                        </m:sSub>
                                        <m:r>
                                          <a:rPr lang="ru-RU" i="1">
                                            <a:latin typeface="Cambria Math" panose="02040503050406030204" pitchFamily="18" charset="0"/>
                                          </a:rPr>
                                          <m:t>𝑡</m:t>
                                        </m:r>
                                        <m:r>
                                          <a:rPr lang="ru-RU">
                                            <a:latin typeface="Cambria Math" panose="02040503050406030204" pitchFamily="18" charset="0"/>
                                          </a:rPr>
                                          <m:t>+</m:t>
                                        </m:r>
                                        <m:r>
                                          <a:rPr lang="ru-RU" i="1">
                                            <a:latin typeface="Cambria Math" panose="02040503050406030204" pitchFamily="18" charset="0"/>
                                          </a:rPr>
                                          <m:t>𝜋𝛼</m:t>
                                        </m:r>
                                        <m:sSup>
                                          <m:sSupPr>
                                            <m:ctrlPr>
                                              <a:rPr lang="ru-RU" i="1">
                                                <a:latin typeface="Cambria Math" panose="02040503050406030204" pitchFamily="18" charset="0"/>
                                              </a:rPr>
                                            </m:ctrlPr>
                                          </m:sSupPr>
                                          <m:e>
                                            <m:r>
                                              <a:rPr lang="ru-RU" i="1">
                                                <a:latin typeface="Cambria Math" panose="02040503050406030204" pitchFamily="18" charset="0"/>
                                              </a:rPr>
                                              <m:t>𝑡</m:t>
                                            </m:r>
                                          </m:e>
                                          <m:sup>
                                            <m:r>
                                              <a:rPr lang="ru-RU">
                                                <a:latin typeface="Cambria Math" panose="02040503050406030204" pitchFamily="18" charset="0"/>
                                              </a:rPr>
                                              <m:t>2</m:t>
                                            </m:r>
                                          </m:sup>
                                        </m:sSup>
                                      </m:e>
                                    </m:d>
                                  </m:sup>
                                </m:sSup>
                              </m:e>
                              <m:e>
                                <m:func>
                                  <m:funcPr>
                                    <m:ctrlPr>
                                      <a:rPr lang="ru-RU" i="1">
                                        <a:latin typeface="Cambria Math" panose="02040503050406030204" pitchFamily="18" charset="0"/>
                                      </a:rPr>
                                    </m:ctrlPr>
                                  </m:funcPr>
                                  <m:fName>
                                    <m:r>
                                      <m:rPr>
                                        <m:sty m:val="p"/>
                                      </m:rPr>
                                      <a:rPr lang="ru-RU">
                                        <a:latin typeface="Cambria Math" panose="02040503050406030204" pitchFamily="18" charset="0"/>
                                      </a:rPr>
                                      <m:t>cos</m:t>
                                    </m:r>
                                  </m:fName>
                                  <m:e>
                                    <m:f>
                                      <m:fPr>
                                        <m:ctrlPr>
                                          <a:rPr lang="ru-RU" i="1">
                                            <a:latin typeface="Cambria Math" panose="02040503050406030204" pitchFamily="18" charset="0"/>
                                          </a:rPr>
                                        </m:ctrlPr>
                                      </m:fPr>
                                      <m:num>
                                        <m:sSub>
                                          <m:sSubPr>
                                            <m:ctrlPr>
                                              <a:rPr lang="ru-RU" i="1">
                                                <a:latin typeface="Cambria Math" panose="02040503050406030204" pitchFamily="18" charset="0"/>
                                              </a:rPr>
                                            </m:ctrlPr>
                                          </m:sSubPr>
                                          <m:e>
                                            <m:r>
                                              <a:rPr lang="ru-RU" i="1">
                                                <a:latin typeface="Cambria Math" panose="02040503050406030204" pitchFamily="18" charset="0"/>
                                              </a:rPr>
                                              <m:t>𝛺</m:t>
                                            </m:r>
                                          </m:e>
                                          <m:sub>
                                            <m:r>
                                              <a:rPr lang="ru-RU" i="1">
                                                <a:latin typeface="Cambria Math" panose="02040503050406030204" pitchFamily="18" charset="0"/>
                                              </a:rPr>
                                              <m:t>𝑅</m:t>
                                            </m:r>
                                          </m:sub>
                                        </m:sSub>
                                        <m:r>
                                          <a:rPr lang="ru-RU" i="1">
                                            <a:latin typeface="Cambria Math" panose="02040503050406030204" pitchFamily="18" charset="0"/>
                                          </a:rPr>
                                          <m:t>𝜏</m:t>
                                        </m:r>
                                      </m:num>
                                      <m:den>
                                        <m:r>
                                          <a:rPr lang="ru-RU">
                                            <a:latin typeface="Cambria Math" panose="02040503050406030204" pitchFamily="18" charset="0"/>
                                          </a:rPr>
                                          <m:t>2</m:t>
                                        </m:r>
                                      </m:den>
                                    </m:f>
                                  </m:e>
                                </m:func>
                                <m:r>
                                  <a:rPr lang="ru-RU">
                                    <a:latin typeface="Cambria Math" panose="02040503050406030204" pitchFamily="18" charset="0"/>
                                  </a:rPr>
                                  <m:t>− </m:t>
                                </m:r>
                                <m:f>
                                  <m:fPr>
                                    <m:ctrlPr>
                                      <a:rPr lang="ru-RU" i="1">
                                        <a:latin typeface="Cambria Math" panose="02040503050406030204" pitchFamily="18" charset="0"/>
                                      </a:rPr>
                                    </m:ctrlPr>
                                  </m:fPr>
                                  <m:num>
                                    <m:r>
                                      <a:rPr lang="ru-RU" i="1">
                                        <a:latin typeface="Cambria Math" panose="02040503050406030204" pitchFamily="18" charset="0"/>
                                      </a:rPr>
                                      <m:t>𝑖</m:t>
                                    </m:r>
                                  </m:num>
                                  <m:den>
                                    <m:sSub>
                                      <m:sSubPr>
                                        <m:ctrlPr>
                                          <a:rPr lang="ru-RU" i="1">
                                            <a:latin typeface="Cambria Math" panose="02040503050406030204" pitchFamily="18" charset="0"/>
                                          </a:rPr>
                                        </m:ctrlPr>
                                      </m:sSubPr>
                                      <m:e>
                                        <m:r>
                                          <a:rPr lang="ru-RU" i="1">
                                            <a:latin typeface="Cambria Math" panose="02040503050406030204" pitchFamily="18" charset="0"/>
                                          </a:rPr>
                                          <m:t>𝛺</m:t>
                                        </m:r>
                                      </m:e>
                                      <m:sub>
                                        <m:r>
                                          <a:rPr lang="ru-RU" i="1">
                                            <a:latin typeface="Cambria Math" panose="02040503050406030204" pitchFamily="18" charset="0"/>
                                          </a:rPr>
                                          <m:t>𝑅</m:t>
                                        </m:r>
                                      </m:sub>
                                    </m:sSub>
                                  </m:den>
                                </m:f>
                                <m:d>
                                  <m:dPr>
                                    <m:ctrlPr>
                                      <a:rPr lang="ru-RU" i="1">
                                        <a:latin typeface="Cambria Math" panose="02040503050406030204" pitchFamily="18" charset="0"/>
                                      </a:rPr>
                                    </m:ctrlPr>
                                  </m:dPr>
                                  <m:e>
                                    <m:f>
                                      <m:fPr>
                                        <m:ctrlPr>
                                          <a:rPr lang="ru-RU" i="1">
                                            <a:latin typeface="Cambria Math" panose="02040503050406030204" pitchFamily="18" charset="0"/>
                                          </a:rPr>
                                        </m:ctrlPr>
                                      </m:fPr>
                                      <m:num>
                                        <m:sSup>
                                          <m:sSupPr>
                                            <m:ctrlPr>
                                              <a:rPr lang="ru-RU" i="1">
                                                <a:latin typeface="Cambria Math" panose="02040503050406030204" pitchFamily="18" charset="0"/>
                                              </a:rPr>
                                            </m:ctrlPr>
                                          </m:sSupPr>
                                          <m:e>
                                            <m:d>
                                              <m:dPr>
                                                <m:begChr m:val="|"/>
                                                <m:endChr m:val="|"/>
                                                <m:ctrlPr>
                                                  <a:rPr lang="ru-RU" i="1">
                                                    <a:latin typeface="Cambria Math" panose="02040503050406030204" pitchFamily="18" charset="0"/>
                                                  </a:rPr>
                                                </m:ctrlPr>
                                              </m:dPr>
                                              <m:e>
                                                <m:sSub>
                                                  <m:sSubPr>
                                                    <m:ctrlPr>
                                                      <a:rPr lang="ru-RU" i="1">
                                                        <a:latin typeface="Cambria Math" panose="02040503050406030204" pitchFamily="18" charset="0"/>
                                                      </a:rPr>
                                                    </m:ctrlPr>
                                                  </m:sSubPr>
                                                  <m:e>
                                                    <m:r>
                                                      <a:rPr lang="ru-RU" i="1">
                                                        <a:latin typeface="Cambria Math" panose="02040503050406030204" pitchFamily="18" charset="0"/>
                                                      </a:rPr>
                                                      <m:t>𝛺</m:t>
                                                    </m:r>
                                                  </m:e>
                                                  <m:sub>
                                                    <m:r>
                                                      <a:rPr lang="ru-RU">
                                                        <a:latin typeface="Cambria Math" panose="02040503050406030204" pitchFamily="18" charset="0"/>
                                                      </a:rPr>
                                                      <m:t>1</m:t>
                                                    </m:r>
                                                  </m:sub>
                                                </m:sSub>
                                              </m:e>
                                            </m:d>
                                          </m:e>
                                          <m:sup>
                                            <m:r>
                                              <a:rPr lang="ru-RU">
                                                <a:latin typeface="Cambria Math" panose="02040503050406030204" pitchFamily="18" charset="0"/>
                                              </a:rPr>
                                              <m:t>2</m:t>
                                            </m:r>
                                          </m:sup>
                                        </m:sSup>
                                      </m:num>
                                      <m:den>
                                        <m:r>
                                          <a:rPr lang="ru-RU">
                                            <a:latin typeface="Cambria Math" panose="02040503050406030204" pitchFamily="18" charset="0"/>
                                          </a:rPr>
                                          <m:t>∆</m:t>
                                        </m:r>
                                      </m:den>
                                    </m:f>
                                    <m:r>
                                      <a:rPr lang="ru-RU">
                                        <a:latin typeface="Cambria Math" panose="02040503050406030204" pitchFamily="18" charset="0"/>
                                      </a:rPr>
                                      <m:t>−</m:t>
                                    </m:r>
                                    <m:f>
                                      <m:fPr>
                                        <m:ctrlPr>
                                          <a:rPr lang="ru-RU" i="1">
                                            <a:latin typeface="Cambria Math" panose="02040503050406030204" pitchFamily="18" charset="0"/>
                                          </a:rPr>
                                        </m:ctrlPr>
                                      </m:fPr>
                                      <m:num>
                                        <m:sSup>
                                          <m:sSupPr>
                                            <m:ctrlPr>
                                              <a:rPr lang="ru-RU" i="1">
                                                <a:latin typeface="Cambria Math" panose="02040503050406030204" pitchFamily="18" charset="0"/>
                                              </a:rPr>
                                            </m:ctrlPr>
                                          </m:sSupPr>
                                          <m:e>
                                            <m:d>
                                              <m:dPr>
                                                <m:begChr m:val="|"/>
                                                <m:endChr m:val="|"/>
                                                <m:ctrlPr>
                                                  <a:rPr lang="ru-RU" i="1">
                                                    <a:latin typeface="Cambria Math" panose="02040503050406030204" pitchFamily="18" charset="0"/>
                                                  </a:rPr>
                                                </m:ctrlPr>
                                              </m:dPr>
                                              <m:e>
                                                <m:sSub>
                                                  <m:sSubPr>
                                                    <m:ctrlPr>
                                                      <a:rPr lang="ru-RU" i="1">
                                                        <a:latin typeface="Cambria Math" panose="02040503050406030204" pitchFamily="18" charset="0"/>
                                                      </a:rPr>
                                                    </m:ctrlPr>
                                                  </m:sSubPr>
                                                  <m:e>
                                                    <m:r>
                                                      <a:rPr lang="ru-RU" i="1">
                                                        <a:latin typeface="Cambria Math" panose="02040503050406030204" pitchFamily="18" charset="0"/>
                                                      </a:rPr>
                                                      <m:t>𝛺</m:t>
                                                    </m:r>
                                                  </m:e>
                                                  <m:sub>
                                                    <m:r>
                                                      <a:rPr lang="ru-RU">
                                                        <a:latin typeface="Cambria Math" panose="02040503050406030204" pitchFamily="18" charset="0"/>
                                                      </a:rPr>
                                                      <m:t>2</m:t>
                                                    </m:r>
                                                  </m:sub>
                                                </m:sSub>
                                              </m:e>
                                            </m:d>
                                          </m:e>
                                          <m:sup>
                                            <m:r>
                                              <a:rPr lang="ru-RU">
                                                <a:latin typeface="Cambria Math" panose="02040503050406030204" pitchFamily="18" charset="0"/>
                                              </a:rPr>
                                              <m:t>2</m:t>
                                            </m:r>
                                          </m:sup>
                                        </m:sSup>
                                      </m:num>
                                      <m:den>
                                        <m:r>
                                          <a:rPr lang="ru-RU">
                                            <a:latin typeface="Cambria Math" panose="02040503050406030204" pitchFamily="18" charset="0"/>
                                          </a:rPr>
                                          <m:t>∆</m:t>
                                        </m:r>
                                      </m:den>
                                    </m:f>
                                    <m:r>
                                      <a:rPr lang="ru-RU">
                                        <a:latin typeface="Cambria Math" panose="02040503050406030204" pitchFamily="18" charset="0"/>
                                      </a:rPr>
                                      <m:t>−</m:t>
                                    </m:r>
                                    <m:r>
                                      <a:rPr lang="ru-RU" i="1">
                                        <a:latin typeface="Cambria Math" panose="02040503050406030204" pitchFamily="18" charset="0"/>
                                      </a:rPr>
                                      <m:t>𝛿</m:t>
                                    </m:r>
                                  </m:e>
                                </m:d>
                                <m:func>
                                  <m:funcPr>
                                    <m:ctrlPr>
                                      <a:rPr lang="ru-RU" i="1">
                                        <a:latin typeface="Cambria Math" panose="02040503050406030204" pitchFamily="18" charset="0"/>
                                      </a:rPr>
                                    </m:ctrlPr>
                                  </m:funcPr>
                                  <m:fName>
                                    <m:r>
                                      <m:rPr>
                                        <m:sty m:val="p"/>
                                      </m:rPr>
                                      <a:rPr lang="ru-RU">
                                        <a:latin typeface="Cambria Math" panose="02040503050406030204" pitchFamily="18" charset="0"/>
                                      </a:rPr>
                                      <m:t>sin</m:t>
                                    </m:r>
                                  </m:fName>
                                  <m:e>
                                    <m:f>
                                      <m:fPr>
                                        <m:ctrlPr>
                                          <a:rPr lang="ru-RU" i="1">
                                            <a:latin typeface="Cambria Math" panose="02040503050406030204" pitchFamily="18" charset="0"/>
                                          </a:rPr>
                                        </m:ctrlPr>
                                      </m:fPr>
                                      <m:num>
                                        <m:sSub>
                                          <m:sSubPr>
                                            <m:ctrlPr>
                                              <a:rPr lang="ru-RU" i="1">
                                                <a:latin typeface="Cambria Math" panose="02040503050406030204" pitchFamily="18" charset="0"/>
                                              </a:rPr>
                                            </m:ctrlPr>
                                          </m:sSubPr>
                                          <m:e>
                                            <m:r>
                                              <a:rPr lang="ru-RU" i="1">
                                                <a:latin typeface="Cambria Math" panose="02040503050406030204" pitchFamily="18" charset="0"/>
                                              </a:rPr>
                                              <m:t>𝛺</m:t>
                                            </m:r>
                                          </m:e>
                                          <m:sub>
                                            <m:r>
                                              <a:rPr lang="ru-RU" i="1">
                                                <a:latin typeface="Cambria Math" panose="02040503050406030204" pitchFamily="18" charset="0"/>
                                              </a:rPr>
                                              <m:t>𝑅</m:t>
                                            </m:r>
                                          </m:sub>
                                        </m:sSub>
                                        <m:r>
                                          <a:rPr lang="ru-RU" i="1">
                                            <a:latin typeface="Cambria Math" panose="02040503050406030204" pitchFamily="18" charset="0"/>
                                          </a:rPr>
                                          <m:t>𝜏</m:t>
                                        </m:r>
                                      </m:num>
                                      <m:den>
                                        <m:r>
                                          <a:rPr lang="ru-RU">
                                            <a:latin typeface="Cambria Math" panose="02040503050406030204" pitchFamily="18" charset="0"/>
                                          </a:rPr>
                                          <m:t>2</m:t>
                                        </m:r>
                                      </m:den>
                                    </m:f>
                                  </m:e>
                                </m:func>
                              </m:e>
                            </m:mr>
                          </m:m>
                        </m:e>
                      </m:d>
                      <m:r>
                        <a:rPr lang="ru-RU" b="0" i="1" smtClean="0">
                          <a:latin typeface="Cambria Math" panose="02040503050406030204" pitchFamily="18" charset="0"/>
                          <a:ea typeface="Cambria Math" panose="02040503050406030204" pitchFamily="18" charset="0"/>
                        </a:rPr>
                        <m:t>∙</m:t>
                      </m:r>
                      <m:d>
                        <m:dPr>
                          <m:ctrlPr>
                            <a:rPr lang="ru-RU" b="0" i="1" smtClean="0">
                              <a:latin typeface="Cambria Math" panose="02040503050406030204" pitchFamily="18" charset="0"/>
                              <a:ea typeface="Cambria Math" panose="02040503050406030204" pitchFamily="18" charset="0"/>
                            </a:rPr>
                          </m:ctrlPr>
                        </m:dPr>
                        <m:e>
                          <m:f>
                            <m:fPr>
                              <m:type m:val="noBar"/>
                              <m:ctrlPr>
                                <a:rPr lang="ru-RU" b="0" i="1" smtClean="0">
                                  <a:latin typeface="Cambria Math" panose="02040503050406030204" pitchFamily="18" charset="0"/>
                                  <a:ea typeface="Cambria Math" panose="02040503050406030204" pitchFamily="18" charset="0"/>
                                </a:rPr>
                              </m:ctrlPr>
                            </m:fPr>
                            <m:num>
                              <m:sSub>
                                <m:sSubPr>
                                  <m:ctrlPr>
                                    <a:rPr lang="ru-RU" i="1">
                                      <a:latin typeface="Cambria Math" panose="02040503050406030204" pitchFamily="18" charset="0"/>
                                    </a:rPr>
                                  </m:ctrlPr>
                                </m:sSubPr>
                                <m:e>
                                  <m:r>
                                    <a:rPr lang="ru-RU" i="1">
                                      <a:latin typeface="Cambria Math" panose="02040503050406030204" pitchFamily="18" charset="0"/>
                                    </a:rPr>
                                    <m:t>𝑐</m:t>
                                  </m:r>
                                </m:e>
                                <m:sub>
                                  <m:r>
                                    <a:rPr lang="ru-RU">
                                      <a:latin typeface="Cambria Math" panose="02040503050406030204" pitchFamily="18" charset="0"/>
                                    </a:rPr>
                                    <m:t>1</m:t>
                                  </m:r>
                                </m:sub>
                              </m:sSub>
                              <m:d>
                                <m:dPr>
                                  <m:ctrlPr>
                                    <a:rPr lang="ru-RU" i="1">
                                      <a:latin typeface="Cambria Math" panose="02040503050406030204" pitchFamily="18" charset="0"/>
                                    </a:rPr>
                                  </m:ctrlPr>
                                </m:dPr>
                                <m:e>
                                  <m:r>
                                    <a:rPr lang="ru-RU" i="1">
                                      <a:latin typeface="Cambria Math" panose="02040503050406030204" pitchFamily="18" charset="0"/>
                                    </a:rPr>
                                    <m:t>𝑡</m:t>
                                  </m:r>
                                </m:e>
                              </m:d>
                            </m:num>
                            <m:den>
                              <m:sSub>
                                <m:sSubPr>
                                  <m:ctrlPr>
                                    <a:rPr lang="ru-RU" i="1">
                                      <a:latin typeface="Cambria Math" panose="02040503050406030204" pitchFamily="18" charset="0"/>
                                    </a:rPr>
                                  </m:ctrlPr>
                                </m:sSubPr>
                                <m:e>
                                  <m:r>
                                    <a:rPr lang="ru-RU" i="1">
                                      <a:latin typeface="Cambria Math" panose="02040503050406030204" pitchFamily="18" charset="0"/>
                                    </a:rPr>
                                    <m:t>𝑐</m:t>
                                  </m:r>
                                </m:e>
                                <m:sub>
                                  <m:r>
                                    <a:rPr lang="ru-RU">
                                      <a:latin typeface="Cambria Math" panose="02040503050406030204" pitchFamily="18" charset="0"/>
                                    </a:rPr>
                                    <m:t>2</m:t>
                                  </m:r>
                                </m:sub>
                              </m:sSub>
                              <m:d>
                                <m:dPr>
                                  <m:ctrlPr>
                                    <a:rPr lang="ru-RU" i="1">
                                      <a:latin typeface="Cambria Math" panose="02040503050406030204" pitchFamily="18" charset="0"/>
                                    </a:rPr>
                                  </m:ctrlPr>
                                </m:dPr>
                                <m:e>
                                  <m:r>
                                    <a:rPr lang="ru-RU" i="1">
                                      <a:latin typeface="Cambria Math" panose="02040503050406030204" pitchFamily="18" charset="0"/>
                                    </a:rPr>
                                    <m:t>𝑡</m:t>
                                  </m:r>
                                </m:e>
                              </m:d>
                            </m:den>
                          </m:f>
                        </m:e>
                      </m:d>
                    </m:oMath>
                  </m:oMathPara>
                </a14:m>
                <a:endParaRPr lang="ru-RU" dirty="0"/>
              </a:p>
            </p:txBody>
          </p:sp>
        </mc:Choice>
        <mc:Fallback xmlns="">
          <p:sp>
            <p:nvSpPr>
              <p:cNvPr id="8" name="TextBox 7"/>
              <p:cNvSpPr txBox="1">
                <a:spLocks noRot="1" noChangeAspect="1" noMove="1" noResize="1" noEditPoints="1" noAdjustHandles="1" noChangeArrowheads="1" noChangeShapeType="1" noTextEdit="1"/>
              </p:cNvSpPr>
              <p:nvPr/>
            </p:nvSpPr>
            <p:spPr>
              <a:xfrm>
                <a:off x="-1" y="1241363"/>
                <a:ext cx="10018429" cy="1007648"/>
              </a:xfrm>
              <a:prstGeom prst="rect">
                <a:avLst/>
              </a:prstGeom>
              <a:blipFill>
                <a:blip r:embed="rId2"/>
                <a:stretch>
                  <a:fillRect/>
                </a:stretch>
              </a:blipFill>
            </p:spPr>
            <p:txBody>
              <a:bodyPr/>
              <a:lstStyle/>
              <a:p>
                <a:r>
                  <a:rPr lang="ru-RU">
                    <a:noFill/>
                  </a:rPr>
                  <a:t> </a:t>
                </a:r>
              </a:p>
            </p:txBody>
          </p:sp>
        </mc:Fallback>
      </mc:AlternateContent>
      <p:sp>
        <p:nvSpPr>
          <p:cNvPr id="9" name="TextBox 8">
            <a:extLst>
              <a:ext uri="{FF2B5EF4-FFF2-40B4-BE49-F238E27FC236}">
                <a16:creationId xmlns="" xmlns:a16="http://schemas.microsoft.com/office/drawing/2014/main" id="{2137EB49-2938-48C8-976D-CD72A01DB3CB}"/>
              </a:ext>
            </a:extLst>
          </p:cNvPr>
          <p:cNvSpPr txBox="1"/>
          <p:nvPr/>
        </p:nvSpPr>
        <p:spPr>
          <a:xfrm>
            <a:off x="489141" y="584642"/>
            <a:ext cx="8978360" cy="338554"/>
          </a:xfrm>
          <a:prstGeom prst="rect">
            <a:avLst/>
          </a:prstGeom>
          <a:noFill/>
        </p:spPr>
        <p:txBody>
          <a:bodyPr wrap="square" rtlCol="0">
            <a:spAutoFit/>
          </a:bodyPr>
          <a:lstStyle/>
          <a:p>
            <a:pPr algn="ctr"/>
            <a:r>
              <a:rPr lang="ru-RU" sz="1600" b="1" dirty="0">
                <a:latin typeface="Times New Roman" panose="02020603050405020304" pitchFamily="18" charset="0"/>
                <a:cs typeface="Times New Roman" panose="02020603050405020304" pitchFamily="18" charset="0"/>
              </a:rPr>
              <a:t>Выражения, используемые для расчёта двух-фотонных рамановских переходов</a:t>
            </a:r>
            <a:r>
              <a:rPr lang="en-US" sz="1600" b="1" dirty="0">
                <a:latin typeface="Times New Roman" panose="02020603050405020304" pitchFamily="18" charset="0"/>
                <a:cs typeface="Times New Roman" panose="02020603050405020304" pitchFamily="18" charset="0"/>
              </a:rPr>
              <a:t> *:</a:t>
            </a:r>
          </a:p>
        </p:txBody>
      </p:sp>
      <p:pic>
        <p:nvPicPr>
          <p:cNvPr id="12" name="Рисунок 11"/>
          <p:cNvPicPr>
            <a:picLocks noChangeAspect="1"/>
          </p:cNvPicPr>
          <p:nvPr/>
        </p:nvPicPr>
        <p:blipFill>
          <a:blip r:embed="rId3"/>
          <a:stretch>
            <a:fillRect/>
          </a:stretch>
        </p:blipFill>
        <p:spPr>
          <a:xfrm>
            <a:off x="10121078" y="923196"/>
            <a:ext cx="1838561" cy="2738927"/>
          </a:xfrm>
          <a:prstGeom prst="rect">
            <a:avLst/>
          </a:prstGeom>
        </p:spPr>
      </p:pic>
      <mc:AlternateContent xmlns:mc="http://schemas.openxmlformats.org/markup-compatibility/2006" xmlns:a14="http://schemas.microsoft.com/office/drawing/2010/main">
        <mc:Choice Requires="a14">
          <p:sp>
            <p:nvSpPr>
              <p:cNvPr id="13" name="Прямоугольник 12"/>
              <p:cNvSpPr/>
              <p:nvPr/>
            </p:nvSpPr>
            <p:spPr>
              <a:xfrm>
                <a:off x="0" y="2442393"/>
                <a:ext cx="10018428" cy="1674048"/>
              </a:xfrm>
              <a:prstGeom prst="rect">
                <a:avLst/>
              </a:prstGeom>
            </p:spPr>
            <p:txBody>
              <a:bodyPr wrap="square">
                <a:spAutoFit/>
              </a:bodyPr>
              <a:lstStyle/>
              <a:p>
                <a:pPr algn="just">
                  <a:lnSpc>
                    <a:spcPct val="107000"/>
                  </a:lnSpc>
                  <a:spcAft>
                    <a:spcPts val="800"/>
                  </a:spcAft>
                </a:pPr>
                <a:r>
                  <a:rPr lang="ru-RU" dirty="0">
                    <a:latin typeface="Times New Roman" panose="02020603050405020304" pitchFamily="18" charset="0"/>
                    <a:ea typeface="Calibri" panose="020F0502020204030204" pitchFamily="34" charset="0"/>
                    <a:cs typeface="Times New Roman" panose="02020603050405020304" pitchFamily="18" charset="0"/>
                  </a:rPr>
                  <a:t>где </a:t>
                </a:r>
                <a14:m>
                  <m:oMath xmlns:m="http://schemas.openxmlformats.org/officeDocument/2006/math">
                    <m:r>
                      <a:rPr lang="ru-RU" i="1">
                        <a:latin typeface="Cambria Math" panose="02040503050406030204" pitchFamily="18" charset="0"/>
                        <a:ea typeface="Calibri" panose="020F0502020204030204" pitchFamily="34" charset="0"/>
                        <a:cs typeface="Times New Roman" panose="02020603050405020304" pitchFamily="18" charset="0"/>
                      </a:rPr>
                      <m:t>𝑡</m:t>
                    </m:r>
                  </m:oMath>
                </a14:m>
                <a:r>
                  <a:rPr lang="ru-RU" dirty="0">
                    <a:latin typeface="Times New Roman" panose="02020603050405020304" pitchFamily="18" charset="0"/>
                    <a:ea typeface="Calibri" panose="020F0502020204030204" pitchFamily="34" charset="0"/>
                    <a:cs typeface="Times New Roman" panose="02020603050405020304" pitchFamily="18" charset="0"/>
                  </a:rPr>
                  <a:t> – время подачи рамановского импульса, </a:t>
                </a:r>
                <a14:m>
                  <m:oMath xmlns:m="http://schemas.openxmlformats.org/officeDocument/2006/math">
                    <m:r>
                      <a:rPr lang="ru-RU" i="1">
                        <a:latin typeface="Cambria Math" panose="02040503050406030204" pitchFamily="18" charset="0"/>
                        <a:ea typeface="Calibri" panose="020F0502020204030204" pitchFamily="34" charset="0"/>
                        <a:cs typeface="Times New Roman" panose="02020603050405020304" pitchFamily="18" charset="0"/>
                      </a:rPr>
                      <m:t>𝜏</m:t>
                    </m:r>
                  </m:oMath>
                </a14:m>
                <a:r>
                  <a:rPr lang="ru-RU" dirty="0">
                    <a:latin typeface="Times New Roman" panose="02020603050405020304" pitchFamily="18" charset="0"/>
                    <a:ea typeface="Calibri" panose="020F0502020204030204" pitchFamily="34" charset="0"/>
                    <a:cs typeface="Times New Roman" panose="02020603050405020304" pitchFamily="18" charset="0"/>
                  </a:rPr>
                  <a:t> – длительность рамановского импульса, </a:t>
                </a:r>
                <a14:m>
                  <m:oMath xmlns:m="http://schemas.openxmlformats.org/officeDocument/2006/math">
                    <m:sSub>
                      <m:sSubPr>
                        <m:ctrlPr>
                          <a:rPr lang="ru-RU" i="1">
                            <a:latin typeface="Cambria Math" panose="02040503050406030204" pitchFamily="18" charset="0"/>
                            <a:ea typeface="Calibri" panose="020F0502020204030204" pitchFamily="34" charset="0"/>
                            <a:cs typeface="Times New Roman" panose="02020603050405020304" pitchFamily="18" charset="0"/>
                          </a:rPr>
                        </m:ctrlPr>
                      </m:sSubPr>
                      <m:e>
                        <m:r>
                          <a:rPr lang="ru-RU" i="1">
                            <a:latin typeface="Cambria Math" panose="02040503050406030204" pitchFamily="18" charset="0"/>
                            <a:ea typeface="Calibri" panose="020F0502020204030204" pitchFamily="34" charset="0"/>
                            <a:cs typeface="Times New Roman" panose="02020603050405020304" pitchFamily="18" charset="0"/>
                          </a:rPr>
                          <m:t>𝛺</m:t>
                        </m:r>
                      </m:e>
                      <m:sub>
                        <m:r>
                          <a:rPr lang="ru-RU" i="1">
                            <a:latin typeface="Cambria Math" panose="02040503050406030204" pitchFamily="18" charset="0"/>
                            <a:ea typeface="Calibri" panose="020F0502020204030204" pitchFamily="34" charset="0"/>
                            <a:cs typeface="Times New Roman" panose="02020603050405020304" pitchFamily="18" charset="0"/>
                          </a:rPr>
                          <m:t>1</m:t>
                        </m:r>
                      </m:sub>
                    </m:sSub>
                  </m:oMath>
                </a14:m>
                <a:r>
                  <a:rPr lang="ru-RU" dirty="0">
                    <a:latin typeface="Times New Roman" panose="02020603050405020304" pitchFamily="18" charset="0"/>
                    <a:ea typeface="Calibri" panose="020F0502020204030204" pitchFamily="34" charset="0"/>
                    <a:cs typeface="Times New Roman" panose="02020603050405020304" pitchFamily="18" charset="0"/>
                  </a:rPr>
                  <a:t>  и </a:t>
                </a:r>
                <a14:m>
                  <m:oMath xmlns:m="http://schemas.openxmlformats.org/officeDocument/2006/math">
                    <m:sSub>
                      <m:sSubPr>
                        <m:ctrlPr>
                          <a:rPr lang="ru-RU" i="1">
                            <a:latin typeface="Cambria Math" panose="02040503050406030204" pitchFamily="18" charset="0"/>
                            <a:ea typeface="Calibri" panose="020F0502020204030204" pitchFamily="34" charset="0"/>
                            <a:cs typeface="Times New Roman" panose="02020603050405020304" pitchFamily="18" charset="0"/>
                          </a:rPr>
                        </m:ctrlPr>
                      </m:sSubPr>
                      <m:e>
                        <m:r>
                          <a:rPr lang="ru-RU" i="1">
                            <a:latin typeface="Cambria Math" panose="02040503050406030204" pitchFamily="18" charset="0"/>
                            <a:ea typeface="Calibri" panose="020F0502020204030204" pitchFamily="34" charset="0"/>
                            <a:cs typeface="Times New Roman" panose="02020603050405020304" pitchFamily="18" charset="0"/>
                          </a:rPr>
                          <m:t>𝛺</m:t>
                        </m:r>
                      </m:e>
                      <m:sub>
                        <m:r>
                          <a:rPr lang="ru-RU" i="1">
                            <a:latin typeface="Cambria Math" panose="02040503050406030204" pitchFamily="18" charset="0"/>
                            <a:ea typeface="Calibri" panose="020F0502020204030204" pitchFamily="34" charset="0"/>
                            <a:cs typeface="Times New Roman" panose="02020603050405020304" pitchFamily="18" charset="0"/>
                          </a:rPr>
                          <m:t>2</m:t>
                        </m:r>
                      </m:sub>
                    </m:sSub>
                  </m:oMath>
                </a14:m>
                <a:r>
                  <a:rPr lang="ru-RU" dirty="0">
                    <a:latin typeface="Times New Roman" panose="02020603050405020304" pitchFamily="18" charset="0"/>
                    <a:ea typeface="Calibri" panose="020F0502020204030204" pitchFamily="34" charset="0"/>
                    <a:cs typeface="Times New Roman" panose="02020603050405020304" pitchFamily="18" charset="0"/>
                  </a:rPr>
                  <a:t> – частоты раби однофотонных переходов, </a:t>
                </a:r>
                <a14:m>
                  <m:oMath xmlns:m="http://schemas.openxmlformats.org/officeDocument/2006/math">
                    <m:sSub>
                      <m:sSubPr>
                        <m:ctrlPr>
                          <a:rPr lang="ru-RU" i="1">
                            <a:latin typeface="Cambria Math" panose="02040503050406030204" pitchFamily="18" charset="0"/>
                            <a:ea typeface="Calibri" panose="020F0502020204030204" pitchFamily="34" charset="0"/>
                            <a:cs typeface="Times New Roman" panose="02020603050405020304" pitchFamily="18" charset="0"/>
                          </a:rPr>
                        </m:ctrlPr>
                      </m:sSubPr>
                      <m:e>
                        <m:r>
                          <a:rPr lang="ru-RU" i="1">
                            <a:latin typeface="Cambria Math" panose="02040503050406030204" pitchFamily="18" charset="0"/>
                            <a:ea typeface="Calibri" panose="020F0502020204030204" pitchFamily="34" charset="0"/>
                            <a:cs typeface="Times New Roman" panose="02020603050405020304" pitchFamily="18" charset="0"/>
                          </a:rPr>
                          <m:t>𝛺</m:t>
                        </m:r>
                      </m:e>
                      <m:sub>
                        <m:r>
                          <a:rPr lang="ru-RU" i="1">
                            <a:latin typeface="Cambria Math" panose="02040503050406030204" pitchFamily="18" charset="0"/>
                            <a:ea typeface="Calibri" panose="020F0502020204030204" pitchFamily="34" charset="0"/>
                            <a:cs typeface="Times New Roman" panose="02020603050405020304" pitchFamily="18" charset="0"/>
                          </a:rPr>
                          <m:t>0</m:t>
                        </m:r>
                      </m:sub>
                    </m:sSub>
                    <m:r>
                      <a:rPr lang="ru-RU" i="1">
                        <a:latin typeface="Cambria Math" panose="02040503050406030204" pitchFamily="18" charset="0"/>
                        <a:ea typeface="Calibri" panose="020F0502020204030204" pitchFamily="34" charset="0"/>
                        <a:cs typeface="Times New Roman" panose="02020603050405020304" pitchFamily="18" charset="0"/>
                      </a:rPr>
                      <m:t> = 2</m:t>
                    </m:r>
                    <m:sSub>
                      <m:sSubPr>
                        <m:ctrlPr>
                          <a:rPr lang="ru-RU" i="1">
                            <a:latin typeface="Cambria Math" panose="02040503050406030204" pitchFamily="18" charset="0"/>
                            <a:ea typeface="Calibri" panose="020F0502020204030204" pitchFamily="34" charset="0"/>
                            <a:cs typeface="Times New Roman" panose="02020603050405020304" pitchFamily="18" charset="0"/>
                          </a:rPr>
                        </m:ctrlPr>
                      </m:sSubPr>
                      <m:e>
                        <m:r>
                          <a:rPr lang="ru-RU" i="1">
                            <a:latin typeface="Cambria Math" panose="02040503050406030204" pitchFamily="18" charset="0"/>
                            <a:ea typeface="Calibri" panose="020F0502020204030204" pitchFamily="34" charset="0"/>
                            <a:cs typeface="Times New Roman" panose="02020603050405020304" pitchFamily="18" charset="0"/>
                          </a:rPr>
                          <m:t>𝛺</m:t>
                        </m:r>
                      </m:e>
                      <m:sub>
                        <m:r>
                          <a:rPr lang="ru-RU" i="1">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ru-RU" i="1">
                            <a:latin typeface="Cambria Math" panose="02040503050406030204" pitchFamily="18" charset="0"/>
                            <a:ea typeface="Calibri" panose="020F0502020204030204" pitchFamily="34" charset="0"/>
                            <a:cs typeface="Times New Roman" panose="02020603050405020304" pitchFamily="18" charset="0"/>
                          </a:rPr>
                        </m:ctrlPr>
                      </m:sSubPr>
                      <m:e>
                        <m:r>
                          <a:rPr lang="ru-RU" i="1">
                            <a:latin typeface="Cambria Math" panose="02040503050406030204" pitchFamily="18" charset="0"/>
                            <a:ea typeface="Calibri" panose="020F0502020204030204" pitchFamily="34" charset="0"/>
                            <a:cs typeface="Times New Roman" panose="02020603050405020304" pitchFamily="18" charset="0"/>
                          </a:rPr>
                          <m:t>𝛺</m:t>
                        </m:r>
                      </m:e>
                      <m:sub>
                        <m:r>
                          <a:rPr lang="ru-RU" i="1">
                            <a:latin typeface="Cambria Math" panose="02040503050406030204" pitchFamily="18" charset="0"/>
                            <a:ea typeface="Calibri" panose="020F0502020204030204" pitchFamily="34" charset="0"/>
                            <a:cs typeface="Times New Roman" panose="02020603050405020304" pitchFamily="18" charset="0"/>
                          </a:rPr>
                          <m:t>2</m:t>
                        </m:r>
                      </m:sub>
                    </m:sSub>
                    <m:r>
                      <a:rPr lang="ru-RU" i="1">
                        <a:latin typeface="Cambria Math" panose="02040503050406030204" pitchFamily="18" charset="0"/>
                        <a:ea typeface="Calibri" panose="020F0502020204030204" pitchFamily="34" charset="0"/>
                        <a:cs typeface="Times New Roman" panose="02020603050405020304" pitchFamily="18" charset="0"/>
                      </a:rPr>
                      <m:t>/∆</m:t>
                    </m:r>
                  </m:oMath>
                </a14:m>
                <a:r>
                  <a:rPr lang="ru-RU" dirty="0">
                    <a:latin typeface="Times New Roman" panose="02020603050405020304" pitchFamily="18" charset="0"/>
                    <a:ea typeface="Calibri" panose="020F0502020204030204" pitchFamily="34" charset="0"/>
                    <a:cs typeface="Times New Roman" panose="02020603050405020304" pitchFamily="18" charset="0"/>
                  </a:rPr>
                  <a:t> – частота раби двух-фотонного перехода, </a:t>
                </a:r>
                <a14:m>
                  <m:oMath xmlns:m="http://schemas.openxmlformats.org/officeDocument/2006/math">
                    <m:sSub>
                      <m:sSubPr>
                        <m:ctrlPr>
                          <a:rPr lang="ru-RU" i="1">
                            <a:latin typeface="Cambria Math" panose="02040503050406030204" pitchFamily="18" charset="0"/>
                            <a:ea typeface="Calibri" panose="020F0502020204030204" pitchFamily="34" charset="0"/>
                            <a:cs typeface="Times New Roman" panose="02020603050405020304" pitchFamily="18" charset="0"/>
                          </a:rPr>
                        </m:ctrlPr>
                      </m:sSubPr>
                      <m:e>
                        <m:r>
                          <a:rPr lang="ru-RU" i="1">
                            <a:latin typeface="Cambria Math" panose="02040503050406030204" pitchFamily="18" charset="0"/>
                            <a:ea typeface="Calibri" panose="020F0502020204030204" pitchFamily="34" charset="0"/>
                            <a:cs typeface="Times New Roman" panose="02020603050405020304" pitchFamily="18" charset="0"/>
                          </a:rPr>
                          <m:t>𝛿</m:t>
                        </m:r>
                      </m:e>
                      <m:sub>
                        <m:r>
                          <a:rPr lang="ru-RU" i="1">
                            <a:latin typeface="Cambria Math" panose="02040503050406030204" pitchFamily="18" charset="0"/>
                            <a:ea typeface="Calibri" panose="020F0502020204030204" pitchFamily="34" charset="0"/>
                            <a:cs typeface="Times New Roman" panose="02020603050405020304" pitchFamily="18" charset="0"/>
                          </a:rPr>
                          <m:t>0</m:t>
                        </m:r>
                      </m:sub>
                    </m:sSub>
                  </m:oMath>
                </a14:m>
                <a:r>
                  <a:rPr lang="ru-RU" dirty="0">
                    <a:latin typeface="Times New Roman" panose="02020603050405020304" pitchFamily="18" charset="0"/>
                    <a:ea typeface="Calibri" panose="020F0502020204030204" pitchFamily="34" charset="0"/>
                    <a:cs typeface="Times New Roman" panose="02020603050405020304" pitchFamily="18" charset="0"/>
                  </a:rPr>
                  <a:t> – начальная отстройка частоты рамановского излучения от частоты двух-фотонного перехода, α – скорость чирпирования рамановского излучения,</a:t>
                </a:r>
                <a:r>
                  <a:rPr lang="ru-RU" dirty="0">
                    <a:latin typeface="Cambria Math" panose="02040503050406030204" pitchFamily="18" charset="0"/>
                    <a:ea typeface="Calibri" panose="020F0502020204030204" pitchFamily="34" charset="0"/>
                    <a:cs typeface="Cambria Math" panose="02040503050406030204" pitchFamily="18" charset="0"/>
                  </a:rPr>
                  <a:t> </a:t>
                </a:r>
                <a14:m>
                  <m:oMath xmlns:m="http://schemas.openxmlformats.org/officeDocument/2006/math">
                    <m:r>
                      <a:rPr lang="ru-RU" i="1" smtClean="0">
                        <a:latin typeface="Cambria Math" panose="02040503050406030204" pitchFamily="18" charset="0"/>
                        <a:ea typeface="Calibri" panose="020F0502020204030204" pitchFamily="34" charset="0"/>
                        <a:cs typeface="Times New Roman" panose="02020603050405020304" pitchFamily="18" charset="0"/>
                      </a:rPr>
                      <m:t>𝛿</m:t>
                    </m:r>
                    <m:r>
                      <a:rPr lang="ru-RU" i="1" smtClean="0">
                        <a:latin typeface="Cambria Math" panose="02040503050406030204" pitchFamily="18" charset="0"/>
                        <a:ea typeface="Calibri" panose="020F0502020204030204" pitchFamily="34" charset="0"/>
                        <a:cs typeface="Times New Roman" panose="02020603050405020304" pitchFamily="18" charset="0"/>
                      </a:rPr>
                      <m:t> = </m:t>
                    </m:r>
                    <m:sSub>
                      <m:sSubPr>
                        <m:ctrlPr>
                          <a:rPr lang="ru-RU" i="1">
                            <a:latin typeface="Cambria Math" panose="02040503050406030204" pitchFamily="18" charset="0"/>
                            <a:ea typeface="Calibri" panose="020F0502020204030204" pitchFamily="34" charset="0"/>
                            <a:cs typeface="Times New Roman" panose="02020603050405020304" pitchFamily="18" charset="0"/>
                          </a:rPr>
                        </m:ctrlPr>
                      </m:sSubPr>
                      <m:e>
                        <m:r>
                          <a:rPr lang="ru-RU" i="1">
                            <a:latin typeface="Cambria Math" panose="02040503050406030204" pitchFamily="18" charset="0"/>
                            <a:ea typeface="Calibri" panose="020F0502020204030204" pitchFamily="34" charset="0"/>
                            <a:cs typeface="Times New Roman" panose="02020603050405020304" pitchFamily="18" charset="0"/>
                          </a:rPr>
                          <m:t>𝛿</m:t>
                        </m:r>
                      </m:e>
                      <m:sub>
                        <m:r>
                          <a:rPr lang="ru-RU" i="1">
                            <a:latin typeface="Cambria Math" panose="02040503050406030204" pitchFamily="18" charset="0"/>
                            <a:ea typeface="Calibri" panose="020F0502020204030204" pitchFamily="34" charset="0"/>
                            <a:cs typeface="Times New Roman" panose="02020603050405020304" pitchFamily="18" charset="0"/>
                          </a:rPr>
                          <m:t>0</m:t>
                        </m:r>
                      </m:sub>
                    </m:sSub>
                    <m:r>
                      <a:rPr lang="ru-RU" i="1">
                        <a:latin typeface="Cambria Math" panose="02040503050406030204" pitchFamily="18" charset="0"/>
                        <a:ea typeface="Calibri" panose="020F0502020204030204" pitchFamily="34" charset="0"/>
                        <a:cs typeface="Times New Roman" panose="02020603050405020304" pitchFamily="18" charset="0"/>
                      </a:rPr>
                      <m:t>+2</m:t>
                    </m:r>
                    <m:r>
                      <a:rPr lang="ru-RU" i="1">
                        <a:latin typeface="Cambria Math" panose="02040503050406030204" pitchFamily="18" charset="0"/>
                        <a:ea typeface="Calibri" panose="020F0502020204030204" pitchFamily="34" charset="0"/>
                        <a:cs typeface="Times New Roman" panose="02020603050405020304" pitchFamily="18" charset="0"/>
                      </a:rPr>
                      <m:t>𝜋𝛼</m:t>
                    </m:r>
                    <m:r>
                      <a:rPr lang="ru-RU" i="1">
                        <a:latin typeface="Cambria Math" panose="02040503050406030204" pitchFamily="18" charset="0"/>
                        <a:ea typeface="Calibri" panose="020F0502020204030204" pitchFamily="34" charset="0"/>
                        <a:cs typeface="Times New Roman" panose="02020603050405020304" pitchFamily="18" charset="0"/>
                      </a:rPr>
                      <m:t>𝑡</m:t>
                    </m:r>
                    <m:r>
                      <a:rPr lang="ru-RU" b="0"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ru-RU"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𝑘</m:t>
                        </m:r>
                      </m:e>
                      <m:sub>
                        <m:r>
                          <a:rPr lang="en-US" b="0" i="1" smtClean="0">
                            <a:latin typeface="Cambria Math" panose="02040503050406030204" pitchFamily="18" charset="0"/>
                            <a:cs typeface="Times New Roman" panose="02020603050405020304" pitchFamily="18" charset="0"/>
                          </a:rPr>
                          <m:t>𝑒𝑓𝑓</m:t>
                        </m:r>
                      </m:sub>
                    </m:sSub>
                    <m:sSub>
                      <m:sSubPr>
                        <m:ctrlPr>
                          <a:rPr lang="ru-RU"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𝑣</m:t>
                        </m:r>
                      </m:e>
                      <m:sub>
                        <m:r>
                          <a:rPr lang="en-US" b="0" i="1" smtClean="0">
                            <a:latin typeface="Cambria Math" panose="02040503050406030204" pitchFamily="18" charset="0"/>
                            <a:cs typeface="Times New Roman" panose="02020603050405020304" pitchFamily="18" charset="0"/>
                          </a:rPr>
                          <m:t>𝑧</m:t>
                        </m:r>
                      </m:sub>
                    </m:sSub>
                  </m:oMath>
                </a14:m>
                <a:r>
                  <a:rPr lang="ru-RU" dirty="0">
                    <a:latin typeface="Cambria Math" panose="02040503050406030204" pitchFamily="18" charset="0"/>
                    <a:ea typeface="Times New Roman" panose="02020603050405020304" pitchFamily="18" charset="0"/>
                    <a:cs typeface="Cambria Math" panose="02040503050406030204" pitchFamily="18" charset="0"/>
                  </a:rPr>
                  <a:t> </a:t>
                </a:r>
                <a:r>
                  <a:rPr lang="ru-RU" dirty="0">
                    <a:latin typeface="Times New Roman" panose="02020603050405020304" pitchFamily="18" charset="0"/>
                    <a:ea typeface="Calibri" panose="020F0502020204030204" pitchFamily="34" charset="0"/>
                    <a:cs typeface="Times New Roman" panose="02020603050405020304" pitchFamily="18" charset="0"/>
                  </a:rPr>
                  <a:t>– отстройка частоты рамановского излучения от частоты двух-фотонного рамановского перехода в момент подачи рамановского импульса,</a:t>
                </a:r>
                <a:r>
                  <a:rPr lang="en-US" dirty="0">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sSub>
                      <m:sSubPr>
                        <m:ctrlPr>
                          <a:rPr lang="en-US"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𝑣</m:t>
                        </m:r>
                      </m:e>
                      <m:sub>
                        <m:r>
                          <a:rPr lang="en-US" b="0" i="1" smtClean="0">
                            <a:latin typeface="Cambria Math" panose="02040503050406030204" pitchFamily="18" charset="0"/>
                            <a:cs typeface="Times New Roman" panose="02020603050405020304" pitchFamily="18" charset="0"/>
                          </a:rPr>
                          <m:t>𝑧</m:t>
                        </m:r>
                      </m:sub>
                    </m:sSub>
                  </m:oMath>
                </a14:m>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ru-RU" dirty="0">
                    <a:latin typeface="Times New Roman" panose="02020603050405020304" pitchFamily="18" charset="0"/>
                    <a:ea typeface="Calibri" panose="020F0502020204030204" pitchFamily="34" charset="0"/>
                    <a:cs typeface="Times New Roman" panose="02020603050405020304" pitchFamily="18" charset="0"/>
                  </a:rPr>
                  <a:t>–</a:t>
                </a:r>
                <a:r>
                  <a:rPr lang="en-US" dirty="0">
                    <a:latin typeface="Times New Roman" panose="02020603050405020304" pitchFamily="18" charset="0"/>
                    <a:ea typeface="Calibri" panose="020F0502020204030204" pitchFamily="34" charset="0"/>
                    <a:cs typeface="Times New Roman" panose="02020603050405020304" pitchFamily="18" charset="0"/>
                  </a:rPr>
                  <a:t> z</a:t>
                </a:r>
                <a:r>
                  <a:rPr lang="ru-RU" dirty="0">
                    <a:latin typeface="Times New Roman" panose="02020603050405020304" pitchFamily="18" charset="0"/>
                    <a:ea typeface="Calibri" panose="020F0502020204030204" pitchFamily="34" charset="0"/>
                    <a:cs typeface="Times New Roman" panose="02020603050405020304" pitchFamily="18" charset="0"/>
                  </a:rPr>
                  <a:t>-проекция скорости атома, </a:t>
                </a:r>
                <a14:m>
                  <m:oMath xmlns:m="http://schemas.openxmlformats.org/officeDocument/2006/math">
                    <m:sSup>
                      <m:sSupPr>
                        <m:ctrlPr>
                          <a:rPr lang="ru-RU" i="1">
                            <a:latin typeface="Cambria Math" panose="02040503050406030204" pitchFamily="18" charset="0"/>
                            <a:ea typeface="Calibri" panose="020F0502020204030204" pitchFamily="34" charset="0"/>
                            <a:cs typeface="Times New Roman" panose="02020603050405020304" pitchFamily="18" charset="0"/>
                          </a:rPr>
                        </m:ctrlPr>
                      </m:sSupPr>
                      <m:e>
                        <m:sSub>
                          <m:sSubPr>
                            <m:ctrlPr>
                              <a:rPr lang="ru-RU" i="1">
                                <a:latin typeface="Cambria Math" panose="02040503050406030204" pitchFamily="18" charset="0"/>
                                <a:ea typeface="Calibri" panose="020F0502020204030204" pitchFamily="34" charset="0"/>
                                <a:cs typeface="Times New Roman" panose="02020603050405020304" pitchFamily="18" charset="0"/>
                              </a:rPr>
                            </m:ctrlPr>
                          </m:sSubPr>
                          <m:e>
                            <m:r>
                              <a:rPr lang="ru-RU" i="1">
                                <a:latin typeface="Cambria Math" panose="02040503050406030204" pitchFamily="18" charset="0"/>
                                <a:ea typeface="Calibri" panose="020F0502020204030204" pitchFamily="34" charset="0"/>
                                <a:cs typeface="Times New Roman" panose="02020603050405020304" pitchFamily="18" charset="0"/>
                              </a:rPr>
                              <m:t>𝛺</m:t>
                            </m:r>
                          </m:e>
                          <m:sub>
                            <m:r>
                              <a:rPr lang="ru-RU" i="1">
                                <a:latin typeface="Cambria Math" panose="02040503050406030204" pitchFamily="18" charset="0"/>
                                <a:ea typeface="Calibri" panose="020F0502020204030204" pitchFamily="34" charset="0"/>
                                <a:cs typeface="Times New Roman" panose="02020603050405020304" pitchFamily="18" charset="0"/>
                              </a:rPr>
                              <m:t>𝑅</m:t>
                            </m:r>
                          </m:sub>
                        </m:sSub>
                      </m:e>
                      <m:sup>
                        <m:r>
                          <a:rPr lang="ru-RU" i="1">
                            <a:latin typeface="Cambria Math" panose="02040503050406030204" pitchFamily="18" charset="0"/>
                            <a:ea typeface="Calibri" panose="020F0502020204030204" pitchFamily="34" charset="0"/>
                            <a:cs typeface="Times New Roman" panose="02020603050405020304" pitchFamily="18" charset="0"/>
                          </a:rPr>
                          <m:t>2</m:t>
                        </m:r>
                      </m:sup>
                    </m:sSup>
                    <m:r>
                      <a:rPr lang="ru-RU" i="1">
                        <a:latin typeface="Cambria Math" panose="02040503050406030204" pitchFamily="18" charset="0"/>
                        <a:ea typeface="Calibri" panose="020F0502020204030204" pitchFamily="34" charset="0"/>
                        <a:cs typeface="Times New Roman" panose="02020603050405020304" pitchFamily="18" charset="0"/>
                      </a:rPr>
                      <m:t>=</m:t>
                    </m:r>
                    <m:r>
                      <a:rPr lang="ru-RU" i="1">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ru-RU" i="1">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ru-RU" i="1">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ru-RU" i="1">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ru-RU" i="1">
                                        <a:latin typeface="Cambria Math" panose="02040503050406030204" pitchFamily="18" charset="0"/>
                                        <a:ea typeface="Calibri" panose="020F0502020204030204" pitchFamily="34" charset="0"/>
                                        <a:cs typeface="Times New Roman" panose="02020603050405020304" pitchFamily="18" charset="0"/>
                                      </a:rPr>
                                    </m:ctrlPr>
                                  </m:sSupPr>
                                  <m:e>
                                    <m:d>
                                      <m:dPr>
                                        <m:begChr m:val="|"/>
                                        <m:endChr m:val="|"/>
                                        <m:ctrlPr>
                                          <a:rPr lang="ru-RU" i="1">
                                            <a:latin typeface="Cambria Math" panose="02040503050406030204" pitchFamily="18" charset="0"/>
                                            <a:ea typeface="Calibri" panose="020F0502020204030204" pitchFamily="34" charset="0"/>
                                            <a:cs typeface="Times New Roman" panose="02020603050405020304" pitchFamily="18" charset="0"/>
                                          </a:rPr>
                                        </m:ctrlPr>
                                      </m:dPr>
                                      <m:e>
                                        <m:sSub>
                                          <m:sSubPr>
                                            <m:ctrlPr>
                                              <a:rPr lang="ru-RU" i="1">
                                                <a:latin typeface="Cambria Math" panose="02040503050406030204" pitchFamily="18" charset="0"/>
                                                <a:ea typeface="Calibri" panose="020F0502020204030204" pitchFamily="34" charset="0"/>
                                                <a:cs typeface="Times New Roman" panose="02020603050405020304" pitchFamily="18" charset="0"/>
                                              </a:rPr>
                                            </m:ctrlPr>
                                          </m:sSubPr>
                                          <m:e>
                                            <m:r>
                                              <a:rPr lang="ru-RU" i="1">
                                                <a:latin typeface="Cambria Math" panose="02040503050406030204" pitchFamily="18" charset="0"/>
                                                <a:ea typeface="Calibri" panose="020F0502020204030204" pitchFamily="34" charset="0"/>
                                                <a:cs typeface="Times New Roman" panose="02020603050405020304" pitchFamily="18" charset="0"/>
                                              </a:rPr>
                                              <m:t>𝛺</m:t>
                                            </m:r>
                                          </m:e>
                                          <m:sub>
                                            <m:r>
                                              <a:rPr lang="ru-RU" i="1">
                                                <a:latin typeface="Cambria Math" panose="02040503050406030204" pitchFamily="18" charset="0"/>
                                                <a:ea typeface="Calibri" panose="020F0502020204030204" pitchFamily="34" charset="0"/>
                                                <a:cs typeface="Times New Roman" panose="02020603050405020304" pitchFamily="18" charset="0"/>
                                              </a:rPr>
                                              <m:t>1</m:t>
                                            </m:r>
                                          </m:sub>
                                        </m:sSub>
                                      </m:e>
                                    </m:d>
                                  </m:e>
                                  <m:sup>
                                    <m:r>
                                      <a:rPr lang="ru-RU" i="1">
                                        <a:latin typeface="Cambria Math" panose="02040503050406030204" pitchFamily="18" charset="0"/>
                                        <a:ea typeface="Calibri" panose="020F0502020204030204" pitchFamily="34" charset="0"/>
                                        <a:cs typeface="Times New Roman" panose="02020603050405020304" pitchFamily="18" charset="0"/>
                                      </a:rPr>
                                      <m:t>2</m:t>
                                    </m:r>
                                  </m:sup>
                                </m:sSup>
                              </m:num>
                              <m:den>
                                <m:r>
                                  <a:rPr lang="ru-RU" i="1">
                                    <a:latin typeface="Cambria Math" panose="02040503050406030204" pitchFamily="18" charset="0"/>
                                    <a:ea typeface="Calibri" panose="020F0502020204030204" pitchFamily="34" charset="0"/>
                                    <a:cs typeface="Times New Roman" panose="02020603050405020304" pitchFamily="18" charset="0"/>
                                  </a:rPr>
                                  <m:t>∆</m:t>
                                </m:r>
                              </m:den>
                            </m:f>
                            <m:r>
                              <a:rPr lang="ru-RU" i="1">
                                <a:latin typeface="Cambria Math" panose="02040503050406030204" pitchFamily="18" charset="0"/>
                                <a:ea typeface="Calibri" panose="020F0502020204030204" pitchFamily="34" charset="0"/>
                                <a:cs typeface="Times New Roman" panose="02020603050405020304" pitchFamily="18" charset="0"/>
                              </a:rPr>
                              <m:t>−</m:t>
                            </m:r>
                            <m:f>
                              <m:fPr>
                                <m:ctrlPr>
                                  <a:rPr lang="ru-RU" i="1">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ru-RU" i="1">
                                        <a:latin typeface="Cambria Math" panose="02040503050406030204" pitchFamily="18" charset="0"/>
                                        <a:ea typeface="Calibri" panose="020F0502020204030204" pitchFamily="34" charset="0"/>
                                        <a:cs typeface="Times New Roman" panose="02020603050405020304" pitchFamily="18" charset="0"/>
                                      </a:rPr>
                                    </m:ctrlPr>
                                  </m:sSupPr>
                                  <m:e>
                                    <m:d>
                                      <m:dPr>
                                        <m:begChr m:val="|"/>
                                        <m:endChr m:val="|"/>
                                        <m:ctrlPr>
                                          <a:rPr lang="ru-RU" i="1">
                                            <a:latin typeface="Cambria Math" panose="02040503050406030204" pitchFamily="18" charset="0"/>
                                            <a:ea typeface="Calibri" panose="020F0502020204030204" pitchFamily="34" charset="0"/>
                                            <a:cs typeface="Times New Roman" panose="02020603050405020304" pitchFamily="18" charset="0"/>
                                          </a:rPr>
                                        </m:ctrlPr>
                                      </m:dPr>
                                      <m:e>
                                        <m:sSub>
                                          <m:sSubPr>
                                            <m:ctrlPr>
                                              <a:rPr lang="ru-RU" i="1">
                                                <a:latin typeface="Cambria Math" panose="02040503050406030204" pitchFamily="18" charset="0"/>
                                                <a:ea typeface="Calibri" panose="020F0502020204030204" pitchFamily="34" charset="0"/>
                                                <a:cs typeface="Times New Roman" panose="02020603050405020304" pitchFamily="18" charset="0"/>
                                              </a:rPr>
                                            </m:ctrlPr>
                                          </m:sSubPr>
                                          <m:e>
                                            <m:r>
                                              <a:rPr lang="ru-RU" i="1">
                                                <a:latin typeface="Cambria Math" panose="02040503050406030204" pitchFamily="18" charset="0"/>
                                                <a:ea typeface="Calibri" panose="020F0502020204030204" pitchFamily="34" charset="0"/>
                                                <a:cs typeface="Times New Roman" panose="02020603050405020304" pitchFamily="18" charset="0"/>
                                              </a:rPr>
                                              <m:t>𝛺</m:t>
                                            </m:r>
                                          </m:e>
                                          <m:sub>
                                            <m:r>
                                              <a:rPr lang="ru-RU" i="1">
                                                <a:latin typeface="Cambria Math" panose="02040503050406030204" pitchFamily="18" charset="0"/>
                                                <a:ea typeface="Calibri" panose="020F0502020204030204" pitchFamily="34" charset="0"/>
                                                <a:cs typeface="Times New Roman" panose="02020603050405020304" pitchFamily="18" charset="0"/>
                                              </a:rPr>
                                              <m:t>2</m:t>
                                            </m:r>
                                          </m:sub>
                                        </m:sSub>
                                      </m:e>
                                    </m:d>
                                  </m:e>
                                  <m:sup>
                                    <m:r>
                                      <a:rPr lang="ru-RU" i="1">
                                        <a:latin typeface="Cambria Math" panose="02040503050406030204" pitchFamily="18" charset="0"/>
                                        <a:ea typeface="Calibri" panose="020F0502020204030204" pitchFamily="34" charset="0"/>
                                        <a:cs typeface="Times New Roman" panose="02020603050405020304" pitchFamily="18" charset="0"/>
                                      </a:rPr>
                                      <m:t>2</m:t>
                                    </m:r>
                                  </m:sup>
                                </m:sSup>
                              </m:num>
                              <m:den>
                                <m:r>
                                  <a:rPr lang="ru-RU" i="1">
                                    <a:latin typeface="Cambria Math" panose="02040503050406030204" pitchFamily="18" charset="0"/>
                                    <a:ea typeface="Calibri" panose="020F0502020204030204" pitchFamily="34" charset="0"/>
                                    <a:cs typeface="Times New Roman" panose="02020603050405020304" pitchFamily="18" charset="0"/>
                                  </a:rPr>
                                  <m:t>∆</m:t>
                                </m:r>
                              </m:den>
                            </m:f>
                            <m:r>
                              <a:rPr lang="ru-RU" i="1">
                                <a:latin typeface="Cambria Math" panose="02040503050406030204" pitchFamily="18" charset="0"/>
                                <a:ea typeface="Calibri" panose="020F0502020204030204" pitchFamily="34" charset="0"/>
                                <a:cs typeface="Times New Roman" panose="02020603050405020304" pitchFamily="18" charset="0"/>
                              </a:rPr>
                              <m:t>−</m:t>
                            </m:r>
                            <m:r>
                              <a:rPr lang="ru-RU" i="1">
                                <a:latin typeface="Cambria Math" panose="02040503050406030204" pitchFamily="18" charset="0"/>
                                <a:ea typeface="Calibri" panose="020F0502020204030204" pitchFamily="34" charset="0"/>
                                <a:cs typeface="Times New Roman" panose="02020603050405020304" pitchFamily="18" charset="0"/>
                              </a:rPr>
                              <m:t>𝛿</m:t>
                            </m:r>
                          </m:e>
                        </m:d>
                      </m:e>
                      <m:sup>
                        <m:r>
                          <a:rPr lang="ru-RU" i="1">
                            <a:latin typeface="Cambria Math" panose="02040503050406030204" pitchFamily="18" charset="0"/>
                            <a:ea typeface="Times New Roman" panose="02020603050405020304" pitchFamily="18" charset="0"/>
                            <a:cs typeface="Times New Roman" panose="02020603050405020304" pitchFamily="18" charset="0"/>
                          </a:rPr>
                          <m:t>2</m:t>
                        </m:r>
                      </m:sup>
                    </m:sSup>
                    <m:r>
                      <a:rPr lang="ru-RU" i="1">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ru-RU" i="1">
                            <a:latin typeface="Cambria Math" panose="02040503050406030204" pitchFamily="18" charset="0"/>
                            <a:ea typeface="Calibri" panose="020F0502020204030204" pitchFamily="34" charset="0"/>
                            <a:cs typeface="Times New Roman" panose="02020603050405020304" pitchFamily="18" charset="0"/>
                          </a:rPr>
                        </m:ctrlPr>
                      </m:sSupPr>
                      <m:e>
                        <m:sSub>
                          <m:sSubPr>
                            <m:ctrlPr>
                              <a:rPr lang="ru-RU" i="1">
                                <a:latin typeface="Cambria Math" panose="02040503050406030204" pitchFamily="18" charset="0"/>
                                <a:ea typeface="Calibri" panose="020F0502020204030204" pitchFamily="34" charset="0"/>
                                <a:cs typeface="Times New Roman" panose="02020603050405020304" pitchFamily="18" charset="0"/>
                              </a:rPr>
                            </m:ctrlPr>
                          </m:sSubPr>
                          <m:e>
                            <m:r>
                              <a:rPr lang="ru-RU" i="1">
                                <a:latin typeface="Cambria Math" panose="02040503050406030204" pitchFamily="18" charset="0"/>
                                <a:ea typeface="Calibri" panose="020F0502020204030204" pitchFamily="34" charset="0"/>
                                <a:cs typeface="Times New Roman" panose="02020603050405020304" pitchFamily="18" charset="0"/>
                              </a:rPr>
                              <m:t>𝛺</m:t>
                            </m:r>
                          </m:e>
                          <m:sub>
                            <m:r>
                              <a:rPr lang="ru-RU" i="1">
                                <a:latin typeface="Cambria Math" panose="02040503050406030204" pitchFamily="18" charset="0"/>
                                <a:ea typeface="Calibri" panose="020F0502020204030204" pitchFamily="34" charset="0"/>
                                <a:cs typeface="Times New Roman" panose="02020603050405020304" pitchFamily="18" charset="0"/>
                              </a:rPr>
                              <m:t>0</m:t>
                            </m:r>
                          </m:sub>
                        </m:sSub>
                      </m:e>
                      <m:sup>
                        <m:r>
                          <a:rPr lang="ru-RU" i="1">
                            <a:latin typeface="Cambria Math" panose="02040503050406030204" pitchFamily="18" charset="0"/>
                            <a:ea typeface="Calibri" panose="020F0502020204030204" pitchFamily="34" charset="0"/>
                            <a:cs typeface="Times New Roman" panose="02020603050405020304" pitchFamily="18" charset="0"/>
                          </a:rPr>
                          <m:t>2</m:t>
                        </m:r>
                      </m:sup>
                    </m:sSup>
                  </m:oMath>
                </a14:m>
                <a:r>
                  <a:rPr lang="ru-RU" dirty="0">
                    <a:latin typeface="Times New Roman" panose="02020603050405020304" pitchFamily="18" charset="0"/>
                    <a:ea typeface="Times New Roman" panose="02020603050405020304" pitchFamily="18" charset="0"/>
                    <a:cs typeface="Times New Roman" panose="02020603050405020304" pitchFamily="18" charset="0"/>
                  </a:rPr>
                  <a:t> </a:t>
                </a:r>
                <a:r>
                  <a:rPr lang="ru-RU" dirty="0">
                    <a:latin typeface="Times New Roman" panose="02020603050405020304" pitchFamily="18" charset="0"/>
                    <a:ea typeface="Calibri" panose="020F0502020204030204" pitchFamily="34" charset="0"/>
                    <a:cs typeface="Times New Roman" panose="02020603050405020304" pitchFamily="18" charset="0"/>
                  </a:rPr>
                  <a:t>– обобщенная частота двух-фотонного рамановского перехода.</a:t>
                </a:r>
                <a:endParaRPr lang="ru-RU"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3" name="Прямоугольник 12"/>
              <p:cNvSpPr>
                <a:spLocks noRot="1" noChangeAspect="1" noMove="1" noResize="1" noEditPoints="1" noAdjustHandles="1" noChangeArrowheads="1" noChangeShapeType="1" noTextEdit="1"/>
              </p:cNvSpPr>
              <p:nvPr/>
            </p:nvSpPr>
            <p:spPr>
              <a:xfrm>
                <a:off x="0" y="2442393"/>
                <a:ext cx="10018428" cy="1674048"/>
              </a:xfrm>
              <a:prstGeom prst="rect">
                <a:avLst/>
              </a:prstGeom>
              <a:blipFill>
                <a:blip r:embed="rId4"/>
                <a:stretch>
                  <a:fillRect l="-183" t="-730" r="-183" b="-2190"/>
                </a:stretch>
              </a:blipFill>
            </p:spPr>
            <p:txBody>
              <a:bodyPr/>
              <a:lstStyle/>
              <a:p>
                <a:r>
                  <a:rPr lang="ru-RU">
                    <a:noFill/>
                  </a:rPr>
                  <a:t> </a:t>
                </a:r>
              </a:p>
            </p:txBody>
          </p:sp>
        </mc:Fallback>
      </mc:AlternateContent>
      <p:sp>
        <p:nvSpPr>
          <p:cNvPr id="15" name="TextBox 14">
            <a:extLst>
              <a:ext uri="{FF2B5EF4-FFF2-40B4-BE49-F238E27FC236}">
                <a16:creationId xmlns="" xmlns:a16="http://schemas.microsoft.com/office/drawing/2014/main" id="{2137EB49-2938-48C8-976D-CD72A01DB3CB}"/>
              </a:ext>
            </a:extLst>
          </p:cNvPr>
          <p:cNvSpPr txBox="1"/>
          <p:nvPr/>
        </p:nvSpPr>
        <p:spPr>
          <a:xfrm>
            <a:off x="817685" y="3947491"/>
            <a:ext cx="8978360" cy="338554"/>
          </a:xfrm>
          <a:prstGeom prst="rect">
            <a:avLst/>
          </a:prstGeom>
          <a:noFill/>
        </p:spPr>
        <p:txBody>
          <a:bodyPr wrap="square" rtlCol="0">
            <a:spAutoFit/>
          </a:bodyPr>
          <a:lstStyle/>
          <a:p>
            <a:pPr algn="ctr"/>
            <a:r>
              <a:rPr lang="ru-RU" sz="1600" b="1" dirty="0">
                <a:latin typeface="Times New Roman" panose="02020603050405020304" pitchFamily="18" charset="0"/>
                <a:cs typeface="Times New Roman" panose="02020603050405020304" pitchFamily="18" charset="0"/>
              </a:rPr>
              <a:t>Выражения, используемые для учёта формы пучка и разлёта атомов</a:t>
            </a:r>
            <a:r>
              <a:rPr lang="en-US" sz="1600" b="1"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16" name="TextBox 15"/>
              <p:cNvSpPr txBox="1"/>
              <p:nvPr/>
            </p:nvSpPr>
            <p:spPr>
              <a:xfrm>
                <a:off x="3182410" y="4434047"/>
                <a:ext cx="1764970" cy="4687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𝑓𝑒</m:t>
                      </m:r>
                      <m:d>
                        <m:dPr>
                          <m:ctrlPr>
                            <a:rPr lang="en-US" b="0" i="1" smtClean="0">
                              <a:latin typeface="Cambria Math" panose="02040503050406030204" pitchFamily="18" charset="0"/>
                            </a:rPr>
                          </m:ctrlPr>
                        </m:dPr>
                        <m:e>
                          <m:r>
                            <a:rPr lang="en-US" b="0" i="1" smtClean="0">
                              <a:latin typeface="Cambria Math" panose="02040503050406030204" pitchFamily="18" charset="0"/>
                            </a:rPr>
                            <m:t>𝑟</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𝐸</m:t>
                          </m:r>
                          <m:d>
                            <m:dPr>
                              <m:ctrlPr>
                                <a:rPr lang="en-US" i="1">
                                  <a:latin typeface="Cambria Math" panose="02040503050406030204" pitchFamily="18" charset="0"/>
                                </a:rPr>
                              </m:ctrlPr>
                            </m:dPr>
                            <m:e>
                              <m:r>
                                <a:rPr lang="en-US" i="1">
                                  <a:latin typeface="Cambria Math" panose="02040503050406030204" pitchFamily="18" charset="0"/>
                                </a:rPr>
                                <m:t>𝑟</m:t>
                              </m:r>
                            </m:e>
                          </m:d>
                        </m:num>
                        <m:den>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0</m:t>
                              </m:r>
                            </m:sub>
                          </m:sSub>
                        </m:den>
                      </m:f>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sup>
                      </m:sSup>
                      <m:f>
                        <m:fPr>
                          <m:ctrlPr>
                            <a:rPr lang="en-US" i="1">
                              <a:latin typeface="Cambria Math" panose="02040503050406030204" pitchFamily="18" charset="0"/>
                              <a:ea typeface="Cambria Math" panose="02040503050406030204" pitchFamily="18" charset="0"/>
                            </a:rPr>
                          </m:ctrlPr>
                        </m:fPr>
                        <m:num>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𝑟</m:t>
                              </m:r>
                            </m:e>
                            <m:sup>
                              <m:r>
                                <a:rPr lang="en-US" i="1">
                                  <a:latin typeface="Cambria Math" panose="02040503050406030204" pitchFamily="18" charset="0"/>
                                  <a:ea typeface="Cambria Math" panose="02040503050406030204" pitchFamily="18" charset="0"/>
                                </a:rPr>
                                <m:t>2</m:t>
                              </m:r>
                            </m:sup>
                          </m:sSup>
                        </m:num>
                        <m:den>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𝑤</m:t>
                              </m:r>
                            </m:e>
                            <m:sup>
                              <m:r>
                                <a:rPr lang="en-US" b="0" i="1" smtClean="0">
                                  <a:latin typeface="Cambria Math" panose="02040503050406030204" pitchFamily="18" charset="0"/>
                                  <a:ea typeface="Cambria Math" panose="02040503050406030204" pitchFamily="18" charset="0"/>
                                </a:rPr>
                                <m:t>2</m:t>
                              </m:r>
                            </m:sup>
                          </m:sSup>
                        </m:den>
                      </m:f>
                    </m:oMath>
                  </m:oMathPara>
                </a14:m>
                <a:endParaRPr lang="ru-RU" dirty="0"/>
              </a:p>
            </p:txBody>
          </p:sp>
        </mc:Choice>
        <mc:Fallback xmlns="">
          <p:sp>
            <p:nvSpPr>
              <p:cNvPr id="16" name="TextBox 15"/>
              <p:cNvSpPr txBox="1">
                <a:spLocks noRot="1" noChangeAspect="1" noMove="1" noResize="1" noEditPoints="1" noAdjustHandles="1" noChangeArrowheads="1" noChangeShapeType="1" noTextEdit="1"/>
              </p:cNvSpPr>
              <p:nvPr/>
            </p:nvSpPr>
            <p:spPr>
              <a:xfrm>
                <a:off x="3182410" y="4434047"/>
                <a:ext cx="1764970" cy="468783"/>
              </a:xfrm>
              <a:prstGeom prst="rect">
                <a:avLst/>
              </a:prstGeom>
              <a:blipFill rotWithShape="0">
                <a:blip r:embed="rId5"/>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3182410" y="5004100"/>
                <a:ext cx="1681551" cy="2248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ru-RU" i="1" smtClean="0">
                              <a:latin typeface="Cambria Math" panose="02040503050406030204" pitchFamily="18" charset="0"/>
                              <a:ea typeface="Calibri" panose="020F0502020204030204" pitchFamily="34" charset="0"/>
                              <a:cs typeface="Times New Roman" panose="02020603050405020304" pitchFamily="18" charset="0"/>
                            </a:rPr>
                          </m:ctrlPr>
                        </m:sSubPr>
                        <m:e>
                          <m:r>
                            <a:rPr lang="ru-RU" i="1">
                              <a:latin typeface="Cambria Math" panose="02040503050406030204" pitchFamily="18" charset="0"/>
                              <a:ea typeface="Calibri" panose="020F0502020204030204" pitchFamily="34" charset="0"/>
                              <a:cs typeface="Times New Roman" panose="02020603050405020304" pitchFamily="18" charset="0"/>
                            </a:rPr>
                            <m:t>𝛺</m:t>
                          </m:r>
                        </m:e>
                        <m:sub>
                          <m:r>
                            <a:rPr lang="en-US" b="0" i="1" smtClean="0">
                              <a:latin typeface="Cambria Math" panose="02040503050406030204" pitchFamily="18" charset="0"/>
                              <a:ea typeface="Calibri" panose="020F0502020204030204" pitchFamily="34" charset="0"/>
                              <a:cs typeface="Times New Roman" panose="02020603050405020304" pitchFamily="18" charset="0"/>
                            </a:rPr>
                            <m:t>1,2</m:t>
                          </m:r>
                        </m:sub>
                      </m:sSub>
                      <m:r>
                        <a:rPr lang="en-US" b="0" i="1" smtClean="0">
                          <a:latin typeface="Cambria Math" panose="02040503050406030204" pitchFamily="18" charset="0"/>
                          <a:ea typeface="Calibri" panose="020F0502020204030204" pitchFamily="34" charset="0"/>
                          <a:cs typeface="Times New Roman" panose="02020603050405020304" pitchFamily="18" charset="0"/>
                        </a:rPr>
                        <m:t>(</m:t>
                      </m:r>
                      <m:r>
                        <a:rPr lang="en-US" b="0" i="1" smtClean="0">
                          <a:latin typeface="Cambria Math" panose="02040503050406030204" pitchFamily="18" charset="0"/>
                          <a:ea typeface="Calibri" panose="020F0502020204030204" pitchFamily="34" charset="0"/>
                          <a:cs typeface="Times New Roman" panose="02020603050405020304" pitchFamily="18" charset="0"/>
                        </a:rPr>
                        <m:t>𝑟</m:t>
                      </m:r>
                      <m:r>
                        <a:rPr lang="en-US" b="0"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ru-RU" i="1">
                              <a:latin typeface="Cambria Math" panose="02040503050406030204" pitchFamily="18" charset="0"/>
                              <a:ea typeface="Calibri" panose="020F0502020204030204" pitchFamily="34" charset="0"/>
                              <a:cs typeface="Times New Roman" panose="02020603050405020304" pitchFamily="18" charset="0"/>
                            </a:rPr>
                          </m:ctrlPr>
                        </m:sSubPr>
                        <m:e>
                          <m:r>
                            <a:rPr lang="ru-RU" i="1">
                              <a:latin typeface="Cambria Math" panose="02040503050406030204" pitchFamily="18" charset="0"/>
                              <a:ea typeface="Calibri" panose="020F0502020204030204" pitchFamily="34" charset="0"/>
                              <a:cs typeface="Times New Roman" panose="02020603050405020304" pitchFamily="18" charset="0"/>
                            </a:rPr>
                            <m:t>𝛺</m:t>
                          </m:r>
                        </m:e>
                        <m:sub>
                          <m:r>
                            <a:rPr lang="en-US" i="1">
                              <a:latin typeface="Cambria Math" panose="02040503050406030204" pitchFamily="18" charset="0"/>
                              <a:ea typeface="Calibri" panose="020F0502020204030204" pitchFamily="34" charset="0"/>
                              <a:cs typeface="Times New Roman" panose="02020603050405020304" pitchFamily="18" charset="0"/>
                            </a:rPr>
                            <m:t>1,2</m:t>
                          </m:r>
                        </m:sub>
                      </m:sSub>
                      <m:r>
                        <a:rPr lang="en-US" i="1" smtClean="0">
                          <a:latin typeface="Cambria Math" panose="02040503050406030204" pitchFamily="18" charset="0"/>
                          <a:ea typeface="Cambria Math" panose="02040503050406030204" pitchFamily="18" charset="0"/>
                          <a:cs typeface="Times New Roman" panose="02020603050405020304" pitchFamily="18" charset="0"/>
                        </a:rPr>
                        <m:t>∙</m:t>
                      </m:r>
                      <m:r>
                        <a:rPr lang="en-US" b="0" i="1" smtClean="0">
                          <a:latin typeface="Cambria Math" panose="02040503050406030204" pitchFamily="18" charset="0"/>
                          <a:ea typeface="Cambria Math" panose="02040503050406030204" pitchFamily="18" charset="0"/>
                          <a:cs typeface="Times New Roman" panose="02020603050405020304" pitchFamily="18" charset="0"/>
                        </a:rPr>
                        <m:t>𝑓𝑒</m:t>
                      </m:r>
                      <m:r>
                        <a:rPr lang="en-US" b="0" i="1" smtClean="0">
                          <a:latin typeface="Cambria Math" panose="02040503050406030204" pitchFamily="18" charset="0"/>
                          <a:ea typeface="Cambria Math" panose="02040503050406030204" pitchFamily="18" charset="0"/>
                          <a:cs typeface="Times New Roman" panose="02020603050405020304" pitchFamily="18" charset="0"/>
                        </a:rPr>
                        <m:t>(</m:t>
                      </m:r>
                      <m:r>
                        <a:rPr lang="en-US" b="0" i="1" smtClean="0">
                          <a:latin typeface="Cambria Math" panose="02040503050406030204" pitchFamily="18" charset="0"/>
                          <a:ea typeface="Cambria Math" panose="02040503050406030204" pitchFamily="18" charset="0"/>
                          <a:cs typeface="Times New Roman" panose="02020603050405020304" pitchFamily="18" charset="0"/>
                        </a:rPr>
                        <m:t>𝑟</m:t>
                      </m:r>
                      <m:r>
                        <a:rPr lang="en-US" b="0" i="1" smtClean="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ru-RU" dirty="0"/>
              </a:p>
            </p:txBody>
          </p:sp>
        </mc:Choice>
        <mc:Fallback xmlns="">
          <p:sp>
            <p:nvSpPr>
              <p:cNvPr id="17" name="TextBox 16"/>
              <p:cNvSpPr txBox="1">
                <a:spLocks noRot="1" noChangeAspect="1" noMove="1" noResize="1" noEditPoints="1" noAdjustHandles="1" noChangeArrowheads="1" noChangeShapeType="1" noTextEdit="1"/>
              </p:cNvSpPr>
              <p:nvPr/>
            </p:nvSpPr>
            <p:spPr>
              <a:xfrm>
                <a:off x="3182410" y="5004100"/>
                <a:ext cx="1681551" cy="224870"/>
              </a:xfrm>
              <a:prstGeom prst="rect">
                <a:avLst/>
              </a:prstGeom>
              <a:blipFill rotWithShape="0">
                <a:blip r:embed="rId6"/>
                <a:stretch>
                  <a:fillRect l="-1812" r="-2899" b="-27027"/>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3182410" y="5443401"/>
                <a:ext cx="1617173" cy="2353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ru-RU" i="1" smtClean="0">
                              <a:latin typeface="Cambria Math" panose="02040503050406030204" pitchFamily="18" charset="0"/>
                              <a:ea typeface="Calibri" panose="020F0502020204030204" pitchFamily="34" charset="0"/>
                              <a:cs typeface="Times New Roman" panose="02020603050405020304" pitchFamily="18" charset="0"/>
                            </a:rPr>
                          </m:ctrlPr>
                        </m:sSubPr>
                        <m:e>
                          <m:r>
                            <a:rPr lang="ru-RU" i="1">
                              <a:latin typeface="Cambria Math" panose="02040503050406030204" pitchFamily="18" charset="0"/>
                              <a:ea typeface="Calibri" panose="020F0502020204030204" pitchFamily="34" charset="0"/>
                              <a:cs typeface="Times New Roman" panose="02020603050405020304" pitchFamily="18" charset="0"/>
                            </a:rPr>
                            <m:t>𝛺</m:t>
                          </m:r>
                        </m:e>
                        <m:sub>
                          <m:r>
                            <a:rPr lang="en-US" b="0" i="1" smtClean="0">
                              <a:latin typeface="Cambria Math" panose="02040503050406030204" pitchFamily="18" charset="0"/>
                              <a:ea typeface="Calibri" panose="020F0502020204030204" pitchFamily="34" charset="0"/>
                              <a:cs typeface="Times New Roman" panose="02020603050405020304" pitchFamily="18" charset="0"/>
                            </a:rPr>
                            <m:t>0</m:t>
                          </m:r>
                        </m:sub>
                      </m:sSub>
                      <m:r>
                        <a:rPr lang="en-US" b="0" i="1" smtClean="0">
                          <a:latin typeface="Cambria Math" panose="02040503050406030204" pitchFamily="18" charset="0"/>
                          <a:ea typeface="Calibri" panose="020F0502020204030204" pitchFamily="34" charset="0"/>
                          <a:cs typeface="Times New Roman" panose="02020603050405020304" pitchFamily="18" charset="0"/>
                        </a:rPr>
                        <m:t>(</m:t>
                      </m:r>
                      <m:r>
                        <a:rPr lang="en-US" b="0" i="1" smtClean="0">
                          <a:latin typeface="Cambria Math" panose="02040503050406030204" pitchFamily="18" charset="0"/>
                          <a:ea typeface="Calibri" panose="020F0502020204030204" pitchFamily="34" charset="0"/>
                          <a:cs typeface="Times New Roman" panose="02020603050405020304" pitchFamily="18" charset="0"/>
                        </a:rPr>
                        <m:t>𝑟</m:t>
                      </m:r>
                      <m:r>
                        <a:rPr lang="en-US" b="0"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ru-RU" i="1" smtClean="0">
                              <a:latin typeface="Cambria Math" panose="02040503050406030204" pitchFamily="18" charset="0"/>
                              <a:ea typeface="Calibri" panose="020F0502020204030204" pitchFamily="34" charset="0"/>
                              <a:cs typeface="Times New Roman" panose="02020603050405020304" pitchFamily="18" charset="0"/>
                            </a:rPr>
                          </m:ctrlPr>
                        </m:sSubPr>
                        <m:e>
                          <m:r>
                            <a:rPr lang="ru-RU" i="1">
                              <a:latin typeface="Cambria Math" panose="02040503050406030204" pitchFamily="18" charset="0"/>
                              <a:ea typeface="Calibri" panose="020F0502020204030204" pitchFamily="34" charset="0"/>
                              <a:cs typeface="Times New Roman" panose="02020603050405020304" pitchFamily="18" charset="0"/>
                            </a:rPr>
                            <m:t>𝛺</m:t>
                          </m:r>
                        </m:e>
                        <m:sub>
                          <m:r>
                            <a:rPr lang="en-US" b="0" i="1" smtClean="0">
                              <a:latin typeface="Cambria Math" panose="02040503050406030204" pitchFamily="18" charset="0"/>
                              <a:ea typeface="Calibri" panose="020F0502020204030204" pitchFamily="34" charset="0"/>
                              <a:cs typeface="Times New Roman" panose="02020603050405020304" pitchFamily="18" charset="0"/>
                            </a:rPr>
                            <m:t>0</m:t>
                          </m:r>
                        </m:sub>
                      </m:sSub>
                      <m:r>
                        <a:rPr lang="en-US"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i="1">
                              <a:latin typeface="Cambria Math" panose="02040503050406030204" pitchFamily="18" charset="0"/>
                              <a:ea typeface="Cambria Math" panose="02040503050406030204" pitchFamily="18" charset="0"/>
                              <a:cs typeface="Times New Roman" panose="02020603050405020304" pitchFamily="18" charset="0"/>
                            </a:rPr>
                            <m:t>𝑓𝑒</m:t>
                          </m:r>
                          <m:r>
                            <a:rPr lang="en-US" i="1">
                              <a:latin typeface="Cambria Math" panose="02040503050406030204" pitchFamily="18" charset="0"/>
                              <a:ea typeface="Cambria Math" panose="02040503050406030204" pitchFamily="18" charset="0"/>
                              <a:cs typeface="Times New Roman" panose="02020603050405020304" pitchFamily="18" charset="0"/>
                            </a:rPr>
                            <m:t>(</m:t>
                          </m:r>
                          <m:r>
                            <a:rPr lang="en-US" i="1">
                              <a:latin typeface="Cambria Math" panose="02040503050406030204" pitchFamily="18" charset="0"/>
                              <a:ea typeface="Cambria Math" panose="02040503050406030204" pitchFamily="18" charset="0"/>
                              <a:cs typeface="Times New Roman" panose="02020603050405020304" pitchFamily="18" charset="0"/>
                            </a:rPr>
                            <m:t>𝑟</m:t>
                          </m:r>
                          <m:r>
                            <a:rPr lang="en-US" i="1">
                              <a:latin typeface="Cambria Math" panose="02040503050406030204" pitchFamily="18" charset="0"/>
                              <a:ea typeface="Cambria Math" panose="02040503050406030204" pitchFamily="18" charset="0"/>
                              <a:cs typeface="Times New Roman" panose="02020603050405020304" pitchFamily="18" charset="0"/>
                            </a:rPr>
                            <m:t>)</m:t>
                          </m:r>
                          <m:r>
                            <m:rPr>
                              <m:nor/>
                            </m:rPr>
                            <a:rPr lang="ru-RU" dirty="0"/>
                            <m:t> </m:t>
                          </m:r>
                        </m:e>
                        <m:sup>
                          <m:r>
                            <a:rPr lang="en-US" b="0" i="1" smtClean="0">
                              <a:latin typeface="Cambria Math" panose="02040503050406030204" pitchFamily="18" charset="0"/>
                              <a:ea typeface="Cambria Math" panose="02040503050406030204" pitchFamily="18" charset="0"/>
                              <a:cs typeface="Times New Roman" panose="02020603050405020304" pitchFamily="18" charset="0"/>
                            </a:rPr>
                            <m:t>2</m:t>
                          </m:r>
                        </m:sup>
                      </m:sSup>
                    </m:oMath>
                  </m:oMathPara>
                </a14:m>
                <a:endParaRPr lang="ru-RU" dirty="0"/>
              </a:p>
            </p:txBody>
          </p:sp>
        </mc:Choice>
        <mc:Fallback xmlns="">
          <p:sp>
            <p:nvSpPr>
              <p:cNvPr id="18" name="TextBox 17"/>
              <p:cNvSpPr txBox="1">
                <a:spLocks noRot="1" noChangeAspect="1" noMove="1" noResize="1" noEditPoints="1" noAdjustHandles="1" noChangeArrowheads="1" noChangeShapeType="1" noTextEdit="1"/>
              </p:cNvSpPr>
              <p:nvPr/>
            </p:nvSpPr>
            <p:spPr>
              <a:xfrm>
                <a:off x="3182410" y="5443401"/>
                <a:ext cx="1617173" cy="235385"/>
              </a:xfrm>
              <a:prstGeom prst="rect">
                <a:avLst/>
              </a:prstGeom>
              <a:blipFill rotWithShape="0">
                <a:blip r:embed="rId7"/>
                <a:stretch>
                  <a:fillRect l="-1887" b="-30769"/>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9" name="Прямоугольник 18"/>
              <p:cNvSpPr/>
              <p:nvPr/>
            </p:nvSpPr>
            <p:spPr>
              <a:xfrm>
                <a:off x="5216033" y="4747203"/>
                <a:ext cx="2637637" cy="738664"/>
              </a:xfrm>
              <a:prstGeom prst="rect">
                <a:avLst/>
              </a:prstGeom>
            </p:spPr>
            <p:txBody>
              <a:bodyPr wrap="square">
                <a:spAutoFit/>
              </a:bodyPr>
              <a:lstStyle/>
              <a:p>
                <a14:m>
                  <m:oMath xmlns:m="http://schemas.openxmlformats.org/officeDocument/2006/math">
                    <m:r>
                      <a:rPr lang="en-US" i="1">
                        <a:latin typeface="Cambria Math" panose="02040503050406030204" pitchFamily="18" charset="0"/>
                        <a:ea typeface="Cambria Math" panose="02040503050406030204" pitchFamily="18" charset="0"/>
                      </a:rPr>
                      <m:t>𝑟</m:t>
                    </m:r>
                  </m:oMath>
                </a14:m>
                <a:r>
                  <a:rPr lang="en-US" dirty="0">
                    <a:latin typeface="Times New Roman" panose="02020603050405020304" pitchFamily="18" charset="0"/>
                    <a:ea typeface="Calibri" panose="020F0502020204030204" pitchFamily="34" charset="0"/>
                    <a:cs typeface="Times New Roman" panose="02020603050405020304" pitchFamily="18" charset="0"/>
                  </a:rPr>
                  <a:t> – </a:t>
                </a:r>
                <a:r>
                  <a:rPr lang="ru-RU" dirty="0">
                    <a:latin typeface="Times New Roman" panose="02020603050405020304" pitchFamily="18" charset="0"/>
                    <a:ea typeface="Calibri" panose="020F0502020204030204" pitchFamily="34" charset="0"/>
                    <a:cs typeface="Times New Roman" panose="02020603050405020304" pitchFamily="18" charset="0"/>
                  </a:rPr>
                  <a:t>расстояние от центра пучка до положения атома, </a:t>
                </a:r>
              </a:p>
              <a:p>
                <a:r>
                  <a:rPr lang="en-US" dirty="0">
                    <a:latin typeface="Times New Roman" panose="02020603050405020304" pitchFamily="18" charset="0"/>
                    <a:ea typeface="Calibri" panose="020F0502020204030204" pitchFamily="34" charset="0"/>
                    <a:cs typeface="Times New Roman" panose="02020603050405020304" pitchFamily="18" charset="0"/>
                  </a:rPr>
                  <a:t>w – </a:t>
                </a:r>
                <a:r>
                  <a:rPr lang="ru-RU" dirty="0">
                    <a:latin typeface="Times New Roman" panose="02020603050405020304" pitchFamily="18" charset="0"/>
                    <a:ea typeface="Calibri" panose="020F0502020204030204" pitchFamily="34" charset="0"/>
                    <a:cs typeface="Times New Roman" panose="02020603050405020304" pitchFamily="18" charset="0"/>
                  </a:rPr>
                  <a:t>ширина пучка.</a:t>
                </a:r>
                <a:r>
                  <a:rPr lang="en-US" dirty="0">
                    <a:latin typeface="Times New Roman" panose="02020603050405020304" pitchFamily="18" charset="0"/>
                    <a:ea typeface="Calibri" panose="020F0502020204030204" pitchFamily="34" charset="0"/>
                    <a:cs typeface="Times New Roman" panose="02020603050405020304" pitchFamily="18" charset="0"/>
                  </a:rPr>
                  <a:t> </a:t>
                </a:r>
                <a:endParaRPr lang="ru-RU" dirty="0"/>
              </a:p>
            </p:txBody>
          </p:sp>
        </mc:Choice>
        <mc:Fallback xmlns="">
          <p:sp>
            <p:nvSpPr>
              <p:cNvPr id="19" name="Прямоугольник 18"/>
              <p:cNvSpPr>
                <a:spLocks noRot="1" noChangeAspect="1" noMove="1" noResize="1" noEditPoints="1" noAdjustHandles="1" noChangeArrowheads="1" noChangeShapeType="1" noTextEdit="1"/>
              </p:cNvSpPr>
              <p:nvPr/>
            </p:nvSpPr>
            <p:spPr>
              <a:xfrm>
                <a:off x="5216033" y="4747203"/>
                <a:ext cx="2637637" cy="738664"/>
              </a:xfrm>
              <a:prstGeom prst="rect">
                <a:avLst/>
              </a:prstGeom>
              <a:blipFill>
                <a:blip r:embed="rId8"/>
                <a:stretch>
                  <a:fillRect l="-694" t="-1653" b="-7438"/>
                </a:stretch>
              </a:blipFill>
            </p:spPr>
            <p:txBody>
              <a:bodyPr/>
              <a:lstStyle/>
              <a:p>
                <a:r>
                  <a:rPr lang="ru-RU">
                    <a:noFill/>
                  </a:rPr>
                  <a:t> </a:t>
                </a:r>
              </a:p>
            </p:txBody>
          </p:sp>
        </mc:Fallback>
      </mc:AlternateContent>
      <p:sp>
        <p:nvSpPr>
          <p:cNvPr id="21" name="TextBox 20">
            <a:extLst>
              <a:ext uri="{FF2B5EF4-FFF2-40B4-BE49-F238E27FC236}">
                <a16:creationId xmlns="" xmlns:a16="http://schemas.microsoft.com/office/drawing/2014/main" id="{7CFBBB85-1DFE-4038-BF35-8451EAA57176}"/>
              </a:ext>
            </a:extLst>
          </p:cNvPr>
          <p:cNvSpPr txBox="1"/>
          <p:nvPr/>
        </p:nvSpPr>
        <p:spPr>
          <a:xfrm>
            <a:off x="9872067" y="3701269"/>
            <a:ext cx="2336581" cy="830997"/>
          </a:xfrm>
          <a:prstGeom prst="rect">
            <a:avLst/>
          </a:prstGeom>
          <a:noFill/>
        </p:spPr>
        <p:txBody>
          <a:bodyPr wrap="square" rtlCol="0">
            <a:spAutoFit/>
          </a:bodyPr>
          <a:lstStyle/>
          <a:p>
            <a:pPr algn="ctr"/>
            <a:r>
              <a:rPr lang="ru-RU" sz="1600" dirty="0">
                <a:latin typeface="Times New Roman" panose="02020603050405020304" pitchFamily="18" charset="0"/>
                <a:cs typeface="Times New Roman" panose="02020603050405020304" pitchFamily="18" charset="0"/>
              </a:rPr>
              <a:t>Рис.</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9. Схема двух-фотонных рамановских переходов.</a:t>
            </a:r>
            <a:r>
              <a:rPr lang="en-US" sz="16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790344489"/>
      </p:ext>
    </p:extLst>
  </p:cSld>
  <p:clrMapOvr>
    <a:masterClrMapping/>
  </p:clrMapOvr>
</p:sld>
</file>

<file path=ppt/theme/theme1.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7953</TotalTime>
  <Words>2452</Words>
  <Application>Microsoft Office PowerPoint</Application>
  <PresentationFormat>Широкоэкранный</PresentationFormat>
  <Paragraphs>268</Paragraphs>
  <Slides>27</Slides>
  <Notes>7</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27</vt:i4>
      </vt:variant>
    </vt:vector>
  </HeadingPairs>
  <TitlesOfParts>
    <vt:vector size="33" baseType="lpstr">
      <vt:lpstr>Arial</vt:lpstr>
      <vt:lpstr>Calibri</vt:lpstr>
      <vt:lpstr>Cambria Math</vt:lpstr>
      <vt:lpstr>Symbol</vt:lpstr>
      <vt:lpstr>Times New Roman</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kilrealladam@gmail.com</dc:creator>
  <cp:lastModifiedBy>Макаров Антон Олегович</cp:lastModifiedBy>
  <cp:revision>385</cp:revision>
  <dcterms:created xsi:type="dcterms:W3CDTF">2023-12-21T05:49:20Z</dcterms:created>
  <dcterms:modified xsi:type="dcterms:W3CDTF">2026-01-27T07:20:55Z</dcterms:modified>
</cp:coreProperties>
</file>