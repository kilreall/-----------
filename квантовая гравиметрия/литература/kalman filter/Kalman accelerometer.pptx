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9F854-4A52-4678-9479-03ACFEE9976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74EF7-7DDE-4B12-883B-1B3F540682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37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74EF7-7DDE-4B12-883B-1B3F5406823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594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74EF7-7DDE-4B12-883B-1B3F5406823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553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95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75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50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17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5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58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60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5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4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212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660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10717-C3EB-47D3-B844-B2A186E8D60A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D9A2B-3FDC-4DC7-8BB7-511165263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03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66280" y="1082663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T=20 </a:t>
            </a:r>
            <a:r>
              <a:rPr lang="en-US" dirty="0" err="1" smtClean="0"/>
              <a:t>ms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866280" y="1439074"/>
            <a:ext cx="138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c</a:t>
            </a:r>
            <a:r>
              <a:rPr lang="en-US" dirty="0" smtClean="0"/>
              <a:t> = 1.25 s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273892" y="4426717"/>
                <a:ext cx="362509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groupCh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𝑏𝑖𝑎𝑠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892" y="4426717"/>
                <a:ext cx="3625095" cy="5186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740434" y="4023778"/>
            <a:ext cx="5216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Измеряемый сигнал атомного </a:t>
            </a:r>
            <a:r>
              <a:rPr lang="ru-RU" dirty="0" smtClean="0"/>
              <a:t>интерферометра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31669" y="4023778"/>
            <a:ext cx="5216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Измеряемая </a:t>
            </a:r>
            <a:r>
              <a:rPr lang="ru-RU" dirty="0" smtClean="0"/>
              <a:t>акселерометром фаза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4484914" y="60850"/>
            <a:ext cx="785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Гибридный акселерометр</a:t>
            </a:r>
            <a:endParaRPr lang="ru-RU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31669" y="4432106"/>
                <a:ext cx="5154103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/>
                                </m:r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groupCh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𝛿𝜑</m:t>
                      </m:r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69" y="4432106"/>
                <a:ext cx="5154103" cy="7265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31669" y="5197648"/>
                <a:ext cx="1561261" cy="304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69" y="5197648"/>
                <a:ext cx="1561261" cy="304763"/>
              </a:xfrm>
              <a:prstGeom prst="rect">
                <a:avLst/>
              </a:prstGeom>
              <a:blipFill rotWithShape="0">
                <a:blip r:embed="rId5"/>
                <a:stretch>
                  <a:fillRect l="-3502" r="-778" b="-2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866280" y="634687"/>
            <a:ext cx="295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Параметры гравиметра</a:t>
            </a:r>
            <a:r>
              <a:rPr lang="en-US" dirty="0" smtClean="0"/>
              <a:t>:</a:t>
            </a:r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353" y="741623"/>
            <a:ext cx="4381500" cy="23526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686902" y="6423816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412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2072" y="12980"/>
            <a:ext cx="785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Фильтр </a:t>
            </a:r>
            <a:r>
              <a:rPr lang="ru-RU" sz="2400" b="1" dirty="0" err="1" smtClean="0"/>
              <a:t>калмана</a:t>
            </a:r>
            <a:endParaRPr lang="ru-RU" sz="2400" b="1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4602701" y="442443"/>
            <a:ext cx="43634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333333"/>
                </a:solidFill>
              </a:rPr>
              <a:t>М</a:t>
            </a:r>
            <a:r>
              <a:rPr lang="ru-RU" b="1" i="0" dirty="0" smtClean="0">
                <a:solidFill>
                  <a:srgbClr val="333333"/>
                </a:solidFill>
                <a:effectLst/>
              </a:rPr>
              <a:t>одель системы</a:t>
            </a:r>
            <a:endParaRPr lang="ru-RU" b="1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8924" y="473844"/>
            <a:ext cx="327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Вектор состояния</a:t>
            </a:r>
            <a:endParaRPr lang="ru-RU" b="1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94" y="1244309"/>
            <a:ext cx="1588477" cy="114787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8057273" y="51883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333333"/>
                </a:solidFill>
                <a:effectLst/>
                <a:latin typeface="Fira Sans"/>
              </a:rPr>
              <a:t>Модель наблюдения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847077" y="1433815"/>
                <a:ext cx="369787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groupCh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𝑏𝑖𝑎𝑠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077" y="1433815"/>
                <a:ext cx="3697872" cy="5186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4710" y="2466523"/>
            <a:ext cx="4649742" cy="64996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1503" y="2198372"/>
            <a:ext cx="1101847" cy="349366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1420511" y="5313692"/>
            <a:ext cx="4058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 smtClean="0">
                <a:solidFill>
                  <a:srgbClr val="333333"/>
                </a:solidFill>
                <a:effectLst/>
              </a:rPr>
              <a:t>P - </a:t>
            </a:r>
            <a:r>
              <a:rPr lang="ru-RU" i="0" dirty="0" smtClean="0">
                <a:solidFill>
                  <a:srgbClr val="333333"/>
                </a:solidFill>
                <a:effectLst/>
              </a:rPr>
              <a:t>ковариационная матрица состояния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1420511" y="5620530"/>
            <a:ext cx="4767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333333"/>
                </a:solidFill>
              </a:rPr>
              <a:t>R - </a:t>
            </a:r>
            <a:r>
              <a:rPr lang="ru-RU" i="0" dirty="0" smtClean="0">
                <a:solidFill>
                  <a:srgbClr val="333333"/>
                </a:solidFill>
                <a:effectLst/>
              </a:rPr>
              <a:t>ковариационная матрица шума измерений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1420511" y="5942836"/>
            <a:ext cx="4722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 smtClean="0">
                <a:solidFill>
                  <a:srgbClr val="333333"/>
                </a:solidFill>
                <a:effectLst/>
              </a:rPr>
              <a:t>Q - </a:t>
            </a:r>
            <a:r>
              <a:rPr lang="ru-RU" i="0" dirty="0" smtClean="0">
                <a:solidFill>
                  <a:srgbClr val="333333"/>
                </a:solidFill>
                <a:effectLst/>
              </a:rPr>
              <a:t>ковариационная матрица ошибки модели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7556688" y="4194410"/>
            <a:ext cx="44171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Фильтр </a:t>
            </a:r>
            <a:r>
              <a:rPr lang="ru-RU" sz="1600" dirty="0" err="1" smtClean="0"/>
              <a:t>Калмана</a:t>
            </a:r>
            <a:r>
              <a:rPr lang="ru-RU" sz="1600" dirty="0" smtClean="0"/>
              <a:t> с помощью модели предсказывает состояние динамической системы, и это позволяет ему эффективно устранять шумы измерения. Результат работа фильтра </a:t>
            </a:r>
            <a:r>
              <a:rPr lang="ru-RU" sz="1600" dirty="0" err="1" smtClean="0"/>
              <a:t>Калмана</a:t>
            </a:r>
            <a:r>
              <a:rPr lang="ru-RU" sz="1600" dirty="0" smtClean="0"/>
              <a:t> зависит от соотношение между погрешностью измерения и </a:t>
            </a:r>
            <a:r>
              <a:rPr lang="ru-RU" sz="1600" dirty="0" smtClean="0"/>
              <a:t>погрешностью </a:t>
            </a:r>
            <a:r>
              <a:rPr lang="ru-RU" sz="1600" dirty="0" smtClean="0"/>
              <a:t>модели. </a:t>
            </a:r>
            <a:endParaRPr lang="ru-RU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822356" y="885493"/>
                <a:ext cx="830868" cy="9568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56" y="885493"/>
                <a:ext cx="830868" cy="9568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983621" y="369914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841223" y="908119"/>
                <a:ext cx="1187248" cy="284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223" y="908119"/>
                <a:ext cx="1187248" cy="284565"/>
              </a:xfrm>
              <a:prstGeom prst="rect">
                <a:avLst/>
              </a:prstGeom>
              <a:blipFill rotWithShape="0">
                <a:blip r:embed="rId10"/>
                <a:stretch>
                  <a:fillRect l="-2564" r="-1026" b="-19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8450034" y="967310"/>
                <a:ext cx="15733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034" y="967310"/>
                <a:ext cx="1573316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55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Прямоугольник 24"/>
          <p:cNvSpPr/>
          <p:nvPr/>
        </p:nvSpPr>
        <p:spPr>
          <a:xfrm>
            <a:off x="1762882" y="3116487"/>
            <a:ext cx="43634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solidFill>
                  <a:srgbClr val="333333"/>
                </a:solidFill>
                <a:effectLst/>
              </a:rPr>
              <a:t>Оценка вектора состояния</a:t>
            </a:r>
            <a:r>
              <a:rPr lang="en-US" b="1" i="0" dirty="0" smtClean="0">
                <a:solidFill>
                  <a:srgbClr val="333333"/>
                </a:solidFill>
                <a:effectLst/>
              </a:rPr>
              <a:t>:</a:t>
            </a:r>
            <a:endParaRPr lang="ru-RU" b="1" i="0" dirty="0">
              <a:solidFill>
                <a:srgbClr val="333333"/>
              </a:solidFill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804789" y="3607131"/>
                <a:ext cx="2856167" cy="284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789" y="3607131"/>
                <a:ext cx="2856167" cy="284565"/>
              </a:xfrm>
              <a:prstGeom prst="rect">
                <a:avLst/>
              </a:prstGeom>
              <a:blipFill rotWithShape="0">
                <a:blip r:embed="rId12"/>
                <a:stretch>
                  <a:fillRect l="-640" t="-2174" r="-2559" b="-347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Рисунок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8581" y="4423912"/>
            <a:ext cx="1971675" cy="34290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2882" y="4834487"/>
            <a:ext cx="2381250" cy="314325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62882" y="4055599"/>
            <a:ext cx="1743075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686902" y="6423816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08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979" y="1048703"/>
            <a:ext cx="3629025" cy="5248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69157" y="75100"/>
            <a:ext cx="785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Демонстрация работы фильтра </a:t>
            </a:r>
            <a:r>
              <a:rPr lang="ru-RU" sz="2400" b="1" dirty="0" err="1" smtClean="0"/>
              <a:t>Калмана</a:t>
            </a:r>
            <a:endParaRPr lang="ru-RU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9239796" y="5373189"/>
                <a:ext cx="2577735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3.2 </a:t>
                </a:r>
                <a:r>
                  <a:rPr lang="el-GR" dirty="0" smtClean="0"/>
                  <a:t>μ</a:t>
                </a:r>
                <a:r>
                  <a:rPr lang="en-US" dirty="0" smtClean="0"/>
                  <a:t>g </a:t>
                </a:r>
                <a:r>
                  <a:rPr lang="en-US" dirty="0" smtClean="0"/>
                  <a:t>per shot</a:t>
                </a:r>
                <a:r>
                  <a:rPr lang="en-US" dirty="0" smtClean="0"/>
                  <a:t> </a:t>
                </a:r>
                <a:endParaRPr lang="ru-R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796" y="5373189"/>
                <a:ext cx="2577735" cy="391902"/>
              </a:xfrm>
              <a:prstGeom prst="rect">
                <a:avLst/>
              </a:prstGeom>
              <a:blipFill rotWithShape="0">
                <a:blip r:embed="rId3"/>
                <a:stretch>
                  <a:fillRect t="-6154" b="-18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048206" y="1127080"/>
            <a:ext cx="3518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Соответствует 8-ми интерференционным полосам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084605" y="1851788"/>
            <a:ext cx="3518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Видена </a:t>
            </a:r>
            <a:r>
              <a:rPr lang="ru-RU" dirty="0" err="1" smtClean="0"/>
              <a:t>пошаговость</a:t>
            </a:r>
            <a:r>
              <a:rPr lang="ru-RU" dirty="0" smtClean="0"/>
              <a:t> процесса нагрева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9196082" y="2735324"/>
            <a:ext cx="2856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Флуктуации </a:t>
            </a:r>
            <a:r>
              <a:rPr lang="ru-RU" dirty="0" smtClean="0"/>
              <a:t>смещения</a:t>
            </a:r>
            <a:r>
              <a:rPr lang="ru-RU" dirty="0" smtClean="0"/>
              <a:t> </a:t>
            </a:r>
            <a:r>
              <a:rPr lang="ru-RU" dirty="0" smtClean="0"/>
              <a:t>и контраста из-за непостоянства мощности рамановских пучков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62147" y="937388"/>
            <a:ext cx="3631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Производимые действия</a:t>
            </a:r>
            <a:r>
              <a:rPr lang="en-US" b="1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Сканирования фазы атомного интерферометра с помощью источника вибраций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Нагрев акселерометра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smtClean="0"/>
              <a:t>Модуляция мощности рамановских пучков </a:t>
            </a:r>
            <a:r>
              <a:rPr lang="en-US" dirty="0" smtClean="0"/>
              <a:t>~ 10 %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80765" y="4414978"/>
            <a:ext cx="47942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После начального переходного периода в 20 секунд индивидуальные стандартные отклонения стабилизируются на значениях </a:t>
            </a:r>
            <a:r>
              <a:rPr lang="ru-RU" dirty="0" err="1" smtClean="0"/>
              <a:t>δφ</a:t>
            </a:r>
            <a:r>
              <a:rPr lang="ru-RU" baseline="-25000" dirty="0" err="1" smtClean="0"/>
              <a:t>b</a:t>
            </a:r>
            <a:r>
              <a:rPr lang="ru-RU" dirty="0" smtClean="0"/>
              <a:t> = 56 мрад, δy</a:t>
            </a:r>
            <a:r>
              <a:rPr lang="ru-RU" baseline="-25000" dirty="0" smtClean="0"/>
              <a:t>0</a:t>
            </a:r>
            <a:r>
              <a:rPr lang="ru-RU" dirty="0" smtClean="0"/>
              <a:t> = 3 × 10</a:t>
            </a:r>
            <a:r>
              <a:rPr lang="ru-RU" baseline="30000" dirty="0" smtClean="0"/>
              <a:t>−3</a:t>
            </a:r>
            <a:r>
              <a:rPr lang="ru-RU" dirty="0" smtClean="0"/>
              <a:t> и </a:t>
            </a:r>
            <a:r>
              <a:rPr lang="ru-RU" dirty="0" err="1" smtClean="0"/>
              <a:t>δC</a:t>
            </a:r>
            <a:r>
              <a:rPr lang="ru-RU" dirty="0" smtClean="0"/>
              <a:t> = 4,5 × 10</a:t>
            </a:r>
            <a:r>
              <a:rPr lang="ru-RU" baseline="30000" dirty="0" smtClean="0"/>
              <a:t>−3</a:t>
            </a:r>
            <a:r>
              <a:rPr lang="ru-RU" dirty="0" smtClean="0"/>
              <a:t>. Стабилизация до конечной точности является результатом конкуренции между объемом информации, предоставляемой каждым измерением, и дрейфом вектора состояния.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1686902" y="6423816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029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035" y="735602"/>
            <a:ext cx="5477738" cy="32766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35977" y="191589"/>
            <a:ext cx="511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Эффективность системы</a:t>
            </a:r>
            <a:endParaRPr lang="ru-RU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312704" y="4833257"/>
            <a:ext cx="939654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 smtClean="0"/>
              <a:t>Фильтр </a:t>
            </a:r>
            <a:r>
              <a:rPr lang="ru-RU" dirty="0" err="1" smtClean="0"/>
              <a:t>Калмана</a:t>
            </a:r>
            <a:r>
              <a:rPr lang="ru-RU" dirty="0" smtClean="0"/>
              <a:t> сравнивается со стандартной процедурой </a:t>
            </a:r>
            <a:r>
              <a:rPr lang="en-US" dirty="0" smtClean="0"/>
              <a:t>sine-fitting</a:t>
            </a:r>
            <a:r>
              <a:rPr lang="ru-RU" dirty="0" smtClean="0"/>
              <a:t>. Ошибка для </a:t>
            </a:r>
            <a:r>
              <a:rPr lang="en-US" dirty="0" err="1" smtClean="0"/>
              <a:t>Kalman</a:t>
            </a:r>
            <a:r>
              <a:rPr lang="en-US" dirty="0" smtClean="0"/>
              <a:t> – 0,89 </a:t>
            </a:r>
            <a:r>
              <a:rPr lang="el-GR" dirty="0" smtClean="0"/>
              <a:t>μ</a:t>
            </a:r>
            <a:r>
              <a:rPr lang="en-US" dirty="0" smtClean="0"/>
              <a:t>g, </a:t>
            </a:r>
            <a:r>
              <a:rPr lang="ru-RU" dirty="0" smtClean="0"/>
              <a:t>для </a:t>
            </a:r>
            <a:r>
              <a:rPr lang="en-US" dirty="0" smtClean="0"/>
              <a:t>sf25 – 5,9 </a:t>
            </a:r>
            <a:r>
              <a:rPr lang="el-GR" dirty="0" smtClean="0"/>
              <a:t>μ</a:t>
            </a:r>
            <a:r>
              <a:rPr lang="en-US" dirty="0" smtClean="0"/>
              <a:t>g, </a:t>
            </a:r>
            <a:r>
              <a:rPr lang="ru-RU" dirty="0" smtClean="0"/>
              <a:t>для </a:t>
            </a:r>
            <a:r>
              <a:rPr lang="en-US" dirty="0" smtClean="0"/>
              <a:t>sf8 – 2,3 </a:t>
            </a:r>
            <a:r>
              <a:rPr lang="el-GR" dirty="0" smtClean="0"/>
              <a:t>μ</a:t>
            </a:r>
            <a:r>
              <a:rPr lang="en-US" dirty="0" smtClean="0"/>
              <a:t>g.</a:t>
            </a:r>
            <a:r>
              <a:rPr lang="ru-RU" dirty="0" smtClean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/>
              <a:t>АЧХ </a:t>
            </a:r>
            <a:r>
              <a:rPr lang="ru-RU" dirty="0" smtClean="0"/>
              <a:t>гибридного акселерометра с фильтром </a:t>
            </a:r>
            <a:r>
              <a:rPr lang="ru-RU" dirty="0" err="1" smtClean="0"/>
              <a:t>Калмана</a:t>
            </a:r>
            <a:r>
              <a:rPr lang="ru-RU" dirty="0" smtClean="0"/>
              <a:t> сильно отличается от АЧХ негибридного акселерометра, и гибридного с использованием </a:t>
            </a:r>
            <a:r>
              <a:rPr lang="en-US" dirty="0" smtClean="0"/>
              <a:t>sine-fitting </a:t>
            </a:r>
            <a:r>
              <a:rPr lang="ru-RU" dirty="0" smtClean="0"/>
              <a:t>при частотах</a:t>
            </a:r>
            <a:r>
              <a:rPr lang="en-US" dirty="0" smtClean="0"/>
              <a:t> </a:t>
            </a:r>
            <a:r>
              <a:rPr lang="ru-RU" dirty="0" smtClean="0"/>
              <a:t>сигнала меньше частоты опроса гравиметра.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1686902" y="6423816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497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446" y="292962"/>
            <a:ext cx="5272904" cy="3502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04160" y="20355"/>
            <a:ext cx="6514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Стабильность</a:t>
            </a:r>
            <a:r>
              <a:rPr lang="en-US" sz="2400" b="1" dirty="0" smtClean="0"/>
              <a:t> </a:t>
            </a:r>
            <a:r>
              <a:rPr lang="ru-RU" sz="2400" b="1" dirty="0" smtClean="0"/>
              <a:t>гибридного акселерометра</a:t>
            </a:r>
            <a:endParaRPr lang="ru-RU" sz="2400" b="1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7254240" y="2151017"/>
            <a:ext cx="1314995" cy="2786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73738" y="1859421"/>
            <a:ext cx="303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Устранение </a:t>
            </a:r>
            <a:r>
              <a:rPr lang="en-US" dirty="0" smtClean="0"/>
              <a:t>tidal anomaly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11241" y="4254801"/>
            <a:ext cx="12039463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 smtClean="0"/>
              <a:t> </a:t>
            </a:r>
            <a:r>
              <a:rPr lang="ru-RU" dirty="0" smtClean="0"/>
              <a:t>Через </a:t>
            </a:r>
            <a:r>
              <a:rPr lang="ru-RU" dirty="0" smtClean="0"/>
              <a:t>30 секунд отклонение </a:t>
            </a:r>
            <a:r>
              <a:rPr lang="ru-RU" dirty="0" err="1" smtClean="0"/>
              <a:t>Аллана</a:t>
            </a:r>
            <a:r>
              <a:rPr lang="ru-RU" dirty="0" smtClean="0"/>
              <a:t> негибридного акселерометра увеличивается из-за нестабильности смещения. Однако отклонение </a:t>
            </a:r>
            <a:r>
              <a:rPr lang="ru-RU" dirty="0" err="1" smtClean="0"/>
              <a:t>Аллана</a:t>
            </a:r>
            <a:r>
              <a:rPr lang="ru-RU" dirty="0" smtClean="0"/>
              <a:t> гибридного датчика остается ниже 1 </a:t>
            </a:r>
            <a:r>
              <a:rPr lang="el-GR" dirty="0" smtClean="0"/>
              <a:t>μ</a:t>
            </a:r>
            <a:r>
              <a:rPr lang="en-US" dirty="0"/>
              <a:t>g</a:t>
            </a:r>
            <a:r>
              <a:rPr lang="ru-RU" dirty="0" smtClean="0"/>
              <a:t> и уменьшается при больших временах приблизительно как </a:t>
            </a:r>
            <a:r>
              <a:rPr lang="ru-RU" dirty="0" err="1" smtClean="0"/>
              <a:t>σ</a:t>
            </a:r>
            <a:r>
              <a:rPr lang="ru-RU" baseline="-25000" dirty="0" err="1" smtClean="0"/>
              <a:t>AI</a:t>
            </a:r>
            <a:r>
              <a:rPr lang="ru-RU" dirty="0" smtClean="0"/>
              <a:t>/ √ τ, где </a:t>
            </a:r>
            <a:r>
              <a:rPr lang="ru-RU" dirty="0" err="1" smtClean="0"/>
              <a:t>σ</a:t>
            </a:r>
            <a:r>
              <a:rPr lang="ru-RU" baseline="-25000" dirty="0" err="1" smtClean="0"/>
              <a:t>AI</a:t>
            </a:r>
            <a:r>
              <a:rPr lang="ru-RU" dirty="0" smtClean="0"/>
              <a:t> = 3,2 </a:t>
            </a:r>
            <a:r>
              <a:rPr lang="el-GR" dirty="0" smtClean="0"/>
              <a:t>μ</a:t>
            </a:r>
            <a:r>
              <a:rPr lang="en-US" dirty="0" smtClean="0"/>
              <a:t>g </a:t>
            </a:r>
            <a:r>
              <a:rPr lang="ru-RU" dirty="0" smtClean="0"/>
              <a:t>/ √ Гц соответствует чувствительности </a:t>
            </a:r>
            <a:r>
              <a:rPr lang="ru-RU" dirty="0" smtClean="0"/>
              <a:t>АИ</a:t>
            </a:r>
            <a:r>
              <a:rPr lang="en-US" dirty="0" smtClean="0"/>
              <a:t>.</a:t>
            </a:r>
            <a:endParaRPr lang="ru-RU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/>
              <a:t>Кратковременная </a:t>
            </a:r>
            <a:r>
              <a:rPr lang="ru-RU" dirty="0" smtClean="0"/>
              <a:t>чувствительность гибридного датчика определяется шумом акселерометра, а долговременная стабильность обеспечивается АИ. </a:t>
            </a:r>
            <a:r>
              <a:rPr lang="ru-RU" dirty="0"/>
              <a:t>П</a:t>
            </a:r>
            <a:r>
              <a:rPr lang="ru-RU" dirty="0" smtClean="0"/>
              <a:t>осле 11 часов интегрирования демонстрируется точность 10 </a:t>
            </a:r>
            <a:r>
              <a:rPr lang="ru-RU" dirty="0"/>
              <a:t>н</a:t>
            </a:r>
            <a:r>
              <a:rPr lang="en-US" dirty="0" smtClean="0"/>
              <a:t>g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1686902" y="6423816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89328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330</Words>
  <Application>Microsoft Office PowerPoint</Application>
  <PresentationFormat>Широкоэкранный</PresentationFormat>
  <Paragraphs>47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Fira Sans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Макаров Антон Олегович</dc:creator>
  <cp:lastModifiedBy>Макаров Антон Олегович</cp:lastModifiedBy>
  <cp:revision>17</cp:revision>
  <dcterms:created xsi:type="dcterms:W3CDTF">2026-03-04T10:15:26Z</dcterms:created>
  <dcterms:modified xsi:type="dcterms:W3CDTF">2026-03-20T08:52:40Z</dcterms:modified>
</cp:coreProperties>
</file>